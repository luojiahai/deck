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034171" y="4476750"/>
            <a:ext cx="3901836" cy="533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0"/>
              </a:lnSpc>
              <a:buNone/>
            </a:pPr>
            <a:r>
              <a:rPr lang="en-US" sz="30000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7261320" y="2824163"/>
            <a:ext cx="376521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3 OF 8 · Y8 UNIT 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558643" y="3090863"/>
            <a:ext cx="117056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0"/>
              </a:lnSpc>
              <a:buNone/>
            </a:pPr>
            <a:r>
              <a:rPr lang="en-US" sz="9000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</a:t>
            </a:r>
            <a:endParaRPr lang="en-US" sz="9000" dirty="0"/>
          </a:p>
        </p:txBody>
      </p:sp>
      <p:sp>
        <p:nvSpPr>
          <p:cNvPr id="5" name="Text 3"/>
          <p:cNvSpPr/>
          <p:nvPr/>
        </p:nvSpPr>
        <p:spPr>
          <a:xfrm>
            <a:off x="7589520" y="4386263"/>
            <a:ext cx="310896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000"/>
              </a:lnSpc>
              <a:spcAft>
                <a:spcPts val="600"/>
              </a:spcAft>
              <a:buNone/>
            </a:pPr>
            <a:r>
              <a:rPr lang="en-US" sz="120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可是</a:t>
            </a:r>
            <a:endParaRPr lang="en-US" sz="12000" dirty="0"/>
          </a:p>
        </p:txBody>
      </p:sp>
      <p:sp>
        <p:nvSpPr>
          <p:cNvPr id="6" name="Text 4"/>
          <p:cNvSpPr/>
          <p:nvPr/>
        </p:nvSpPr>
        <p:spPr>
          <a:xfrm>
            <a:off x="7087807" y="6215063"/>
            <a:ext cx="411223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But + Full Text 1 Dialogue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529199" y="7253288"/>
            <a:ext cx="128168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8 Chinese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287137" y="7253288"/>
            <a:ext cx="66126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420877" y="7253288"/>
            <a:ext cx="166651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Grammar + Reading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544552" y="7253288"/>
            <a:ext cx="222348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2 · Unit 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771525"/>
          </a:xfrm>
          <a:prstGeom prst="rect">
            <a:avLst/>
          </a:prstGeom>
          <a:solidFill>
            <a:srgbClr val="FBFAF2">
              <a:alpha val="9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6763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285750"/>
            <a:ext cx="19393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可是 BUT + TEXT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053804" y="280988"/>
            <a:ext cx="130142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43000" y="1219200"/>
            <a:ext cx="18620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4F3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43000" y="1524000"/>
            <a:ext cx="6377770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找错误 · Correct the Teacher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1143000" y="2314575"/>
            <a:ext cx="728024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writes each sentence below — find and fix the error on your whiteboard.</a:t>
            </a:r>
            <a:endParaRPr lang="en-US" sz="1425" dirty="0"/>
          </a:p>
        </p:txBody>
      </p:sp>
      <p:sp>
        <p:nvSpPr>
          <p:cNvPr id="10" name="Text 8"/>
          <p:cNvSpPr/>
          <p:nvPr/>
        </p:nvSpPr>
        <p:spPr>
          <a:xfrm>
            <a:off x="1143000" y="2790825"/>
            <a:ext cx="16002000" cy="781050"/>
          </a:xfrm>
          <a:prstGeom prst="roundRect">
            <a:avLst>
              <a:gd name="adj" fmla="val 24390"/>
            </a:avLst>
          </a:prstGeom>
          <a:solidFill>
            <a:srgbClr val="C94F3D">
              <a:alpha val="10000"/>
            </a:srgbClr>
          </a:solidFill>
          <a:ln w="9525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419225" y="2971800"/>
            <a:ext cx="419100" cy="419100"/>
          </a:xfrm>
          <a:prstGeom prst="roundRect">
            <a:avLst>
              <a:gd name="adj" fmla="val 218182"/>
            </a:avLst>
          </a:prstGeom>
          <a:solidFill>
            <a:srgbClr val="C94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582192" y="3038475"/>
            <a:ext cx="9503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2028825" y="3000375"/>
            <a:ext cx="2360867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25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</a:t>
            </a:r>
            <a:r>
              <a:rPr lang="en-US" sz="2025" b="1" u="sng" dirty="0">
                <a:solidFill>
                  <a:srgbClr val="C94F3D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非常</a:t>
            </a:r>
            <a:r>
              <a:rPr lang="en-US" sz="2025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吃黄瓜。</a:t>
            </a:r>
            <a:endParaRPr lang="en-US" sz="2025" dirty="0"/>
          </a:p>
        </p:txBody>
      </p:sp>
      <p:sp>
        <p:nvSpPr>
          <p:cNvPr id="14" name="Text 12"/>
          <p:cNvSpPr/>
          <p:nvPr/>
        </p:nvSpPr>
        <p:spPr>
          <a:xfrm>
            <a:off x="1143000" y="3724275"/>
            <a:ext cx="16002000" cy="781050"/>
          </a:xfrm>
          <a:prstGeom prst="roundRect">
            <a:avLst>
              <a:gd name="adj" fmla="val 24390"/>
            </a:avLst>
          </a:prstGeom>
          <a:solidFill>
            <a:srgbClr val="C94F3D">
              <a:alpha val="10000"/>
            </a:srgbClr>
          </a:solidFill>
          <a:ln w="9525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419225" y="3905250"/>
            <a:ext cx="419100" cy="419100"/>
          </a:xfrm>
          <a:prstGeom prst="roundRect">
            <a:avLst>
              <a:gd name="adj" fmla="val 218182"/>
            </a:avLst>
          </a:prstGeom>
          <a:solidFill>
            <a:srgbClr val="C94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563142" y="3971925"/>
            <a:ext cx="1338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2028825" y="3933825"/>
            <a:ext cx="2885504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25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你应该穿大衣</a:t>
            </a:r>
            <a:r>
              <a:rPr lang="en-US" sz="2025" b="1" u="sng" dirty="0">
                <a:solidFill>
                  <a:srgbClr val="C94F3D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今天很冷</a:t>
            </a:r>
            <a:r>
              <a:rPr lang="en-US" sz="2025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025" dirty="0"/>
          </a:p>
        </p:txBody>
      </p:sp>
      <p:sp>
        <p:nvSpPr>
          <p:cNvPr id="18" name="Text 16"/>
          <p:cNvSpPr/>
          <p:nvPr/>
        </p:nvSpPr>
        <p:spPr>
          <a:xfrm>
            <a:off x="1143000" y="4657725"/>
            <a:ext cx="16002000" cy="781050"/>
          </a:xfrm>
          <a:prstGeom prst="roundRect">
            <a:avLst>
              <a:gd name="adj" fmla="val 24390"/>
            </a:avLst>
          </a:prstGeom>
          <a:solidFill>
            <a:srgbClr val="C94F3D">
              <a:alpha val="10000"/>
            </a:srgbClr>
          </a:solidFill>
          <a:ln w="9525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419225" y="4838700"/>
            <a:ext cx="419100" cy="419100"/>
          </a:xfrm>
          <a:prstGeom prst="roundRect">
            <a:avLst>
              <a:gd name="adj" fmla="val 218182"/>
            </a:avLst>
          </a:prstGeom>
          <a:solidFill>
            <a:srgbClr val="C94F3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562546" y="4905375"/>
            <a:ext cx="13495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2028825" y="4867275"/>
            <a:ext cx="4197096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25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我喜欢吃菜花、土豆、生菜</a:t>
            </a:r>
            <a:r>
              <a:rPr lang="en-US" sz="2025" b="1" u="sng" dirty="0">
                <a:solidFill>
                  <a:srgbClr val="C94F3D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等等等</a:t>
            </a:r>
            <a:r>
              <a:rPr lang="en-US" sz="2025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2025" dirty="0"/>
          </a:p>
        </p:txBody>
      </p:sp>
      <p:sp>
        <p:nvSpPr>
          <p:cNvPr id="22" name="Text 20"/>
          <p:cNvSpPr/>
          <p:nvPr/>
        </p:nvSpPr>
        <p:spPr>
          <a:xfrm>
            <a:off x="1143000" y="5686425"/>
            <a:ext cx="16002000" cy="800100"/>
          </a:xfrm>
          <a:prstGeom prst="rect">
            <a:avLst/>
          </a:prstGeom>
          <a:solidFill>
            <a:srgbClr val="5C8A3A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1166813" y="5686425"/>
            <a:ext cx="0" cy="800100"/>
          </a:xfrm>
          <a:prstGeom prst="line">
            <a:avLst/>
          </a:prstGeom>
          <a:noFill/>
          <a:ln w="47625">
            <a:solidFill>
              <a:srgbClr val="5C8A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419225" y="5838825"/>
            <a:ext cx="15465103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"You now know how to name vegetables, say how much you like them, and give advice with </a:t>
            </a:r>
            <a:r>
              <a:rPr lang="en-US" sz="1425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应该</a:t>
            </a:r>
            <a:r>
              <a:rPr lang="en-US" sz="14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Today we add one more piece — </a:t>
            </a:r>
            <a:r>
              <a:rPr lang="en-US" sz="1425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可是 (but)</a:t>
            </a:r>
            <a:r>
              <a:rPr lang="en-US" sz="14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so you can say things like 'I don't really like vegetables, BUT I should eat them.' Then we'll read the whole vegetable conversation from the textbook."</a:t>
            </a:r>
            <a:endParaRPr lang="en-US" sz="1425" dirty="0"/>
          </a:p>
        </p:txBody>
      </p:sp>
      <p:sp>
        <p:nvSpPr>
          <p:cNvPr id="25" name="Shape 23"/>
          <p:cNvSpPr/>
          <p:nvPr/>
        </p:nvSpPr>
        <p:spPr>
          <a:xfrm>
            <a:off x="0" y="9786938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000" y="9958388"/>
            <a:ext cx="3236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4 Vegetables &amp; Fruits 蔬菜、水果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771525"/>
          </a:xfrm>
          <a:prstGeom prst="rect">
            <a:avLst/>
          </a:prstGeom>
          <a:solidFill>
            <a:srgbClr val="FBFAF2">
              <a:alpha val="9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6763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285750"/>
            <a:ext cx="19393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可是 BUT + TEXT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053804" y="280988"/>
            <a:ext cx="17243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SC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333500" y="2800350"/>
            <a:ext cx="367564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4F3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33500" y="3124200"/>
            <a:ext cx="5078019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333500" y="4067175"/>
            <a:ext cx="14944725" cy="1400175"/>
          </a:xfrm>
          <a:prstGeom prst="rect">
            <a:avLst/>
          </a:prstGeom>
          <a:solidFill>
            <a:srgbClr val="5C8A3A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1357313" y="4067175"/>
            <a:ext cx="0" cy="1400175"/>
          </a:xfrm>
          <a:prstGeom prst="line">
            <a:avLst/>
          </a:prstGeom>
          <a:noFill/>
          <a:ln w="47625">
            <a:solidFill>
              <a:srgbClr val="5C8A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85925" y="4276725"/>
            <a:ext cx="166104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1685925" y="4543425"/>
            <a:ext cx="14151688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use </a:t>
            </a:r>
            <a:r>
              <a:rPr lang="en-US" sz="2250" b="1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可是</a:t>
            </a:r>
            <a:r>
              <a:rPr lang="en-US" sz="195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contrast two ideas, and put together everything we've learned so far into the full Text 1 dialogue about vegetables.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333500" y="5791200"/>
            <a:ext cx="361950" cy="361950"/>
          </a:xfrm>
          <a:prstGeom prst="roundRect">
            <a:avLst>
              <a:gd name="adj" fmla="val 252632"/>
            </a:avLst>
          </a:prstGeom>
          <a:noFill/>
          <a:ln w="19050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480096" y="5867400"/>
            <a:ext cx="7013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47850" y="5781675"/>
            <a:ext cx="1052993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16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and use </a:t>
            </a:r>
            <a:r>
              <a:rPr lang="en-US" sz="1650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可是</a:t>
            </a:r>
            <a:r>
              <a:rPr lang="en-US" sz="16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</a:t>
            </a:r>
            <a:r>
              <a:rPr lang="en-US" sz="1650" b="1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contrast a like/dislike with an obligation</a:t>
            </a:r>
            <a:r>
              <a:rPr lang="en-US" sz="16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</a:t>
            </a:r>
            <a:r>
              <a:rPr lang="en-US" sz="1650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我不太喜欢吃，可是我应该每天吃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333500" y="6324600"/>
            <a:ext cx="361950" cy="361950"/>
          </a:xfrm>
          <a:prstGeom prst="roundRect">
            <a:avLst>
              <a:gd name="adj" fmla="val 252632"/>
            </a:avLst>
          </a:prstGeom>
          <a:noFill/>
          <a:ln w="19050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466106" y="6400800"/>
            <a:ext cx="985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47850" y="6315075"/>
            <a:ext cx="699379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16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</a:t>
            </a:r>
            <a:r>
              <a:rPr lang="en-US" sz="1650" b="1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and understand</a:t>
            </a:r>
            <a:r>
              <a:rPr lang="en-US" sz="16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the full Text 1 dialogue about vegetables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33500" y="6858000"/>
            <a:ext cx="361950" cy="361950"/>
          </a:xfrm>
          <a:prstGeom prst="roundRect">
            <a:avLst>
              <a:gd name="adj" fmla="val 252632"/>
            </a:avLst>
          </a:prstGeom>
          <a:noFill/>
          <a:ln w="19050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465808" y="6934200"/>
            <a:ext cx="992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47850" y="6848475"/>
            <a:ext cx="798280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16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</a:t>
            </a:r>
            <a:r>
              <a:rPr lang="en-US" sz="1650" b="1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comprehension questions</a:t>
            </a:r>
            <a:r>
              <a:rPr lang="en-US" sz="16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about a short passage on vegetables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333500" y="7391400"/>
            <a:ext cx="361950" cy="361950"/>
          </a:xfrm>
          <a:prstGeom prst="roundRect">
            <a:avLst>
              <a:gd name="adj" fmla="val 252632"/>
            </a:avLst>
          </a:prstGeom>
          <a:noFill/>
          <a:ln w="19050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465213" y="7467600"/>
            <a:ext cx="10034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847850" y="7381875"/>
            <a:ext cx="80769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16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</a:t>
            </a:r>
            <a:r>
              <a:rPr lang="en-US" sz="1650" b="1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interview a partner</a:t>
            </a:r>
            <a:r>
              <a:rPr lang="en-US" sz="16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using cumulative questions about hobbies and habits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0" y="9786938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2000" y="9958388"/>
            <a:ext cx="3236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4 Vegetables &amp; Fruits 蔬菜、水果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771525"/>
          </a:xfrm>
          <a:prstGeom prst="rect">
            <a:avLst/>
          </a:prstGeom>
          <a:solidFill>
            <a:srgbClr val="FBFAF2">
              <a:alpha val="9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6763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285750"/>
            <a:ext cx="19393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可是 BUT + TEXT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053804" y="280988"/>
            <a:ext cx="198089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Vocabulary + Pattern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333500" y="1181100"/>
            <a:ext cx="17454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4F3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33500" y="1485900"/>
            <a:ext cx="867412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新词汇 + 关键句型 · New Word &amp; Key Pattern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333500" y="2286000"/>
            <a:ext cx="3238500" cy="1438275"/>
          </a:xfrm>
          <a:prstGeom prst="roundRect">
            <a:avLst>
              <a:gd name="adj" fmla="val 13245"/>
            </a:avLst>
          </a:prstGeom>
          <a:solidFill>
            <a:srgbClr val="E8E2C8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428113" y="2381250"/>
            <a:ext cx="1049274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50"/>
              </a:lnSpc>
              <a:buNone/>
            </a:pPr>
            <a:r>
              <a:rPr lang="en-US" sz="4050" b="1" dirty="0">
                <a:solidFill>
                  <a:srgbClr val="5C8A3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可是</a:t>
            </a:r>
            <a:endParaRPr lang="en-US" sz="4050" dirty="0"/>
          </a:p>
        </p:txBody>
      </p:sp>
      <p:sp>
        <p:nvSpPr>
          <p:cNvPr id="11" name="Text 9"/>
          <p:cNvSpPr/>
          <p:nvPr/>
        </p:nvSpPr>
        <p:spPr>
          <a:xfrm>
            <a:off x="2735517" y="3038475"/>
            <a:ext cx="43446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kěshì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31306" y="3314700"/>
            <a:ext cx="2428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2286000"/>
            <a:ext cx="12153900" cy="1438275"/>
          </a:xfrm>
          <a:prstGeom prst="roundRect">
            <a:avLst>
              <a:gd name="adj" fmla="val 7947"/>
            </a:avLst>
          </a:prstGeom>
          <a:solidFill>
            <a:srgbClr val="E08A3C">
              <a:alpha val="12000"/>
            </a:srgbClr>
          </a:solidFill>
          <a:ln w="19050">
            <a:solidFill>
              <a:srgbClr val="E08A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086350" y="2814638"/>
            <a:ext cx="27203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💡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505450" y="2757488"/>
            <a:ext cx="124510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可是 vs 但是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5505450" y="3043238"/>
            <a:ext cx="97437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Both mean "but" — 可是 is a little more conversational, but interchangeable in this context. Compare 但是 from Unit 3, Lesson 8.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33500" y="3971925"/>
            <a:ext cx="407140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to contrast a like/dislike with an obligation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333500" y="4305300"/>
            <a:ext cx="2260550" cy="666750"/>
          </a:xfrm>
          <a:prstGeom prst="roundRect">
            <a:avLst>
              <a:gd name="adj" fmla="val 28571"/>
            </a:avLst>
          </a:prstGeom>
          <a:solidFill>
            <a:srgbClr val="E8E2C8"/>
          </a:solidFill>
          <a:ln w="28575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590675" y="4448175"/>
            <a:ext cx="178112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我不(太)喜欢 X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3727400" y="4481513"/>
            <a:ext cx="47241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可是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323904" y="4305300"/>
            <a:ext cx="1563142" cy="666750"/>
          </a:xfrm>
          <a:prstGeom prst="roundRect">
            <a:avLst>
              <a:gd name="adj" fmla="val 28571"/>
            </a:avLst>
          </a:prstGeom>
          <a:solidFill>
            <a:srgbClr val="E8E2C8"/>
          </a:solidFill>
          <a:ln w="28575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581079" y="4448175"/>
            <a:ext cx="10697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我应该 Y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6077545" y="4519613"/>
            <a:ext cx="319913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don't (really) like X. But I should Y."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333500" y="5181600"/>
            <a:ext cx="15621000" cy="542925"/>
          </a:xfrm>
          <a:prstGeom prst="roundRect">
            <a:avLst>
              <a:gd name="adj" fmla="val 21053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552575" y="5295900"/>
            <a:ext cx="396392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我不喜欢做作业，</a:t>
            </a:r>
            <a:r>
              <a:rPr lang="en-US" sz="1800" b="1" dirty="0">
                <a:solidFill>
                  <a:srgbClr val="5C8A3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可是</a:t>
            </a:r>
            <a:r>
              <a:rPr lang="en-US" sz="18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我应该做作业。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507641" y="5353050"/>
            <a:ext cx="32923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don't like doing homework, but I should do it.</a:t>
            </a:r>
            <a:endParaRPr lang="en-US" sz="1125" dirty="0"/>
          </a:p>
        </p:txBody>
      </p:sp>
      <p:sp>
        <p:nvSpPr>
          <p:cNvPr id="27" name="Text 25"/>
          <p:cNvSpPr/>
          <p:nvPr/>
        </p:nvSpPr>
        <p:spPr>
          <a:xfrm>
            <a:off x="1333500" y="5819775"/>
            <a:ext cx="15621000" cy="542925"/>
          </a:xfrm>
          <a:prstGeom prst="roundRect">
            <a:avLst>
              <a:gd name="adj" fmla="val 21053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552575" y="5934075"/>
            <a:ext cx="373075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我不太喜欢运动，</a:t>
            </a:r>
            <a:r>
              <a:rPr lang="en-US" sz="1800" b="1" dirty="0">
                <a:solidFill>
                  <a:srgbClr val="5C8A3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可是</a:t>
            </a:r>
            <a:r>
              <a:rPr lang="en-US" sz="18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我每天跑步。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3761839" y="5991225"/>
            <a:ext cx="303305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don't really like sport, but I run every day.</a:t>
            </a:r>
            <a:endParaRPr lang="en-US" sz="1125" dirty="0"/>
          </a:p>
        </p:txBody>
      </p:sp>
      <p:sp>
        <p:nvSpPr>
          <p:cNvPr id="30" name="Text 28"/>
          <p:cNvSpPr/>
          <p:nvPr/>
        </p:nvSpPr>
        <p:spPr>
          <a:xfrm>
            <a:off x="1333500" y="6457950"/>
            <a:ext cx="15621000" cy="542925"/>
          </a:xfrm>
          <a:prstGeom prst="roundRect">
            <a:avLst>
              <a:gd name="adj" fmla="val 21053"/>
            </a:avLst>
          </a:prstGeom>
          <a:solidFill>
            <a:srgbClr val="C94F3D">
              <a:alpha val="10000"/>
            </a:srgbClr>
          </a:solidFill>
          <a:ln w="9525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552575" y="6572250"/>
            <a:ext cx="591734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我非常喜欢吃土豆，</a:t>
            </a:r>
            <a:r>
              <a:rPr lang="en-US" sz="1800" b="1" dirty="0">
                <a:solidFill>
                  <a:srgbClr val="5C8A3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可是</a:t>
            </a:r>
            <a:r>
              <a:rPr lang="en-US" sz="18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妈妈只给我吃一个！</a:t>
            </a:r>
            <a:r>
              <a:rPr lang="en-US" sz="900" b="1" dirty="0">
                <a:solidFill>
                  <a:srgbClr val="C94F3D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SILLY EXAMPLE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652772" y="6629400"/>
            <a:ext cx="41643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really like eating potatoes, but mum only lets me eat one!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0" y="9786938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2000" y="9958388"/>
            <a:ext cx="3236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4 Vegetables &amp; Fruits 蔬菜、水果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771525"/>
          </a:xfrm>
          <a:prstGeom prst="rect">
            <a:avLst/>
          </a:prstGeom>
          <a:solidFill>
            <a:srgbClr val="FBFAF2">
              <a:alpha val="9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6763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285750"/>
            <a:ext cx="19393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可是 BUT + TEXT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053804" y="280988"/>
            <a:ext cx="17158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Checkpoints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333500" y="3176588"/>
            <a:ext cx="36159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33500" y="3500438"/>
            <a:ext cx="3616139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理解检查 · CFU</a:t>
            </a:r>
            <a:endParaRPr lang="en-US" sz="3750" dirty="0"/>
          </a:p>
        </p:txBody>
      </p:sp>
      <p:sp>
        <p:nvSpPr>
          <p:cNvPr id="9" name="Text 7"/>
          <p:cNvSpPr/>
          <p:nvPr/>
        </p:nvSpPr>
        <p:spPr>
          <a:xfrm>
            <a:off x="1333500" y="4281488"/>
            <a:ext cx="438791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Respond as prompted for each question </a:t>
            </a:r>
            <a:r>
              <a:rPr lang="en-US" sz="975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CFU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33500" y="4891088"/>
            <a:ext cx="15621000" cy="1171575"/>
          </a:xfrm>
          <a:prstGeom prst="roundRect">
            <a:avLst>
              <a:gd name="adj" fmla="val 16260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609725" y="5129213"/>
            <a:ext cx="419100" cy="419100"/>
          </a:xfrm>
          <a:prstGeom prst="roundRect">
            <a:avLst>
              <a:gd name="adj" fmla="val 218182"/>
            </a:avLst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772692" y="5195888"/>
            <a:ext cx="9503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2219325" y="5176838"/>
            <a:ext cx="500667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 </a:t>
            </a:r>
            <a:r>
              <a:rPr lang="en-US" sz="210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可是</a:t>
            </a:r>
            <a:r>
              <a:rPr lang="en-US" sz="180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mean? </a:t>
            </a:r>
            <a:r>
              <a:rPr lang="en-US" sz="1425" b="1" i="1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Thumbs up if you know.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219325" y="5586413"/>
            <a:ext cx="19936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33500" y="6272213"/>
            <a:ext cx="15621000" cy="1104900"/>
          </a:xfrm>
          <a:prstGeom prst="roundRect">
            <a:avLst>
              <a:gd name="adj" fmla="val 17241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609725" y="6510338"/>
            <a:ext cx="419100" cy="419100"/>
          </a:xfrm>
          <a:prstGeom prst="roundRect">
            <a:avLst>
              <a:gd name="adj" fmla="val 218182"/>
            </a:avLst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753642" y="6577013"/>
            <a:ext cx="1338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2219325" y="6510338"/>
            <a:ext cx="1069464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would I say "I like watching TV, but I should do my homework"? </a:t>
            </a:r>
            <a:r>
              <a:rPr lang="en-US" sz="1425" b="1" i="1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it on your whiteboard.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219325" y="6900863"/>
            <a:ext cx="19936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0" y="9786938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2000" y="9958388"/>
            <a:ext cx="3236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4 Vegetables &amp; Fruits 蔬菜、水果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771525"/>
          </a:xfrm>
          <a:prstGeom prst="rect">
            <a:avLst/>
          </a:prstGeom>
          <a:solidFill>
            <a:srgbClr val="FBFAF2">
              <a:alpha val="9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6763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285750"/>
            <a:ext cx="19393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可是 BUT + TEXT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053804" y="280988"/>
            <a:ext cx="16249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Answers ↳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333500" y="3152775"/>
            <a:ext cx="275859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ANSWERS REVEALED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33500" y="3476625"/>
            <a:ext cx="3355794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Answers</a:t>
            </a:r>
            <a:endParaRPr lang="en-US" sz="3750" dirty="0"/>
          </a:p>
        </p:txBody>
      </p:sp>
      <p:sp>
        <p:nvSpPr>
          <p:cNvPr id="9" name="Text 7"/>
          <p:cNvSpPr/>
          <p:nvPr/>
        </p:nvSpPr>
        <p:spPr>
          <a:xfrm>
            <a:off x="1333500" y="4448175"/>
            <a:ext cx="15621000" cy="1381125"/>
          </a:xfrm>
          <a:prstGeom prst="roundRect">
            <a:avLst>
              <a:gd name="adj" fmla="val 13793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609725" y="4667250"/>
            <a:ext cx="419100" cy="419100"/>
          </a:xfrm>
          <a:prstGeom prst="roundRect">
            <a:avLst>
              <a:gd name="adj" fmla="val 218182"/>
            </a:avLst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772692" y="4733925"/>
            <a:ext cx="9503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2219325" y="4667250"/>
            <a:ext cx="21483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 可是 mean?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219325" y="5010150"/>
            <a:ext cx="114764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5C8A3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可是 = but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2219325" y="5400675"/>
            <a:ext cx="377902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kěshì — used to contrast two ideas, just like 但是.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33500" y="6019800"/>
            <a:ext cx="15621000" cy="1381125"/>
          </a:xfrm>
          <a:prstGeom prst="roundRect">
            <a:avLst>
              <a:gd name="adj" fmla="val 13793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609725" y="6238875"/>
            <a:ext cx="419100" cy="419100"/>
          </a:xfrm>
          <a:prstGeom prst="roundRect">
            <a:avLst>
              <a:gd name="adj" fmla="val 218182"/>
            </a:avLst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753642" y="6305550"/>
            <a:ext cx="1338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2219325" y="6238875"/>
            <a:ext cx="474511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like watching TV, but I should do my homework"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219325" y="6581775"/>
            <a:ext cx="4041648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5C8A3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我喜欢看电视，可是我应该做作业。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2219325" y="6972300"/>
            <a:ext cx="379010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wǒ xǐhuan kàn diànshì, kěshì wǒ yīnggāi zuò zuòyè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0" y="9786938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2000" y="9958388"/>
            <a:ext cx="3236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4 Vegetables &amp; Fruits 蔬菜、水果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771525"/>
          </a:xfrm>
          <a:prstGeom prst="rect">
            <a:avLst/>
          </a:prstGeom>
          <a:solidFill>
            <a:srgbClr val="FBFAF2">
              <a:alpha val="9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6763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285750"/>
            <a:ext cx="19393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可是 BUT + TEXT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053804" y="280988"/>
            <a:ext cx="15377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 1 · Full Dialogue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52500" y="1104900"/>
            <a:ext cx="38436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C94F3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TEXT PRESENTATION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952500" y="1381125"/>
            <a:ext cx="330327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课文一 · 蔬菜对话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52500" y="2085975"/>
            <a:ext cx="12668250" cy="3589734"/>
          </a:xfrm>
          <a:prstGeom prst="roundRect">
            <a:avLst>
              <a:gd name="adj" fmla="val 7430"/>
            </a:avLst>
          </a:prstGeom>
          <a:solidFill>
            <a:srgbClr val="F2EFDE"/>
          </a:solidFill>
          <a:ln w="19050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314450" y="2390775"/>
            <a:ext cx="2011561" cy="333375"/>
          </a:xfrm>
          <a:prstGeom prst="roundRect">
            <a:avLst>
              <a:gd name="adj" fmla="val 2854286"/>
            </a:avLst>
          </a:prstGeom>
          <a:solidFill>
            <a:srgbClr val="E08A3C">
              <a:alpha val="12000"/>
            </a:srgbClr>
          </a:solidFill>
          <a:ln w="9525">
            <a:solidFill>
              <a:srgbClr val="E08A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476375" y="2476500"/>
            <a:ext cx="172146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🎵 CD Track 46 · p.90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59361" y="2424113"/>
            <a:ext cx="5829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C665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课文一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14450" y="2962275"/>
            <a:ext cx="12115229" cy="1440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33"/>
              </a:lnSpc>
              <a:buNone/>
            </a:pPr>
            <a:r>
              <a:rPr lang="en-US" sz="2175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你喜欢吃蔬菜吗？我非常喜欢吃。你喜欢吃什么蔬菜？我喜欢吃黄瓜、菜花儿、土豆、生菜、西红柿等等。</a:t>
            </a:r>
            <a:endParaRPr lang="en-US" sz="2175" dirty="0"/>
          </a:p>
          <a:p>
            <a:pPr algn="l" indent="0" marL="0">
              <a:lnSpc>
                <a:spcPts val="4133"/>
              </a:lnSpc>
              <a:buNone/>
            </a:pPr>
            <a:r>
              <a:rPr lang="en-US" sz="2175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你呢？我不太喜欢吃。</a:t>
            </a:r>
            <a:endParaRPr lang="en-US" sz="2175" dirty="0"/>
          </a:p>
          <a:p>
            <a:pPr algn="l" indent="0" marL="0">
              <a:lnSpc>
                <a:spcPts val="4133"/>
              </a:lnSpc>
              <a:buNone/>
            </a:pPr>
            <a:r>
              <a:rPr lang="en-US" sz="2175" b="1" dirty="0">
                <a:solidFill>
                  <a:srgbClr val="E08A3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可是</a:t>
            </a:r>
            <a:r>
              <a:rPr lang="en-US" sz="2175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我妈妈说我应该每天吃蔬菜。</a:t>
            </a:r>
            <a:endParaRPr lang="en-US" sz="2175" dirty="0"/>
          </a:p>
        </p:txBody>
      </p:sp>
      <p:sp>
        <p:nvSpPr>
          <p:cNvPr id="14" name="Shape 12"/>
          <p:cNvSpPr/>
          <p:nvPr/>
        </p:nvSpPr>
        <p:spPr>
          <a:xfrm>
            <a:off x="1314450" y="4665166"/>
            <a:ext cx="11944350" cy="0"/>
          </a:xfrm>
          <a:prstGeom prst="line">
            <a:avLst/>
          </a:prstGeom>
          <a:noFill/>
          <a:ln w="9525">
            <a:solidFill>
              <a:srgbClr val="CFC7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14450" y="4850904"/>
            <a:ext cx="11747254" cy="48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2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Nǐ xǐhuan chī shūcài ma? Wǒ fēicháng xǐhuan chī. Nǐ xǐhuan chī shénme shūcài? Wǒ xǐhuan chī huángguā, càihuār, tǔdòu, shēngcài, xīhóngshì děngděng.</a:t>
            </a:r>
            <a:endParaRPr lang="en-US" sz="1200" dirty="0"/>
          </a:p>
          <a:p>
            <a:pPr algn="l" indent="0" marL="0">
              <a:lnSpc>
                <a:spcPts val="2160"/>
              </a:lnSpc>
              <a:buNone/>
            </a:pPr>
            <a:r>
              <a:rPr lang="en-US" sz="12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Nǐ ne? Wǒ bú tài xǐhuan chī. Kěshì wǒ māma shuō wǒ yīnggāi měitiān chī shūcài.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906500" y="2085975"/>
            <a:ext cx="3429000" cy="1219200"/>
          </a:xfrm>
          <a:prstGeom prst="roundRect">
            <a:avLst>
              <a:gd name="adj" fmla="val 15625"/>
            </a:avLst>
          </a:prstGeom>
          <a:solidFill>
            <a:srgbClr val="E8E2C8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5153291" y="2219325"/>
            <a:ext cx="93526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50"/>
              </a:lnSpc>
              <a:buNone/>
            </a:pPr>
            <a:r>
              <a:rPr lang="en-US" sz="2550" b="1" dirty="0">
                <a:solidFill>
                  <a:srgbClr val="5C8A3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 ↔ B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4827517" y="2667000"/>
            <a:ext cx="158696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Two-speaker dialogue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14322766" y="2905125"/>
            <a:ext cx="25964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asks about vegetables, B answers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13906500" y="3457575"/>
            <a:ext cx="3429000" cy="923925"/>
          </a:xfrm>
          <a:prstGeom prst="roundRect">
            <a:avLst>
              <a:gd name="adj" fmla="val 12371"/>
            </a:avLst>
          </a:prstGeom>
          <a:solidFill>
            <a:srgbClr val="C94F3D">
              <a:alpha val="10000"/>
            </a:srgbClr>
          </a:solidFill>
          <a:ln w="19050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4116050" y="3762375"/>
            <a:ext cx="23317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⚠️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458950" y="3609975"/>
            <a:ext cx="146658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94F3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不太喜欢 ≠ 不喜欢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4458950" y="3848100"/>
            <a:ext cx="269498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不太 softens the meaning — "not really / not very," not a full "don't like."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0" y="9786938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2000" y="9958388"/>
            <a:ext cx="3236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4 Vegetables &amp; Fruits 蔬菜、水果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771525"/>
          </a:xfrm>
          <a:prstGeom prst="rect">
            <a:avLst/>
          </a:prstGeom>
          <a:solidFill>
            <a:srgbClr val="FBFAF2">
              <a:alpha val="9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6763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285750"/>
            <a:ext cx="19393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可是 BUT + TEXT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053804" y="280988"/>
            <a:ext cx="17243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 1 · Comprehension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333500" y="2190750"/>
            <a:ext cx="36408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4F3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COMPREHENSION QUESTIONS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33500" y="2514600"/>
            <a:ext cx="575400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理解检查 · Comprehension</a:t>
            </a:r>
            <a:endParaRPr lang="en-US" sz="3750" dirty="0"/>
          </a:p>
        </p:txBody>
      </p:sp>
      <p:sp>
        <p:nvSpPr>
          <p:cNvPr id="9" name="Text 7"/>
          <p:cNvSpPr/>
          <p:nvPr/>
        </p:nvSpPr>
        <p:spPr>
          <a:xfrm>
            <a:off x="1333500" y="3295650"/>
            <a:ext cx="841362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in Chinese where you can — English is OK for a first attempt </a:t>
            </a:r>
            <a:r>
              <a:rPr lang="en-US" sz="975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CHINESE PREFERRED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33500" y="3867150"/>
            <a:ext cx="15621000" cy="1371600"/>
          </a:xfrm>
          <a:prstGeom prst="roundRect">
            <a:avLst>
              <a:gd name="adj" fmla="val 13889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609725" y="4086225"/>
            <a:ext cx="419100" cy="419100"/>
          </a:xfrm>
          <a:prstGeom prst="roundRect">
            <a:avLst>
              <a:gd name="adj" fmla="val 218182"/>
            </a:avLst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772692" y="4152900"/>
            <a:ext cx="9503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2219325" y="4086225"/>
            <a:ext cx="29146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第一个人喜欢吃什么蔬菜？</a:t>
            </a:r>
            <a:endParaRPr lang="en-US" sz="1875" dirty="0"/>
          </a:p>
        </p:txBody>
      </p:sp>
      <p:sp>
        <p:nvSpPr>
          <p:cNvPr id="14" name="Text 12"/>
          <p:cNvSpPr/>
          <p:nvPr/>
        </p:nvSpPr>
        <p:spPr>
          <a:xfrm>
            <a:off x="2219325" y="4486275"/>
            <a:ext cx="335867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vegetables does the first speaker like?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219325" y="4772025"/>
            <a:ext cx="2104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25" i="1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1425" dirty="0"/>
          </a:p>
        </p:txBody>
      </p:sp>
      <p:sp>
        <p:nvSpPr>
          <p:cNvPr id="16" name="Text 14"/>
          <p:cNvSpPr/>
          <p:nvPr/>
        </p:nvSpPr>
        <p:spPr>
          <a:xfrm>
            <a:off x="1333500" y="5429250"/>
            <a:ext cx="15621000" cy="1371600"/>
          </a:xfrm>
          <a:prstGeom prst="roundRect">
            <a:avLst>
              <a:gd name="adj" fmla="val 13889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609725" y="5648325"/>
            <a:ext cx="419100" cy="419100"/>
          </a:xfrm>
          <a:prstGeom prst="roundRect">
            <a:avLst>
              <a:gd name="adj" fmla="val 218182"/>
            </a:avLst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753642" y="5715000"/>
            <a:ext cx="1338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2219325" y="5648325"/>
            <a:ext cx="267176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第二个人喜欢吃蔬菜吗？</a:t>
            </a: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2219325" y="6048375"/>
            <a:ext cx="317028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Does the second speaker like vegetables?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219325" y="6334125"/>
            <a:ext cx="2104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25" i="1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1425" dirty="0"/>
          </a:p>
        </p:txBody>
      </p:sp>
      <p:sp>
        <p:nvSpPr>
          <p:cNvPr id="22" name="Text 20"/>
          <p:cNvSpPr/>
          <p:nvPr/>
        </p:nvSpPr>
        <p:spPr>
          <a:xfrm>
            <a:off x="1333500" y="6991350"/>
            <a:ext cx="15621000" cy="1371600"/>
          </a:xfrm>
          <a:prstGeom prst="roundRect">
            <a:avLst>
              <a:gd name="adj" fmla="val 13889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609725" y="7210425"/>
            <a:ext cx="419100" cy="419100"/>
          </a:xfrm>
          <a:prstGeom prst="roundRect">
            <a:avLst>
              <a:gd name="adj" fmla="val 218182"/>
            </a:avLst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753046" y="7277100"/>
            <a:ext cx="13495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2219325" y="7210425"/>
            <a:ext cx="267176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第二个人的妈妈说什么？</a:t>
            </a:r>
            <a:endParaRPr lang="en-US" sz="1875" dirty="0"/>
          </a:p>
        </p:txBody>
      </p:sp>
      <p:sp>
        <p:nvSpPr>
          <p:cNvPr id="26" name="Text 24"/>
          <p:cNvSpPr/>
          <p:nvPr/>
        </p:nvSpPr>
        <p:spPr>
          <a:xfrm>
            <a:off x="2219325" y="7610475"/>
            <a:ext cx="327017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 the second speaker's mum say?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219325" y="7896225"/>
            <a:ext cx="2104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25" i="1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on next slide →</a:t>
            </a:r>
            <a:endParaRPr lang="en-US" sz="1425" dirty="0"/>
          </a:p>
        </p:txBody>
      </p:sp>
      <p:sp>
        <p:nvSpPr>
          <p:cNvPr id="28" name="Shape 26"/>
          <p:cNvSpPr/>
          <p:nvPr/>
        </p:nvSpPr>
        <p:spPr>
          <a:xfrm>
            <a:off x="0" y="9786938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2000" y="9958388"/>
            <a:ext cx="3236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4 Vegetables &amp; Fruits 蔬菜、水果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771525"/>
          </a:xfrm>
          <a:prstGeom prst="rect">
            <a:avLst/>
          </a:prstGeom>
          <a:solidFill>
            <a:srgbClr val="FBFAF2">
              <a:alpha val="9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6763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285750"/>
            <a:ext cx="19393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可是 BUT + TEXT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053804" y="280988"/>
            <a:ext cx="14061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 1 · Answers ↳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333500" y="2509838"/>
            <a:ext cx="275859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4F3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ANSWERS REVEALED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33500" y="2833688"/>
            <a:ext cx="3355794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Answers</a:t>
            </a:r>
            <a:endParaRPr lang="en-US" sz="3750" dirty="0"/>
          </a:p>
        </p:txBody>
      </p:sp>
      <p:sp>
        <p:nvSpPr>
          <p:cNvPr id="9" name="Text 7"/>
          <p:cNvSpPr/>
          <p:nvPr/>
        </p:nvSpPr>
        <p:spPr>
          <a:xfrm>
            <a:off x="1333500" y="3805237"/>
            <a:ext cx="15621000" cy="1285875"/>
          </a:xfrm>
          <a:prstGeom prst="roundRect">
            <a:avLst>
              <a:gd name="adj" fmla="val 14815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609725" y="4005262"/>
            <a:ext cx="419100" cy="419100"/>
          </a:xfrm>
          <a:prstGeom prst="roundRect">
            <a:avLst>
              <a:gd name="adj" fmla="val 218182"/>
            </a:avLst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772692" y="4071938"/>
            <a:ext cx="9503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2219325" y="4005262"/>
            <a:ext cx="22573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第一个人喜欢吃什么蔬菜？</a:t>
            </a:r>
            <a:endParaRPr lang="en-US" sz="1425" dirty="0"/>
          </a:p>
        </p:txBody>
      </p:sp>
      <p:sp>
        <p:nvSpPr>
          <p:cNvPr id="13" name="Text 11"/>
          <p:cNvSpPr/>
          <p:nvPr/>
        </p:nvSpPr>
        <p:spPr>
          <a:xfrm>
            <a:off x="2219325" y="4329113"/>
            <a:ext cx="536295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C8A3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他喜欢吃黄瓜、菜花儿、土豆、生菜、西红柿等等。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219325" y="4681538"/>
            <a:ext cx="440127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Cucumber, cauliflower, potato, lettuce, tomato, and so on.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33500" y="5281613"/>
            <a:ext cx="15621000" cy="1285875"/>
          </a:xfrm>
          <a:prstGeom prst="roundRect">
            <a:avLst>
              <a:gd name="adj" fmla="val 14815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609725" y="5481638"/>
            <a:ext cx="419100" cy="419100"/>
          </a:xfrm>
          <a:prstGeom prst="roundRect">
            <a:avLst>
              <a:gd name="adj" fmla="val 218182"/>
            </a:avLst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753642" y="5548313"/>
            <a:ext cx="1338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2219325" y="5481638"/>
            <a:ext cx="2069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第二个人喜欢吃蔬菜吗？</a:t>
            </a:r>
            <a:endParaRPr lang="en-US" sz="1425" dirty="0"/>
          </a:p>
        </p:txBody>
      </p:sp>
      <p:sp>
        <p:nvSpPr>
          <p:cNvPr id="19" name="Text 17"/>
          <p:cNvSpPr/>
          <p:nvPr/>
        </p:nvSpPr>
        <p:spPr>
          <a:xfrm>
            <a:off x="2219325" y="5805488"/>
            <a:ext cx="256489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C8A3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不，她不太喜欢吃蔬菜。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219325" y="6157913"/>
            <a:ext cx="336960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No, she doesn't really like eating vegetables.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33500" y="6757988"/>
            <a:ext cx="15621000" cy="1285875"/>
          </a:xfrm>
          <a:prstGeom prst="roundRect">
            <a:avLst>
              <a:gd name="adj" fmla="val 14815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609725" y="6958013"/>
            <a:ext cx="419100" cy="419100"/>
          </a:xfrm>
          <a:prstGeom prst="roundRect">
            <a:avLst>
              <a:gd name="adj" fmla="val 218182"/>
            </a:avLst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753046" y="7024688"/>
            <a:ext cx="13495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2219325" y="6958013"/>
            <a:ext cx="2069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第二个人的妈妈说什么？</a:t>
            </a:r>
            <a:endParaRPr lang="en-US" sz="1425" dirty="0"/>
          </a:p>
        </p:txBody>
      </p:sp>
      <p:sp>
        <p:nvSpPr>
          <p:cNvPr id="25" name="Text 23"/>
          <p:cNvSpPr/>
          <p:nvPr/>
        </p:nvSpPr>
        <p:spPr>
          <a:xfrm>
            <a:off x="2219325" y="7281863"/>
            <a:ext cx="279806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C8A3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妈妈说她应该每天吃蔬菜。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2219325" y="7634288"/>
            <a:ext cx="358562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Mum says she should eat vegetables every day.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0" y="9786938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2000" y="9958388"/>
            <a:ext cx="3236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4 Vegetables &amp; Fruits 蔬菜、水果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771525"/>
          </a:xfrm>
          <a:prstGeom prst="rect">
            <a:avLst/>
          </a:prstGeom>
          <a:solidFill>
            <a:srgbClr val="FBFAF2">
              <a:alpha val="9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6763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285750"/>
            <a:ext cx="19393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可是 BUT + TEXT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053804" y="280988"/>
            <a:ext cx="265293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We Do → You Do · 7 min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52500" y="1152525"/>
            <a:ext cx="1259681" cy="304800"/>
          </a:xfrm>
          <a:prstGeom prst="roundRect">
            <a:avLst>
              <a:gd name="adj" fmla="val 3121875"/>
            </a:avLst>
          </a:prstGeom>
          <a:solidFill>
            <a:srgbClr val="E08A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143000" y="1209675"/>
            <a:ext cx="89625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402681" y="1066800"/>
            <a:ext cx="7308333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完成句子 + 图片写作 · Complete + Picture Task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52500" y="1676400"/>
            <a:ext cx="881211" cy="323850"/>
          </a:xfrm>
          <a:prstGeom prst="roundRect">
            <a:avLst>
              <a:gd name="adj" fmla="val 2938235"/>
            </a:avLst>
          </a:prstGeom>
          <a:solidFill>
            <a:srgbClr val="5C8A3A">
              <a:alpha val="12000"/>
            </a:srgbClr>
          </a:solidFill>
          <a:ln w="9525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14425" y="1733550"/>
            <a:ext cx="56850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7 min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1948011" y="1704975"/>
            <a:ext cx="1577429" cy="266700"/>
          </a:xfrm>
          <a:prstGeom prst="roundRect">
            <a:avLst>
              <a:gd name="adj" fmla="val 3567857"/>
            </a:avLst>
          </a:prstGeom>
          <a:solidFill>
            <a:srgbClr val="E08A3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081361" y="1752600"/>
            <a:ext cx="133694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→ YOU DO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952500" y="2181225"/>
            <a:ext cx="28452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50"/>
              </a:spcAft>
              <a:buNone/>
            </a:pPr>
            <a:r>
              <a:rPr lang="en-US" sz="1125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完成句子 · TEXTBOOK ACT.7, P.93</a:t>
            </a:r>
            <a:endParaRPr lang="en-US" sz="1125" dirty="0"/>
          </a:p>
        </p:txBody>
      </p:sp>
      <p:sp>
        <p:nvSpPr>
          <p:cNvPr id="15" name="Text 13"/>
          <p:cNvSpPr/>
          <p:nvPr/>
        </p:nvSpPr>
        <p:spPr>
          <a:xfrm>
            <a:off x="952500" y="2381250"/>
            <a:ext cx="5715000" cy="438150"/>
          </a:xfrm>
          <a:prstGeom prst="roundRect">
            <a:avLst>
              <a:gd name="adj" fmla="val 26087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114425" y="2476500"/>
            <a:ext cx="247650" cy="247650"/>
          </a:xfrm>
          <a:prstGeom prst="roundRect">
            <a:avLst>
              <a:gd name="adj" fmla="val 369231"/>
            </a:avLst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210270" y="2514600"/>
            <a:ext cx="5707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1476375" y="2476500"/>
            <a:ext cx="24288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25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我不太喜欢运动，可是</a:t>
            </a:r>
            <a:endParaRPr lang="en-US" sz="1425" dirty="0"/>
          </a:p>
        </p:txBody>
      </p:sp>
      <p:sp>
        <p:nvSpPr>
          <p:cNvPr id="19" name="Text 17"/>
          <p:cNvSpPr/>
          <p:nvPr/>
        </p:nvSpPr>
        <p:spPr>
          <a:xfrm>
            <a:off x="952500" y="2895600"/>
            <a:ext cx="5715000" cy="438150"/>
          </a:xfrm>
          <a:prstGeom prst="roundRect">
            <a:avLst>
              <a:gd name="adj" fmla="val 26087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114425" y="2990850"/>
            <a:ext cx="247650" cy="247650"/>
          </a:xfrm>
          <a:prstGeom prst="roundRect">
            <a:avLst>
              <a:gd name="adj" fmla="val 369231"/>
            </a:avLst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198959" y="3028950"/>
            <a:ext cx="8000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75" dirty="0"/>
          </a:p>
        </p:txBody>
      </p:sp>
      <p:sp>
        <p:nvSpPr>
          <p:cNvPr id="22" name="Text 20"/>
          <p:cNvSpPr/>
          <p:nvPr/>
        </p:nvSpPr>
        <p:spPr>
          <a:xfrm>
            <a:off x="1476375" y="2990850"/>
            <a:ext cx="261347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25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我不太喜欢看电视，可是</a:t>
            </a:r>
            <a:endParaRPr lang="en-US" sz="1425" dirty="0"/>
          </a:p>
        </p:txBody>
      </p:sp>
      <p:sp>
        <p:nvSpPr>
          <p:cNvPr id="23" name="Text 21"/>
          <p:cNvSpPr/>
          <p:nvPr/>
        </p:nvSpPr>
        <p:spPr>
          <a:xfrm>
            <a:off x="952500" y="3409950"/>
            <a:ext cx="5715000" cy="438150"/>
          </a:xfrm>
          <a:prstGeom prst="roundRect">
            <a:avLst>
              <a:gd name="adj" fmla="val 26087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114425" y="3505200"/>
            <a:ext cx="247650" cy="247650"/>
          </a:xfrm>
          <a:prstGeom prst="roundRect">
            <a:avLst>
              <a:gd name="adj" fmla="val 369231"/>
            </a:avLst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198662" y="3543300"/>
            <a:ext cx="8060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75" dirty="0"/>
          </a:p>
        </p:txBody>
      </p:sp>
      <p:sp>
        <p:nvSpPr>
          <p:cNvPr id="26" name="Text 24"/>
          <p:cNvSpPr/>
          <p:nvPr/>
        </p:nvSpPr>
        <p:spPr>
          <a:xfrm>
            <a:off x="1476375" y="3505200"/>
            <a:ext cx="24288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25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我不喜欢做作业，可是</a:t>
            </a:r>
            <a:endParaRPr lang="en-US" sz="1425" dirty="0"/>
          </a:p>
        </p:txBody>
      </p:sp>
      <p:sp>
        <p:nvSpPr>
          <p:cNvPr id="27" name="Text 25"/>
          <p:cNvSpPr/>
          <p:nvPr/>
        </p:nvSpPr>
        <p:spPr>
          <a:xfrm>
            <a:off x="952500" y="3924300"/>
            <a:ext cx="5715000" cy="438150"/>
          </a:xfrm>
          <a:prstGeom prst="roundRect">
            <a:avLst>
              <a:gd name="adj" fmla="val 26087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114425" y="4019550"/>
            <a:ext cx="247650" cy="247650"/>
          </a:xfrm>
          <a:prstGeom prst="roundRect">
            <a:avLst>
              <a:gd name="adj" fmla="val 369231"/>
            </a:avLst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198215" y="4057650"/>
            <a:ext cx="815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75" dirty="0"/>
          </a:p>
        </p:txBody>
      </p:sp>
      <p:sp>
        <p:nvSpPr>
          <p:cNvPr id="30" name="Text 28"/>
          <p:cNvSpPr/>
          <p:nvPr/>
        </p:nvSpPr>
        <p:spPr>
          <a:xfrm>
            <a:off x="1476375" y="4019550"/>
            <a:ext cx="261347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25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我不太喜欢吃蔬菜，可是</a:t>
            </a:r>
            <a:endParaRPr lang="en-US" sz="1425" dirty="0"/>
          </a:p>
        </p:txBody>
      </p:sp>
      <p:sp>
        <p:nvSpPr>
          <p:cNvPr id="31" name="Text 29"/>
          <p:cNvSpPr/>
          <p:nvPr/>
        </p:nvSpPr>
        <p:spPr>
          <a:xfrm>
            <a:off x="952500" y="4438650"/>
            <a:ext cx="5715000" cy="438150"/>
          </a:xfrm>
          <a:prstGeom prst="roundRect">
            <a:avLst>
              <a:gd name="adj" fmla="val 26087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114425" y="4533900"/>
            <a:ext cx="247650" cy="247650"/>
          </a:xfrm>
          <a:prstGeom prst="roundRect">
            <a:avLst>
              <a:gd name="adj" fmla="val 369231"/>
            </a:avLst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198811" y="4572000"/>
            <a:ext cx="8045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975" dirty="0"/>
          </a:p>
        </p:txBody>
      </p:sp>
      <p:sp>
        <p:nvSpPr>
          <p:cNvPr id="34" name="Text 32"/>
          <p:cNvSpPr/>
          <p:nvPr/>
        </p:nvSpPr>
        <p:spPr>
          <a:xfrm>
            <a:off x="1476375" y="4533900"/>
            <a:ext cx="224428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25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我不喜欢坐车，可是</a:t>
            </a:r>
            <a:endParaRPr lang="en-US" sz="1425" dirty="0"/>
          </a:p>
        </p:txBody>
      </p:sp>
      <p:sp>
        <p:nvSpPr>
          <p:cNvPr id="35" name="Text 33"/>
          <p:cNvSpPr/>
          <p:nvPr/>
        </p:nvSpPr>
        <p:spPr>
          <a:xfrm>
            <a:off x="952500" y="4953000"/>
            <a:ext cx="5715000" cy="438150"/>
          </a:xfrm>
          <a:prstGeom prst="roundRect">
            <a:avLst>
              <a:gd name="adj" fmla="val 26087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114425" y="5048250"/>
            <a:ext cx="247650" cy="247650"/>
          </a:xfrm>
          <a:prstGeom prst="roundRect">
            <a:avLst>
              <a:gd name="adj" fmla="val 369231"/>
            </a:avLst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198066" y="5086350"/>
            <a:ext cx="818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975" dirty="0"/>
          </a:p>
        </p:txBody>
      </p:sp>
      <p:sp>
        <p:nvSpPr>
          <p:cNvPr id="38" name="Text 36"/>
          <p:cNvSpPr/>
          <p:nvPr/>
        </p:nvSpPr>
        <p:spPr>
          <a:xfrm>
            <a:off x="1476375" y="5048250"/>
            <a:ext cx="24288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25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我不太喜欢上学，可是</a:t>
            </a:r>
            <a:endParaRPr lang="en-US" sz="1425" dirty="0"/>
          </a:p>
        </p:txBody>
      </p:sp>
      <p:sp>
        <p:nvSpPr>
          <p:cNvPr id="39" name="Text 37"/>
          <p:cNvSpPr/>
          <p:nvPr/>
        </p:nvSpPr>
        <p:spPr>
          <a:xfrm>
            <a:off x="952500" y="5467350"/>
            <a:ext cx="5715000" cy="438150"/>
          </a:xfrm>
          <a:prstGeom prst="roundRect">
            <a:avLst>
              <a:gd name="adj" fmla="val 26087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1114425" y="5562600"/>
            <a:ext cx="247650" cy="247650"/>
          </a:xfrm>
          <a:prstGeom prst="roundRect">
            <a:avLst>
              <a:gd name="adj" fmla="val 369231"/>
            </a:avLst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201638" y="5600700"/>
            <a:ext cx="74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975" dirty="0"/>
          </a:p>
        </p:txBody>
      </p:sp>
      <p:sp>
        <p:nvSpPr>
          <p:cNvPr id="42" name="Text 40"/>
          <p:cNvSpPr/>
          <p:nvPr/>
        </p:nvSpPr>
        <p:spPr>
          <a:xfrm>
            <a:off x="1476375" y="5562600"/>
            <a:ext cx="24288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25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我不太喜欢音乐，可是</a:t>
            </a:r>
            <a:endParaRPr lang="en-US" sz="1425" dirty="0"/>
          </a:p>
        </p:txBody>
      </p:sp>
      <p:sp>
        <p:nvSpPr>
          <p:cNvPr id="43" name="Text 41"/>
          <p:cNvSpPr/>
          <p:nvPr/>
        </p:nvSpPr>
        <p:spPr>
          <a:xfrm>
            <a:off x="6934200" y="2181225"/>
            <a:ext cx="378767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50"/>
              </a:spcAft>
              <a:buNone/>
            </a:pPr>
            <a:r>
              <a:rPr lang="en-US" sz="1125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图片写句子 · WORKBOOK EX.2 — 8 PICTURES</a:t>
            </a:r>
            <a:endParaRPr lang="en-US" sz="1125" dirty="0"/>
          </a:p>
        </p:txBody>
      </p:sp>
      <p:sp>
        <p:nvSpPr>
          <p:cNvPr id="44" name="Text 42"/>
          <p:cNvSpPr/>
          <p:nvPr/>
        </p:nvSpPr>
        <p:spPr>
          <a:xfrm>
            <a:off x="6934200" y="2381250"/>
            <a:ext cx="2543175" cy="819150"/>
          </a:xfrm>
          <a:prstGeom prst="roundRect">
            <a:avLst>
              <a:gd name="adj" fmla="val 13953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8180741" y="2505075"/>
            <a:ext cx="499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7958042" y="2667000"/>
            <a:ext cx="4954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菜花儿</a:t>
            </a:r>
            <a:endParaRPr lang="en-US" sz="1275" dirty="0"/>
          </a:p>
        </p:txBody>
      </p:sp>
      <p:sp>
        <p:nvSpPr>
          <p:cNvPr id="47" name="Text 45"/>
          <p:cNvSpPr/>
          <p:nvPr/>
        </p:nvSpPr>
        <p:spPr>
          <a:xfrm>
            <a:off x="7923734" y="2924175"/>
            <a:ext cx="56410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cauliflower</a:t>
            </a:r>
            <a:endParaRPr lang="en-US" sz="825" dirty="0"/>
          </a:p>
        </p:txBody>
      </p:sp>
      <p:sp>
        <p:nvSpPr>
          <p:cNvPr id="48" name="Text 46"/>
          <p:cNvSpPr/>
          <p:nvPr/>
        </p:nvSpPr>
        <p:spPr>
          <a:xfrm>
            <a:off x="9553575" y="2381250"/>
            <a:ext cx="2543175" cy="819150"/>
          </a:xfrm>
          <a:prstGeom prst="roundRect">
            <a:avLst>
              <a:gd name="adj" fmla="val 13953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10791312" y="2505075"/>
            <a:ext cx="6755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10659999" y="2667000"/>
            <a:ext cx="3303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钢琴</a:t>
            </a:r>
            <a:endParaRPr lang="en-US" sz="1275" dirty="0"/>
          </a:p>
        </p:txBody>
      </p:sp>
      <p:sp>
        <p:nvSpPr>
          <p:cNvPr id="51" name="Text 49"/>
          <p:cNvSpPr/>
          <p:nvPr/>
        </p:nvSpPr>
        <p:spPr>
          <a:xfrm>
            <a:off x="10682922" y="2924175"/>
            <a:ext cx="28448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piano</a:t>
            </a:r>
            <a:endParaRPr lang="en-US" sz="825" dirty="0"/>
          </a:p>
        </p:txBody>
      </p:sp>
      <p:sp>
        <p:nvSpPr>
          <p:cNvPr id="52" name="Text 50"/>
          <p:cNvSpPr/>
          <p:nvPr/>
        </p:nvSpPr>
        <p:spPr>
          <a:xfrm>
            <a:off x="12172950" y="2381250"/>
            <a:ext cx="2543175" cy="819150"/>
          </a:xfrm>
          <a:prstGeom prst="roundRect">
            <a:avLst>
              <a:gd name="adj" fmla="val 13953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13410533" y="2505075"/>
            <a:ext cx="6800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13279374" y="2667000"/>
            <a:ext cx="3303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电视</a:t>
            </a:r>
            <a:endParaRPr lang="en-US" sz="1275" dirty="0"/>
          </a:p>
        </p:txBody>
      </p:sp>
      <p:sp>
        <p:nvSpPr>
          <p:cNvPr id="55" name="Text 53"/>
          <p:cNvSpPr/>
          <p:nvPr/>
        </p:nvSpPr>
        <p:spPr>
          <a:xfrm>
            <a:off x="13374859" y="2924175"/>
            <a:ext cx="1393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TV</a:t>
            </a:r>
            <a:endParaRPr lang="en-US" sz="825" dirty="0"/>
          </a:p>
        </p:txBody>
      </p:sp>
      <p:sp>
        <p:nvSpPr>
          <p:cNvPr id="56" name="Text 54"/>
          <p:cNvSpPr/>
          <p:nvPr/>
        </p:nvSpPr>
        <p:spPr>
          <a:xfrm>
            <a:off x="14792325" y="2381250"/>
            <a:ext cx="2543175" cy="819150"/>
          </a:xfrm>
          <a:prstGeom prst="roundRect">
            <a:avLst>
              <a:gd name="adj" fmla="val 13953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6029454" y="2505075"/>
            <a:ext cx="6876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15816167" y="2667000"/>
            <a:ext cx="4954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西红柿</a:t>
            </a:r>
            <a:endParaRPr lang="en-US" sz="1275" dirty="0"/>
          </a:p>
        </p:txBody>
      </p:sp>
      <p:sp>
        <p:nvSpPr>
          <p:cNvPr id="59" name="Text 57"/>
          <p:cNvSpPr/>
          <p:nvPr/>
        </p:nvSpPr>
        <p:spPr>
          <a:xfrm>
            <a:off x="15880382" y="2924175"/>
            <a:ext cx="3669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tomato</a:t>
            </a:r>
            <a:endParaRPr lang="en-US" sz="825" dirty="0"/>
          </a:p>
        </p:txBody>
      </p:sp>
      <p:sp>
        <p:nvSpPr>
          <p:cNvPr id="60" name="Text 58"/>
          <p:cNvSpPr/>
          <p:nvPr/>
        </p:nvSpPr>
        <p:spPr>
          <a:xfrm>
            <a:off x="6934200" y="3276600"/>
            <a:ext cx="2543175" cy="819150"/>
          </a:xfrm>
          <a:prstGeom prst="roundRect">
            <a:avLst>
              <a:gd name="adj" fmla="val 13953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171785" y="3400425"/>
            <a:ext cx="6785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958042" y="3562350"/>
            <a:ext cx="4954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小提琴</a:t>
            </a:r>
            <a:endParaRPr lang="en-US" sz="1275" dirty="0"/>
          </a:p>
        </p:txBody>
      </p:sp>
      <p:sp>
        <p:nvSpPr>
          <p:cNvPr id="63" name="Text 61"/>
          <p:cNvSpPr/>
          <p:nvPr/>
        </p:nvSpPr>
        <p:spPr>
          <a:xfrm>
            <a:off x="8071440" y="3819525"/>
            <a:ext cx="2686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violin</a:t>
            </a:r>
            <a:endParaRPr lang="en-US" sz="825" dirty="0"/>
          </a:p>
        </p:txBody>
      </p:sp>
      <p:sp>
        <p:nvSpPr>
          <p:cNvPr id="64" name="Text 62"/>
          <p:cNvSpPr/>
          <p:nvPr/>
        </p:nvSpPr>
        <p:spPr>
          <a:xfrm>
            <a:off x="9553575" y="3276600"/>
            <a:ext cx="2543175" cy="819150"/>
          </a:xfrm>
          <a:prstGeom prst="roundRect">
            <a:avLst>
              <a:gd name="adj" fmla="val 13953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0790703" y="3400425"/>
            <a:ext cx="689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10577417" y="3562350"/>
            <a:ext cx="4954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油画儿</a:t>
            </a:r>
            <a:endParaRPr lang="en-US" sz="1275" dirty="0"/>
          </a:p>
        </p:txBody>
      </p:sp>
      <p:sp>
        <p:nvSpPr>
          <p:cNvPr id="67" name="Text 65"/>
          <p:cNvSpPr/>
          <p:nvPr/>
        </p:nvSpPr>
        <p:spPr>
          <a:xfrm>
            <a:off x="10536278" y="3819525"/>
            <a:ext cx="5777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oil painting</a:t>
            </a:r>
            <a:endParaRPr lang="en-US" sz="825" dirty="0"/>
          </a:p>
        </p:txBody>
      </p:sp>
      <p:sp>
        <p:nvSpPr>
          <p:cNvPr id="68" name="Text 66"/>
          <p:cNvSpPr/>
          <p:nvPr/>
        </p:nvSpPr>
        <p:spPr>
          <a:xfrm>
            <a:off x="12172950" y="3276600"/>
            <a:ext cx="2543175" cy="819150"/>
          </a:xfrm>
          <a:prstGeom prst="roundRect">
            <a:avLst>
              <a:gd name="adj" fmla="val 13953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13412812" y="3400425"/>
            <a:ext cx="6330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13279374" y="3562350"/>
            <a:ext cx="3303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篮球</a:t>
            </a:r>
            <a:endParaRPr lang="en-US" sz="1275" dirty="0"/>
          </a:p>
        </p:txBody>
      </p:sp>
      <p:sp>
        <p:nvSpPr>
          <p:cNvPr id="71" name="Text 69"/>
          <p:cNvSpPr/>
          <p:nvPr/>
        </p:nvSpPr>
        <p:spPr>
          <a:xfrm>
            <a:off x="13181006" y="3819525"/>
            <a:ext cx="52691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basketball</a:t>
            </a:r>
            <a:endParaRPr lang="en-US" sz="825" dirty="0"/>
          </a:p>
        </p:txBody>
      </p:sp>
      <p:sp>
        <p:nvSpPr>
          <p:cNvPr id="72" name="Text 70"/>
          <p:cNvSpPr/>
          <p:nvPr/>
        </p:nvSpPr>
        <p:spPr>
          <a:xfrm>
            <a:off x="14792325" y="3276600"/>
            <a:ext cx="2543175" cy="819150"/>
          </a:xfrm>
          <a:prstGeom prst="roundRect">
            <a:avLst>
              <a:gd name="adj" fmla="val 13953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6029605" y="3400425"/>
            <a:ext cx="6861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15898749" y="3562350"/>
            <a:ext cx="33032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7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跳舞</a:t>
            </a:r>
            <a:endParaRPr lang="en-US" sz="1275" dirty="0"/>
          </a:p>
        </p:txBody>
      </p:sp>
      <p:sp>
        <p:nvSpPr>
          <p:cNvPr id="75" name="Text 73"/>
          <p:cNvSpPr/>
          <p:nvPr/>
        </p:nvSpPr>
        <p:spPr>
          <a:xfrm>
            <a:off x="15859887" y="3819525"/>
            <a:ext cx="4080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dancing</a:t>
            </a:r>
            <a:endParaRPr lang="en-US" sz="825" dirty="0"/>
          </a:p>
        </p:txBody>
      </p:sp>
      <p:sp>
        <p:nvSpPr>
          <p:cNvPr id="76" name="Text 74"/>
          <p:cNvSpPr/>
          <p:nvPr/>
        </p:nvSpPr>
        <p:spPr>
          <a:xfrm>
            <a:off x="6934200" y="4238625"/>
            <a:ext cx="29037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50"/>
              </a:spcAft>
              <a:buNone/>
            </a:pPr>
            <a:r>
              <a:rPr lang="en-US" sz="1125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· DEGREE OF LIKING</a:t>
            </a:r>
            <a:endParaRPr lang="en-US" sz="1125" dirty="0"/>
          </a:p>
        </p:txBody>
      </p:sp>
      <p:sp>
        <p:nvSpPr>
          <p:cNvPr id="77" name="Text 75"/>
          <p:cNvSpPr/>
          <p:nvPr/>
        </p:nvSpPr>
        <p:spPr>
          <a:xfrm>
            <a:off x="6934200" y="4438650"/>
            <a:ext cx="857250" cy="314325"/>
          </a:xfrm>
          <a:prstGeom prst="roundRect">
            <a:avLst>
              <a:gd name="adj" fmla="val 3027273"/>
            </a:avLst>
          </a:prstGeom>
          <a:solidFill>
            <a:srgbClr val="E8E2C8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7077075" y="4495800"/>
            <a:ext cx="5829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非常喜欢</a:t>
            </a:r>
            <a:endParaRPr lang="en-US" sz="1125" dirty="0"/>
          </a:p>
        </p:txBody>
      </p:sp>
      <p:sp>
        <p:nvSpPr>
          <p:cNvPr id="79" name="Text 77"/>
          <p:cNvSpPr/>
          <p:nvPr/>
        </p:nvSpPr>
        <p:spPr>
          <a:xfrm>
            <a:off x="7867650" y="4438650"/>
            <a:ext cx="714375" cy="314325"/>
          </a:xfrm>
          <a:prstGeom prst="roundRect">
            <a:avLst>
              <a:gd name="adj" fmla="val 3027273"/>
            </a:avLst>
          </a:prstGeom>
          <a:solidFill>
            <a:srgbClr val="E8E2C8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8010525" y="4495800"/>
            <a:ext cx="4371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很喜欢</a:t>
            </a:r>
            <a:endParaRPr lang="en-US" sz="1125" dirty="0"/>
          </a:p>
        </p:txBody>
      </p:sp>
      <p:sp>
        <p:nvSpPr>
          <p:cNvPr id="81" name="Text 79"/>
          <p:cNvSpPr/>
          <p:nvPr/>
        </p:nvSpPr>
        <p:spPr>
          <a:xfrm>
            <a:off x="8658225" y="4438650"/>
            <a:ext cx="857250" cy="314325"/>
          </a:xfrm>
          <a:prstGeom prst="roundRect">
            <a:avLst>
              <a:gd name="adj" fmla="val 3027273"/>
            </a:avLst>
          </a:prstGeom>
          <a:solidFill>
            <a:srgbClr val="E8E2C8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8801100" y="4495800"/>
            <a:ext cx="5829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不太喜欢</a:t>
            </a:r>
            <a:endParaRPr lang="en-US" sz="1125" dirty="0"/>
          </a:p>
        </p:txBody>
      </p:sp>
      <p:sp>
        <p:nvSpPr>
          <p:cNvPr id="83" name="Text 81"/>
          <p:cNvSpPr/>
          <p:nvPr/>
        </p:nvSpPr>
        <p:spPr>
          <a:xfrm>
            <a:off x="9591675" y="4438650"/>
            <a:ext cx="714375" cy="314325"/>
          </a:xfrm>
          <a:prstGeom prst="roundRect">
            <a:avLst>
              <a:gd name="adj" fmla="val 3027273"/>
            </a:avLst>
          </a:prstGeom>
          <a:solidFill>
            <a:srgbClr val="E8E2C8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Text 82"/>
          <p:cNvSpPr/>
          <p:nvPr/>
        </p:nvSpPr>
        <p:spPr>
          <a:xfrm>
            <a:off x="9734550" y="4495800"/>
            <a:ext cx="4371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不喜欢</a:t>
            </a:r>
            <a:endParaRPr lang="en-US" sz="1125" dirty="0"/>
          </a:p>
        </p:txBody>
      </p:sp>
      <p:sp>
        <p:nvSpPr>
          <p:cNvPr id="85" name="Text 83"/>
          <p:cNvSpPr/>
          <p:nvPr/>
        </p:nvSpPr>
        <p:spPr>
          <a:xfrm>
            <a:off x="10382250" y="4438650"/>
            <a:ext cx="571500" cy="314325"/>
          </a:xfrm>
          <a:prstGeom prst="roundRect">
            <a:avLst>
              <a:gd name="adj" fmla="val 3027273"/>
            </a:avLst>
          </a:prstGeom>
          <a:solidFill>
            <a:srgbClr val="E8E2C8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Text 84"/>
          <p:cNvSpPr/>
          <p:nvPr/>
        </p:nvSpPr>
        <p:spPr>
          <a:xfrm>
            <a:off x="10525125" y="4495800"/>
            <a:ext cx="2914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很会</a:t>
            </a:r>
            <a:endParaRPr lang="en-US" sz="1125" dirty="0"/>
          </a:p>
        </p:txBody>
      </p:sp>
      <p:sp>
        <p:nvSpPr>
          <p:cNvPr id="87" name="Text 85"/>
          <p:cNvSpPr/>
          <p:nvPr/>
        </p:nvSpPr>
        <p:spPr>
          <a:xfrm>
            <a:off x="11029950" y="4438650"/>
            <a:ext cx="714375" cy="314325"/>
          </a:xfrm>
          <a:prstGeom prst="roundRect">
            <a:avLst>
              <a:gd name="adj" fmla="val 3027273"/>
            </a:avLst>
          </a:prstGeom>
          <a:solidFill>
            <a:srgbClr val="E8E2C8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Text 86"/>
          <p:cNvSpPr/>
          <p:nvPr/>
        </p:nvSpPr>
        <p:spPr>
          <a:xfrm>
            <a:off x="11172825" y="4495800"/>
            <a:ext cx="4371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不太会</a:t>
            </a:r>
            <a:endParaRPr lang="en-US" sz="1125" dirty="0"/>
          </a:p>
        </p:txBody>
      </p:sp>
      <p:sp>
        <p:nvSpPr>
          <p:cNvPr id="89" name="Text 87"/>
          <p:cNvSpPr/>
          <p:nvPr/>
        </p:nvSpPr>
        <p:spPr>
          <a:xfrm>
            <a:off x="11820525" y="4438650"/>
            <a:ext cx="571500" cy="314325"/>
          </a:xfrm>
          <a:prstGeom prst="roundRect">
            <a:avLst>
              <a:gd name="adj" fmla="val 3027273"/>
            </a:avLst>
          </a:prstGeom>
          <a:solidFill>
            <a:srgbClr val="E8E2C8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Text 88"/>
          <p:cNvSpPr/>
          <p:nvPr/>
        </p:nvSpPr>
        <p:spPr>
          <a:xfrm>
            <a:off x="11963400" y="4495800"/>
            <a:ext cx="2914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不会</a:t>
            </a:r>
            <a:endParaRPr lang="en-US" sz="1125" dirty="0"/>
          </a:p>
        </p:txBody>
      </p:sp>
      <p:sp>
        <p:nvSpPr>
          <p:cNvPr id="91" name="Text 89"/>
          <p:cNvSpPr/>
          <p:nvPr/>
        </p:nvSpPr>
        <p:spPr>
          <a:xfrm>
            <a:off x="952500" y="6038850"/>
            <a:ext cx="5359301" cy="819150"/>
          </a:xfrm>
          <a:prstGeom prst="roundRect">
            <a:avLst>
              <a:gd name="adj" fmla="val 13953"/>
            </a:avLst>
          </a:prstGeom>
          <a:solidFill>
            <a:srgbClr val="F2EF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Text 90"/>
          <p:cNvSpPr/>
          <p:nvPr/>
        </p:nvSpPr>
        <p:spPr>
          <a:xfrm>
            <a:off x="1104900" y="6153150"/>
            <a:ext cx="6822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25" dirty="0"/>
          </a:p>
        </p:txBody>
      </p:sp>
      <p:sp>
        <p:nvSpPr>
          <p:cNvPr id="93" name="Text 91"/>
          <p:cNvSpPr/>
          <p:nvPr/>
        </p:nvSpPr>
        <p:spPr>
          <a:xfrm>
            <a:off x="1104900" y="6343650"/>
            <a:ext cx="475497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First 可是 sentence done together as a class example; picture-task frame: 我(非常/很/不太)喜欢……</a:t>
            </a:r>
            <a:endParaRPr lang="en-US" sz="1125" dirty="0"/>
          </a:p>
        </p:txBody>
      </p:sp>
      <p:sp>
        <p:nvSpPr>
          <p:cNvPr id="94" name="Text 92"/>
          <p:cNvSpPr/>
          <p:nvPr/>
        </p:nvSpPr>
        <p:spPr>
          <a:xfrm>
            <a:off x="6464201" y="6038850"/>
            <a:ext cx="5359450" cy="819150"/>
          </a:xfrm>
          <a:prstGeom prst="roundRect">
            <a:avLst>
              <a:gd name="adj" fmla="val 13953"/>
            </a:avLst>
          </a:prstGeom>
          <a:solidFill>
            <a:srgbClr val="F2EF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Text 93"/>
          <p:cNvSpPr/>
          <p:nvPr/>
        </p:nvSpPr>
        <p:spPr>
          <a:xfrm>
            <a:off x="6616601" y="6153150"/>
            <a:ext cx="7398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25" dirty="0"/>
          </a:p>
        </p:txBody>
      </p:sp>
      <p:sp>
        <p:nvSpPr>
          <p:cNvPr id="96" name="Text 94"/>
          <p:cNvSpPr/>
          <p:nvPr/>
        </p:nvSpPr>
        <p:spPr>
          <a:xfrm>
            <a:off x="6616601" y="6343650"/>
            <a:ext cx="502154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 at least 3 pictures, extend with 可是 — e.g. 我不太喜欢吃西红柿，可是我应该吃</a:t>
            </a:r>
            <a:endParaRPr lang="en-US" sz="1125" dirty="0"/>
          </a:p>
        </p:txBody>
      </p:sp>
      <p:sp>
        <p:nvSpPr>
          <p:cNvPr id="97" name="Text 95"/>
          <p:cNvSpPr/>
          <p:nvPr/>
        </p:nvSpPr>
        <p:spPr>
          <a:xfrm>
            <a:off x="11976050" y="6038850"/>
            <a:ext cx="5359450" cy="819150"/>
          </a:xfrm>
          <a:prstGeom prst="roundRect">
            <a:avLst>
              <a:gd name="adj" fmla="val 13953"/>
            </a:avLst>
          </a:prstGeom>
          <a:solidFill>
            <a:srgbClr val="F2EF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Text 96"/>
          <p:cNvSpPr/>
          <p:nvPr/>
        </p:nvSpPr>
        <p:spPr>
          <a:xfrm>
            <a:off x="12128450" y="6153150"/>
            <a:ext cx="2662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C94F3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25" dirty="0"/>
          </a:p>
        </p:txBody>
      </p:sp>
      <p:sp>
        <p:nvSpPr>
          <p:cNvPr id="99" name="Text 97"/>
          <p:cNvSpPr/>
          <p:nvPr/>
        </p:nvSpPr>
        <p:spPr>
          <a:xfrm>
            <a:off x="12128450" y="6343650"/>
            <a:ext cx="361310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4–5 students to read one sentence aloud</a:t>
            </a:r>
            <a:endParaRPr lang="en-US" sz="1125" dirty="0"/>
          </a:p>
        </p:txBody>
      </p:sp>
      <p:sp>
        <p:nvSpPr>
          <p:cNvPr id="100" name="Shape 98"/>
          <p:cNvSpPr/>
          <p:nvPr/>
        </p:nvSpPr>
        <p:spPr>
          <a:xfrm>
            <a:off x="0" y="9786938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762000" y="9958388"/>
            <a:ext cx="3236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4 Vegetables &amp; Fruits 蔬菜、水果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771525"/>
          </a:xfrm>
          <a:prstGeom prst="rect">
            <a:avLst/>
          </a:prstGeom>
          <a:solidFill>
            <a:srgbClr val="FBFAF2">
              <a:alpha val="9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6763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285750"/>
            <a:ext cx="19393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可是 BUT + TEXT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053804" y="280988"/>
            <a:ext cx="19112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We Do · 8 min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52500" y="1271588"/>
            <a:ext cx="1283940" cy="304800"/>
          </a:xfrm>
          <a:prstGeom prst="roundRect">
            <a:avLst>
              <a:gd name="adj" fmla="val 3121875"/>
            </a:avLst>
          </a:prstGeom>
          <a:solidFill>
            <a:srgbClr val="E08A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143000" y="1328738"/>
            <a:ext cx="92099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426940" y="1143000"/>
            <a:ext cx="6312646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阅读理解 · Reading Comprehension</a:t>
            </a:r>
            <a:endParaRPr lang="en-US" sz="3150" dirty="0"/>
          </a:p>
        </p:txBody>
      </p:sp>
      <p:sp>
        <p:nvSpPr>
          <p:cNvPr id="10" name="Text 8"/>
          <p:cNvSpPr/>
          <p:nvPr/>
        </p:nvSpPr>
        <p:spPr>
          <a:xfrm>
            <a:off x="952500" y="1971675"/>
            <a:ext cx="964853" cy="352425"/>
          </a:xfrm>
          <a:prstGeom prst="roundRect">
            <a:avLst>
              <a:gd name="adj" fmla="val 2700000"/>
            </a:avLst>
          </a:prstGeom>
          <a:solidFill>
            <a:srgbClr val="5C8A3A">
              <a:alpha val="12000"/>
            </a:srgbClr>
          </a:solidFill>
          <a:ln w="9525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33475" y="2038350"/>
            <a:ext cx="61496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031653" y="2005013"/>
            <a:ext cx="794891" cy="285750"/>
          </a:xfrm>
          <a:prstGeom prst="roundRect">
            <a:avLst>
              <a:gd name="adj" fmla="val 3330000"/>
            </a:avLst>
          </a:prstGeom>
          <a:solidFill>
            <a:srgbClr val="E08A3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165003" y="2052637"/>
            <a:ext cx="53875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52500" y="2590800"/>
            <a:ext cx="8769846" cy="2814638"/>
          </a:xfrm>
          <a:prstGeom prst="roundRect">
            <a:avLst>
              <a:gd name="adj" fmla="val 6768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228725" y="2867025"/>
            <a:ext cx="14503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275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INSTRUCTIONS</a:t>
            </a:r>
            <a:endParaRPr lang="en-US" sz="1275" dirty="0"/>
          </a:p>
        </p:txBody>
      </p:sp>
      <p:sp>
        <p:nvSpPr>
          <p:cNvPr id="16" name="Text 14"/>
          <p:cNvSpPr/>
          <p:nvPr/>
        </p:nvSpPr>
        <p:spPr>
          <a:xfrm>
            <a:off x="1228725" y="3248025"/>
            <a:ext cx="8217396" cy="1728788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algn="l" marL="95250" indent="-95250">
              <a:lnSpc>
                <a:spcPts val="2363"/>
              </a:lnSpc>
              <a:buSzPct val="100000"/>
              <a:buChar char="•"/>
            </a:pPr>
            <a:r>
              <a:rPr lang="en-US" sz="15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Open </a:t>
            </a:r>
            <a:r>
              <a:rPr lang="en-US" sz="1575" b="1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Workbook Ex.6</a:t>
            </a:r>
            <a:r>
              <a:rPr lang="en-US" sz="15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read the short passage about </a:t>
            </a:r>
            <a:r>
              <a:rPr lang="en-US" sz="1575" b="1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天喜's mum</a:t>
            </a:r>
            <a:r>
              <a:rPr lang="en-US" sz="15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making 蔬菜沙拉 (vegetable salad)</a:t>
            </a:r>
            <a:endParaRPr lang="en-US" sz="1575" dirty="0"/>
          </a:p>
          <a:p>
            <a:pPr algn="l" marL="95250" indent="-95250">
              <a:lnSpc>
                <a:spcPts val="2363"/>
              </a:lnSpc>
              <a:buSzPct val="100000"/>
              <a:buChar char="•"/>
            </a:pPr>
            <a:r>
              <a:rPr lang="en-US" sz="15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the </a:t>
            </a:r>
            <a:r>
              <a:rPr lang="en-US" sz="1575" b="1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True/False questions</a:t>
            </a:r>
            <a:r>
              <a:rPr lang="en-US" sz="15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based on the passage</a:t>
            </a:r>
            <a:endParaRPr lang="en-US" sz="1575" dirty="0"/>
          </a:p>
          <a:p>
            <a:pPr algn="l" marL="95250" indent="-95250">
              <a:lnSpc>
                <a:spcPts val="2363"/>
              </a:lnSpc>
              <a:buSzPct val="100000"/>
              <a:buChar char="•"/>
            </a:pPr>
            <a:r>
              <a:rPr lang="en-US" sz="15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Extension: write </a:t>
            </a:r>
            <a:r>
              <a:rPr lang="en-US" sz="1575" b="1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sentence</a:t>
            </a:r>
            <a:r>
              <a:rPr lang="en-US" sz="15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Chinese summarising why the narrator now likes vegetables, using </a:t>
            </a:r>
            <a:r>
              <a:rPr lang="en-US" sz="1575" b="1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可是</a:t>
            </a:r>
            <a:endParaRPr lang="en-US" sz="1575" dirty="0"/>
          </a:p>
        </p:txBody>
      </p:sp>
      <p:sp>
        <p:nvSpPr>
          <p:cNvPr id="17" name="Text 15"/>
          <p:cNvSpPr/>
          <p:nvPr/>
        </p:nvSpPr>
        <p:spPr>
          <a:xfrm>
            <a:off x="10027146" y="2590800"/>
            <a:ext cx="7308354" cy="2619375"/>
          </a:xfrm>
          <a:prstGeom prst="roundRect">
            <a:avLst>
              <a:gd name="adj" fmla="val 7273"/>
            </a:avLst>
          </a:prstGeom>
          <a:solidFill>
            <a:srgbClr val="E8E2C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0255746" y="2819400"/>
            <a:ext cx="25550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275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PRE-TEACH VOCABULARY</a:t>
            </a:r>
            <a:endParaRPr lang="en-US" sz="1275" dirty="0"/>
          </a:p>
        </p:txBody>
      </p:sp>
      <p:sp>
        <p:nvSpPr>
          <p:cNvPr id="19" name="Text 17"/>
          <p:cNvSpPr/>
          <p:nvPr/>
        </p:nvSpPr>
        <p:spPr>
          <a:xfrm>
            <a:off x="10255746" y="3048000"/>
            <a:ext cx="50520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沙拉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0865346" y="3152775"/>
            <a:ext cx="3842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shālā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356330" y="3152775"/>
            <a:ext cx="3962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salad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255746" y="3533775"/>
            <a:ext cx="50520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花园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0865346" y="3638550"/>
            <a:ext cx="6138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huāyuán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581507" y="3638550"/>
            <a:ext cx="51902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garden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255746" y="4057650"/>
            <a:ext cx="6851154" cy="923925"/>
          </a:xfrm>
          <a:prstGeom prst="roundRect">
            <a:avLst>
              <a:gd name="adj" fmla="val 12371"/>
            </a:avLst>
          </a:prstGeom>
          <a:solidFill>
            <a:srgbClr val="E08A3C">
              <a:alpha val="12000"/>
            </a:srgbClr>
          </a:solidFill>
          <a:ln w="19050">
            <a:solidFill>
              <a:srgbClr val="E08A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0446246" y="4376738"/>
            <a:ext cx="2234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📖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817721" y="4191000"/>
            <a:ext cx="1962379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Watch for the reasons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0817721" y="4429125"/>
            <a:ext cx="5825049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Why does the narrator now like vegetables? That reason drives the extension sentence.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52500" y="5634038"/>
            <a:ext cx="5359301" cy="819150"/>
          </a:xfrm>
          <a:prstGeom prst="roundRect">
            <a:avLst>
              <a:gd name="adj" fmla="val 13953"/>
            </a:avLst>
          </a:prstGeom>
          <a:solidFill>
            <a:srgbClr val="F2EF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104900" y="5748338"/>
            <a:ext cx="6822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25" dirty="0"/>
          </a:p>
        </p:txBody>
      </p:sp>
      <p:sp>
        <p:nvSpPr>
          <p:cNvPr id="31" name="Text 29"/>
          <p:cNvSpPr/>
          <p:nvPr/>
        </p:nvSpPr>
        <p:spPr>
          <a:xfrm>
            <a:off x="1104900" y="5938838"/>
            <a:ext cx="515179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Pre-teach 沙拉 and 花园 before reading; allow English annotations in the margin</a:t>
            </a:r>
            <a:endParaRPr lang="en-US" sz="1125" dirty="0"/>
          </a:p>
        </p:txBody>
      </p:sp>
      <p:sp>
        <p:nvSpPr>
          <p:cNvPr id="32" name="Text 30"/>
          <p:cNvSpPr/>
          <p:nvPr/>
        </p:nvSpPr>
        <p:spPr>
          <a:xfrm>
            <a:off x="6464201" y="5634038"/>
            <a:ext cx="5359450" cy="819150"/>
          </a:xfrm>
          <a:prstGeom prst="roundRect">
            <a:avLst>
              <a:gd name="adj" fmla="val 13953"/>
            </a:avLst>
          </a:prstGeom>
          <a:solidFill>
            <a:srgbClr val="F2EF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616601" y="5748338"/>
            <a:ext cx="7398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25" dirty="0"/>
          </a:p>
        </p:txBody>
      </p:sp>
      <p:sp>
        <p:nvSpPr>
          <p:cNvPr id="34" name="Text 32"/>
          <p:cNvSpPr/>
          <p:nvPr/>
        </p:nvSpPr>
        <p:spPr>
          <a:xfrm>
            <a:off x="6616601" y="5938838"/>
            <a:ext cx="507862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one sentence summarising why the narrator now likes vegetables, using 可是</a:t>
            </a:r>
            <a:endParaRPr lang="en-US" sz="1125" dirty="0"/>
          </a:p>
        </p:txBody>
      </p:sp>
      <p:sp>
        <p:nvSpPr>
          <p:cNvPr id="35" name="Text 33"/>
          <p:cNvSpPr/>
          <p:nvPr/>
        </p:nvSpPr>
        <p:spPr>
          <a:xfrm>
            <a:off x="11976050" y="5634038"/>
            <a:ext cx="5359450" cy="819150"/>
          </a:xfrm>
          <a:prstGeom prst="roundRect">
            <a:avLst>
              <a:gd name="adj" fmla="val 13953"/>
            </a:avLst>
          </a:prstGeom>
          <a:solidFill>
            <a:srgbClr val="F2EF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2128450" y="5748338"/>
            <a:ext cx="2662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C94F3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25" dirty="0"/>
          </a:p>
        </p:txBody>
      </p:sp>
      <p:sp>
        <p:nvSpPr>
          <p:cNvPr id="37" name="Text 35"/>
          <p:cNvSpPr/>
          <p:nvPr/>
        </p:nvSpPr>
        <p:spPr>
          <a:xfrm>
            <a:off x="12128450" y="5938838"/>
            <a:ext cx="483710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Whiteboard hold-up (T/F) for each of the 4 items, checked together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0" y="9786938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62000" y="9958388"/>
            <a:ext cx="3236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4 Vegetables &amp; Fruits 蔬菜、水果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771525"/>
          </a:xfrm>
          <a:prstGeom prst="rect">
            <a:avLst/>
          </a:prstGeom>
          <a:solidFill>
            <a:srgbClr val="FBFAF2">
              <a:alpha val="9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6763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285750"/>
            <a:ext cx="19393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可是 BUT + TEXT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053804" y="280988"/>
            <a:ext cx="19645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You Do · 8 min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52500" y="1185863"/>
            <a:ext cx="1284684" cy="304800"/>
          </a:xfrm>
          <a:prstGeom prst="roundRect">
            <a:avLst>
              <a:gd name="adj" fmla="val 3121875"/>
            </a:avLst>
          </a:prstGeom>
          <a:solidFill>
            <a:srgbClr val="E08A3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143000" y="1243013"/>
            <a:ext cx="92175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427684" y="1085850"/>
            <a:ext cx="6547336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累积采访 · Cumulative Partner Interview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952500" y="1743075"/>
            <a:ext cx="889099" cy="323850"/>
          </a:xfrm>
          <a:prstGeom prst="roundRect">
            <a:avLst>
              <a:gd name="adj" fmla="val 2938235"/>
            </a:avLst>
          </a:prstGeom>
          <a:solidFill>
            <a:srgbClr val="5C8A3A">
              <a:alpha val="12000"/>
            </a:srgbClr>
          </a:solidFill>
          <a:ln w="9525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14425" y="1800225"/>
            <a:ext cx="5765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8 min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1955899" y="1771650"/>
            <a:ext cx="846088" cy="266700"/>
          </a:xfrm>
          <a:prstGeom prst="roundRect">
            <a:avLst>
              <a:gd name="adj" fmla="val 3567857"/>
            </a:avLst>
          </a:prstGeom>
          <a:solidFill>
            <a:srgbClr val="C94F3D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089249" y="1819275"/>
            <a:ext cx="5909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C94F3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952500" y="2238375"/>
            <a:ext cx="8143875" cy="616148"/>
          </a:xfrm>
          <a:prstGeom prst="roundRect">
            <a:avLst>
              <a:gd name="adj" fmla="val 18551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114425" y="2371725"/>
            <a:ext cx="17093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Q1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377255" y="2333625"/>
            <a:ext cx="129216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你叫什么名字？</a:t>
            </a:r>
            <a:endParaRPr lang="en-US" sz="1425" dirty="0"/>
          </a:p>
        </p:txBody>
      </p:sp>
      <p:sp>
        <p:nvSpPr>
          <p:cNvPr id="17" name="Text 15"/>
          <p:cNvSpPr/>
          <p:nvPr/>
        </p:nvSpPr>
        <p:spPr>
          <a:xfrm>
            <a:off x="1377255" y="2578298"/>
            <a:ext cx="1170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your name?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9191625" y="2238375"/>
            <a:ext cx="8143875" cy="616148"/>
          </a:xfrm>
          <a:prstGeom prst="roundRect">
            <a:avLst>
              <a:gd name="adj" fmla="val 18551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353550" y="2371725"/>
            <a:ext cx="19567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Q2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640639" y="2333625"/>
            <a:ext cx="110756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你是哪国人？</a:t>
            </a:r>
            <a:endParaRPr lang="en-US" sz="1425" dirty="0"/>
          </a:p>
        </p:txBody>
      </p:sp>
      <p:sp>
        <p:nvSpPr>
          <p:cNvPr id="21" name="Text 19"/>
          <p:cNvSpPr/>
          <p:nvPr/>
        </p:nvSpPr>
        <p:spPr>
          <a:xfrm>
            <a:off x="9640639" y="2578298"/>
            <a:ext cx="147341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What's your nationality?</a:t>
            </a:r>
            <a:endParaRPr lang="en-US" sz="975" dirty="0"/>
          </a:p>
        </p:txBody>
      </p:sp>
      <p:sp>
        <p:nvSpPr>
          <p:cNvPr id="22" name="Text 20"/>
          <p:cNvSpPr/>
          <p:nvPr/>
        </p:nvSpPr>
        <p:spPr>
          <a:xfrm>
            <a:off x="952500" y="2949773"/>
            <a:ext cx="8143875" cy="616148"/>
          </a:xfrm>
          <a:prstGeom prst="roundRect">
            <a:avLst>
              <a:gd name="adj" fmla="val 18551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114425" y="3083123"/>
            <a:ext cx="1962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Q3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402110" y="3045023"/>
            <a:ext cx="221513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你今年多大？你上几年级？</a:t>
            </a:r>
            <a:endParaRPr lang="en-US" sz="1425" dirty="0"/>
          </a:p>
        </p:txBody>
      </p:sp>
      <p:sp>
        <p:nvSpPr>
          <p:cNvPr id="25" name="Text 23"/>
          <p:cNvSpPr/>
          <p:nvPr/>
        </p:nvSpPr>
        <p:spPr>
          <a:xfrm>
            <a:off x="1402110" y="3289697"/>
            <a:ext cx="254394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old are you? What grade are you in?</a:t>
            </a:r>
            <a:endParaRPr lang="en-US" sz="975" dirty="0"/>
          </a:p>
        </p:txBody>
      </p:sp>
      <p:sp>
        <p:nvSpPr>
          <p:cNvPr id="26" name="Text 24"/>
          <p:cNvSpPr/>
          <p:nvPr/>
        </p:nvSpPr>
        <p:spPr>
          <a:xfrm>
            <a:off x="9191625" y="2949773"/>
            <a:ext cx="8143875" cy="616148"/>
          </a:xfrm>
          <a:prstGeom prst="roundRect">
            <a:avLst>
              <a:gd name="adj" fmla="val 18551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9353550" y="3083123"/>
            <a:ext cx="19734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Q4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642277" y="3045023"/>
            <a:ext cx="129216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你喜欢做什么？</a:t>
            </a:r>
            <a:endParaRPr lang="en-US" sz="1425" dirty="0"/>
          </a:p>
        </p:txBody>
      </p:sp>
      <p:sp>
        <p:nvSpPr>
          <p:cNvPr id="29" name="Text 27"/>
          <p:cNvSpPr/>
          <p:nvPr/>
        </p:nvSpPr>
        <p:spPr>
          <a:xfrm>
            <a:off x="9642277" y="3289697"/>
            <a:ext cx="20879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 you like doing (hobbies)?</a:t>
            </a:r>
            <a:endParaRPr lang="en-US" sz="975" dirty="0"/>
          </a:p>
        </p:txBody>
      </p:sp>
      <p:sp>
        <p:nvSpPr>
          <p:cNvPr id="30" name="Text 28"/>
          <p:cNvSpPr/>
          <p:nvPr/>
        </p:nvSpPr>
        <p:spPr>
          <a:xfrm>
            <a:off x="952500" y="3661172"/>
            <a:ext cx="8143875" cy="616148"/>
          </a:xfrm>
          <a:prstGeom prst="roundRect">
            <a:avLst>
              <a:gd name="adj" fmla="val 18551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114425" y="3794522"/>
            <a:ext cx="19613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Q5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401961" y="3756422"/>
            <a:ext cx="295351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你喜欢什么运动？每星期运动几次？</a:t>
            </a:r>
            <a:endParaRPr lang="en-US" sz="1425" dirty="0"/>
          </a:p>
        </p:txBody>
      </p:sp>
      <p:sp>
        <p:nvSpPr>
          <p:cNvPr id="33" name="Text 31"/>
          <p:cNvSpPr/>
          <p:nvPr/>
        </p:nvSpPr>
        <p:spPr>
          <a:xfrm>
            <a:off x="1401961" y="4001095"/>
            <a:ext cx="289825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sport do you like? How often each week?</a:t>
            </a:r>
            <a:endParaRPr lang="en-US" sz="975" dirty="0"/>
          </a:p>
        </p:txBody>
      </p:sp>
      <p:sp>
        <p:nvSpPr>
          <p:cNvPr id="34" name="Text 32"/>
          <p:cNvSpPr/>
          <p:nvPr/>
        </p:nvSpPr>
        <p:spPr>
          <a:xfrm>
            <a:off x="9191625" y="3661172"/>
            <a:ext cx="8143875" cy="616148"/>
          </a:xfrm>
          <a:prstGeom prst="roundRect">
            <a:avLst>
              <a:gd name="adj" fmla="val 18551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9353550" y="3794522"/>
            <a:ext cx="19749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Q6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642425" y="3756422"/>
            <a:ext cx="295351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你会画画吗？每天做作业多长时间？</a:t>
            </a:r>
            <a:endParaRPr lang="en-US" sz="1425" dirty="0"/>
          </a:p>
        </p:txBody>
      </p:sp>
      <p:sp>
        <p:nvSpPr>
          <p:cNvPr id="37" name="Text 35"/>
          <p:cNvSpPr/>
          <p:nvPr/>
        </p:nvSpPr>
        <p:spPr>
          <a:xfrm>
            <a:off x="9642425" y="4001095"/>
            <a:ext cx="30131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Can you draw? How long is homework each day?</a:t>
            </a:r>
            <a:endParaRPr lang="en-US" sz="975" dirty="0"/>
          </a:p>
        </p:txBody>
      </p:sp>
      <p:sp>
        <p:nvSpPr>
          <p:cNvPr id="38" name="Text 36"/>
          <p:cNvSpPr/>
          <p:nvPr/>
        </p:nvSpPr>
        <p:spPr>
          <a:xfrm>
            <a:off x="952500" y="4429720"/>
            <a:ext cx="16383000" cy="828675"/>
          </a:xfrm>
          <a:prstGeom prst="roundRect">
            <a:avLst>
              <a:gd name="adj" fmla="val 22989"/>
            </a:avLst>
          </a:prstGeom>
          <a:solidFill>
            <a:srgbClr val="E8E2C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1143000" y="4601170"/>
            <a:ext cx="198590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50"/>
              </a:spcAft>
              <a:buNone/>
            </a:pPr>
            <a:r>
              <a:rPr lang="en-US" sz="10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WORDS FOR REFERENCE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1143000" y="4791670"/>
            <a:ext cx="714375" cy="314325"/>
          </a:xfrm>
          <a:prstGeom prst="roundRect">
            <a:avLst>
              <a:gd name="adj" fmla="val 3027273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285875" y="4848820"/>
            <a:ext cx="4371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最喜欢</a:t>
            </a:r>
            <a:endParaRPr lang="en-US" sz="1125" dirty="0"/>
          </a:p>
        </p:txBody>
      </p:sp>
      <p:sp>
        <p:nvSpPr>
          <p:cNvPr id="42" name="Text 40"/>
          <p:cNvSpPr/>
          <p:nvPr/>
        </p:nvSpPr>
        <p:spPr>
          <a:xfrm>
            <a:off x="1933575" y="4791670"/>
            <a:ext cx="857250" cy="314325"/>
          </a:xfrm>
          <a:prstGeom prst="roundRect">
            <a:avLst>
              <a:gd name="adj" fmla="val 3027273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2076450" y="4848820"/>
            <a:ext cx="5829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非常喜欢</a:t>
            </a:r>
            <a:endParaRPr lang="en-US" sz="1125" dirty="0"/>
          </a:p>
        </p:txBody>
      </p:sp>
      <p:sp>
        <p:nvSpPr>
          <p:cNvPr id="44" name="Text 42"/>
          <p:cNvSpPr/>
          <p:nvPr/>
        </p:nvSpPr>
        <p:spPr>
          <a:xfrm>
            <a:off x="2867025" y="4791670"/>
            <a:ext cx="714375" cy="314325"/>
          </a:xfrm>
          <a:prstGeom prst="roundRect">
            <a:avLst>
              <a:gd name="adj" fmla="val 3027273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3009900" y="4848820"/>
            <a:ext cx="4371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很喜欢</a:t>
            </a:r>
            <a:endParaRPr lang="en-US" sz="1125" dirty="0"/>
          </a:p>
        </p:txBody>
      </p:sp>
      <p:sp>
        <p:nvSpPr>
          <p:cNvPr id="46" name="Text 44"/>
          <p:cNvSpPr/>
          <p:nvPr/>
        </p:nvSpPr>
        <p:spPr>
          <a:xfrm>
            <a:off x="3657600" y="4791670"/>
            <a:ext cx="857250" cy="314325"/>
          </a:xfrm>
          <a:prstGeom prst="roundRect">
            <a:avLst>
              <a:gd name="adj" fmla="val 3027273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3800475" y="4848820"/>
            <a:ext cx="5829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不太喜欢</a:t>
            </a:r>
            <a:endParaRPr lang="en-US" sz="1125" dirty="0"/>
          </a:p>
        </p:txBody>
      </p:sp>
      <p:sp>
        <p:nvSpPr>
          <p:cNvPr id="48" name="Text 46"/>
          <p:cNvSpPr/>
          <p:nvPr/>
        </p:nvSpPr>
        <p:spPr>
          <a:xfrm>
            <a:off x="4591050" y="4791670"/>
            <a:ext cx="714375" cy="314325"/>
          </a:xfrm>
          <a:prstGeom prst="roundRect">
            <a:avLst>
              <a:gd name="adj" fmla="val 3027273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4733925" y="4848820"/>
            <a:ext cx="4371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不喜欢</a:t>
            </a:r>
            <a:endParaRPr lang="en-US" sz="1125" dirty="0"/>
          </a:p>
        </p:txBody>
      </p:sp>
      <p:sp>
        <p:nvSpPr>
          <p:cNvPr id="50" name="Text 48"/>
          <p:cNvSpPr/>
          <p:nvPr/>
        </p:nvSpPr>
        <p:spPr>
          <a:xfrm>
            <a:off x="5381625" y="4791670"/>
            <a:ext cx="571500" cy="314325"/>
          </a:xfrm>
          <a:prstGeom prst="roundRect">
            <a:avLst>
              <a:gd name="adj" fmla="val 3027273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524500" y="4848820"/>
            <a:ext cx="2914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很会</a:t>
            </a:r>
            <a:endParaRPr lang="en-US" sz="1125" dirty="0"/>
          </a:p>
        </p:txBody>
      </p:sp>
      <p:sp>
        <p:nvSpPr>
          <p:cNvPr id="52" name="Text 50"/>
          <p:cNvSpPr/>
          <p:nvPr/>
        </p:nvSpPr>
        <p:spPr>
          <a:xfrm>
            <a:off x="6029325" y="4791670"/>
            <a:ext cx="428625" cy="314325"/>
          </a:xfrm>
          <a:prstGeom prst="roundRect">
            <a:avLst>
              <a:gd name="adj" fmla="val 3027273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172200" y="4848820"/>
            <a:ext cx="14573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会</a:t>
            </a:r>
            <a:endParaRPr lang="en-US" sz="1125" dirty="0"/>
          </a:p>
        </p:txBody>
      </p:sp>
      <p:sp>
        <p:nvSpPr>
          <p:cNvPr id="54" name="Text 52"/>
          <p:cNvSpPr/>
          <p:nvPr/>
        </p:nvSpPr>
        <p:spPr>
          <a:xfrm>
            <a:off x="6534150" y="4791670"/>
            <a:ext cx="714375" cy="314325"/>
          </a:xfrm>
          <a:prstGeom prst="roundRect">
            <a:avLst>
              <a:gd name="adj" fmla="val 3027273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677025" y="4848820"/>
            <a:ext cx="4371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不太会</a:t>
            </a:r>
            <a:endParaRPr lang="en-US" sz="1125" dirty="0"/>
          </a:p>
        </p:txBody>
      </p:sp>
      <p:sp>
        <p:nvSpPr>
          <p:cNvPr id="56" name="Text 54"/>
          <p:cNvSpPr/>
          <p:nvPr/>
        </p:nvSpPr>
        <p:spPr>
          <a:xfrm>
            <a:off x="7324725" y="4791670"/>
            <a:ext cx="571500" cy="314325"/>
          </a:xfrm>
          <a:prstGeom prst="roundRect">
            <a:avLst>
              <a:gd name="adj" fmla="val 3027273"/>
            </a:avLst>
          </a:prstGeom>
          <a:solidFill>
            <a:srgbClr val="FBFAF2"/>
          </a:solidFill>
          <a:ln w="9525">
            <a:solidFill>
              <a:srgbClr val="CFC7A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467600" y="4848820"/>
            <a:ext cx="29146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不会</a:t>
            </a:r>
            <a:endParaRPr lang="en-US" sz="1125" dirty="0"/>
          </a:p>
        </p:txBody>
      </p:sp>
      <p:sp>
        <p:nvSpPr>
          <p:cNvPr id="58" name="Text 56"/>
          <p:cNvSpPr/>
          <p:nvPr/>
        </p:nvSpPr>
        <p:spPr>
          <a:xfrm>
            <a:off x="952500" y="5391745"/>
            <a:ext cx="5359301" cy="819150"/>
          </a:xfrm>
          <a:prstGeom prst="roundRect">
            <a:avLst>
              <a:gd name="adj" fmla="val 13953"/>
            </a:avLst>
          </a:prstGeom>
          <a:solidFill>
            <a:srgbClr val="F2EF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1104900" y="5506045"/>
            <a:ext cx="6822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825" dirty="0"/>
          </a:p>
        </p:txBody>
      </p:sp>
      <p:sp>
        <p:nvSpPr>
          <p:cNvPr id="60" name="Text 58"/>
          <p:cNvSpPr/>
          <p:nvPr/>
        </p:nvSpPr>
        <p:spPr>
          <a:xfrm>
            <a:off x="1104900" y="5696545"/>
            <a:ext cx="494868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Questions displayed on the projector throughout; sentence frames for answers provided</a:t>
            </a:r>
            <a:endParaRPr lang="en-US" sz="1125" dirty="0"/>
          </a:p>
        </p:txBody>
      </p:sp>
      <p:sp>
        <p:nvSpPr>
          <p:cNvPr id="61" name="Text 59"/>
          <p:cNvSpPr/>
          <p:nvPr/>
        </p:nvSpPr>
        <p:spPr>
          <a:xfrm>
            <a:off x="6464201" y="5391745"/>
            <a:ext cx="5359450" cy="819150"/>
          </a:xfrm>
          <a:prstGeom prst="roundRect">
            <a:avLst>
              <a:gd name="adj" fmla="val 13953"/>
            </a:avLst>
          </a:prstGeom>
          <a:solidFill>
            <a:srgbClr val="F2EF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6616601" y="5506045"/>
            <a:ext cx="7398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25" dirty="0"/>
          </a:p>
        </p:txBody>
      </p:sp>
      <p:sp>
        <p:nvSpPr>
          <p:cNvPr id="63" name="Text 61"/>
          <p:cNvSpPr/>
          <p:nvPr/>
        </p:nvSpPr>
        <p:spPr>
          <a:xfrm>
            <a:off x="6616601" y="5696545"/>
            <a:ext cx="477941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report back one interesting fact about their partner to the class in a full Chinese sentence</a:t>
            </a:r>
            <a:endParaRPr lang="en-US" sz="1125" dirty="0"/>
          </a:p>
        </p:txBody>
      </p:sp>
      <p:sp>
        <p:nvSpPr>
          <p:cNvPr id="64" name="Text 62"/>
          <p:cNvSpPr/>
          <p:nvPr/>
        </p:nvSpPr>
        <p:spPr>
          <a:xfrm>
            <a:off x="11976050" y="5391745"/>
            <a:ext cx="5359450" cy="819150"/>
          </a:xfrm>
          <a:prstGeom prst="roundRect">
            <a:avLst>
              <a:gd name="adj" fmla="val 13953"/>
            </a:avLst>
          </a:prstGeom>
          <a:solidFill>
            <a:srgbClr val="F2EF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2128450" y="5506045"/>
            <a:ext cx="2662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5" b="1" dirty="0">
                <a:solidFill>
                  <a:srgbClr val="C94F3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25" dirty="0"/>
          </a:p>
        </p:txBody>
      </p:sp>
      <p:sp>
        <p:nvSpPr>
          <p:cNvPr id="66" name="Text 64"/>
          <p:cNvSpPr/>
          <p:nvPr/>
        </p:nvSpPr>
        <p:spPr>
          <a:xfrm>
            <a:off x="12128450" y="5696545"/>
            <a:ext cx="38104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 and talk — every student both asks and answers</a:t>
            </a:r>
            <a:endParaRPr lang="en-US" sz="1125" dirty="0"/>
          </a:p>
        </p:txBody>
      </p:sp>
      <p:sp>
        <p:nvSpPr>
          <p:cNvPr id="67" name="Shape 65"/>
          <p:cNvSpPr/>
          <p:nvPr/>
        </p:nvSpPr>
        <p:spPr>
          <a:xfrm>
            <a:off x="0" y="9786938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62000" y="9958388"/>
            <a:ext cx="3236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4 Vegetables &amp; Fruits 蔬菜、水果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771525"/>
          </a:xfrm>
          <a:prstGeom prst="rect">
            <a:avLst/>
          </a:prstGeom>
          <a:solidFill>
            <a:srgbClr val="FBFAF2">
              <a:alpha val="9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6763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285750"/>
            <a:ext cx="19393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可是 BUT + TEXT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053804" y="280988"/>
            <a:ext cx="15052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333500" y="2928938"/>
            <a:ext cx="91583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94F3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33500" y="3252788"/>
            <a:ext cx="3429572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333500" y="4195763"/>
            <a:ext cx="7658100" cy="3429000"/>
          </a:xfrm>
          <a:prstGeom prst="roundRect">
            <a:avLst>
              <a:gd name="adj" fmla="val 5556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628775" y="4452938"/>
            <a:ext cx="256200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50"/>
              </a:spcAft>
              <a:buNone/>
            </a:pPr>
            <a:r>
              <a:rPr lang="en-US" sz="120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628775" y="4662488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E08A3C">
              <a:alpha val="12000"/>
            </a:srgbClr>
          </a:solidFill>
          <a:ln w="9525">
            <a:solidFill>
              <a:srgbClr val="E08A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685925" y="4695825"/>
            <a:ext cx="174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962150" y="4662488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5C8A3A">
              <a:alpha val="12000"/>
            </a:srgbClr>
          </a:solidFill>
          <a:ln w="9525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019300" y="4695825"/>
            <a:ext cx="174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295525" y="4662488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C94F3D">
              <a:alpha val="10000"/>
            </a:srgbClr>
          </a:solidFill>
          <a:ln w="9525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352675" y="4695825"/>
            <a:ext cx="174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714625" y="4700588"/>
            <a:ext cx="395390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 可是 to contrast a like/dislike with an obligation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628775" y="5062538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E08A3C">
              <a:alpha val="12000"/>
            </a:srgbClr>
          </a:solidFill>
          <a:ln w="9525">
            <a:solidFill>
              <a:srgbClr val="E08A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685925" y="5095875"/>
            <a:ext cx="174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962150" y="5062538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5C8A3A">
              <a:alpha val="12000"/>
            </a:srgbClr>
          </a:solidFill>
          <a:ln w="9525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019300" y="5095875"/>
            <a:ext cx="174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295525" y="5062538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C94F3D">
              <a:alpha val="10000"/>
            </a:srgbClr>
          </a:solidFill>
          <a:ln w="9525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352675" y="5095875"/>
            <a:ext cx="174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714625" y="5100638"/>
            <a:ext cx="47206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and understand the full Text 1 dialogue about vegetables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628775" y="5462588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E08A3C">
              <a:alpha val="12000"/>
            </a:srgbClr>
          </a:solidFill>
          <a:ln w="9525">
            <a:solidFill>
              <a:srgbClr val="E08A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685925" y="5495925"/>
            <a:ext cx="174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962150" y="5462588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5C8A3A">
              <a:alpha val="12000"/>
            </a:srgbClr>
          </a:solidFill>
          <a:ln w="9525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2019300" y="5495925"/>
            <a:ext cx="174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295525" y="5462588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C94F3D">
              <a:alpha val="10000"/>
            </a:srgbClr>
          </a:solidFill>
          <a:ln w="9525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352675" y="5495925"/>
            <a:ext cx="174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714625" y="5500688"/>
            <a:ext cx="536508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comprehension questions about a short passage on vegetables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628775" y="5862638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E08A3C">
              <a:alpha val="12000"/>
            </a:srgbClr>
          </a:solidFill>
          <a:ln w="9525">
            <a:solidFill>
              <a:srgbClr val="E08A3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685925" y="5895975"/>
            <a:ext cx="174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962150" y="5862638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5C8A3A">
              <a:alpha val="12000"/>
            </a:srgbClr>
          </a:solidFill>
          <a:ln w="9525">
            <a:solidFill>
              <a:srgbClr val="5C8A3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2019300" y="5895975"/>
            <a:ext cx="174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295525" y="5862638"/>
            <a:ext cx="285750" cy="285750"/>
          </a:xfrm>
          <a:prstGeom prst="roundRect">
            <a:avLst>
              <a:gd name="adj" fmla="val 320000"/>
            </a:avLst>
          </a:prstGeom>
          <a:solidFill>
            <a:srgbClr val="C94F3D">
              <a:alpha val="10000"/>
            </a:srgbClr>
          </a:solidFill>
          <a:ln w="9525">
            <a:solidFill>
              <a:srgbClr val="C94F3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352675" y="5895975"/>
            <a:ext cx="174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714625" y="5900738"/>
            <a:ext cx="546967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Interview a partner using cumulative questions about hobbies and habits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296400" y="4195763"/>
            <a:ext cx="7658100" cy="3429000"/>
          </a:xfrm>
          <a:prstGeom prst="roundRect">
            <a:avLst>
              <a:gd name="adj" fmla="val 5556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9591675" y="4452938"/>
            <a:ext cx="113929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50"/>
              </a:spcAft>
              <a:buNone/>
            </a:pPr>
            <a:r>
              <a:rPr lang="en-US" sz="1200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591675" y="4662488"/>
            <a:ext cx="7067550" cy="1162050"/>
          </a:xfrm>
          <a:prstGeom prst="rect">
            <a:avLst/>
          </a:prstGeom>
          <a:solidFill>
            <a:srgbClr val="E8E2C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40"/>
          <p:cNvSpPr/>
          <p:nvPr/>
        </p:nvSpPr>
        <p:spPr>
          <a:xfrm>
            <a:off x="9615488" y="4662488"/>
            <a:ext cx="0" cy="1162050"/>
          </a:xfrm>
          <a:prstGeom prst="line">
            <a:avLst/>
          </a:prstGeom>
          <a:noFill/>
          <a:ln w="47625">
            <a:solidFill>
              <a:srgbClr val="E08A3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848850" y="4833938"/>
            <a:ext cx="40304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E08A3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</a:t>
            </a:r>
            <a:endParaRPr lang="en-US" sz="975" dirty="0"/>
          </a:p>
        </p:txBody>
      </p:sp>
      <p:sp>
        <p:nvSpPr>
          <p:cNvPr id="44" name="Text 42"/>
          <p:cNvSpPr/>
          <p:nvPr/>
        </p:nvSpPr>
        <p:spPr>
          <a:xfrm>
            <a:off x="9848850" y="5081588"/>
            <a:ext cx="598262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Write one sentence using 可是 about something you don't like but do anyway.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9591675" y="6005513"/>
            <a:ext cx="7164726" cy="1343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 volunteer reads each success criterion aloud — class responds with the target word or sentence.
</a:t>
            </a:r>
            <a:r>
              <a:rPr lang="en-US" sz="1125" b="1" dirty="0">
                <a:solidFill>
                  <a:srgbClr val="C94F3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Self-assess with thumbs</a:t>
            </a:r>
            <a:r>
              <a:rPr lang="en-US" sz="11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against each of the 4 criteria above.
</a:t>
            </a:r>
            <a:r>
              <a:rPr lang="en-US" sz="1125" b="1" dirty="0">
                <a:solidFill>
                  <a:srgbClr val="C94F3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Preview:</a:t>
            </a:r>
            <a:r>
              <a:rPr lang="en-US" sz="11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Next lesson is a listening and character lesson — we'll practise the ie/üe pinyin sounds and learn 4 new simple characters that will help us with fruit words!</a:t>
            </a:r>
            <a:endParaRPr lang="en-US" sz="1125" dirty="0"/>
          </a:p>
        </p:txBody>
      </p:sp>
      <p:sp>
        <p:nvSpPr>
          <p:cNvPr id="46" name="Shape 44"/>
          <p:cNvSpPr/>
          <p:nvPr/>
        </p:nvSpPr>
        <p:spPr>
          <a:xfrm>
            <a:off x="0" y="9786938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2000" y="9958388"/>
            <a:ext cx="3236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4 Vegetables &amp; Fruits 蔬菜、水果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771525"/>
          </a:xfrm>
          <a:prstGeom prst="rect">
            <a:avLst/>
          </a:prstGeom>
          <a:solidFill>
            <a:srgbClr val="FBFAF2">
              <a:alpha val="9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766763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285750"/>
            <a:ext cx="19393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可是 BUT + TEXT 1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053804" y="280988"/>
            <a:ext cx="16271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Preview · Next Lesson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5C8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036131" y="2426940"/>
            <a:ext cx="221558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 NEXT · L4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6413187" y="2712690"/>
            <a:ext cx="5461477" cy="742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830"/>
              </a:lnSpc>
              <a:buNone/>
            </a:pPr>
            <a:r>
              <a:rPr lang="en-US" sz="42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拼音 </a:t>
            </a:r>
            <a:r>
              <a:rPr lang="en-US" sz="4200" b="1" dirty="0">
                <a:solidFill>
                  <a:srgbClr val="5C8A3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ie / üe</a:t>
            </a:r>
            <a:r>
              <a:rPr lang="en-US" sz="4200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+ 简单汉字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170576" y="3468886"/>
            <a:ext cx="994669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Listening practice with the ie/üe pinyin sounds + 4 new simple characters for fruit words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734050" y="4278511"/>
            <a:ext cx="3295650" cy="2047875"/>
          </a:xfrm>
          <a:prstGeom prst="roundRect">
            <a:avLst>
              <a:gd name="adj" fmla="val 9302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148703" y="4554736"/>
            <a:ext cx="466344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🎧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954393" y="5326261"/>
            <a:ext cx="85496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拼音听力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244858" y="5650111"/>
            <a:ext cx="22740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Listening practice, ie/üe sounds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9258300" y="4278511"/>
            <a:ext cx="3295650" cy="2047875"/>
          </a:xfrm>
          <a:prstGeom prst="roundRect">
            <a:avLst>
              <a:gd name="adj" fmla="val 9302"/>
            </a:avLst>
          </a:prstGeom>
          <a:solidFill>
            <a:srgbClr val="F2EFDE"/>
          </a:solidFill>
          <a:ln w="9525">
            <a:solidFill>
              <a:srgbClr val="E1DBC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672953" y="4554736"/>
            <a:ext cx="466344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24321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✏️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0585514" y="5326261"/>
            <a:ext cx="64122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新汉字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9743910" y="5650111"/>
            <a:ext cx="232428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25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new simple characters for fruit words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6701730" y="6745486"/>
            <a:ext cx="4884539" cy="1381125"/>
          </a:xfrm>
          <a:prstGeom prst="roundRect">
            <a:avLst>
              <a:gd name="adj" fmla="val 13793"/>
            </a:avLst>
          </a:prstGeom>
          <a:solidFill>
            <a:srgbClr val="E8E2C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699212" y="6955036"/>
            <a:ext cx="889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5C8A3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COMING UP</a:t>
            </a:r>
            <a:endParaRPr lang="en-US" sz="975" dirty="0"/>
          </a:p>
        </p:txBody>
      </p:sp>
      <p:sp>
        <p:nvSpPr>
          <p:cNvPr id="20" name="Text 18"/>
          <p:cNvSpPr/>
          <p:nvPr/>
        </p:nvSpPr>
        <p:spPr>
          <a:xfrm>
            <a:off x="8658680" y="7202686"/>
            <a:ext cx="97063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4321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ie · üe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119229" y="7688461"/>
            <a:ext cx="40495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75" dirty="0">
                <a:solidFill>
                  <a:srgbClr val="5C665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 sounds that unlock the next fruit vocabulary</a:t>
            </a:r>
            <a:endParaRPr lang="en-US" sz="1275" dirty="0"/>
          </a:p>
        </p:txBody>
      </p:sp>
      <p:sp>
        <p:nvSpPr>
          <p:cNvPr id="22" name="Shape 20"/>
          <p:cNvSpPr/>
          <p:nvPr/>
        </p:nvSpPr>
        <p:spPr>
          <a:xfrm>
            <a:off x="0" y="9786938"/>
            <a:ext cx="18288000" cy="0"/>
          </a:xfrm>
          <a:prstGeom prst="line">
            <a:avLst/>
          </a:prstGeom>
          <a:noFill/>
          <a:ln w="9525">
            <a:solidFill>
              <a:srgbClr val="E1DBC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2000" y="9958388"/>
            <a:ext cx="32364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C948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Y8 Chinese · Unit 4 Vegetables &amp; Fruits 蔬菜、水果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2026-08-01T05:42:59Z</dcterms:created>
  <dcterms:modified xsi:type="dcterms:W3CDTF">2026-08-01T05:42:59Z</dcterms:modified>
</cp:coreProperties>
</file>