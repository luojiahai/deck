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sv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8223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两三种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23396"/>
            <a:ext cx="167106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Kinds · and approximate number ranges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 · 50 minutes · 课本 p.96–99</a:t>
            </a:r>
            <a:endParaRPr lang="en-US" sz="2250" dirty="0"/>
          </a:p>
        </p:txBody>
      </p:sp>
      <p:pic>
        <p:nvPicPr>
          <p:cNvPr id="9" name="Image 0" descr="/Users/luojiahai/code/deck/index/designs/y8-l10/img/shuigu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2842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0/img/xigu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2842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0/img/li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2842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0/img/shucai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28421"/>
            <a:ext cx="1428750" cy="1428750"/>
          </a:xfrm>
          <a:prstGeom prst="rect">
            <a:avLst/>
          </a:prstGeom>
        </p:spPr>
      </p:pic>
      <p:pic>
        <p:nvPicPr>
          <p:cNvPr id="13" name="Image 4" descr="/Users/luojiahai/code/deck/index/designs/y8-l10/img/nangua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8600" y="712842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402609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TWO HALVES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511873"/>
            <a:ext cx="4654897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4588073"/>
            <a:ext cx="43982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PAIRS, THEN GROUPS · 8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5178623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5231011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5178623"/>
            <a:ext cx="16302609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from memory (4 min)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Text 2 is not on the screen. Rebuild as much as you can, A and B, then swap. Who got the last line?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614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6196013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6143625"/>
            <a:ext cx="16302609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听写 character race (4 min)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textbook p.97 Ex.12. Two minutes to memorise the twelve characters below, then books closed and the teacher dictates eight of them.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简单字 · TWO MINUTES TO MEMORISE — THEN BOOKS CLOSED, EIGHT DICTATED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4403" y="2009775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夕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5048250" y="1666875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4453" y="2009775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心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9258300" y="1666875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54503" y="2009775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13468350" y="1666875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564553" y="2009775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838200" y="352127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4403" y="386417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5048250" y="352127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4453" y="386417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</a:t>
            </a:r>
            <a:endParaRPr lang="en-US" sz="7050" dirty="0"/>
          </a:p>
        </p:txBody>
      </p:sp>
      <p:sp>
        <p:nvSpPr>
          <p:cNvPr id="18" name="Text 16"/>
          <p:cNvSpPr/>
          <p:nvPr/>
        </p:nvSpPr>
        <p:spPr>
          <a:xfrm>
            <a:off x="9258300" y="352127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54503" y="386417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endParaRPr lang="en-US" sz="7050" dirty="0"/>
          </a:p>
        </p:txBody>
      </p:sp>
      <p:sp>
        <p:nvSpPr>
          <p:cNvPr id="20" name="Text 18"/>
          <p:cNvSpPr/>
          <p:nvPr/>
        </p:nvSpPr>
        <p:spPr>
          <a:xfrm>
            <a:off x="13468350" y="3521273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564553" y="3864173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</a:t>
            </a:r>
            <a:endParaRPr lang="en-US" sz="7050" dirty="0"/>
          </a:p>
        </p:txBody>
      </p:sp>
      <p:sp>
        <p:nvSpPr>
          <p:cNvPr id="22" name="Text 20"/>
          <p:cNvSpPr/>
          <p:nvPr/>
        </p:nvSpPr>
        <p:spPr>
          <a:xfrm>
            <a:off x="838200" y="5375672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4403" y="5718572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</a:t>
            </a:r>
            <a:endParaRPr lang="en-US" sz="7050" dirty="0"/>
          </a:p>
        </p:txBody>
      </p:sp>
      <p:sp>
        <p:nvSpPr>
          <p:cNvPr id="24" name="Text 22"/>
          <p:cNvSpPr/>
          <p:nvPr/>
        </p:nvSpPr>
        <p:spPr>
          <a:xfrm>
            <a:off x="5048250" y="5375672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44453" y="5718572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</a:t>
            </a:r>
            <a:endParaRPr lang="en-US" sz="7050" dirty="0"/>
          </a:p>
        </p:txBody>
      </p:sp>
      <p:sp>
        <p:nvSpPr>
          <p:cNvPr id="26" name="Text 24"/>
          <p:cNvSpPr/>
          <p:nvPr/>
        </p:nvSpPr>
        <p:spPr>
          <a:xfrm>
            <a:off x="9258300" y="5375672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354503" y="5718572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欠</a:t>
            </a:r>
            <a:endParaRPr lang="en-US" sz="7050" dirty="0"/>
          </a:p>
        </p:txBody>
      </p:sp>
      <p:sp>
        <p:nvSpPr>
          <p:cNvPr id="28" name="Text 26"/>
          <p:cNvSpPr/>
          <p:nvPr/>
        </p:nvSpPr>
        <p:spPr>
          <a:xfrm>
            <a:off x="13468350" y="5375672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564553" y="5718572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石</a:t>
            </a:r>
            <a:endParaRPr lang="en-US" sz="7050" dirty="0"/>
          </a:p>
        </p:txBody>
      </p:sp>
      <p:sp>
        <p:nvSpPr>
          <p:cNvPr id="30" name="Text 28"/>
          <p:cNvSpPr/>
          <p:nvPr/>
        </p:nvSpPr>
        <p:spPr>
          <a:xfrm>
            <a:off x="838200" y="7001470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23950" y="7230070"/>
            <a:ext cx="112837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ARE TEST CHARACTERS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23950" y="7515820"/>
            <a:ext cx="1128379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unit test's "find the simple character" question is built from exactly this grid.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19263"/>
            <a:ext cx="169438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166938"/>
            <a:ext cx="16611600" cy="1581150"/>
          </a:xfrm>
          <a:prstGeom prst="roundRect">
            <a:avLst>
              <a:gd name="adj" fmla="val 12048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90625" y="2405063"/>
            <a:ext cx="1622488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roughly how many kinds of something there are, using 种 and number ranges like 两三、三四.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838200" y="3938588"/>
            <a:ext cx="169438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我会……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386263"/>
            <a:ext cx="16611600" cy="1133475"/>
          </a:xfrm>
          <a:prstGeom prst="roundRect">
            <a:avLst>
              <a:gd name="adj" fmla="val 1008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4529138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685925" y="4529138"/>
            <a:ext cx="58180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种 as the measure word for kinds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685925" y="4938713"/>
            <a:ext cx="58180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我每天吃两三种水果。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5643563"/>
            <a:ext cx="16611600" cy="1133475"/>
          </a:xfrm>
          <a:prstGeom prst="roundRect">
            <a:avLst>
              <a:gd name="adj" fmla="val 1008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5375" y="5786438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685925" y="5786438"/>
            <a:ext cx="92269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make an approximate number from two consecutive numbers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685925" y="6196013"/>
            <a:ext cx="922699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三四天 · 四五种 · 七八个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6900863"/>
            <a:ext cx="16611600" cy="1133475"/>
          </a:xfrm>
          <a:prstGeom prst="roundRect">
            <a:avLst>
              <a:gd name="adj" fmla="val 1008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5375" y="7043738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685925" y="7043738"/>
            <a:ext cx="55633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and answer 你每天吃几种水果？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685925" y="7453312"/>
            <a:ext cx="55633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你每天吃几种水果？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8200" y="8158163"/>
            <a:ext cx="16611600" cy="1133475"/>
          </a:xfrm>
          <a:prstGeom prst="roundRect">
            <a:avLst>
              <a:gd name="adj" fmla="val 1008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5375" y="8301038"/>
            <a:ext cx="3691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685925" y="8301038"/>
            <a:ext cx="88278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recognise the food vocabulary from the whole of Lesson 10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685925" y="8710613"/>
            <a:ext cx="882789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蔬菜、水果 — 十八个词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38363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78192" y="2869406"/>
            <a:ext cx="2931616" cy="5757863"/>
          </a:xfrm>
          <a:prstGeom prst="roundRect">
            <a:avLst>
              <a:gd name="adj" fmla="val 6498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18922" y="4012406"/>
            <a:ext cx="127515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zhǒng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429625" y="4793456"/>
            <a:ext cx="1457325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8397627" y="6484144"/>
            <a:ext cx="15226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kind; type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002042" y="7131844"/>
            <a:ext cx="232959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繁体：種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měi tiān chī liǎng zhǒng shuǐguǒ.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我每天吃两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eat two kinds of fruit every day.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jǐ zhǒng shūcài?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你喜欢几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蔬菜？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many kinds of vegetable do you like?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měi tiān dōu chī liǎng sān zhǒng shuǐguǒ.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我每天都吃两三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last line of Text 2 — now you know all of it.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1714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02918"/>
            <a:ext cx="16611600" cy="3322141"/>
          </a:xfrm>
          <a:prstGeom prst="roundRect">
            <a:avLst>
              <a:gd name="adj" fmla="val 5734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474393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我每天吃 ______ 种水果。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4478238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 ______ 种蔬菜。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04925" y="5653534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200" y="6615559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525" y="6853684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7234684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种 with something that is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food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reaching back to earlier units — then join the two with 除了…以外.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" y="7649021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我会说两种语言。　我喜欢三四种运动。</a:t>
            </a:r>
            <a:endParaRPr lang="en-US" sz="2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99221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KEY SENTENCE PATTERN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477988"/>
            <a:ext cx="16611600" cy="1922115"/>
          </a:xfrm>
          <a:prstGeom prst="roundRect">
            <a:avLst>
              <a:gd name="adj" fmla="val 9911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9851" y="2773263"/>
            <a:ext cx="16108299" cy="81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35"/>
              </a:lnSpc>
              <a:buNone/>
            </a:pPr>
            <a:r>
              <a:rPr lang="en-US" sz="49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两三 · 三四 · 四五 · 七八</a:t>
            </a:r>
            <a:endParaRPr lang="en-US" sz="4950" dirty="0"/>
          </a:p>
        </p:txBody>
      </p:sp>
      <p:sp>
        <p:nvSpPr>
          <p:cNvPr id="8" name="Text 6"/>
          <p:cNvSpPr/>
          <p:nvPr/>
        </p:nvSpPr>
        <p:spPr>
          <a:xfrm>
            <a:off x="1089851" y="3723829"/>
            <a:ext cx="161082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CONSECUTIVE numbers side by side make an approximation. Never skip a number.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4847779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4743004"/>
            <a:ext cx="4469130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我每天吃两三种水果。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38200" y="5572571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47800" y="5467796"/>
            <a:ext cx="4469130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我三四天没去游泳了。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38200" y="6297364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6192589"/>
            <a:ext cx="7150608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我们家每天都吃四五种蔬菜、水果。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838200" y="7022157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7800" y="6917382"/>
            <a:ext cx="11172825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我每天都吃两三种水果，可是我妈妈说我应该吃四五种。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447800" y="7508825"/>
            <a:ext cx="111728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range twice, plus 可是 and 应该 — the hardest one.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38200" y="7861250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8089850"/>
            <a:ext cx="13548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MISTAKE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8375600"/>
            <a:ext cx="1354887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两四种 is wrong. The two numbers must be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to each other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两三 ✓ · 三四 ✓ · 四五 ✓ · 两四 ✗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47798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种 OR 个？ · KINDS VERSUS ITEMS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6869013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3950" y="7097613"/>
            <a:ext cx="85121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YOUR WHITEBOARDS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7383363"/>
            <a:ext cx="851214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种 or 个？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23950" y="7797701"/>
            <a:ext cx="851214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我买了两三 ____ 苹果。　我每天吃四五 ____ 蔬菜。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EVERYTHING FROM THIS LESSON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0/img/shuca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3525" y="1876425"/>
            <a:ext cx="1219200" cy="121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2575" y="319087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363855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luojiahai/code/deck/index/designs/y8-l10/img/shengca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875" y="1876425"/>
            <a:ext cx="1219200" cy="121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925" y="319087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4650" dirty="0"/>
          </a:p>
        </p:txBody>
      </p:sp>
      <p:sp>
        <p:nvSpPr>
          <p:cNvPr id="12" name="Text 8"/>
          <p:cNvSpPr/>
          <p:nvPr/>
        </p:nvSpPr>
        <p:spPr>
          <a:xfrm>
            <a:off x="643890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luojiahai/code/deck/index/designs/y8-l10/img/huanggua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225" y="1876425"/>
            <a:ext cx="1219200" cy="1219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3275" y="319087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4650" dirty="0"/>
          </a:p>
        </p:txBody>
      </p:sp>
      <p:sp>
        <p:nvSpPr>
          <p:cNvPr id="15" name="Text 10"/>
          <p:cNvSpPr/>
          <p:nvPr/>
        </p:nvSpPr>
        <p:spPr>
          <a:xfrm>
            <a:off x="923925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Users/luojiahai/code/deck/index/designs/y8-l10/img/tudou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4575" y="1876425"/>
            <a:ext cx="1219200" cy="1219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53625" y="319087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4650" dirty="0"/>
          </a:p>
        </p:txBody>
      </p:sp>
      <p:sp>
        <p:nvSpPr>
          <p:cNvPr id="18" name="Text 12"/>
          <p:cNvSpPr/>
          <p:nvPr/>
        </p:nvSpPr>
        <p:spPr>
          <a:xfrm>
            <a:off x="1203960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4" descr="/Users/luojiahai/code/deck/index/designs/y8-l10/img/caihuar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34925" y="1876425"/>
            <a:ext cx="1219200" cy="1219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658725" y="3190875"/>
            <a:ext cx="139903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endParaRPr lang="en-US" sz="3600" dirty="0"/>
          </a:p>
        </p:txBody>
      </p:sp>
      <p:sp>
        <p:nvSpPr>
          <p:cNvPr id="21" name="Text 14"/>
          <p:cNvSpPr/>
          <p:nvPr/>
        </p:nvSpPr>
        <p:spPr>
          <a:xfrm>
            <a:off x="1483995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Users/luojiahai/code/deck/index/designs/y8-l10/img/xihongshi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535275" y="1876425"/>
            <a:ext cx="1219200" cy="1219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5459075" y="3190875"/>
            <a:ext cx="139903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3600" dirty="0"/>
          </a:p>
        </p:txBody>
      </p:sp>
      <p:sp>
        <p:nvSpPr>
          <p:cNvPr id="24" name="Text 16"/>
          <p:cNvSpPr/>
          <p:nvPr/>
        </p:nvSpPr>
        <p:spPr>
          <a:xfrm>
            <a:off x="838200" y="4229993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6" descr="/Users/luojiahai/code/deck/index/designs/y8-l10/img/qingcai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33525" y="4439543"/>
            <a:ext cx="1219200" cy="1219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552575" y="575399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endParaRPr lang="en-US" sz="4650" dirty="0"/>
          </a:p>
        </p:txBody>
      </p:sp>
      <p:sp>
        <p:nvSpPr>
          <p:cNvPr id="27" name="Text 18"/>
          <p:cNvSpPr/>
          <p:nvPr/>
        </p:nvSpPr>
        <p:spPr>
          <a:xfrm>
            <a:off x="3638550" y="4229993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7" descr="/Users/luojiahai/code/deck/index/designs/y8-l10/img/nangua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33875" y="4439543"/>
            <a:ext cx="1219200" cy="1219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352925" y="575399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南瓜</a:t>
            </a:r>
            <a:endParaRPr lang="en-US" sz="4650" dirty="0"/>
          </a:p>
        </p:txBody>
      </p:sp>
      <p:sp>
        <p:nvSpPr>
          <p:cNvPr id="30" name="Text 20"/>
          <p:cNvSpPr/>
          <p:nvPr/>
        </p:nvSpPr>
        <p:spPr>
          <a:xfrm>
            <a:off x="6438900" y="4229993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8" descr="/Users/luojiahai/code/deck/index/designs/y8-l10/img/shuiguo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34225" y="4439543"/>
            <a:ext cx="1219200" cy="12192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53275" y="575399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</a:t>
            </a:r>
            <a:endParaRPr lang="en-US" sz="4650" dirty="0"/>
          </a:p>
        </p:txBody>
      </p:sp>
      <p:sp>
        <p:nvSpPr>
          <p:cNvPr id="33" name="Text 22"/>
          <p:cNvSpPr/>
          <p:nvPr/>
        </p:nvSpPr>
        <p:spPr>
          <a:xfrm>
            <a:off x="9239250" y="4229993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9" descr="/Users/luojiahai/code/deck/index/designs/y8-l10/img/pingguo.sv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934575" y="4439543"/>
            <a:ext cx="1219200" cy="12192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9953625" y="575399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4650" dirty="0"/>
          </a:p>
        </p:txBody>
      </p:sp>
      <p:sp>
        <p:nvSpPr>
          <p:cNvPr id="36" name="Text 24"/>
          <p:cNvSpPr/>
          <p:nvPr/>
        </p:nvSpPr>
        <p:spPr>
          <a:xfrm>
            <a:off x="12039600" y="4229993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10" descr="/Users/luojiahai/code/deck/index/designs/y8-l10/img/xiangjiao.sv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734925" y="4439543"/>
            <a:ext cx="1219200" cy="121920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2753975" y="575399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4650" dirty="0"/>
          </a:p>
        </p:txBody>
      </p:sp>
      <p:sp>
        <p:nvSpPr>
          <p:cNvPr id="39" name="Text 26"/>
          <p:cNvSpPr/>
          <p:nvPr/>
        </p:nvSpPr>
        <p:spPr>
          <a:xfrm>
            <a:off x="14839950" y="4229993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11" descr="/Users/luojiahai/code/deck/index/designs/y8-l10/img/juzi.sv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535275" y="4439543"/>
            <a:ext cx="1219200" cy="121920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15554325" y="575399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</a:t>
            </a:r>
            <a:endParaRPr lang="en-US" sz="4650" dirty="0"/>
          </a:p>
        </p:txBody>
      </p:sp>
      <p:sp>
        <p:nvSpPr>
          <p:cNvPr id="42" name="Text 28"/>
          <p:cNvSpPr/>
          <p:nvPr/>
        </p:nvSpPr>
        <p:spPr>
          <a:xfrm>
            <a:off x="838200" y="6793111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12" descr="/Users/luojiahai/code/deck/index/designs/y8-l10/img/xigua.sv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33525" y="7002661"/>
            <a:ext cx="1219200" cy="121920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1552575" y="8317111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4650" dirty="0"/>
          </a:p>
        </p:txBody>
      </p:sp>
      <p:sp>
        <p:nvSpPr>
          <p:cNvPr id="45" name="Text 30"/>
          <p:cNvSpPr/>
          <p:nvPr/>
        </p:nvSpPr>
        <p:spPr>
          <a:xfrm>
            <a:off x="3638550" y="6793111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13" descr="/Users/luojiahai/code/deck/index/designs/y8-l10/img/li.sv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33875" y="7002661"/>
            <a:ext cx="1219200" cy="121920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4648200" y="8317111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endParaRPr lang="en-US" sz="4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52246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THE SIX WORDS THAT ARE NOT FOOD — READ THEM BACK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非常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等等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7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MATCH THE TWO HALVES — TEXTBOOK P.97 EX.13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2715518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24200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6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801969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Match all nine. Every ending contains a number range.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677140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the completed sentences in your books.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546277"/>
            <a:ext cx="16611600" cy="2160240"/>
          </a:xfrm>
          <a:prstGeom prst="roundRect">
            <a:avLst>
              <a:gd name="adj" fmla="val 8818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0625" y="382250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他会说 ____ · 她今年学了 ____ · 妈妈打了 ____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190625" y="435843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爸爸开了 ____ · 弟弟在家休息了 ____ · 他学了 ____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190625" y="489436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姐姐每天吃 ____ · 哥哥每天看 ____ · 妹妹每天弹 ____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838200" y="5897017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52525" y="6135142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52525" y="6516142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Rewrite three of them about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yourself and your own family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changing both the range and the noun. Then one sentence that uses two ranges at once.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52525" y="7344817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我每天看一两个小时的电视，做三四个小时的作业。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下半句 · EVERY ONE OF THEM CONTAINS A NUMBER RANGE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6101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14150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200" y="2724150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6101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4150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200" y="3781425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26101" y="378142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014150" y="378142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听一听，连一连 · THE TEACHER READS EACH ITEM TWICE, THEN ONCE SLOWLY — 课本 P.98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6101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14150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200" y="2724150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6101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4150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200" y="3629025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20200" y="3629025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8200" y="4686300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20200" y="4686300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8200" y="5743575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220200" y="5743575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 · ANSWERS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20200" y="1666875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200" y="2724150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220200" y="2724150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200" y="3781425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20200" y="3781425"/>
            <a:ext cx="8229600" cy="904875"/>
          </a:xfrm>
          <a:prstGeom prst="roundRect">
            <a:avLst>
              <a:gd name="adj" fmla="val 1263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200" y="4876800"/>
            <a:ext cx="16611600" cy="1685925"/>
          </a:xfrm>
          <a:prstGeom prst="roundRect">
            <a:avLst>
              <a:gd name="adj" fmla="val 6780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5114925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52525" y="549592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down the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whole sentence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hear, not just the letter — full characters, first listen. Then write two new items in the same format for a partner, and read them aloud yourself.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3 · ANSWER IN CHINESE — 练习册 EX.12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6442770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62218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YOUR BOOKS · FULL SENTENCES · 4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5724555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sentences, not one-word answers.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447535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answer must contain 种.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546277"/>
            <a:ext cx="16611600" cy="2696170"/>
          </a:xfrm>
          <a:prstGeom prst="roundRect">
            <a:avLst>
              <a:gd name="adj" fmla="val 7066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0625" y="382250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你会说几种语言？什么语言？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190625" y="435843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你喜欢做几种体育运动？什么运动？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190625" y="489436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你今天吃了几种蔬菜？什么蔬菜？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190625" y="5430292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你今天吃了几种水果？什么水果？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838200" y="6432947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52525" y="6671072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52525" y="7052072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all four with a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range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rather than an exact number, and add a second clause to each with 可是 or 除了…以外.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52525" y="7466409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我今天吃了两三种水果，可是我没吃蔬菜。</a:t>
            </a:r>
            <a:endParaRPr lang="en-US" sz="2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组词 BUILD A PHRASE — TEXTBOOK P.99 EX.17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4188023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39220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GROUPS OF FOUR · 5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725413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one character to each to form a real phrase.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636259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Characters if you can, pinyin if you cannot.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4224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5568" y="34748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6850" y="3422452"/>
            <a:ext cx="4000964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 correct phrases wins.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4090690"/>
            <a:ext cx="16611600" cy="2696170"/>
          </a:xfrm>
          <a:prstGeom prst="roundRect">
            <a:avLst>
              <a:gd name="adj" fmla="val 7066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90625" y="436691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年__　电__　号__　多__　学__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190625" y="490284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中__　秘__　下__　上__　走__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190625" y="543877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地__　蓝__　校__　长__　汗__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190625" y="597470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毛__　喜__　起__　早__　火__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838200" y="6977360"/>
            <a:ext cx="16611600" cy="1685925"/>
          </a:xfrm>
          <a:prstGeom prst="roundRect">
            <a:avLst>
              <a:gd name="adj" fmla="val 6780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52525" y="7215485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52525" y="759648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phrases per character, both in characters, no pinyin. And for any five of them, write a full sentence using the phrase — those five are worth double.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90232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我做到了吗？ 👍 / 😐 / 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388096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4425" y="2588121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762125" y="2588121"/>
            <a:ext cx="809862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I name six vegetables and six fruits in characters?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3393877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3593902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3593902"/>
            <a:ext cx="445303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I use 应该 to give advice?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" y="4399657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14425" y="4599682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762125" y="4599682"/>
            <a:ext cx="487399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I join two clauses with 可是?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200" y="5405438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14425" y="5605463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762125" y="5605463"/>
            <a:ext cx="537707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I use 都、这些 and 种 correctly?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8200" y="6287393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6515993"/>
            <a:ext cx="70359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6801743"/>
            <a:ext cx="703599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one full sentence using a number range: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216080"/>
            <a:ext cx="7035995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你每天吃几种水果？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38200" y="7951291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3950" y="8179891"/>
            <a:ext cx="138195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 · 下节课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23950" y="8465641"/>
            <a:ext cx="1381954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11 — 一日三餐, three meals a day. You already have the food words; now you get the meals.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2026-09-14T04:55:25Z</dcterms:created>
  <dcterms:modified xsi:type="dcterms:W3CDTF">2026-09-14T04:55:25Z</dcterms:modified>
</cp:coreProperties>
</file>