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4171" y="4476750"/>
            <a:ext cx="3901836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261473" y="2824163"/>
            <a:ext cx="3764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Y8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95061" y="3090863"/>
            <a:ext cx="34975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90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🍎🍊🍉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7589371" y="4386263"/>
            <a:ext cx="310896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Aft>
                <a:spcPts val="600"/>
              </a:spcAft>
              <a:buNone/>
            </a:pPr>
            <a:r>
              <a:rPr lang="en-US" sz="12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755748" y="6215063"/>
            <a:ext cx="27763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Fruits Vocabulary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82938" y="7253288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40876" y="7253288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77693" y="7253288"/>
            <a:ext cx="13527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+ Writing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90663" y="7253288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2192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4000"/>
            <a:ext cx="4825871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Slap the Board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43000" y="2486025"/>
            <a:ext cx="7810500" cy="2714625"/>
          </a:xfrm>
          <a:prstGeom prst="roundRect">
            <a:avLst>
              <a:gd name="adj" fmla="val 701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2762250"/>
            <a:ext cx="18061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9225" y="3152775"/>
            <a:ext cx="7258050" cy="16192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食, 果, 欠, 石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(plus a few distractor characters) on the board</a:t>
            </a:r>
            <a:endParaRPr lang="en-US" sz="1500" dirty="0"/>
          </a:p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 or pinyin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two students race to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correct character</a:t>
            </a:r>
            <a:endParaRPr lang="en-US" sz="1500" dirty="0"/>
          </a:p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round: teacher says an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ie / üe pinyin pair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Lesson 4 — students call out which sound they hear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34500" y="2486025"/>
            <a:ext cx="31271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· SIMPLE CHARACTERS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34500" y="2695575"/>
            <a:ext cx="8255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6425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496425" y="3086100"/>
            <a:ext cx="5117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food; eat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55300" y="2695575"/>
            <a:ext cx="936873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17225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417225" y="3086100"/>
            <a:ext cx="625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fruit; result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87423" y="2695575"/>
            <a:ext cx="901898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449348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449348" y="3086100"/>
            <a:ext cx="589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owe; yawn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84571" y="2695575"/>
            <a:ext cx="628948" cy="638175"/>
          </a:xfrm>
          <a:prstGeom prst="roundRect">
            <a:avLst>
              <a:gd name="adj" fmla="val 18173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46496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石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446496" y="3086100"/>
            <a:ext cx="311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34500" y="3486150"/>
            <a:ext cx="1314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FOCUS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34500" y="3790950"/>
            <a:ext cx="1153716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96425" y="3876675"/>
            <a:ext cx="149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496425" y="4181475"/>
            <a:ext cx="846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谢谢 xièxie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83466" y="3790950"/>
            <a:ext cx="913209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745391" y="3876675"/>
            <a:ext cx="1978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745391" y="4181475"/>
            <a:ext cx="6011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学 xué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5429250"/>
            <a:ext cx="16002000" cy="8001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166813" y="5429250"/>
            <a:ext cx="0" cy="8001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9225" y="5581650"/>
            <a:ext cx="1533166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"Last lesson you learned the character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which means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Today we put it to use — learning the Chinese words for lots of fruits, starting with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itself, which literally means 'water-fruit'!"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228975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552825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495800"/>
            <a:ext cx="13992225" cy="1000125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495800"/>
            <a:ext cx="0" cy="1000125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705350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933950"/>
            <a:ext cx="106545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common fruits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say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fruit we like to eat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8197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5895975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5810250"/>
            <a:ext cx="69268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水果, 苹果, 香蕉, 橘子, 西瓜, 梨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6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(用拼音说出新词汇)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63912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467475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381750"/>
            <a:ext cx="6130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at least 2 extra fruits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the Extra Words list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3500" y="69627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7038975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6953250"/>
            <a:ext cx="6562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sentence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saying what fruit is in my fridge at home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257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4224269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143125"/>
            <a:ext cx="2689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VOCABULARY · 12 WORDS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24288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76325" y="25336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6325" y="2867025"/>
            <a:ext cx="4842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shuǐguǒ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76325" y="3057525"/>
            <a:ext cx="2352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98825" y="24288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22650" y="25336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22650" y="2867025"/>
            <a:ext cx="497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píngguǒ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822650" y="3057525"/>
            <a:ext cx="306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5151" y="2428875"/>
            <a:ext cx="2651224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68976" y="25336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68976" y="2867025"/>
            <a:ext cx="3300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xiāng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568976" y="3057525"/>
            <a:ext cx="4546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fragrant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91625" y="24288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15450" y="25336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15450" y="2867025"/>
            <a:ext cx="2220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jiāo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315450" y="3057525"/>
            <a:ext cx="9188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broadleaf plants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937950" y="24288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061775" y="25336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61775" y="2867025"/>
            <a:ext cx="5521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xiāngjiāo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2061775" y="3057525"/>
            <a:ext cx="409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84276" y="2428875"/>
            <a:ext cx="2651224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808101" y="25336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808101" y="2867025"/>
            <a:ext cx="1143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jú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4808101" y="3057525"/>
            <a:ext cx="530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2500" y="34194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76325" y="35242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76325" y="3857625"/>
            <a:ext cx="217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júzi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076325" y="4048125"/>
            <a:ext cx="530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98825" y="34194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22650" y="35242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22650" y="3857625"/>
            <a:ext cx="3874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zhèxiē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3822650" y="4048125"/>
            <a:ext cx="30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5151" y="3419475"/>
            <a:ext cx="2651224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68976" y="35242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些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568976" y="3857625"/>
            <a:ext cx="176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xiē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6568976" y="4048125"/>
            <a:ext cx="301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91625" y="34194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315450" y="35242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315450" y="3857625"/>
            <a:ext cx="34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xīguā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9315450" y="4048125"/>
            <a:ext cx="652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watermelon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937950" y="3419475"/>
            <a:ext cx="2651075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2061775" y="35242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061775" y="3857625"/>
            <a:ext cx="69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lí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2061775" y="4048125"/>
            <a:ext cx="2507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4684276" y="3419475"/>
            <a:ext cx="2651224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4808101" y="352425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808101" y="3857625"/>
            <a:ext cx="3713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zhǒng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4808101" y="4048125"/>
            <a:ext cx="5519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kind; type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52500" y="4486275"/>
            <a:ext cx="28917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EXTRA WORDS · ACTIVITY 10, P.96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52500" y="4772025"/>
            <a:ext cx="2405063" cy="895350"/>
          </a:xfrm>
          <a:prstGeom prst="roundRect">
            <a:avLst>
              <a:gd name="adj" fmla="val 12766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76325" y="48768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葡萄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76325" y="5210175"/>
            <a:ext cx="3514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pútáo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1076325" y="5400675"/>
            <a:ext cx="3836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52813" y="4772025"/>
            <a:ext cx="2405063" cy="895350"/>
          </a:xfrm>
          <a:prstGeom prst="roundRect">
            <a:avLst>
              <a:gd name="adj" fmla="val 12766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576638" y="48768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李子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3576638" y="5210175"/>
            <a:ext cx="1719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lǐzi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3576638" y="5400675"/>
            <a:ext cx="2709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plum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53125" y="4772025"/>
            <a:ext cx="2405063" cy="895350"/>
          </a:xfrm>
          <a:prstGeom prst="roundRect">
            <a:avLst>
              <a:gd name="adj" fmla="val 12766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076950" y="48768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桃子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6076950" y="5210175"/>
            <a:ext cx="2989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táozi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6076950" y="5400675"/>
            <a:ext cx="3394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peach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453438" y="4772025"/>
            <a:ext cx="2405063" cy="895350"/>
          </a:xfrm>
          <a:prstGeom prst="roundRect">
            <a:avLst>
              <a:gd name="adj" fmla="val 12766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577263" y="48768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草莓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577263" y="5210175"/>
            <a:ext cx="44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cǎoméi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8577263" y="5400675"/>
            <a:ext cx="5973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strawberry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52500" y="5857875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38250" y="604837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2100" dirty="0"/>
          </a:p>
        </p:txBody>
      </p:sp>
      <p:sp>
        <p:nvSpPr>
          <p:cNvPr id="77" name="Text 75"/>
          <p:cNvSpPr/>
          <p:nvPr/>
        </p:nvSpPr>
        <p:spPr>
          <a:xfrm>
            <a:off x="1657350" y="6038850"/>
            <a:ext cx="51577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</a:t>
            </a:r>
            <a:r>
              <a:rPr lang="en-US" sz="13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苹果</a:t>
            </a:r>
            <a:r>
              <a:rPr lang="en-US" sz="13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both share the character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r>
              <a:rPr lang="en-US" sz="13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last lesson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657350" y="6276975"/>
            <a:ext cx="7025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 / 些 / 种 are grammar words we'll dig into properly in Lessons 6–7 — for now, just learn them as vocabulary.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2029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60998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Key Sentence Pattern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2133600"/>
            <a:ext cx="51976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Asking what fruit someone likes, and answering with a list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33500" y="2628900"/>
            <a:ext cx="3124200" cy="723900"/>
          </a:xfrm>
          <a:prstGeom prst="roundRect">
            <a:avLst>
              <a:gd name="adj" fmla="val 26316"/>
            </a:avLst>
          </a:prstGeom>
          <a:solidFill>
            <a:srgbClr val="E8E2C8"/>
          </a:solidFill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2790825"/>
            <a:ext cx="26231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你喜欢吃什么水果？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91050" y="2814638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972050" y="2628900"/>
            <a:ext cx="3704332" cy="723900"/>
          </a:xfrm>
          <a:prstGeom prst="roundRect">
            <a:avLst>
              <a:gd name="adj" fmla="val 26316"/>
            </a:avLst>
          </a:prstGeom>
          <a:solidFill>
            <a:srgbClr val="E8E2C8"/>
          </a:solidFill>
          <a:ln w="2857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48275" y="2790825"/>
            <a:ext cx="3214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X、Y、Z，我都喜欢吃。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885932" y="2867025"/>
            <a:ext cx="4431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fruit do you like? X, Y, Z — I like them all."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333500" y="3619500"/>
            <a:ext cx="15621000" cy="600075"/>
          </a:xfrm>
          <a:prstGeom prst="roundRect">
            <a:avLst>
              <a:gd name="adj" fmla="val 19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52575" y="3743325"/>
            <a:ext cx="60624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你喜欢吃什么水果？</a:t>
            </a: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苹果、香蕉、橘子，我</a:t>
            </a: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都喜欢吃</a:t>
            </a: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629132" y="3814763"/>
            <a:ext cx="52084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fruit do you like? Apples, bananas, tangerines — I like them all.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3500" y="4314825"/>
            <a:ext cx="15621000" cy="600075"/>
          </a:xfrm>
          <a:prstGeom prst="roundRect">
            <a:avLst>
              <a:gd name="adj" fmla="val 19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52575" y="4438650"/>
            <a:ext cx="22734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</a:t>
            </a: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西瓜和梨。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146113" y="4510088"/>
            <a:ext cx="2641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eating watermelon and pears.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33500" y="5010150"/>
            <a:ext cx="15621000" cy="600075"/>
          </a:xfrm>
          <a:prstGeom prst="roundRect">
            <a:avLst>
              <a:gd name="adj" fmla="val 19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52575" y="5133975"/>
            <a:ext cx="20208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不喜欢吃</a:t>
            </a: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香蕉。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739193" y="5205413"/>
            <a:ext cx="2036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like eating bananas.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3500" y="5705475"/>
            <a:ext cx="15621000" cy="600075"/>
          </a:xfrm>
          <a:prstGeom prst="roundRect">
            <a:avLst>
              <a:gd name="adj" fmla="val 19048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52575" y="5829300"/>
            <a:ext cx="35273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每天吃十个</a:t>
            </a:r>
            <a:r>
              <a:rPr lang="en-US" sz="1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苹果！</a:t>
            </a:r>
            <a:r>
              <a:rPr lang="en-US" sz="9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SILLY EXAMPLE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779972" y="5900738"/>
            <a:ext cx="19945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eat ten apples every day!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33500" y="6534150"/>
            <a:ext cx="61953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build "I like eating watermelon and pears": </a:t>
            </a:r>
            <a:r>
              <a:rPr lang="en-US" sz="105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5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西瓜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5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5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梨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我喜欢吃西瓜和梨。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662362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271963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49103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5577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538663"/>
            <a:ext cx="5006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橘子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94823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5614988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83406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90073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834063"/>
            <a:ext cx="97350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I say "I like eating grapes"?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 using the Extra Word 葡萄.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22458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6891338"/>
            <a:ext cx="15621000" cy="1104900"/>
          </a:xfrm>
          <a:prstGeom prst="roundRect">
            <a:avLst>
              <a:gd name="adj" fmla="val 1724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9725" y="71104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3046" y="7177088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219325" y="7138988"/>
            <a:ext cx="4685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character do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苹果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share?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539037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5286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3383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1005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33837"/>
            <a:ext cx="2148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橘子 mean?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4376738"/>
            <a:ext cx="16320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 = tangerine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729163"/>
            <a:ext cx="3638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júzi — a small citrus fruit, similar to a mandarin.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91138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721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3878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72113"/>
            <a:ext cx="197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like eating grapes"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5815013"/>
            <a:ext cx="16322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我喜欢吃葡萄。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67438"/>
            <a:ext cx="1516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xǐhuan chī pútáo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2941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1038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6977063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10388"/>
            <a:ext cx="3775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character do 水果 and 苹果 share?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19325" y="7253288"/>
            <a:ext cx="7688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 (guǒ)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05713"/>
            <a:ext cx="6026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words contain 果, meaning "fruit" — the character you learned last lesson.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302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19200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76350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104900"/>
            <a:ext cx="50315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Fruit Vocab Tracing Worksheet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1828800"/>
            <a:ext cx="964853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95475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1653" y="1862138"/>
            <a:ext cx="794891" cy="285750"/>
          </a:xfrm>
          <a:prstGeom prst="roundRect">
            <a:avLst>
              <a:gd name="adj" fmla="val 3330000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5003" y="1909762"/>
            <a:ext cx="538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2500" y="2371725"/>
            <a:ext cx="8039100" cy="2305050"/>
          </a:xfrm>
          <a:prstGeom prst="roundRect">
            <a:avLst>
              <a:gd name="adj" fmla="val 826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09675" y="2628900"/>
            <a:ext cx="1367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9675" y="2990850"/>
            <a:ext cx="7524750" cy="1276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each of the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new words/phrases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three times on the printed worksheet</a:t>
            </a:r>
            <a:endParaRPr lang="en-US" sz="1425" dirty="0"/>
          </a:p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the word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aloud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you write it</a:t>
            </a:r>
            <a:endParaRPr lang="en-US" sz="1425" dirty="0"/>
          </a:p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cover the pinyin/English columns and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self-quiz meanings from memory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then write one sentence using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a fruit of your choice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296400" y="2371725"/>
            <a:ext cx="8039100" cy="2971800"/>
          </a:xfrm>
          <a:prstGeom prst="roundRect">
            <a:avLst>
              <a:gd name="adj" fmla="val 641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05950" y="2590800"/>
            <a:ext cx="1594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505950" y="31289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5950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990016" y="2838450"/>
            <a:ext cx="2352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411200" y="31289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11200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825466" y="2838450"/>
            <a:ext cx="306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05950" y="35290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5950" y="323850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774960" y="3238500"/>
            <a:ext cx="4546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fragrant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411200" y="35290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11200" y="323850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225093" y="3238500"/>
            <a:ext cx="9188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broadleaf plants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05950" y="39290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5950" y="36385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819162" y="3638550"/>
            <a:ext cx="409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411200" y="39290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11200" y="363855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6605945" y="3638550"/>
            <a:ext cx="530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505950" y="43291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5950" y="403860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700695" y="4038600"/>
            <a:ext cx="530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411200" y="43291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11200" y="403860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6824871" y="4038600"/>
            <a:ext cx="30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05950" y="47291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5950" y="443865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些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2924830" y="4438650"/>
            <a:ext cx="301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411200" y="472916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411200" y="44386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6486287" y="4438650"/>
            <a:ext cx="652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watermelon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505950" y="51292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05950" y="483870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2974836" y="4838700"/>
            <a:ext cx="2507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411200" y="5129213"/>
            <a:ext cx="37147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411200" y="4838700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6584811" y="4838700"/>
            <a:ext cx="5519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kind; type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52500" y="5572125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04900" y="568642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104900" y="5876925"/>
            <a:ext cx="400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printed above every character on the tracing lines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6464201" y="55721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616601" y="568642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6616601" y="5876925"/>
            <a:ext cx="51149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 pinyin/English and self-quiz meanings from memory; write one 我喜欢吃 + fruit sentence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11976050" y="55721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128450" y="568642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2128450" y="5876925"/>
            <a:ext cx="4640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every word — 100% response rate by design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210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04913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6940" y="1104900"/>
            <a:ext cx="551460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Name the Fruits · Textbook Act.10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2500" y="1781175"/>
            <a:ext cx="956518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47850"/>
            <a:ext cx="606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3318" y="1814513"/>
            <a:ext cx="794891" cy="285750"/>
          </a:xfrm>
          <a:prstGeom prst="roundRect">
            <a:avLst>
              <a:gd name="adj" fmla="val 3330000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56668" y="1862138"/>
            <a:ext cx="538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32509" y="1814513"/>
            <a:ext cx="1092547" cy="285750"/>
          </a:xfrm>
          <a:prstGeom prst="roundRect">
            <a:avLst>
              <a:gd name="adj" fmla="val 3330000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65859" y="1862138"/>
            <a:ext cx="8423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YOU 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2362200"/>
            <a:ext cx="8399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PICTURES · P.96 — WRITE THE CHINESE NAME ON YOUR MINI WHITEBOARD, HOLD UP ON "THREE"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2500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08352" y="279082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50171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3012281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57508" y="2790825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9952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🍌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5072063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16986" y="2790825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69734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🍊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7131844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76311" y="2790825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29515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🍉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9191625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136698" y="2790825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89296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🍐</a:t>
            </a:r>
            <a:endParaRPr lang="en-US" sz="2850" dirty="0"/>
          </a:p>
        </p:txBody>
      </p:sp>
      <p:sp>
        <p:nvSpPr>
          <p:cNvPr id="32" name="Text 30"/>
          <p:cNvSpPr/>
          <p:nvPr/>
        </p:nvSpPr>
        <p:spPr>
          <a:xfrm>
            <a:off x="11251406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195873" y="2790825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049077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2850" dirty="0"/>
          </a:p>
        </p:txBody>
      </p:sp>
      <p:sp>
        <p:nvSpPr>
          <p:cNvPr id="35" name="Text 33"/>
          <p:cNvSpPr/>
          <p:nvPr/>
        </p:nvSpPr>
        <p:spPr>
          <a:xfrm>
            <a:off x="13311188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258993" y="2790825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08859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🍌</a:t>
            </a:r>
            <a:endParaRPr lang="en-US" sz="2850" dirty="0"/>
          </a:p>
        </p:txBody>
      </p:sp>
      <p:sp>
        <p:nvSpPr>
          <p:cNvPr id="38" name="Text 36"/>
          <p:cNvSpPr/>
          <p:nvPr/>
        </p:nvSpPr>
        <p:spPr>
          <a:xfrm>
            <a:off x="15370969" y="2647950"/>
            <a:ext cx="1964531" cy="1009650"/>
          </a:xfrm>
          <a:prstGeom prst="roundRect">
            <a:avLst>
              <a:gd name="adj" fmla="val 113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315587" y="2790825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168640" y="3009900"/>
            <a:ext cx="36918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🍊</a:t>
            </a:r>
            <a:endParaRPr lang="en-US" sz="2850" dirty="0"/>
          </a:p>
        </p:txBody>
      </p:sp>
      <p:sp>
        <p:nvSpPr>
          <p:cNvPr id="41" name="Text 39"/>
          <p:cNvSpPr/>
          <p:nvPr/>
        </p:nvSpPr>
        <p:spPr>
          <a:xfrm>
            <a:off x="952500" y="3829050"/>
            <a:ext cx="16383000" cy="247650"/>
          </a:xfrm>
          <a:prstGeom prst="roundRect">
            <a:avLst>
              <a:gd name="adj" fmla="val 3842308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85850" y="3867150"/>
            <a:ext cx="191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REVEAL → EXTRA WORDS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952500" y="4171950"/>
            <a:ext cx="2071688" cy="1019175"/>
          </a:xfrm>
          <a:prstGeom prst="roundRect">
            <a:avLst>
              <a:gd name="adj" fmla="val 11215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832896" y="431482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🍇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794034" y="47815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葡萄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119438" y="4171950"/>
            <a:ext cx="2071688" cy="1019175"/>
          </a:xfrm>
          <a:prstGeom prst="roundRect">
            <a:avLst>
              <a:gd name="adj" fmla="val 11215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999833" y="431482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🟣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3960971" y="47815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李子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286375" y="4171950"/>
            <a:ext cx="2071688" cy="1019175"/>
          </a:xfrm>
          <a:prstGeom prst="roundRect">
            <a:avLst>
              <a:gd name="adj" fmla="val 11215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66771" y="431482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🍑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127909" y="47815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桃子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453312" y="4171950"/>
            <a:ext cx="2071688" cy="1019175"/>
          </a:xfrm>
          <a:prstGeom prst="roundRect">
            <a:avLst>
              <a:gd name="adj" fmla="val 11215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33708" y="431482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🍓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8294846" y="47815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草莓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52500" y="5591175"/>
            <a:ext cx="5359301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04900" y="570547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104900" y="5895975"/>
            <a:ext cx="49488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all 12 fruit names displayed on the projector throughout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6464201" y="5591175"/>
            <a:ext cx="53594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616601" y="570547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6616601" y="5895975"/>
            <a:ext cx="4750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write one sentence per fruit using 我(不)喜欢吃……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11976050" y="5591175"/>
            <a:ext cx="53594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128450" y="570547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2128450" y="5895975"/>
            <a:ext cx="39821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every student responds every round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384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284684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314450"/>
            <a:ext cx="9217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7684" y="1143000"/>
            <a:ext cx="6802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"What's in My Fridge" · Workbook Ex.14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1905000"/>
            <a:ext cx="964853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971675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1653" y="1938337"/>
            <a:ext cx="890736" cy="285750"/>
          </a:xfrm>
          <a:prstGeom prst="roundRect">
            <a:avLst>
              <a:gd name="adj" fmla="val 3330000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5003" y="1985963"/>
            <a:ext cx="636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2500" y="2524125"/>
            <a:ext cx="2983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1 · WHAT'S IN MY FRIDGE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2790825"/>
            <a:ext cx="16383000" cy="76200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76313" y="2790825"/>
            <a:ext cx="0" cy="7620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8725" y="2943225"/>
            <a:ext cx="42748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我家冰箱里有苹果、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2500" y="3609975"/>
            <a:ext cx="2360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2–3 more fruits in the blank.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2500" y="4000500"/>
            <a:ext cx="42600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2 · WHAT I WANT TO BUY THIS WEEKEND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2500" y="4267200"/>
            <a:ext cx="16383000" cy="76200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76313" y="4267200"/>
            <a:ext cx="0" cy="7620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8725" y="4419600"/>
            <a:ext cx="334213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周末我想去买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2500" y="5086350"/>
            <a:ext cx="2860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 fruit (or fruits) you'd like to buy.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52500" y="5762625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04900" y="587692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104900" y="6067425"/>
            <a:ext cx="3631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 word bank stays visible; sentence frame given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464201" y="57626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16601" y="587692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616601" y="6067425"/>
            <a:ext cx="46030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 with a reason using 因为 if known, or add 非常/很/不太 to describe how much you like each item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976050" y="57626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128450" y="587692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2128450" y="6067425"/>
            <a:ext cx="4792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and talk — partners read their "fridge" sentence to each other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062288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386138"/>
            <a:ext cx="342957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329113"/>
            <a:ext cx="7658100" cy="3162300"/>
          </a:xfrm>
          <a:prstGeom prst="roundRect">
            <a:avLst>
              <a:gd name="adj" fmla="val 602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8775" y="4586288"/>
            <a:ext cx="2562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8775" y="4795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5925" y="4829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2150" y="4795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4829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5525" y="4795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2675" y="4829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4625" y="4824413"/>
            <a:ext cx="3616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水果, 苹果, 香蕉, 橘子, 西瓜, 梨 in Chinese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28775" y="5195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5925" y="5229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2150" y="5195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19300" y="5229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95525" y="5195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2675" y="5229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4625" y="5224463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at least 2 extra fruits from the Extra Words list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28775" y="5595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925" y="5629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2150" y="5595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19300" y="5629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95525" y="5595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52675" y="5629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14625" y="5624513"/>
            <a:ext cx="4662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sentence saying what fruit is in my fridge at home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9296400" y="4329113"/>
            <a:ext cx="7658100" cy="3162300"/>
          </a:xfrm>
          <a:prstGeom prst="roundRect">
            <a:avLst>
              <a:gd name="adj" fmla="val 602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91675" y="4586288"/>
            <a:ext cx="1139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91675" y="4795838"/>
            <a:ext cx="7067550" cy="8953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615488" y="4795838"/>
            <a:ext cx="0" cy="895350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8850" y="4967288"/>
            <a:ext cx="403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9848850" y="5214938"/>
            <a:ext cx="56093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about your favourite fruit using 我喜欢吃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9591675" y="5872163"/>
            <a:ext cx="7189015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 above.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we look closely at 这些/那些/一些 — how to say "these", "those", and "some" in Chinese, plus a radical-review game!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7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FRUITS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93653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35979" y="2426940"/>
            <a:ext cx="2215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L6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811584" y="2712690"/>
            <a:ext cx="666483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 / 那些 / 一些 </a:t>
            </a:r>
            <a:r>
              <a:rPr lang="en-US" sz="42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深入练习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16764" y="3468886"/>
            <a:ext cx="9654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"These", "those", and "some" — plus a full Text 2 dialogue and a radical-review game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34050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8703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68016" y="5326261"/>
            <a:ext cx="1027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对话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63835" y="5650111"/>
            <a:ext cx="22359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Text 2 dialogue, read aloud together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58300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72953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478643" y="5326261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部首游戏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157424" y="5650111"/>
            <a:ext cx="1497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Radical-review game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629400" y="6745486"/>
            <a:ext cx="5029200" cy="1381125"/>
          </a:xfrm>
          <a:prstGeom prst="roundRect">
            <a:avLst>
              <a:gd name="adj" fmla="val 13793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99212" y="6955036"/>
            <a:ext cx="88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45452" y="7202686"/>
            <a:ext cx="41970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 / 那些 / 一些 …… 都……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78292" y="7688461"/>
            <a:ext cx="233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/ those / some ... all ...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2026-08-01T05:43:06Z</dcterms:created>
  <dcterms:modified xsi:type="dcterms:W3CDTF">2026-08-01T05:43:06Z</dcterms:modified>
</cp:coreProperties>
</file>