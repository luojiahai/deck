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93517" y="6534150"/>
            <a:ext cx="2146063" cy="293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果</a:t>
            </a:r>
            <a:endParaRPr lang="en-US" sz="16500" dirty="0"/>
          </a:p>
        </p:txBody>
      </p:sp>
      <p:sp>
        <p:nvSpPr>
          <p:cNvPr id="3" name="Text 1"/>
          <p:cNvSpPr/>
          <p:nvPr/>
        </p:nvSpPr>
        <p:spPr>
          <a:xfrm>
            <a:off x="7260711" y="2871788"/>
            <a:ext cx="37665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OF 8 · Y8 UNIT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58643" y="3138488"/>
            <a:ext cx="11705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900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果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043363" y="4452938"/>
            <a:ext cx="10201275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spcAft>
                <a:spcPts val="600"/>
              </a:spcAft>
              <a:buNone/>
            </a:pPr>
            <a:r>
              <a:rPr lang="en-US" sz="112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拼音</a:t>
            </a:r>
            <a:r>
              <a:rPr lang="en-US" sz="112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12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简单汉字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5873066" y="6167438"/>
            <a:ext cx="65417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Focus (ie/üe) + Simple Characters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04778" y="7205663"/>
            <a:ext cx="12816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62717" y="7205663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93968" y="7205663"/>
            <a:ext cx="19203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Listening + Characters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68972" y="7205663"/>
            <a:ext cx="22234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2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701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+ CHARACTERS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76179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219200"/>
            <a:ext cx="18620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524000"/>
            <a:ext cx="4410078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应该 &amp; 可是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143000" y="2486025"/>
            <a:ext cx="7810500" cy="2047875"/>
          </a:xfrm>
          <a:prstGeom prst="roundRect">
            <a:avLst>
              <a:gd name="adj" fmla="val 930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19225" y="2762250"/>
            <a:ext cx="35226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QUIZ · MINI WHITEBOARDS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19225" y="3152775"/>
            <a:ext cx="7258050" cy="952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 </a:t>
            </a:r>
            <a:r>
              <a:rPr lang="en-US" sz="15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English prompts</a:t>
            </a: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aloud, one at a time</a:t>
            </a:r>
            <a:endParaRPr lang="en-US" sz="1500" dirty="0"/>
          </a:p>
          <a:p>
            <a:pPr algn="l" marL="114300" indent="-1143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the </a:t>
            </a:r>
            <a:r>
              <a:rPr lang="en-US" sz="15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 sentence</a:t>
            </a: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their mini whiteboards and hold up on three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34500" y="2486025"/>
            <a:ext cx="25337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PROMPTS TO TRANSLATE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34500" y="2695575"/>
            <a:ext cx="7810500" cy="514350"/>
          </a:xfrm>
          <a:prstGeom prst="roundRect">
            <a:avLst>
              <a:gd name="adj" fmla="val 22222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505950" y="28289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609088" y="2867025"/>
            <a:ext cx="614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906000" y="2809875"/>
            <a:ext cx="25779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 should eat vegetables."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334500" y="3305175"/>
            <a:ext cx="7810500" cy="514350"/>
          </a:xfrm>
          <a:prstGeom prst="roundRect">
            <a:avLst>
              <a:gd name="adj" fmla="val 22222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505950" y="34385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597033" y="3476625"/>
            <a:ext cx="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906000" y="3419475"/>
            <a:ext cx="29778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don't like it, but I should do it."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334500" y="3914775"/>
            <a:ext cx="7810500" cy="514350"/>
          </a:xfrm>
          <a:prstGeom prst="roundRect">
            <a:avLst>
              <a:gd name="adj" fmla="val 22222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505950" y="40481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596735" y="4086225"/>
            <a:ext cx="868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906000" y="4029075"/>
            <a:ext cx="26329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should exercise every day."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9334500" y="4524375"/>
            <a:ext cx="7810500" cy="514350"/>
          </a:xfrm>
          <a:prstGeom prst="roundRect">
            <a:avLst>
              <a:gd name="adj" fmla="val 22222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505950" y="46577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596289" y="4695825"/>
            <a:ext cx="877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906000" y="4638675"/>
            <a:ext cx="315389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"It's expensive, but I should buy it."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9334500" y="5229225"/>
            <a:ext cx="1404938" cy="676275"/>
          </a:xfrm>
          <a:prstGeom prst="roundRect">
            <a:avLst>
              <a:gd name="adj" fmla="val 16901"/>
            </a:avLst>
          </a:prstGeom>
          <a:solidFill>
            <a:srgbClr val="F2EFDE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515475" y="531495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15475" y="5648325"/>
            <a:ext cx="10638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yīnggāi — should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10853738" y="5229225"/>
            <a:ext cx="1077069" cy="676275"/>
          </a:xfrm>
          <a:prstGeom prst="roundRect">
            <a:avLst>
              <a:gd name="adj" fmla="val 16901"/>
            </a:avLst>
          </a:prstGeom>
          <a:solidFill>
            <a:srgbClr val="F2EFDE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1034713" y="531495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034713" y="5648325"/>
            <a:ext cx="7294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kěshì — but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143000" y="6134100"/>
            <a:ext cx="16002000" cy="800100"/>
          </a:xfrm>
          <a:prstGeom prst="rect">
            <a:avLst/>
          </a:prstGeom>
          <a:solidFill>
            <a:srgbClr val="5C8A3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1166813" y="6134100"/>
            <a:ext cx="0" cy="800100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19225" y="6286500"/>
            <a:ext cx="153680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"You've built up a lot of vegetable vocabulary and two useful grammar words. Today's a slightly different kind of lesson — we're going to sharpen our ears for tricky pinyin sounds, and learn </a:t>
            </a: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characters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that will make next lesson's fruit vocabulary much easier to read."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701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+ CHARACTERS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76179" y="280988"/>
            <a:ext cx="13033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3067050"/>
            <a:ext cx="36756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390900"/>
            <a:ext cx="507801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33500" y="4333875"/>
            <a:ext cx="14944725" cy="1362075"/>
          </a:xfrm>
          <a:prstGeom prst="rect">
            <a:avLst/>
          </a:prstGeom>
          <a:solidFill>
            <a:srgbClr val="5C8A3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4333875"/>
            <a:ext cx="0" cy="1362075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4543425"/>
            <a:ext cx="16610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4781550"/>
            <a:ext cx="14199355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distinguish the pinyin sounds </a:t>
            </a:r>
            <a:r>
              <a:rPr lang="en-US" sz="18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ie</a:t>
            </a:r>
            <a:r>
              <a:rPr lang="en-US" sz="187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8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üe</a:t>
            </a:r>
            <a:r>
              <a:rPr lang="en-US" sz="187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by ear, and to recognise </a:t>
            </a:r>
            <a:r>
              <a:rPr lang="en-US" sz="18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new simple characters</a:t>
            </a:r>
            <a:r>
              <a:rPr lang="en-US" sz="187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that will help us read fruit-related words next lesson.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333500" y="6019800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80096" y="6096000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47850" y="6010275"/>
            <a:ext cx="82126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7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hear the difference</a:t>
            </a:r>
            <a:r>
              <a:rPr lang="en-US" sz="17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between </a:t>
            </a:r>
            <a:r>
              <a:rPr lang="en-US" sz="1725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ie</a:t>
            </a:r>
            <a:r>
              <a:rPr lang="en-US" sz="17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725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üe</a:t>
            </a:r>
            <a:r>
              <a:rPr lang="en-US" sz="17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add the correct tonal marks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333500" y="6572250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66106" y="6648450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47850" y="6562725"/>
            <a:ext cx="64664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7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and recognise</a:t>
            </a:r>
            <a:r>
              <a:rPr lang="en-US" sz="17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simple characters </a:t>
            </a:r>
            <a:r>
              <a:rPr lang="en-US" sz="1725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食, 果, 欠, 石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333500" y="7124700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65808" y="7200900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47850" y="7115175"/>
            <a:ext cx="95711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7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question-word questions</a:t>
            </a:r>
            <a:r>
              <a:rPr lang="en-US" sz="17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725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(什么时候/怎么样/几岁 etc.)</a:t>
            </a:r>
            <a:r>
              <a:rPr lang="en-US" sz="17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a cumulative review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701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+ CHARACTERS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76179" y="280988"/>
            <a:ext cx="2327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Pinyin Focus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1745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28750"/>
            <a:ext cx="377826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拼音辨音 · ie vs üe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43000" y="2295525"/>
            <a:ext cx="5181600" cy="1362075"/>
          </a:xfrm>
          <a:prstGeom prst="roundRect">
            <a:avLst>
              <a:gd name="adj" fmla="val 1398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09611" y="2514600"/>
            <a:ext cx="439323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j</a:t>
            </a:r>
            <a:r>
              <a:rPr lang="en-US" sz="36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95357" y="2728913"/>
            <a:ext cx="1703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11039" y="2514600"/>
            <a:ext cx="54801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j</a:t>
            </a:r>
            <a:r>
              <a:rPr lang="en-US" sz="36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üe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40515" y="3248025"/>
            <a:ext cx="5864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jiē · jué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53200" y="2295525"/>
            <a:ext cx="5181600" cy="1362075"/>
          </a:xfrm>
          <a:prstGeom prst="roundRect">
            <a:avLst>
              <a:gd name="adj" fmla="val 1398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25563" y="2514600"/>
            <a:ext cx="53450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</a:t>
            </a:r>
            <a:r>
              <a:rPr lang="en-US" sz="36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ie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005557" y="2728913"/>
            <a:ext cx="1703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0306" y="2514600"/>
            <a:ext cx="64319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</a:t>
            </a:r>
            <a:r>
              <a:rPr lang="en-US" sz="36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üe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817621" y="3248025"/>
            <a:ext cx="65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xiē · xué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963400" y="2295525"/>
            <a:ext cx="5181600" cy="1362075"/>
          </a:xfrm>
          <a:prstGeom prst="roundRect">
            <a:avLst>
              <a:gd name="adj" fmla="val 1398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703732" y="2514600"/>
            <a:ext cx="67446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</a:t>
            </a:r>
            <a:r>
              <a:rPr lang="en-US" sz="36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üe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4522318" y="2728913"/>
            <a:ext cx="1703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837826" y="2514600"/>
            <a:ext cx="5657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</a:t>
            </a:r>
            <a:r>
              <a:rPr lang="en-US" sz="36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ie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4217499" y="3248025"/>
            <a:ext cx="6732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què · qiē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3000" y="3924300"/>
            <a:ext cx="7867650" cy="1524000"/>
          </a:xfrm>
          <a:prstGeom prst="roundRect">
            <a:avLst>
              <a:gd name="adj" fmla="val 12500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409700" y="4200525"/>
            <a:ext cx="16932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&amp; CHORUS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09700" y="4171950"/>
            <a:ext cx="7363286" cy="537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each pair clearly, side by side, several times. Class repeats </a:t>
            </a:r>
            <a:r>
              <a:rPr lang="en-US" sz="14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chorally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after the teacher, exaggerating the vowel shape each time.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9277350" y="3924300"/>
            <a:ext cx="7867650" cy="1524000"/>
          </a:xfrm>
          <a:prstGeom prst="roundRect">
            <a:avLst>
              <a:gd name="adj" fmla="val 12500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544050" y="4152900"/>
            <a:ext cx="17287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Ü VISUAL CUE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44050" y="4819650"/>
            <a:ext cx="929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5C665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ü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9825633" y="4520654"/>
            <a:ext cx="6760015" cy="537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ie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keeps the "i". </a:t>
            </a:r>
            <a:r>
              <a:rPr lang="en-US" sz="14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üe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uses "ü" — the u with </a:t>
            </a:r>
            <a:r>
              <a:rPr lang="en-US" sz="14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dots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Remember this symbol from earlier units, e.g. </a:t>
            </a:r>
            <a:r>
              <a:rPr lang="en-US" sz="1425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女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(nǚ).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143000" y="5676900"/>
            <a:ext cx="16002000" cy="838200"/>
          </a:xfrm>
          <a:prstGeom prst="roundRect">
            <a:avLst>
              <a:gd name="adj" fmla="val 13636"/>
            </a:avLst>
          </a:prstGeom>
          <a:solidFill>
            <a:srgbClr val="E08A3C">
              <a:alpha val="12000"/>
            </a:srgbClr>
          </a:solidFill>
          <a:ln w="19050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428750" y="5905500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847850" y="5848350"/>
            <a:ext cx="22473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Practice Focus: ie üe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847850" y="6134100"/>
            <a:ext cx="44981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this reminder on the board throughout today's lesson.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701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+ CHARACTERS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76179" y="280988"/>
            <a:ext cx="27350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Simple Characters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43000"/>
            <a:ext cx="18905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P. 94 · ACTIVITY 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28750"/>
            <a:ext cx="576933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简单汉字 · Simple Characters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76475"/>
            <a:ext cx="3952875" cy="2343150"/>
          </a:xfrm>
          <a:prstGeom prst="roundRect">
            <a:avLst>
              <a:gd name="adj" fmla="val 813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2594" y="2305050"/>
            <a:ext cx="932688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食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2789277" y="3486150"/>
            <a:ext cx="2793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shí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56792" y="3771900"/>
            <a:ext cx="3441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33475" y="4100513"/>
            <a:ext cx="3590925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96514" y="4200525"/>
            <a:ext cx="20648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Looks like a covered food bowl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95875" y="2276475"/>
            <a:ext cx="3952875" cy="2343150"/>
          </a:xfrm>
          <a:prstGeom prst="roundRect">
            <a:avLst>
              <a:gd name="adj" fmla="val 813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55434" y="2171700"/>
            <a:ext cx="1150441" cy="219075"/>
          </a:xfrm>
          <a:prstGeom prst="roundRect">
            <a:avLst>
              <a:gd name="adj" fmla="val 4343478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60515" y="2200275"/>
            <a:ext cx="940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Next lesson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05969" y="2305050"/>
            <a:ext cx="932688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果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6891970" y="3486150"/>
            <a:ext cx="360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15802" y="3771900"/>
            <a:ext cx="3130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fruit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76850" y="4100513"/>
            <a:ext cx="3590925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834" y="4200525"/>
            <a:ext cx="19648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Shows fruit growing on a tree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39250" y="2276475"/>
            <a:ext cx="3952875" cy="2343150"/>
          </a:xfrm>
          <a:prstGeom prst="roundRect">
            <a:avLst>
              <a:gd name="adj" fmla="val 813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749344" y="2305050"/>
            <a:ext cx="932688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欠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11011510" y="3486150"/>
            <a:ext cx="408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qiàn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063429" y="3771900"/>
            <a:ext cx="3043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owe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20225" y="4100513"/>
            <a:ext cx="3590925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66981" y="4200525"/>
            <a:ext cx="2297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Shows a figure reaching / yawning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3382625" y="2276475"/>
            <a:ext cx="3952875" cy="2343150"/>
          </a:xfrm>
          <a:prstGeom prst="roundRect">
            <a:avLst>
              <a:gd name="adj" fmla="val 813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4892718" y="2305050"/>
            <a:ext cx="932688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石</a:t>
            </a:r>
            <a:endParaRPr lang="en-US" sz="7200" dirty="0"/>
          </a:p>
        </p:txBody>
      </p:sp>
      <p:sp>
        <p:nvSpPr>
          <p:cNvPr id="31" name="Text 29"/>
          <p:cNvSpPr/>
          <p:nvPr/>
        </p:nvSpPr>
        <p:spPr>
          <a:xfrm>
            <a:off x="15219402" y="3486150"/>
            <a:ext cx="2793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shí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152002" y="3771900"/>
            <a:ext cx="4139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3563600" y="4100513"/>
            <a:ext cx="3590925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695676" y="4200525"/>
            <a:ext cx="13267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Shows a rock shape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52500" y="4886325"/>
            <a:ext cx="16383000" cy="838200"/>
          </a:xfrm>
          <a:prstGeom prst="roundRect">
            <a:avLst>
              <a:gd name="adj" fmla="val 13636"/>
            </a:avLst>
          </a:prstGeom>
          <a:solidFill>
            <a:srgbClr val="E08A3C">
              <a:alpha val="12000"/>
            </a:srgbClr>
          </a:solidFill>
          <a:ln w="19050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238250" y="5114925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🍎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657350" y="5057775"/>
            <a:ext cx="56325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果</a:t>
            </a:r>
            <a:r>
              <a:rPr lang="en-US" sz="16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is the character inside </a:t>
            </a:r>
            <a:r>
              <a:rPr lang="en-US" sz="16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苹果</a:t>
            </a:r>
            <a:r>
              <a:rPr lang="en-US" sz="16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(apple) and </a:t>
            </a:r>
            <a:r>
              <a:rPr lang="en-US" sz="16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水果</a:t>
            </a:r>
            <a:r>
              <a:rPr lang="en-US" sz="16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(fruit)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657350" y="5343525"/>
            <a:ext cx="78637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lesson's topic — introduce each character with its picture-mnemonic, class repeats twice (choral).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701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+ CHARACTERS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76179" y="280988"/>
            <a:ext cx="1715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3248025"/>
            <a:ext cx="3615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571875"/>
            <a:ext cx="361613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4352925"/>
            <a:ext cx="4387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Respond as prompted for each question </a:t>
            </a: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33500" y="4962525"/>
            <a:ext cx="15621000" cy="1066800"/>
          </a:xfrm>
          <a:prstGeom prst="roundRect">
            <a:avLst>
              <a:gd name="adj" fmla="val 1785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09725" y="51816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72692" y="524827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219325" y="5181600"/>
            <a:ext cx="863282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"Which one did I say — </a:t>
            </a:r>
            <a:r>
              <a:rPr lang="en-US" sz="18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jie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r>
              <a:rPr lang="en-US" sz="18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jue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?" </a:t>
            </a:r>
            <a:r>
              <a:rPr lang="en-US" sz="1425" b="1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one, class writes it on whiteboards.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19325" y="5572125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33500" y="6238875"/>
            <a:ext cx="15621000" cy="1066800"/>
          </a:xfrm>
          <a:prstGeom prst="roundRect">
            <a:avLst>
              <a:gd name="adj" fmla="val 1785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9725" y="64579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3642" y="6524625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19325" y="6457950"/>
            <a:ext cx="789961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"Show me the </a:t>
            </a:r>
            <a:r>
              <a:rPr lang="en-US" sz="18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ü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symbol on your whiteboard — two dots over the u."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19325" y="6848475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701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+ CHARACTERS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76179" y="280988"/>
            <a:ext cx="1624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3228975"/>
            <a:ext cx="27585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552825"/>
            <a:ext cx="33557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4524375"/>
            <a:ext cx="15621000" cy="1314450"/>
          </a:xfrm>
          <a:prstGeom prst="roundRect">
            <a:avLst>
              <a:gd name="adj" fmla="val 1449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9725" y="47244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72692" y="479107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219325" y="4724400"/>
            <a:ext cx="3293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"Which one did I say — jie or jue?"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19325" y="5086350"/>
            <a:ext cx="54218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jiē → write "jie" (keeps the i) · jué → write "jue" (ü, two dots)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219325" y="5429250"/>
            <a:ext cx="95190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process, not a fixed answer — the teacher calls out one syllable live and checks the class writes the matching spelling.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3500" y="6010275"/>
            <a:ext cx="15621000" cy="1314450"/>
          </a:xfrm>
          <a:prstGeom prst="roundRect">
            <a:avLst>
              <a:gd name="adj" fmla="val 1449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9725" y="62103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3642" y="6276975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19325" y="6210300"/>
            <a:ext cx="45257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"Show me the ü symbol — two dots over the u."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19325" y="6572250"/>
            <a:ext cx="1065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ü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2219325" y="6915150"/>
            <a:ext cx="94618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Same symbol students already know from 女 (nǚ) in earlier units — check every whiteboard shows two dots, not one or none.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701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+ CHARACTERS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76179" y="280988"/>
            <a:ext cx="1302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19200"/>
            <a:ext cx="1259681" cy="304800"/>
          </a:xfrm>
          <a:prstGeom prst="roundRect">
            <a:avLst>
              <a:gd name="adj" fmla="val 3121875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76350"/>
            <a:ext cx="896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02681" y="1104900"/>
            <a:ext cx="46250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 and Add Tonal Marks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52500" y="1828800"/>
            <a:ext cx="964853" cy="352425"/>
          </a:xfrm>
          <a:prstGeom prst="roundRect">
            <a:avLst>
              <a:gd name="adj" fmla="val 270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3475" y="1895475"/>
            <a:ext cx="6149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31653" y="1862138"/>
            <a:ext cx="794891" cy="285750"/>
          </a:xfrm>
          <a:prstGeom prst="roundRect">
            <a:avLst>
              <a:gd name="adj" fmla="val 3330000"/>
            </a:avLst>
          </a:prstGeom>
          <a:solidFill>
            <a:srgbClr val="C94F3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65003" y="1909762"/>
            <a:ext cx="5387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40844" y="1862138"/>
            <a:ext cx="2960191" cy="285750"/>
          </a:xfrm>
          <a:prstGeom prst="roundRect">
            <a:avLst>
              <a:gd name="adj" fmla="val 3330000"/>
            </a:avLst>
          </a:prstGeom>
          <a:solidFill>
            <a:srgbClr val="E08A3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74194" y="1909762"/>
            <a:ext cx="27473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TEXTBOOK ACT. 6 · CD TRACK 48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2500" y="2390775"/>
            <a:ext cx="8039100" cy="2305050"/>
          </a:xfrm>
          <a:prstGeom prst="roundRect">
            <a:avLst>
              <a:gd name="adj" fmla="val 826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09675" y="2647950"/>
            <a:ext cx="13670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9675" y="3009900"/>
            <a:ext cx="7524750" cy="12763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38"/>
              </a:lnSpc>
              <a:buSzPct val="100000"/>
              <a:buChar char="•"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the audio — students listen to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syllable pairs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p. 93</a:t>
            </a:r>
            <a:endParaRPr lang="en-US" sz="1425" dirty="0"/>
          </a:p>
          <a:p>
            <a:pPr algn="l" marL="95250" indent="-95250">
              <a:lnSpc>
                <a:spcPts val="2138"/>
              </a:lnSpc>
              <a:buSzPct val="100000"/>
              <a:buChar char="•"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the correct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tone marks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mini whiteboards</a:t>
            </a:r>
            <a:endParaRPr lang="en-US" sz="1425" dirty="0"/>
          </a:p>
          <a:p>
            <a:pPr algn="l" marL="95250" indent="-95250">
              <a:lnSpc>
                <a:spcPts val="2138"/>
              </a:lnSpc>
              <a:buSzPct val="100000"/>
              <a:buChar char="•"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after checking answers, fluent speakers create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of their own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ie/üe pairs and quiz a partner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296400" y="2390775"/>
            <a:ext cx="8039100" cy="2133600"/>
          </a:xfrm>
          <a:prstGeom prst="roundRect">
            <a:avLst>
              <a:gd name="adj" fmla="val 8929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05950" y="2600325"/>
            <a:ext cx="34995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LISTENING ITEMS · ADD TONE MARKS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05950" y="2809875"/>
            <a:ext cx="3762375" cy="438150"/>
          </a:xfrm>
          <a:prstGeom prst="roundRect">
            <a:avLst>
              <a:gd name="adj" fmla="val 26087"/>
            </a:avLst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658350" y="2905125"/>
            <a:ext cx="13421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jie </a:t>
            </a:r>
            <a:r>
              <a:rPr lang="en-US" sz="1425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jue </a:t>
            </a:r>
            <a:r>
              <a:rPr lang="en-US" sz="1425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3363575" y="2809875"/>
            <a:ext cx="3762375" cy="438150"/>
          </a:xfrm>
          <a:prstGeom prst="roundRect">
            <a:avLst>
              <a:gd name="adj" fmla="val 26087"/>
            </a:avLst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515975" y="2905125"/>
            <a:ext cx="13820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xie </a:t>
            </a:r>
            <a:r>
              <a:rPr lang="en-US" sz="1425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jue </a:t>
            </a:r>
            <a:r>
              <a:rPr lang="en-US" sz="1425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9505950" y="3343275"/>
            <a:ext cx="3762375" cy="438150"/>
          </a:xfrm>
          <a:prstGeom prst="roundRect">
            <a:avLst>
              <a:gd name="adj" fmla="val 26087"/>
            </a:avLst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658350" y="3438525"/>
            <a:ext cx="13944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que </a:t>
            </a:r>
            <a:r>
              <a:rPr lang="en-US" sz="1425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jie </a:t>
            </a:r>
            <a:r>
              <a:rPr lang="en-US" sz="1425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3363575" y="3343275"/>
            <a:ext cx="3762375" cy="438150"/>
          </a:xfrm>
          <a:prstGeom prst="roundRect">
            <a:avLst>
              <a:gd name="adj" fmla="val 26087"/>
            </a:avLst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515975" y="3438525"/>
            <a:ext cx="13434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jie </a:t>
            </a:r>
            <a:r>
              <a:rPr lang="en-US" sz="1425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lüe </a:t>
            </a:r>
            <a:r>
              <a:rPr lang="en-US" sz="1425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9505950" y="3876675"/>
            <a:ext cx="3762375" cy="438150"/>
          </a:xfrm>
          <a:prstGeom prst="roundRect">
            <a:avLst>
              <a:gd name="adj" fmla="val 26087"/>
            </a:avLst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658350" y="3971925"/>
            <a:ext cx="13481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jue </a:t>
            </a:r>
            <a:r>
              <a:rPr lang="en-US" sz="1425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lie </a:t>
            </a:r>
            <a:r>
              <a:rPr lang="en-US" sz="1425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3363575" y="3876675"/>
            <a:ext cx="3762375" cy="438150"/>
          </a:xfrm>
          <a:prstGeom prst="roundRect">
            <a:avLst>
              <a:gd name="adj" fmla="val 26087"/>
            </a:avLst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3515975" y="3971925"/>
            <a:ext cx="13799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jie </a:t>
            </a:r>
            <a:r>
              <a:rPr lang="en-US" sz="1425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yue </a:t>
            </a:r>
            <a:r>
              <a:rPr lang="en-US" sz="1425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952500" y="4962525"/>
            <a:ext cx="5359301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104900" y="5076825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1104900" y="5267325"/>
            <a:ext cx="47671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each item twice; "Practice Focus: ie üe" reminder stays on the board throughout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6464201" y="4962525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616601" y="5076825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6616601" y="5267325"/>
            <a:ext cx="48246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speakers create 2 of their own ie/üe syllable pairs and quiz a partner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1976050" y="4962525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2128450" y="5076825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12128450" y="5267325"/>
            <a:ext cx="25908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 hold-up after every item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701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+ CHARACTERS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76179" y="280988"/>
            <a:ext cx="21076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We Do → You Do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19200"/>
            <a:ext cx="1283940" cy="304800"/>
          </a:xfrm>
          <a:prstGeom prst="roundRect">
            <a:avLst>
              <a:gd name="adj" fmla="val 3121875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76350"/>
            <a:ext cx="920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26940" y="1104900"/>
            <a:ext cx="557942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Character Tracing + Writing Relay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52500" y="1828800"/>
            <a:ext cx="964853" cy="352425"/>
          </a:xfrm>
          <a:prstGeom prst="roundRect">
            <a:avLst>
              <a:gd name="adj" fmla="val 270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3475" y="1895475"/>
            <a:ext cx="6149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31653" y="1862138"/>
            <a:ext cx="1678335" cy="285750"/>
          </a:xfrm>
          <a:prstGeom prst="roundRect">
            <a:avLst>
              <a:gd name="adj" fmla="val 3330000"/>
            </a:avLst>
          </a:prstGeom>
          <a:solidFill>
            <a:srgbClr val="C94F3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65003" y="1909762"/>
            <a:ext cx="14398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2500" y="2371725"/>
            <a:ext cx="4287589" cy="2575322"/>
          </a:xfrm>
          <a:prstGeom prst="roundRect">
            <a:avLst>
              <a:gd name="adj" fmla="val 7397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52525" y="2581275"/>
            <a:ext cx="16765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CHARACTER SHEET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152525" y="2781300"/>
            <a:ext cx="1896070" cy="704850"/>
          </a:xfrm>
          <a:prstGeom prst="roundRect">
            <a:avLst>
              <a:gd name="adj" fmla="val 16216"/>
            </a:avLst>
          </a:prstGeom>
          <a:solidFill>
            <a:srgbClr val="FBFAF2"/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91010" y="2838450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食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3143845" y="2781300"/>
            <a:ext cx="1896219" cy="704850"/>
          </a:xfrm>
          <a:prstGeom prst="roundRect">
            <a:avLst>
              <a:gd name="adj" fmla="val 16216"/>
            </a:avLst>
          </a:prstGeom>
          <a:solidFill>
            <a:srgbClr val="FBFAF2"/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82330" y="2838450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果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152525" y="3581400"/>
            <a:ext cx="1896070" cy="704850"/>
          </a:xfrm>
          <a:prstGeom prst="roundRect">
            <a:avLst>
              <a:gd name="adj" fmla="val 16216"/>
            </a:avLst>
          </a:prstGeom>
          <a:solidFill>
            <a:srgbClr val="FBFAF2"/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891010" y="3638550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欠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3143845" y="3581400"/>
            <a:ext cx="1896219" cy="704850"/>
          </a:xfrm>
          <a:prstGeom prst="roundRect">
            <a:avLst>
              <a:gd name="adj" fmla="val 16216"/>
            </a:avLst>
          </a:prstGeom>
          <a:solidFill>
            <a:srgbClr val="FBFAF2"/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82330" y="3638550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石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52525" y="4400550"/>
            <a:ext cx="3618265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Trace each 3 times on the worksheet. Stroke-order arrows shown and projected during the relay.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468689" y="2371725"/>
            <a:ext cx="6125319" cy="1925836"/>
          </a:xfrm>
          <a:prstGeom prst="roundRect">
            <a:avLst>
              <a:gd name="adj" fmla="val 989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87764" y="2600325"/>
            <a:ext cx="27909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WRITING RELAY · HOW TO PLAY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687764" y="280035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011614" y="2800350"/>
            <a:ext cx="47678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Form small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teams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one line per team facing the board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87764" y="3190875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011614" y="3190875"/>
            <a:ext cx="5346257" cy="48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student per team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runs to the board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writes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character from memory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687764" y="3802261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011614" y="3802261"/>
            <a:ext cx="52884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Tags the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teammate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who repeats with the next character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822609" y="2371725"/>
            <a:ext cx="5512891" cy="857250"/>
          </a:xfrm>
          <a:prstGeom prst="roundRect">
            <a:avLst>
              <a:gd name="adj" fmla="val 22222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2022634" y="2590800"/>
            <a:ext cx="980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2022634" y="2581275"/>
            <a:ext cx="505175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Fastest-finishing team members write </a:t>
            </a:r>
            <a:r>
              <a:rPr lang="en-US" sz="1200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word</a:t>
            </a: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that contains each character (e.g. 苹果 for 果) on the side of the board.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2500" y="5118497"/>
            <a:ext cx="5359301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04900" y="5232797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1104900" y="5423297"/>
            <a:ext cx="50153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Stroke-order arrows shown on the worksheet and projected during the relay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6464201" y="5118497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16601" y="5232797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6616601" y="5423297"/>
            <a:ext cx="45816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Fastest-finishing team members write one word containing each character on the side of the board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1976050" y="5118497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2128450" y="5232797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12128450" y="5423297"/>
            <a:ext cx="39569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 write, and every team member gets one relay turn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701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+ CHARACTERS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76179" y="280988"/>
            <a:ext cx="1384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You Do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66813"/>
            <a:ext cx="1284684" cy="304800"/>
          </a:xfrm>
          <a:prstGeom prst="roundRect">
            <a:avLst>
              <a:gd name="adj" fmla="val 3121875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23963"/>
            <a:ext cx="9217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27684" y="1066800"/>
            <a:ext cx="535961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Cumulative Question-Word Review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52500" y="1704975"/>
            <a:ext cx="881211" cy="323850"/>
          </a:xfrm>
          <a:prstGeom prst="roundRect">
            <a:avLst>
              <a:gd name="adj" fmla="val 2938235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14425" y="1762125"/>
            <a:ext cx="5685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948011" y="1733550"/>
            <a:ext cx="846088" cy="266700"/>
          </a:xfrm>
          <a:prstGeom prst="roundRect">
            <a:avLst>
              <a:gd name="adj" fmla="val 3567857"/>
            </a:avLst>
          </a:prstGeom>
          <a:solidFill>
            <a:srgbClr val="C94F3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81361" y="1781175"/>
            <a:ext cx="5909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908399" y="1733550"/>
            <a:ext cx="2148036" cy="266700"/>
          </a:xfrm>
          <a:prstGeom prst="roundRect">
            <a:avLst>
              <a:gd name="adj" fmla="val 3567857"/>
            </a:avLst>
          </a:prstGeom>
          <a:solidFill>
            <a:srgbClr val="E08A3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41749" y="1781175"/>
            <a:ext cx="19189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WORKBOOK EX. 16 STYLE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952500" y="2181225"/>
            <a:ext cx="838200" cy="352425"/>
          </a:xfrm>
          <a:prstGeom prst="roundRect">
            <a:avLst>
              <a:gd name="adj" fmla="val 270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14425" y="2238375"/>
            <a:ext cx="524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怎么样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866900" y="2181225"/>
            <a:ext cx="838200" cy="352425"/>
          </a:xfrm>
          <a:prstGeom prst="roundRect">
            <a:avLst>
              <a:gd name="adj" fmla="val 270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028825" y="2238375"/>
            <a:ext cx="524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干什么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781300" y="2181225"/>
            <a:ext cx="1009650" cy="352425"/>
          </a:xfrm>
          <a:prstGeom prst="roundRect">
            <a:avLst>
              <a:gd name="adj" fmla="val 270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943225" y="2238375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什么时候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867150" y="2181225"/>
            <a:ext cx="666750" cy="352425"/>
          </a:xfrm>
          <a:prstGeom prst="roundRect">
            <a:avLst>
              <a:gd name="adj" fmla="val 270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29075" y="223837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多大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10100" y="2181225"/>
            <a:ext cx="666750" cy="352425"/>
          </a:xfrm>
          <a:prstGeom prst="roundRect">
            <a:avLst>
              <a:gd name="adj" fmla="val 270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72025" y="223837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几岁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353050" y="2181225"/>
            <a:ext cx="666750" cy="352425"/>
          </a:xfrm>
          <a:prstGeom prst="roundRect">
            <a:avLst>
              <a:gd name="adj" fmla="val 270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14975" y="223837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哪儿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96000" y="2181225"/>
            <a:ext cx="1009650" cy="352425"/>
          </a:xfrm>
          <a:prstGeom prst="roundRect">
            <a:avLst>
              <a:gd name="adj" fmla="val 270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57925" y="2238375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什么样儿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81850" y="2181225"/>
            <a:ext cx="666750" cy="352425"/>
          </a:xfrm>
          <a:prstGeom prst="roundRect">
            <a:avLst>
              <a:gd name="adj" fmla="val 270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343775" y="223837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52500" y="2686050"/>
            <a:ext cx="8096250" cy="457200"/>
          </a:xfrm>
          <a:prstGeom prst="roundRect">
            <a:avLst>
              <a:gd name="adj" fmla="val 25000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123950" y="28003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212354" y="2833688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447800" y="2781300"/>
            <a:ext cx="1651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这个苹果 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？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239250" y="2686050"/>
            <a:ext cx="8096250" cy="457200"/>
          </a:xfrm>
          <a:prstGeom prst="roundRect">
            <a:avLst>
              <a:gd name="adj" fmla="val 25000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410700" y="28003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488686" y="2833688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734550" y="27813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你周末 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？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52500" y="3238500"/>
            <a:ext cx="8096250" cy="457200"/>
          </a:xfrm>
          <a:prstGeom prst="roundRect">
            <a:avLst>
              <a:gd name="adj" fmla="val 25000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123950" y="33528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01638" y="3386138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447800" y="3333750"/>
            <a:ext cx="2040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 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去超市买菜？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239250" y="3238500"/>
            <a:ext cx="8096250" cy="457200"/>
          </a:xfrm>
          <a:prstGeom prst="roundRect">
            <a:avLst>
              <a:gd name="adj" fmla="val 25000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410700" y="33528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487942" y="3386138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734550" y="3333750"/>
            <a:ext cx="1651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你爸爸 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了？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52500" y="3790950"/>
            <a:ext cx="8096250" cy="457200"/>
          </a:xfrm>
          <a:prstGeom prst="roundRect">
            <a:avLst>
              <a:gd name="adj" fmla="val 25000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123950" y="39052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201787" y="3938588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447800" y="3886200"/>
            <a:ext cx="1651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你弟弟 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岁？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239250" y="3790950"/>
            <a:ext cx="8096250" cy="457200"/>
          </a:xfrm>
          <a:prstGeom prst="roundRect">
            <a:avLst>
              <a:gd name="adj" fmla="val 25000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410700" y="39052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9487942" y="3938588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734550" y="3886200"/>
            <a:ext cx="18459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 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买水果？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52500" y="4343400"/>
            <a:ext cx="8096250" cy="457200"/>
          </a:xfrm>
          <a:prstGeom prst="roundRect">
            <a:avLst>
              <a:gd name="adj" fmla="val 25000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123950" y="44577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204466" y="4491038"/>
            <a:ext cx="68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447800" y="4438650"/>
            <a:ext cx="18459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这个西红柿 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？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9239250" y="4343400"/>
            <a:ext cx="8096250" cy="457200"/>
          </a:xfrm>
          <a:prstGeom prst="roundRect">
            <a:avLst>
              <a:gd name="adj" fmla="val 25000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9410700" y="44577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9488091" y="4491038"/>
            <a:ext cx="75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734550" y="4438650"/>
            <a:ext cx="2040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 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做黄瓜沙拉？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952500" y="4991100"/>
            <a:ext cx="5359301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104900" y="5105400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1104900" y="5295900"/>
            <a:ext cx="40354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of the 8 question words displayed throughout</a:t>
            </a:r>
            <a:endParaRPr lang="en-US" sz="1125" dirty="0"/>
          </a:p>
        </p:txBody>
      </p:sp>
      <p:sp>
        <p:nvSpPr>
          <p:cNvPr id="67" name="Text 65"/>
          <p:cNvSpPr/>
          <p:nvPr/>
        </p:nvSpPr>
        <p:spPr>
          <a:xfrm>
            <a:off x="6464201" y="4991100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616601" y="5105400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69" name="Text 67"/>
          <p:cNvSpPr/>
          <p:nvPr/>
        </p:nvSpPr>
        <p:spPr>
          <a:xfrm>
            <a:off x="6616601" y="5295900"/>
            <a:ext cx="483680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original question using a 9th question word not in the box (e.g. 几点, 什么)</a:t>
            </a:r>
            <a:endParaRPr lang="en-US" sz="1125" dirty="0"/>
          </a:p>
        </p:txBody>
      </p:sp>
      <p:sp>
        <p:nvSpPr>
          <p:cNvPr id="70" name="Text 68"/>
          <p:cNvSpPr/>
          <p:nvPr/>
        </p:nvSpPr>
        <p:spPr>
          <a:xfrm>
            <a:off x="11976050" y="4991100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2128450" y="5105400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12128450" y="5295900"/>
            <a:ext cx="49638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 hold-up, then paired oral practice on 3 of the 8 questions</a:t>
            </a:r>
            <a:endParaRPr lang="en-US" sz="1125" dirty="0"/>
          </a:p>
        </p:txBody>
      </p:sp>
      <p:sp>
        <p:nvSpPr>
          <p:cNvPr id="73" name="Shape 7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701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+ CHARACTERS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76179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3071813"/>
            <a:ext cx="9158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395663"/>
            <a:ext cx="342957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33500" y="4338638"/>
            <a:ext cx="7658100" cy="3143250"/>
          </a:xfrm>
          <a:prstGeom prst="roundRect">
            <a:avLst>
              <a:gd name="adj" fmla="val 606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28775" y="4595813"/>
            <a:ext cx="2562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8775" y="48053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85925" y="48387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2150" y="48053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19300" y="48387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95525" y="48053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52675" y="48387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14625" y="4833938"/>
            <a:ext cx="3682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Hear ie vs üe and add the correct tonal marks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628775" y="52244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685925" y="52578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62150" y="52244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019300" y="52578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95525" y="52244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52675" y="52578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14625" y="5253038"/>
            <a:ext cx="2652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and recognise 食, 果, 欠, 石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628775" y="56435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85925" y="56769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62150" y="56435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019300" y="56769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95525" y="56435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352675" y="56769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14625" y="5672138"/>
            <a:ext cx="451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question-word questions as a cumulative review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9296400" y="4338638"/>
            <a:ext cx="7658100" cy="3143250"/>
          </a:xfrm>
          <a:prstGeom prst="roundRect">
            <a:avLst>
              <a:gd name="adj" fmla="val 606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591675" y="4595813"/>
            <a:ext cx="1139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91675" y="4805363"/>
            <a:ext cx="7067550" cy="87630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9615488" y="4805363"/>
            <a:ext cx="0" cy="876300"/>
          </a:xfrm>
          <a:prstGeom prst="line">
            <a:avLst/>
          </a:prstGeom>
          <a:noFill/>
          <a:ln w="47625">
            <a:solidFill>
              <a:srgbClr val="E08A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48850" y="4976813"/>
            <a:ext cx="18046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LIVE PINYIN DICTATION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9848850" y="5224463"/>
            <a:ext cx="59474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Listen: teacher says one syllable. Write it with the correct tone mark.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591675" y="5862638"/>
            <a:ext cx="710810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volunteer reads each success criterion aloud — class demonstrates: say an ie/üe pair, write a simple character, answer a question-word prompt.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9591675" y="6319838"/>
            <a:ext cx="44556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 with thumbs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against each of the 3 criteria above.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9591675" y="6777038"/>
            <a:ext cx="68108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 we move from vegetables to fruit — 水果! You'll already recognise 果 from today's characters.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701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+ CHARACTERS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76179" y="280988"/>
            <a:ext cx="1627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36738" y="2526953"/>
            <a:ext cx="2214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L5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987855" y="2812703"/>
            <a:ext cx="231228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30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 </a:t>
            </a:r>
            <a:r>
              <a:rPr lang="en-US" sz="42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词汇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1713" y="3568898"/>
            <a:ext cx="732442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Fruits Vocabulary — building on the characters you learned today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34050" y="4378523"/>
            <a:ext cx="3295650" cy="1847850"/>
          </a:xfrm>
          <a:prstGeom prst="roundRect">
            <a:avLst>
              <a:gd name="adj" fmla="val 1030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48703" y="4654748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🍎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168134" y="5426273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386036" y="5750123"/>
            <a:ext cx="1991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apple — contains today's 果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258300" y="4378523"/>
            <a:ext cx="3295650" cy="1847850"/>
          </a:xfrm>
          <a:prstGeom prst="roundRect">
            <a:avLst>
              <a:gd name="adj" fmla="val 1030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672953" y="4654748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🍊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478643" y="5426273"/>
            <a:ext cx="8549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水果词汇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044483" y="5750123"/>
            <a:ext cx="172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fruit vocabulary set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001048" y="6645473"/>
            <a:ext cx="6285905" cy="1381125"/>
          </a:xfrm>
          <a:prstGeom prst="roundRect">
            <a:avLst>
              <a:gd name="adj" fmla="val 13793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735343" y="6855023"/>
            <a:ext cx="8171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CALLBACK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978140" y="7102673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果 → 水果 / 苹果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4533" y="7588448"/>
            <a:ext cx="5478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character you can already write will unlock next lesson's reading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2026-08-01T05:42:35Z</dcterms:created>
  <dcterms:modified xsi:type="dcterms:W3CDTF">2026-08-01T05:42:35Z</dcterms:modified>
</cp:coreProperties>
</file>