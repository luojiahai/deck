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8288000" cy="10287000"/>
  <p:notesSz cx="10287000" cy="1828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BFA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-666750" y="-1600200"/>
            <a:ext cx="3316629" cy="4533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500"/>
              </a:lnSpc>
              <a:buNone/>
            </a:pPr>
            <a:r>
              <a:rPr lang="en-US" sz="25500" dirty="0">
                <a:solidFill>
                  <a:srgbClr val="5C8A3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菜</a:t>
            </a:r>
            <a:endParaRPr lang="en-US" sz="25500" dirty="0"/>
          </a:p>
        </p:txBody>
      </p:sp>
      <p:sp>
        <p:nvSpPr>
          <p:cNvPr id="3" name="Text 1"/>
          <p:cNvSpPr/>
          <p:nvPr/>
        </p:nvSpPr>
        <p:spPr>
          <a:xfrm>
            <a:off x="15703153" y="5162550"/>
            <a:ext cx="3316629" cy="4533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500"/>
              </a:lnSpc>
              <a:buNone/>
            </a:pPr>
            <a:r>
              <a:rPr lang="en-US" sz="25500" dirty="0">
                <a:solidFill>
                  <a:srgbClr val="E08A3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果</a:t>
            </a:r>
            <a:endParaRPr lang="en-US" sz="25500" dirty="0"/>
          </a:p>
        </p:txBody>
      </p:sp>
      <p:sp>
        <p:nvSpPr>
          <p:cNvPr id="4" name="Text 2"/>
          <p:cNvSpPr/>
          <p:nvPr/>
        </p:nvSpPr>
        <p:spPr>
          <a:xfrm>
            <a:off x="5276018" y="3062288"/>
            <a:ext cx="773581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5C8A3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LESSON 8 OF 8 · Y8 UNIT 4 · CONSOLIDATION &amp; REVIEW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8102925" y="3405188"/>
            <a:ext cx="2082001" cy="1066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6000"/>
              </a:lnSpc>
              <a:buNone/>
            </a:pPr>
            <a:r>
              <a:rPr lang="en-US" sz="6000" b="1" dirty="0">
                <a:solidFill>
                  <a:srgbClr val="5C8A3A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菜</a:t>
            </a:r>
            <a:r>
              <a:rPr lang="en-US" sz="2700" b="1" dirty="0">
                <a:solidFill>
                  <a:srgbClr val="8C9480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·</a:t>
            </a:r>
            <a:r>
              <a:rPr lang="en-US" sz="6000" b="1" dirty="0">
                <a:solidFill>
                  <a:srgbClr val="E08A3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果</a:t>
            </a:r>
            <a:endParaRPr lang="en-US" sz="6000" dirty="0"/>
          </a:p>
        </p:txBody>
      </p:sp>
      <p:sp>
        <p:nvSpPr>
          <p:cNvPr id="6" name="Text 4"/>
          <p:cNvSpPr/>
          <p:nvPr/>
        </p:nvSpPr>
        <p:spPr>
          <a:xfrm>
            <a:off x="6229201" y="4262438"/>
            <a:ext cx="5829300" cy="2000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1250"/>
              </a:lnSpc>
              <a:spcAft>
                <a:spcPts val="600"/>
              </a:spcAft>
              <a:buNone/>
            </a:pPr>
            <a:r>
              <a:rPr lang="en-US" sz="11250" b="1" dirty="0">
                <a:solidFill>
                  <a:srgbClr val="24321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综合复习</a:t>
            </a:r>
            <a:endParaRPr lang="en-US" sz="11250" dirty="0"/>
          </a:p>
        </p:txBody>
      </p:sp>
      <p:sp>
        <p:nvSpPr>
          <p:cNvPr id="7" name="Text 5"/>
          <p:cNvSpPr/>
          <p:nvPr/>
        </p:nvSpPr>
        <p:spPr>
          <a:xfrm>
            <a:off x="5708054" y="5976938"/>
            <a:ext cx="6871743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400" dirty="0">
                <a:solidFill>
                  <a:srgbClr val="8C948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Consolidation and Review — Lesson 8 of 8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5570275" y="7015163"/>
            <a:ext cx="1281687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C948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Year 8 Chinese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7328214" y="7015163"/>
            <a:ext cx="661261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C948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50 mins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8462778" y="7015163"/>
            <a:ext cx="1582412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C948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Speaking + Review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10503177" y="7015163"/>
            <a:ext cx="2223483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C948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轻松学中文 Book 2 · Unit 4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BFA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8288000" cy="771525"/>
          </a:xfrm>
          <a:prstGeom prst="rect">
            <a:avLst/>
          </a:prstGeom>
          <a:solidFill>
            <a:srgbClr val="FBFAF2">
              <a:alpha val="92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0" y="766763"/>
            <a:ext cx="18288000" cy="0"/>
          </a:xfrm>
          <a:prstGeom prst="line">
            <a:avLst/>
          </a:prstGeom>
          <a:noFill/>
          <a:ln w="9525">
            <a:solidFill>
              <a:srgbClr val="E1DBC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62000" y="285750"/>
            <a:ext cx="1817709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5C8A3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L8 · CONSOLIDATION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2934593" y="280988"/>
            <a:ext cx="1301422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25" dirty="0">
                <a:solidFill>
                  <a:srgbClr val="5C665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Review · 0–8 min</a:t>
            </a:r>
            <a:endParaRPr lang="en-US" sz="1125" dirty="0"/>
          </a:p>
        </p:txBody>
      </p:sp>
      <p:sp>
        <p:nvSpPr>
          <p:cNvPr id="6" name="Text 4"/>
          <p:cNvSpPr/>
          <p:nvPr/>
        </p:nvSpPr>
        <p:spPr>
          <a:xfrm>
            <a:off x="762000" y="0"/>
            <a:ext cx="16764000" cy="38100"/>
          </a:xfrm>
          <a:prstGeom prst="rect">
            <a:avLst/>
          </a:prstGeom>
          <a:solidFill>
            <a:srgbClr val="5C8A3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1143000" y="1219200"/>
            <a:ext cx="1862036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C94F3D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0–8 MIN · REVIEW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143000" y="1524000"/>
            <a:ext cx="7145902" cy="6381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24321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回顾 · Whole-Class Chain Response</a:t>
            </a:r>
            <a:endParaRPr lang="en-US" sz="3600" dirty="0"/>
          </a:p>
        </p:txBody>
      </p:sp>
      <p:sp>
        <p:nvSpPr>
          <p:cNvPr id="9" name="Text 7"/>
          <p:cNvSpPr/>
          <p:nvPr/>
        </p:nvSpPr>
        <p:spPr>
          <a:xfrm>
            <a:off x="1143000" y="2428875"/>
            <a:ext cx="8182421" cy="2671763"/>
          </a:xfrm>
          <a:prstGeom prst="roundRect">
            <a:avLst>
              <a:gd name="adj" fmla="val 7130"/>
            </a:avLst>
          </a:prstGeom>
          <a:solidFill>
            <a:srgbClr val="F2EFDE"/>
          </a:solidFill>
          <a:ln w="9525">
            <a:solidFill>
              <a:srgbClr val="E1DBC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1419225" y="2705100"/>
            <a:ext cx="238318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050"/>
              </a:spcAft>
              <a:buNone/>
            </a:pPr>
            <a:r>
              <a:rPr lang="en-US" sz="1275" b="1" dirty="0">
                <a:solidFill>
                  <a:srgbClr val="5C8A3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HOW THE CHAIN WORKS</a:t>
            </a:r>
            <a:endParaRPr lang="en-US" sz="1275" dirty="0"/>
          </a:p>
        </p:txBody>
      </p:sp>
      <p:sp>
        <p:nvSpPr>
          <p:cNvPr id="11" name="Text 9"/>
          <p:cNvSpPr/>
          <p:nvPr/>
        </p:nvSpPr>
        <p:spPr>
          <a:xfrm>
            <a:off x="1419225" y="3086100"/>
            <a:ext cx="7629971" cy="1585913"/>
          </a:xfrm>
          <a:prstGeom prst="rect">
            <a:avLst/>
          </a:prstGeom>
          <a:noFill/>
          <a:ln/>
        </p:spPr>
        <p:txBody>
          <a:bodyPr wrap="square" lIns="114300" tIns="0" rIns="0" bIns="0" rtlCol="0" anchor="t"/>
          <a:lstStyle/>
          <a:p>
            <a:pPr algn="l" marL="114300" indent="-114300">
              <a:lnSpc>
                <a:spcPts val="2138"/>
              </a:lnSpc>
              <a:buSzPct val="100000"/>
              <a:buChar char="•"/>
            </a:pPr>
            <a:r>
              <a:rPr lang="en-US" sz="1425" b="1" dirty="0">
                <a:solidFill>
                  <a:srgbClr val="24321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Student 1</a:t>
            </a:r>
            <a:r>
              <a:rPr lang="en-US" sz="1425" dirty="0">
                <a:solidFill>
                  <a:srgbClr val="5C665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says a food item + their opinion: </a:t>
            </a:r>
            <a:r>
              <a:rPr lang="en-US" sz="1425" b="1" dirty="0">
                <a:solidFill>
                  <a:srgbClr val="24321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我喜欢吃苹果。</a:t>
            </a:r>
            <a:endParaRPr lang="en-US" sz="1425" dirty="0"/>
          </a:p>
          <a:p>
            <a:pPr algn="l" marL="114300" indent="-114300">
              <a:lnSpc>
                <a:spcPts val="2138"/>
              </a:lnSpc>
              <a:buSzPct val="100000"/>
              <a:buChar char="•"/>
            </a:pPr>
            <a:r>
              <a:rPr lang="en-US" sz="1425" b="1" dirty="0">
                <a:solidFill>
                  <a:srgbClr val="24321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Student 2</a:t>
            </a:r>
            <a:r>
              <a:rPr lang="en-US" sz="1425" dirty="0">
                <a:solidFill>
                  <a:srgbClr val="5C665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repeats the whole chain, then adds their own link: </a:t>
            </a:r>
            <a:r>
              <a:rPr lang="en-US" sz="1425" b="1" dirty="0">
                <a:solidFill>
                  <a:srgbClr val="24321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我喜欢吃苹果，我不太喜欢吃西红柿。</a:t>
            </a:r>
            <a:endParaRPr lang="en-US" sz="1425" dirty="0"/>
          </a:p>
          <a:p>
            <a:pPr algn="l" marL="114300" indent="-114300">
              <a:lnSpc>
                <a:spcPts val="2138"/>
              </a:lnSpc>
              <a:buSzPct val="100000"/>
              <a:buChar char="•"/>
            </a:pPr>
            <a:r>
              <a:rPr lang="en-US" sz="1425" dirty="0">
                <a:solidFill>
                  <a:srgbClr val="5C665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Keep going around the circle/rows — each speaker must remember and repeat </a:t>
            </a:r>
            <a:r>
              <a:rPr lang="en-US" sz="1425" b="1" dirty="0">
                <a:solidFill>
                  <a:srgbClr val="24321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everyone before them</a:t>
            </a:r>
            <a:r>
              <a:rPr lang="en-US" sz="1425" dirty="0">
                <a:solidFill>
                  <a:srgbClr val="5C665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before adding a new link.</a:t>
            </a:r>
            <a:endParaRPr lang="en-US" sz="1425" dirty="0"/>
          </a:p>
        </p:txBody>
      </p:sp>
      <p:sp>
        <p:nvSpPr>
          <p:cNvPr id="12" name="Text 10"/>
          <p:cNvSpPr/>
          <p:nvPr/>
        </p:nvSpPr>
        <p:spPr>
          <a:xfrm>
            <a:off x="9706421" y="2428875"/>
            <a:ext cx="5321969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900"/>
              </a:spcAft>
              <a:buNone/>
            </a:pPr>
            <a:r>
              <a:rPr lang="en-US" sz="1200" b="1" dirty="0">
                <a:solidFill>
                  <a:srgbClr val="E08A3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LESSONS 1–7 · EVERYTHING WE'RE BRINGING TOGETHER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9706421" y="2638425"/>
            <a:ext cx="917377" cy="638175"/>
          </a:xfrm>
          <a:prstGeom prst="roundRect">
            <a:avLst>
              <a:gd name="adj" fmla="val 17910"/>
            </a:avLst>
          </a:prstGeom>
          <a:solidFill>
            <a:srgbClr val="E8E2C8"/>
          </a:solidFill>
          <a:ln w="9525">
            <a:solidFill>
              <a:srgbClr val="CFC7A6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9868346" y="2724150"/>
            <a:ext cx="427482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24321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蔬菜</a:t>
            </a:r>
            <a:endParaRPr lang="en-US" sz="1650" dirty="0"/>
          </a:p>
        </p:txBody>
      </p:sp>
      <p:sp>
        <p:nvSpPr>
          <p:cNvPr id="15" name="Text 13"/>
          <p:cNvSpPr/>
          <p:nvPr/>
        </p:nvSpPr>
        <p:spPr>
          <a:xfrm>
            <a:off x="9868346" y="3028950"/>
            <a:ext cx="605397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8C948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vegetables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10719048" y="2638425"/>
            <a:ext cx="742950" cy="638175"/>
          </a:xfrm>
          <a:prstGeom prst="roundRect">
            <a:avLst>
              <a:gd name="adj" fmla="val 17910"/>
            </a:avLst>
          </a:prstGeom>
          <a:solidFill>
            <a:srgbClr val="E8E2C8"/>
          </a:solidFill>
          <a:ln w="9525">
            <a:solidFill>
              <a:srgbClr val="CFC7A6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10880973" y="2724150"/>
            <a:ext cx="427482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24321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水果</a:t>
            </a:r>
            <a:endParaRPr lang="en-US" sz="1650" dirty="0"/>
          </a:p>
        </p:txBody>
      </p:sp>
      <p:sp>
        <p:nvSpPr>
          <p:cNvPr id="18" name="Text 16"/>
          <p:cNvSpPr/>
          <p:nvPr/>
        </p:nvSpPr>
        <p:spPr>
          <a:xfrm>
            <a:off x="10880973" y="3028950"/>
            <a:ext cx="296778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8C948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fruits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11557248" y="2638425"/>
            <a:ext cx="742950" cy="638175"/>
          </a:xfrm>
          <a:prstGeom prst="roundRect">
            <a:avLst>
              <a:gd name="adj" fmla="val 17910"/>
            </a:avLst>
          </a:prstGeom>
          <a:solidFill>
            <a:srgbClr val="E8E2C8"/>
          </a:solidFill>
          <a:ln w="9525">
            <a:solidFill>
              <a:srgbClr val="CFC7A6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Text 18"/>
          <p:cNvSpPr/>
          <p:nvPr/>
        </p:nvSpPr>
        <p:spPr>
          <a:xfrm>
            <a:off x="11719173" y="2724150"/>
            <a:ext cx="427482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24321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应该</a:t>
            </a:r>
            <a:endParaRPr lang="en-US" sz="1650" dirty="0"/>
          </a:p>
        </p:txBody>
      </p:sp>
      <p:sp>
        <p:nvSpPr>
          <p:cNvPr id="21" name="Text 19"/>
          <p:cNvSpPr/>
          <p:nvPr/>
        </p:nvSpPr>
        <p:spPr>
          <a:xfrm>
            <a:off x="11719173" y="3028950"/>
            <a:ext cx="368430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8C948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should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12395448" y="2638425"/>
            <a:ext cx="742950" cy="638175"/>
          </a:xfrm>
          <a:prstGeom prst="roundRect">
            <a:avLst>
              <a:gd name="adj" fmla="val 17910"/>
            </a:avLst>
          </a:prstGeom>
          <a:solidFill>
            <a:srgbClr val="E8E2C8"/>
          </a:solidFill>
          <a:ln w="9525">
            <a:solidFill>
              <a:srgbClr val="CFC7A6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3" name="Text 21"/>
          <p:cNvSpPr/>
          <p:nvPr/>
        </p:nvSpPr>
        <p:spPr>
          <a:xfrm>
            <a:off x="12557373" y="2724150"/>
            <a:ext cx="427482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24321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可是</a:t>
            </a:r>
            <a:endParaRPr lang="en-US" sz="1650" dirty="0"/>
          </a:p>
        </p:txBody>
      </p:sp>
      <p:sp>
        <p:nvSpPr>
          <p:cNvPr id="24" name="Text 22"/>
          <p:cNvSpPr/>
          <p:nvPr/>
        </p:nvSpPr>
        <p:spPr>
          <a:xfrm>
            <a:off x="12557373" y="3028950"/>
            <a:ext cx="182469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8C948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but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13233648" y="2638425"/>
            <a:ext cx="742950" cy="638175"/>
          </a:xfrm>
          <a:prstGeom prst="roundRect">
            <a:avLst>
              <a:gd name="adj" fmla="val 17910"/>
            </a:avLst>
          </a:prstGeom>
          <a:solidFill>
            <a:srgbClr val="E8E2C8"/>
          </a:solidFill>
          <a:ln w="9525">
            <a:solidFill>
              <a:srgbClr val="CFC7A6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6" name="Text 24"/>
          <p:cNvSpPr/>
          <p:nvPr/>
        </p:nvSpPr>
        <p:spPr>
          <a:xfrm>
            <a:off x="13395573" y="2724150"/>
            <a:ext cx="427482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24321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这些</a:t>
            </a:r>
            <a:endParaRPr lang="en-US" sz="1650" dirty="0"/>
          </a:p>
        </p:txBody>
      </p:sp>
      <p:sp>
        <p:nvSpPr>
          <p:cNvPr id="27" name="Text 25"/>
          <p:cNvSpPr/>
          <p:nvPr/>
        </p:nvSpPr>
        <p:spPr>
          <a:xfrm>
            <a:off x="13395573" y="3028950"/>
            <a:ext cx="307101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8C948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these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14071848" y="2638425"/>
            <a:ext cx="742950" cy="638175"/>
          </a:xfrm>
          <a:prstGeom prst="roundRect">
            <a:avLst>
              <a:gd name="adj" fmla="val 17910"/>
            </a:avLst>
          </a:prstGeom>
          <a:solidFill>
            <a:srgbClr val="E8E2C8"/>
          </a:solidFill>
          <a:ln w="9525">
            <a:solidFill>
              <a:srgbClr val="CFC7A6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9" name="Text 27"/>
          <p:cNvSpPr/>
          <p:nvPr/>
        </p:nvSpPr>
        <p:spPr>
          <a:xfrm>
            <a:off x="14233773" y="2724150"/>
            <a:ext cx="427482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24321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那些</a:t>
            </a:r>
            <a:endParaRPr lang="en-US" sz="1650" dirty="0"/>
          </a:p>
        </p:txBody>
      </p:sp>
      <p:sp>
        <p:nvSpPr>
          <p:cNvPr id="30" name="Text 28"/>
          <p:cNvSpPr/>
          <p:nvPr/>
        </p:nvSpPr>
        <p:spPr>
          <a:xfrm>
            <a:off x="14233773" y="3028950"/>
            <a:ext cx="310744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8C948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those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14910048" y="2638425"/>
            <a:ext cx="742950" cy="638175"/>
          </a:xfrm>
          <a:prstGeom prst="roundRect">
            <a:avLst>
              <a:gd name="adj" fmla="val 17910"/>
            </a:avLst>
          </a:prstGeom>
          <a:solidFill>
            <a:srgbClr val="E8E2C8"/>
          </a:solidFill>
          <a:ln w="9525">
            <a:solidFill>
              <a:srgbClr val="CFC7A6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2" name="Text 30"/>
          <p:cNvSpPr/>
          <p:nvPr/>
        </p:nvSpPr>
        <p:spPr>
          <a:xfrm>
            <a:off x="15071973" y="2724150"/>
            <a:ext cx="427482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24321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一些</a:t>
            </a:r>
            <a:endParaRPr lang="en-US" sz="1650" dirty="0"/>
          </a:p>
        </p:txBody>
      </p:sp>
      <p:sp>
        <p:nvSpPr>
          <p:cNvPr id="33" name="Text 31"/>
          <p:cNvSpPr/>
          <p:nvPr/>
        </p:nvSpPr>
        <p:spPr>
          <a:xfrm>
            <a:off x="15071973" y="3028950"/>
            <a:ext cx="301788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8C948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some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15748248" y="2638425"/>
            <a:ext cx="835670" cy="638175"/>
          </a:xfrm>
          <a:prstGeom prst="roundRect">
            <a:avLst>
              <a:gd name="adj" fmla="val 17910"/>
            </a:avLst>
          </a:prstGeom>
          <a:solidFill>
            <a:srgbClr val="E8E2C8"/>
          </a:solidFill>
          <a:ln w="9525">
            <a:solidFill>
              <a:srgbClr val="CFC7A6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5" name="Text 33"/>
          <p:cNvSpPr/>
          <p:nvPr/>
        </p:nvSpPr>
        <p:spPr>
          <a:xfrm>
            <a:off x="15910173" y="2724150"/>
            <a:ext cx="213741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24321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都</a:t>
            </a:r>
            <a:endParaRPr lang="en-US" sz="1650" dirty="0"/>
          </a:p>
        </p:txBody>
      </p:sp>
      <p:sp>
        <p:nvSpPr>
          <p:cNvPr id="36" name="Text 34"/>
          <p:cNvSpPr/>
          <p:nvPr/>
        </p:nvSpPr>
        <p:spPr>
          <a:xfrm>
            <a:off x="15910173" y="3028950"/>
            <a:ext cx="522056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8C948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all / both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9706421" y="3371850"/>
            <a:ext cx="930622" cy="638175"/>
          </a:xfrm>
          <a:prstGeom prst="roundRect">
            <a:avLst>
              <a:gd name="adj" fmla="val 17910"/>
            </a:avLst>
          </a:prstGeom>
          <a:solidFill>
            <a:srgbClr val="E8E2C8"/>
          </a:solidFill>
          <a:ln w="9525">
            <a:solidFill>
              <a:srgbClr val="CFC7A6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8" name="Text 36"/>
          <p:cNvSpPr/>
          <p:nvPr/>
        </p:nvSpPr>
        <p:spPr>
          <a:xfrm>
            <a:off x="9868346" y="3457575"/>
            <a:ext cx="213741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24321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种</a:t>
            </a:r>
            <a:endParaRPr lang="en-US" sz="1650" dirty="0"/>
          </a:p>
        </p:txBody>
      </p:sp>
      <p:sp>
        <p:nvSpPr>
          <p:cNvPr id="39" name="Text 37"/>
          <p:cNvSpPr/>
          <p:nvPr/>
        </p:nvSpPr>
        <p:spPr>
          <a:xfrm>
            <a:off x="9868346" y="3762375"/>
            <a:ext cx="618908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8C948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kind / type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1143000" y="5348288"/>
            <a:ext cx="16002000" cy="914400"/>
          </a:xfrm>
          <a:prstGeom prst="rect">
            <a:avLst/>
          </a:prstGeom>
          <a:solidFill>
            <a:srgbClr val="5C8A3A">
              <a:alpha val="12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1" name="Shape 39"/>
          <p:cNvSpPr/>
          <p:nvPr/>
        </p:nvSpPr>
        <p:spPr>
          <a:xfrm>
            <a:off x="1166813" y="5348288"/>
            <a:ext cx="0" cy="914400"/>
          </a:xfrm>
          <a:prstGeom prst="line">
            <a:avLst/>
          </a:prstGeom>
          <a:noFill/>
          <a:ln w="47625">
            <a:solidFill>
              <a:srgbClr val="5C8A3A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1438275" y="5529263"/>
            <a:ext cx="15577134" cy="552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500" dirty="0">
                <a:solidFill>
                  <a:srgbClr val="5C665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"Over the last </a:t>
            </a:r>
            <a:r>
              <a:rPr lang="en-US" sz="1500" b="1" dirty="0">
                <a:solidFill>
                  <a:srgbClr val="5C8A3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7 lessons</a:t>
            </a:r>
            <a:r>
              <a:rPr lang="en-US" sz="1500" dirty="0">
                <a:solidFill>
                  <a:srgbClr val="5C665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you've built up a whole toolkit for talking about food and giving opinions and advice. Today we put it all together — </a:t>
            </a:r>
            <a:r>
              <a:rPr lang="en-US" sz="1500" b="1" dirty="0">
                <a:solidFill>
                  <a:srgbClr val="5C8A3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speaking, a translation challenge, a word-building game, and a short piece of writing.</a:t>
            </a:r>
            <a:r>
              <a:rPr lang="en-US" sz="1500" dirty="0">
                <a:solidFill>
                  <a:srgbClr val="5C665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"</a:t>
            </a:r>
            <a:endParaRPr lang="en-US" sz="1500" dirty="0"/>
          </a:p>
        </p:txBody>
      </p:sp>
      <p:sp>
        <p:nvSpPr>
          <p:cNvPr id="43" name="Shape 41"/>
          <p:cNvSpPr/>
          <p:nvPr/>
        </p:nvSpPr>
        <p:spPr>
          <a:xfrm>
            <a:off x="0" y="9786938"/>
            <a:ext cx="18288000" cy="0"/>
          </a:xfrm>
          <a:prstGeom prst="line">
            <a:avLst/>
          </a:prstGeom>
          <a:noFill/>
          <a:ln w="9525">
            <a:solidFill>
              <a:srgbClr val="E1DBC0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762000" y="9958388"/>
            <a:ext cx="3236476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8C948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Y8 Chinese · Unit 4 Vegetables &amp; Fruits 蔬菜、水果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BFA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8288000" cy="771525"/>
          </a:xfrm>
          <a:prstGeom prst="rect">
            <a:avLst/>
          </a:prstGeom>
          <a:solidFill>
            <a:srgbClr val="FBFAF2">
              <a:alpha val="92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0" y="766763"/>
            <a:ext cx="18288000" cy="0"/>
          </a:xfrm>
          <a:prstGeom prst="line">
            <a:avLst/>
          </a:prstGeom>
          <a:noFill/>
          <a:ln w="9525">
            <a:solidFill>
              <a:srgbClr val="E1DBC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62000" y="285750"/>
            <a:ext cx="1817709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5C8A3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L8 · CONSOLIDATION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2934593" y="280988"/>
            <a:ext cx="1303395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25" dirty="0">
                <a:solidFill>
                  <a:srgbClr val="5C665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Learning Intention</a:t>
            </a:r>
            <a:endParaRPr lang="en-US" sz="1125" dirty="0"/>
          </a:p>
        </p:txBody>
      </p:sp>
      <p:sp>
        <p:nvSpPr>
          <p:cNvPr id="6" name="Text 4"/>
          <p:cNvSpPr/>
          <p:nvPr/>
        </p:nvSpPr>
        <p:spPr>
          <a:xfrm>
            <a:off x="762000" y="0"/>
            <a:ext cx="16764000" cy="38100"/>
          </a:xfrm>
          <a:prstGeom prst="rect">
            <a:avLst/>
          </a:prstGeom>
          <a:solidFill>
            <a:srgbClr val="5C8A3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1333500" y="2819400"/>
            <a:ext cx="3675647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C94F3D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8–10 MIN · DISPLAY ON PROJECTOR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333500" y="3143250"/>
            <a:ext cx="5078019" cy="6381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24321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今日目标 · Today's Goal</a:t>
            </a:r>
            <a:endParaRPr lang="en-US" sz="3600" dirty="0"/>
          </a:p>
        </p:txBody>
      </p:sp>
      <p:sp>
        <p:nvSpPr>
          <p:cNvPr id="9" name="Text 7"/>
          <p:cNvSpPr/>
          <p:nvPr/>
        </p:nvSpPr>
        <p:spPr>
          <a:xfrm>
            <a:off x="1333500" y="4086225"/>
            <a:ext cx="14944725" cy="1362075"/>
          </a:xfrm>
          <a:prstGeom prst="rect">
            <a:avLst/>
          </a:prstGeom>
          <a:solidFill>
            <a:srgbClr val="5C8A3A">
              <a:alpha val="12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Shape 8"/>
          <p:cNvSpPr/>
          <p:nvPr/>
        </p:nvSpPr>
        <p:spPr>
          <a:xfrm>
            <a:off x="1357313" y="4086225"/>
            <a:ext cx="0" cy="1362075"/>
          </a:xfrm>
          <a:prstGeom prst="line">
            <a:avLst/>
          </a:prstGeom>
          <a:noFill/>
          <a:ln w="47625">
            <a:solidFill>
              <a:srgbClr val="5C8A3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85925" y="4295775"/>
            <a:ext cx="1661047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75" b="1" dirty="0">
                <a:solidFill>
                  <a:srgbClr val="5C8A3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LEARNING INTENTION</a:t>
            </a:r>
            <a:endParaRPr lang="en-US" sz="975" dirty="0"/>
          </a:p>
        </p:txBody>
      </p:sp>
      <p:sp>
        <p:nvSpPr>
          <p:cNvPr id="12" name="Text 10"/>
          <p:cNvSpPr/>
          <p:nvPr/>
        </p:nvSpPr>
        <p:spPr>
          <a:xfrm>
            <a:off x="1685925" y="4533900"/>
            <a:ext cx="14521940" cy="6810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13"/>
              </a:lnSpc>
              <a:buNone/>
            </a:pPr>
            <a:r>
              <a:rPr lang="en-US" sz="1875" dirty="0">
                <a:solidFill>
                  <a:srgbClr val="24321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We are learning to bring together everything from this topic — </a:t>
            </a:r>
            <a:r>
              <a:rPr lang="en-US" sz="1875" b="1" dirty="0">
                <a:solidFill>
                  <a:srgbClr val="5C8A3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vegetables, fruits, 应该, 可是, 这些/那些/一些, and 种</a:t>
            </a:r>
            <a:r>
              <a:rPr lang="en-US" sz="1875" dirty="0">
                <a:solidFill>
                  <a:srgbClr val="24321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— in extended speaking and writing.</a:t>
            </a:r>
            <a:endParaRPr lang="en-US" sz="1875" dirty="0"/>
          </a:p>
        </p:txBody>
      </p:sp>
      <p:sp>
        <p:nvSpPr>
          <p:cNvPr id="13" name="Text 11"/>
          <p:cNvSpPr/>
          <p:nvPr/>
        </p:nvSpPr>
        <p:spPr>
          <a:xfrm>
            <a:off x="1333500" y="5772150"/>
            <a:ext cx="361950" cy="361950"/>
          </a:xfrm>
          <a:prstGeom prst="roundRect">
            <a:avLst>
              <a:gd name="adj" fmla="val 252632"/>
            </a:avLst>
          </a:prstGeom>
          <a:noFill/>
          <a:ln w="19050">
            <a:solidFill>
              <a:srgbClr val="5C8A3A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1480096" y="5848350"/>
            <a:ext cx="70134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5C8A3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1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1847850" y="5762625"/>
            <a:ext cx="7322906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75"/>
              </a:lnSpc>
              <a:buNone/>
            </a:pPr>
            <a:r>
              <a:rPr lang="en-US" sz="1650" dirty="0">
                <a:solidFill>
                  <a:srgbClr val="5C665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I can </a:t>
            </a:r>
            <a:r>
              <a:rPr lang="en-US" sz="1650" b="1" dirty="0">
                <a:solidFill>
                  <a:srgbClr val="24321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hold a conversation</a:t>
            </a:r>
            <a:r>
              <a:rPr lang="en-US" sz="1650" dirty="0">
                <a:solidFill>
                  <a:srgbClr val="5C665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about food likes/dislikes using </a:t>
            </a:r>
            <a:r>
              <a:rPr lang="en-US" sz="1650" dirty="0">
                <a:solidFill>
                  <a:srgbClr val="5C8A3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应该</a:t>
            </a:r>
            <a:r>
              <a:rPr lang="en-US" sz="1650" dirty="0">
                <a:solidFill>
                  <a:srgbClr val="5C665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and </a:t>
            </a:r>
            <a:r>
              <a:rPr lang="en-US" sz="1650" dirty="0">
                <a:solidFill>
                  <a:srgbClr val="5C8A3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可是</a:t>
            </a:r>
            <a:endParaRPr lang="en-US" sz="1650" dirty="0"/>
          </a:p>
        </p:txBody>
      </p:sp>
      <p:sp>
        <p:nvSpPr>
          <p:cNvPr id="16" name="Text 14"/>
          <p:cNvSpPr/>
          <p:nvPr/>
        </p:nvSpPr>
        <p:spPr>
          <a:xfrm>
            <a:off x="1333500" y="6305550"/>
            <a:ext cx="361950" cy="361950"/>
          </a:xfrm>
          <a:prstGeom prst="roundRect">
            <a:avLst>
              <a:gd name="adj" fmla="val 252632"/>
            </a:avLst>
          </a:prstGeom>
          <a:noFill/>
          <a:ln w="19050">
            <a:solidFill>
              <a:srgbClr val="5C8A3A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1466106" y="6381750"/>
            <a:ext cx="98521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5C8A3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2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1847850" y="6296025"/>
            <a:ext cx="6536406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75"/>
              </a:lnSpc>
              <a:buNone/>
            </a:pPr>
            <a:r>
              <a:rPr lang="en-US" sz="1650" dirty="0">
                <a:solidFill>
                  <a:srgbClr val="5C665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I can </a:t>
            </a:r>
            <a:r>
              <a:rPr lang="en-US" sz="1650" b="1" dirty="0">
                <a:solidFill>
                  <a:srgbClr val="24321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ask "whose is this?"</a:t>
            </a:r>
            <a:r>
              <a:rPr lang="en-US" sz="1650" dirty="0">
                <a:solidFill>
                  <a:srgbClr val="5C665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and answer using </a:t>
            </a:r>
            <a:r>
              <a:rPr lang="en-US" sz="1650" dirty="0">
                <a:solidFill>
                  <a:srgbClr val="5C8A3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是……的</a:t>
            </a:r>
            <a:r>
              <a:rPr lang="en-US" sz="1650" i="1" dirty="0">
                <a:solidFill>
                  <a:srgbClr val="8C948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(是小明的)</a:t>
            </a:r>
            <a:endParaRPr lang="en-US" sz="1650" dirty="0"/>
          </a:p>
        </p:txBody>
      </p:sp>
      <p:sp>
        <p:nvSpPr>
          <p:cNvPr id="19" name="Text 17"/>
          <p:cNvSpPr/>
          <p:nvPr/>
        </p:nvSpPr>
        <p:spPr>
          <a:xfrm>
            <a:off x="1333500" y="6838950"/>
            <a:ext cx="361950" cy="361950"/>
          </a:xfrm>
          <a:prstGeom prst="roundRect">
            <a:avLst>
              <a:gd name="adj" fmla="val 252632"/>
            </a:avLst>
          </a:prstGeom>
          <a:noFill/>
          <a:ln w="19050">
            <a:solidFill>
              <a:srgbClr val="5C8A3A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Text 18"/>
          <p:cNvSpPr/>
          <p:nvPr/>
        </p:nvSpPr>
        <p:spPr>
          <a:xfrm>
            <a:off x="1465808" y="6915150"/>
            <a:ext cx="9928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5C8A3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3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1847850" y="6829425"/>
            <a:ext cx="5621479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75"/>
              </a:lnSpc>
              <a:buNone/>
            </a:pPr>
            <a:r>
              <a:rPr lang="en-US" sz="1650" dirty="0">
                <a:solidFill>
                  <a:srgbClr val="5C665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I can </a:t>
            </a:r>
            <a:r>
              <a:rPr lang="en-US" sz="1650" b="1" dirty="0">
                <a:solidFill>
                  <a:srgbClr val="24321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build new words</a:t>
            </a:r>
            <a:r>
              <a:rPr lang="en-US" sz="1650" dirty="0">
                <a:solidFill>
                  <a:srgbClr val="5C665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by combining known characters</a:t>
            </a:r>
            <a:endParaRPr lang="en-US" sz="1650" dirty="0"/>
          </a:p>
        </p:txBody>
      </p:sp>
      <p:sp>
        <p:nvSpPr>
          <p:cNvPr id="22" name="Text 20"/>
          <p:cNvSpPr/>
          <p:nvPr/>
        </p:nvSpPr>
        <p:spPr>
          <a:xfrm>
            <a:off x="1333500" y="7372350"/>
            <a:ext cx="361950" cy="361950"/>
          </a:xfrm>
          <a:prstGeom prst="roundRect">
            <a:avLst>
              <a:gd name="adj" fmla="val 252632"/>
            </a:avLst>
          </a:prstGeom>
          <a:noFill/>
          <a:ln w="19050">
            <a:solidFill>
              <a:srgbClr val="5C8A3A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3" name="Text 21"/>
          <p:cNvSpPr/>
          <p:nvPr/>
        </p:nvSpPr>
        <p:spPr>
          <a:xfrm>
            <a:off x="1465213" y="7448550"/>
            <a:ext cx="100343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5C8A3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4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1847850" y="7362825"/>
            <a:ext cx="11199087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75"/>
              </a:lnSpc>
              <a:buNone/>
            </a:pPr>
            <a:r>
              <a:rPr lang="en-US" sz="1650" dirty="0">
                <a:solidFill>
                  <a:srgbClr val="5C665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I can </a:t>
            </a:r>
            <a:r>
              <a:rPr lang="en-US" sz="1650" b="1" dirty="0">
                <a:solidFill>
                  <a:srgbClr val="24321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write a short paragraph</a:t>
            </a:r>
            <a:r>
              <a:rPr lang="en-US" sz="1650" dirty="0">
                <a:solidFill>
                  <a:srgbClr val="5C665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describing someone's food habits and hobbies, in the style of the model essay</a:t>
            </a:r>
            <a:endParaRPr lang="en-US" sz="1650" dirty="0"/>
          </a:p>
        </p:txBody>
      </p:sp>
      <p:sp>
        <p:nvSpPr>
          <p:cNvPr id="25" name="Shape 23"/>
          <p:cNvSpPr/>
          <p:nvPr/>
        </p:nvSpPr>
        <p:spPr>
          <a:xfrm>
            <a:off x="0" y="9786938"/>
            <a:ext cx="18288000" cy="0"/>
          </a:xfrm>
          <a:prstGeom prst="line">
            <a:avLst/>
          </a:prstGeom>
          <a:noFill/>
          <a:ln w="9525">
            <a:solidFill>
              <a:srgbClr val="E1DBC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62000" y="9958388"/>
            <a:ext cx="3236476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8C948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Y8 Chinese · Unit 4 Vegetables &amp; Fruits 蔬菜、水果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BFA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8288000" cy="771525"/>
          </a:xfrm>
          <a:prstGeom prst="rect">
            <a:avLst/>
          </a:prstGeom>
          <a:solidFill>
            <a:srgbClr val="FBFAF2">
              <a:alpha val="92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0" y="766763"/>
            <a:ext cx="18288000" cy="0"/>
          </a:xfrm>
          <a:prstGeom prst="line">
            <a:avLst/>
          </a:prstGeom>
          <a:noFill/>
          <a:ln w="9525">
            <a:solidFill>
              <a:srgbClr val="E1DBC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62000" y="285750"/>
            <a:ext cx="1817709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5C8A3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L8 · CONSOLIDATION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2934593" y="280988"/>
            <a:ext cx="2710321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25" dirty="0">
                <a:solidFill>
                  <a:srgbClr val="5C665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I Do · Vocabulary Recap · 10–20 min</a:t>
            </a:r>
            <a:endParaRPr lang="en-US" sz="1125" dirty="0"/>
          </a:p>
        </p:txBody>
      </p:sp>
      <p:sp>
        <p:nvSpPr>
          <p:cNvPr id="6" name="Text 4"/>
          <p:cNvSpPr/>
          <p:nvPr/>
        </p:nvSpPr>
        <p:spPr>
          <a:xfrm>
            <a:off x="762000" y="0"/>
            <a:ext cx="16764000" cy="38100"/>
          </a:xfrm>
          <a:prstGeom prst="rect">
            <a:avLst/>
          </a:prstGeom>
          <a:solidFill>
            <a:srgbClr val="5C8A3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857250" y="1066800"/>
            <a:ext cx="1636303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25" b="1" dirty="0">
                <a:solidFill>
                  <a:srgbClr val="C94F3D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10–20 MIN · I DO</a:t>
            </a:r>
            <a:endParaRPr lang="en-US" sz="1125" dirty="0"/>
          </a:p>
        </p:txBody>
      </p:sp>
      <p:sp>
        <p:nvSpPr>
          <p:cNvPr id="8" name="Text 6"/>
          <p:cNvSpPr/>
          <p:nvPr/>
        </p:nvSpPr>
        <p:spPr>
          <a:xfrm>
            <a:off x="857250" y="1323975"/>
            <a:ext cx="5435367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4321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Lesson 10 词汇 · The Full Recap</a:t>
            </a:r>
            <a:endParaRPr lang="en-US" sz="3000" dirty="0"/>
          </a:p>
        </p:txBody>
      </p:sp>
      <p:sp>
        <p:nvSpPr>
          <p:cNvPr id="9" name="Text 7"/>
          <p:cNvSpPr/>
          <p:nvPr/>
        </p:nvSpPr>
        <p:spPr>
          <a:xfrm>
            <a:off x="857250" y="1876425"/>
            <a:ext cx="584448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8C948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Quick-fire — class chorally says pinyin + English for each word as it appears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857250" y="2595563"/>
            <a:ext cx="5346650" cy="0"/>
          </a:xfrm>
          <a:prstGeom prst="line">
            <a:avLst/>
          </a:prstGeom>
          <a:noFill/>
          <a:ln w="28575">
            <a:solidFill>
              <a:srgbClr val="5C8A3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09650" y="2276475"/>
            <a:ext cx="293894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5C8A3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蔬菜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1545431" y="2252663"/>
            <a:ext cx="769194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24321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Vegetables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857250" y="3071813"/>
            <a:ext cx="5346650" cy="0"/>
          </a:xfrm>
          <a:prstGeom prst="line">
            <a:avLst/>
          </a:prstGeom>
          <a:noFill/>
          <a:ln w="9525">
            <a:solidFill>
              <a:srgbClr val="E1DBC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33450" y="2743200"/>
            <a:ext cx="38862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24321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蔬菜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2000250" y="2800350"/>
            <a:ext cx="4164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E08A3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shūcài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2952750" y="2800350"/>
            <a:ext cx="704981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5C665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vegetables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857250" y="3076575"/>
            <a:ext cx="5346650" cy="390525"/>
          </a:xfrm>
          <a:prstGeom prst="rect">
            <a:avLst/>
          </a:prstGeom>
          <a:solidFill>
            <a:srgbClr val="F2EFD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Shape 16"/>
          <p:cNvSpPr/>
          <p:nvPr/>
        </p:nvSpPr>
        <p:spPr>
          <a:xfrm>
            <a:off x="857250" y="3462338"/>
            <a:ext cx="5346650" cy="0"/>
          </a:xfrm>
          <a:prstGeom prst="line">
            <a:avLst/>
          </a:prstGeom>
          <a:noFill/>
          <a:ln w="9525">
            <a:solidFill>
              <a:srgbClr val="E1DBC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33450" y="3133725"/>
            <a:ext cx="38862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24321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生菜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2000250" y="3190875"/>
            <a:ext cx="578528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E08A3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shēngcài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2952750" y="3190875"/>
            <a:ext cx="44964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5C665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lettuce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857250" y="3852863"/>
            <a:ext cx="5346650" cy="0"/>
          </a:xfrm>
          <a:prstGeom prst="line">
            <a:avLst/>
          </a:prstGeom>
          <a:noFill/>
          <a:ln w="9525">
            <a:solidFill>
              <a:srgbClr val="E1DBC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933450" y="3524250"/>
            <a:ext cx="38862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24321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黄瓜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2000250" y="3581400"/>
            <a:ext cx="633026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E08A3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huángguā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2952750" y="3581400"/>
            <a:ext cx="644866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5C665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cucumber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857250" y="3857625"/>
            <a:ext cx="5346650" cy="390525"/>
          </a:xfrm>
          <a:prstGeom prst="rect">
            <a:avLst/>
          </a:prstGeom>
          <a:solidFill>
            <a:srgbClr val="F2EFD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7" name="Shape 25"/>
          <p:cNvSpPr/>
          <p:nvPr/>
        </p:nvSpPr>
        <p:spPr>
          <a:xfrm>
            <a:off x="857250" y="4243388"/>
            <a:ext cx="5346650" cy="0"/>
          </a:xfrm>
          <a:prstGeom prst="line">
            <a:avLst/>
          </a:prstGeom>
          <a:noFill/>
          <a:ln w="9525">
            <a:solidFill>
              <a:srgbClr val="E1DBC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933450" y="3914775"/>
            <a:ext cx="58293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24321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菜花儿</a:t>
            </a:r>
            <a:endParaRPr lang="en-US" sz="1500" dirty="0"/>
          </a:p>
        </p:txBody>
      </p:sp>
      <p:sp>
        <p:nvSpPr>
          <p:cNvPr id="29" name="Text 27"/>
          <p:cNvSpPr/>
          <p:nvPr/>
        </p:nvSpPr>
        <p:spPr>
          <a:xfrm>
            <a:off x="2000250" y="3971925"/>
            <a:ext cx="47651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E08A3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càihuār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2952750" y="3971925"/>
            <a:ext cx="7150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5C665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cauliflower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857250" y="4633913"/>
            <a:ext cx="5346650" cy="0"/>
          </a:xfrm>
          <a:prstGeom prst="line">
            <a:avLst/>
          </a:prstGeom>
          <a:noFill/>
          <a:ln w="9525">
            <a:solidFill>
              <a:srgbClr val="E1DBC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933450" y="4305300"/>
            <a:ext cx="38862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24321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土豆</a:t>
            </a:r>
            <a:endParaRPr lang="en-US" sz="1500" dirty="0"/>
          </a:p>
        </p:txBody>
      </p:sp>
      <p:sp>
        <p:nvSpPr>
          <p:cNvPr id="33" name="Text 31"/>
          <p:cNvSpPr/>
          <p:nvPr/>
        </p:nvSpPr>
        <p:spPr>
          <a:xfrm>
            <a:off x="2000250" y="4362450"/>
            <a:ext cx="363876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E08A3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tǔdòu</a:t>
            </a:r>
            <a:endParaRPr lang="en-US" sz="1050" dirty="0"/>
          </a:p>
        </p:txBody>
      </p:sp>
      <p:sp>
        <p:nvSpPr>
          <p:cNvPr id="34" name="Text 32"/>
          <p:cNvSpPr/>
          <p:nvPr/>
        </p:nvSpPr>
        <p:spPr>
          <a:xfrm>
            <a:off x="2952750" y="4362450"/>
            <a:ext cx="42854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5C665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potato</a:t>
            </a:r>
            <a:endParaRPr lang="en-US" sz="1050" dirty="0"/>
          </a:p>
        </p:txBody>
      </p:sp>
      <p:sp>
        <p:nvSpPr>
          <p:cNvPr id="35" name="Text 33"/>
          <p:cNvSpPr/>
          <p:nvPr/>
        </p:nvSpPr>
        <p:spPr>
          <a:xfrm>
            <a:off x="857250" y="4638675"/>
            <a:ext cx="5346650" cy="390525"/>
          </a:xfrm>
          <a:prstGeom prst="rect">
            <a:avLst/>
          </a:prstGeom>
          <a:solidFill>
            <a:srgbClr val="F2EFD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6" name="Shape 34"/>
          <p:cNvSpPr/>
          <p:nvPr/>
        </p:nvSpPr>
        <p:spPr>
          <a:xfrm>
            <a:off x="857250" y="5024438"/>
            <a:ext cx="5346650" cy="0"/>
          </a:xfrm>
          <a:prstGeom prst="line">
            <a:avLst/>
          </a:prstGeom>
          <a:noFill/>
          <a:ln w="9525">
            <a:solidFill>
              <a:srgbClr val="E1DBC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933450" y="4695825"/>
            <a:ext cx="58293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24321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西红柿</a:t>
            </a:r>
            <a:endParaRPr lang="en-US" sz="1500" dirty="0"/>
          </a:p>
        </p:txBody>
      </p:sp>
      <p:sp>
        <p:nvSpPr>
          <p:cNvPr id="38" name="Text 36"/>
          <p:cNvSpPr/>
          <p:nvPr/>
        </p:nvSpPr>
        <p:spPr>
          <a:xfrm>
            <a:off x="2000250" y="4752975"/>
            <a:ext cx="62923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E08A3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xīhóngshì</a:t>
            </a:r>
            <a:endParaRPr lang="en-US" sz="1050" dirty="0"/>
          </a:p>
        </p:txBody>
      </p:sp>
      <p:sp>
        <p:nvSpPr>
          <p:cNvPr id="39" name="Text 37"/>
          <p:cNvSpPr/>
          <p:nvPr/>
        </p:nvSpPr>
        <p:spPr>
          <a:xfrm>
            <a:off x="2952750" y="4752975"/>
            <a:ext cx="465281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5C665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tomato</a:t>
            </a:r>
            <a:endParaRPr lang="en-US" sz="1050" dirty="0"/>
          </a:p>
        </p:txBody>
      </p:sp>
      <p:sp>
        <p:nvSpPr>
          <p:cNvPr id="40" name="Shape 38"/>
          <p:cNvSpPr/>
          <p:nvPr/>
        </p:nvSpPr>
        <p:spPr>
          <a:xfrm>
            <a:off x="6470600" y="2595563"/>
            <a:ext cx="5346650" cy="0"/>
          </a:xfrm>
          <a:prstGeom prst="line">
            <a:avLst/>
          </a:prstGeom>
          <a:noFill/>
          <a:ln w="28575">
            <a:solidFill>
              <a:srgbClr val="E08A3C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6623000" y="2276475"/>
            <a:ext cx="293894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E08A3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水果</a:t>
            </a:r>
            <a:endParaRPr lang="en-US" sz="1050" dirty="0"/>
          </a:p>
        </p:txBody>
      </p:sp>
      <p:sp>
        <p:nvSpPr>
          <p:cNvPr id="42" name="Text 40"/>
          <p:cNvSpPr/>
          <p:nvPr/>
        </p:nvSpPr>
        <p:spPr>
          <a:xfrm>
            <a:off x="7158782" y="2252663"/>
            <a:ext cx="425660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24321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Fruits</a:t>
            </a:r>
            <a:endParaRPr lang="en-US" sz="1350" dirty="0"/>
          </a:p>
        </p:txBody>
      </p:sp>
      <p:sp>
        <p:nvSpPr>
          <p:cNvPr id="43" name="Shape 41"/>
          <p:cNvSpPr/>
          <p:nvPr/>
        </p:nvSpPr>
        <p:spPr>
          <a:xfrm>
            <a:off x="6470600" y="3071813"/>
            <a:ext cx="5346650" cy="0"/>
          </a:xfrm>
          <a:prstGeom prst="line">
            <a:avLst/>
          </a:prstGeom>
          <a:noFill/>
          <a:ln w="9525">
            <a:solidFill>
              <a:srgbClr val="E1DBC0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6546800" y="2743200"/>
            <a:ext cx="38862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24321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水果</a:t>
            </a:r>
            <a:endParaRPr lang="en-US" sz="1500" dirty="0"/>
          </a:p>
        </p:txBody>
      </p:sp>
      <p:sp>
        <p:nvSpPr>
          <p:cNvPr id="45" name="Text 43"/>
          <p:cNvSpPr/>
          <p:nvPr/>
        </p:nvSpPr>
        <p:spPr>
          <a:xfrm>
            <a:off x="7613600" y="2800350"/>
            <a:ext cx="504751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E08A3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shuǐguǒ</a:t>
            </a:r>
            <a:endParaRPr lang="en-US" sz="1050" dirty="0"/>
          </a:p>
        </p:txBody>
      </p:sp>
      <p:sp>
        <p:nvSpPr>
          <p:cNvPr id="46" name="Text 44"/>
          <p:cNvSpPr/>
          <p:nvPr/>
        </p:nvSpPr>
        <p:spPr>
          <a:xfrm>
            <a:off x="8566100" y="2800350"/>
            <a:ext cx="273856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5C665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fruit</a:t>
            </a:r>
            <a:endParaRPr lang="en-US" sz="1050" dirty="0"/>
          </a:p>
        </p:txBody>
      </p:sp>
      <p:sp>
        <p:nvSpPr>
          <p:cNvPr id="47" name="Text 45"/>
          <p:cNvSpPr/>
          <p:nvPr/>
        </p:nvSpPr>
        <p:spPr>
          <a:xfrm>
            <a:off x="6470600" y="3076575"/>
            <a:ext cx="5346650" cy="390525"/>
          </a:xfrm>
          <a:prstGeom prst="rect">
            <a:avLst/>
          </a:prstGeom>
          <a:solidFill>
            <a:srgbClr val="F2EFD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8" name="Shape 46"/>
          <p:cNvSpPr/>
          <p:nvPr/>
        </p:nvSpPr>
        <p:spPr>
          <a:xfrm>
            <a:off x="6470600" y="3462338"/>
            <a:ext cx="5346650" cy="0"/>
          </a:xfrm>
          <a:prstGeom prst="line">
            <a:avLst/>
          </a:prstGeom>
          <a:noFill/>
          <a:ln w="9525">
            <a:solidFill>
              <a:srgbClr val="E1DBC0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6546800" y="3133725"/>
            <a:ext cx="38862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24321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苹果</a:t>
            </a:r>
            <a:endParaRPr lang="en-US" sz="1500" dirty="0"/>
          </a:p>
        </p:txBody>
      </p:sp>
      <p:sp>
        <p:nvSpPr>
          <p:cNvPr id="50" name="Text 48"/>
          <p:cNvSpPr/>
          <p:nvPr/>
        </p:nvSpPr>
        <p:spPr>
          <a:xfrm>
            <a:off x="7613600" y="3190875"/>
            <a:ext cx="520083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E08A3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píngguǒ</a:t>
            </a:r>
            <a:endParaRPr lang="en-US" sz="1050" dirty="0"/>
          </a:p>
        </p:txBody>
      </p:sp>
      <p:sp>
        <p:nvSpPr>
          <p:cNvPr id="51" name="Text 49"/>
          <p:cNvSpPr/>
          <p:nvPr/>
        </p:nvSpPr>
        <p:spPr>
          <a:xfrm>
            <a:off x="8566100" y="3190875"/>
            <a:ext cx="356893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5C665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apple</a:t>
            </a:r>
            <a:endParaRPr lang="en-US" sz="1050" dirty="0"/>
          </a:p>
        </p:txBody>
      </p:sp>
      <p:sp>
        <p:nvSpPr>
          <p:cNvPr id="52" name="Shape 50"/>
          <p:cNvSpPr/>
          <p:nvPr/>
        </p:nvSpPr>
        <p:spPr>
          <a:xfrm>
            <a:off x="6470600" y="3852863"/>
            <a:ext cx="5346650" cy="0"/>
          </a:xfrm>
          <a:prstGeom prst="line">
            <a:avLst/>
          </a:prstGeom>
          <a:noFill/>
          <a:ln w="9525">
            <a:solidFill>
              <a:srgbClr val="E1DBC0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6546800" y="3524250"/>
            <a:ext cx="38862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24321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香蕉</a:t>
            </a:r>
            <a:endParaRPr lang="en-US" sz="1500" dirty="0"/>
          </a:p>
        </p:txBody>
      </p:sp>
      <p:sp>
        <p:nvSpPr>
          <p:cNvPr id="54" name="Text 52"/>
          <p:cNvSpPr/>
          <p:nvPr/>
        </p:nvSpPr>
        <p:spPr>
          <a:xfrm>
            <a:off x="7613600" y="3581400"/>
            <a:ext cx="582626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E08A3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xiāngjiāo</a:t>
            </a:r>
            <a:endParaRPr lang="en-US" sz="1050" dirty="0"/>
          </a:p>
        </p:txBody>
      </p:sp>
      <p:sp>
        <p:nvSpPr>
          <p:cNvPr id="55" name="Text 53"/>
          <p:cNvSpPr/>
          <p:nvPr/>
        </p:nvSpPr>
        <p:spPr>
          <a:xfrm>
            <a:off x="8566100" y="3581400"/>
            <a:ext cx="47697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5C665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banana</a:t>
            </a:r>
            <a:endParaRPr lang="en-US" sz="1050" dirty="0"/>
          </a:p>
        </p:txBody>
      </p:sp>
      <p:sp>
        <p:nvSpPr>
          <p:cNvPr id="56" name="Text 54"/>
          <p:cNvSpPr/>
          <p:nvPr/>
        </p:nvSpPr>
        <p:spPr>
          <a:xfrm>
            <a:off x="6470600" y="3857625"/>
            <a:ext cx="5346650" cy="390525"/>
          </a:xfrm>
          <a:prstGeom prst="rect">
            <a:avLst/>
          </a:prstGeom>
          <a:solidFill>
            <a:srgbClr val="F2EFD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7" name="Shape 55"/>
          <p:cNvSpPr/>
          <p:nvPr/>
        </p:nvSpPr>
        <p:spPr>
          <a:xfrm>
            <a:off x="6470600" y="4243388"/>
            <a:ext cx="5346650" cy="0"/>
          </a:xfrm>
          <a:prstGeom prst="line">
            <a:avLst/>
          </a:prstGeom>
          <a:noFill/>
          <a:ln w="9525">
            <a:solidFill>
              <a:srgbClr val="E1DBC0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6546800" y="3914775"/>
            <a:ext cx="38862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24321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橘子</a:t>
            </a:r>
            <a:endParaRPr lang="en-US" sz="1500" dirty="0"/>
          </a:p>
        </p:txBody>
      </p:sp>
      <p:sp>
        <p:nvSpPr>
          <p:cNvPr id="59" name="Text 57"/>
          <p:cNvSpPr/>
          <p:nvPr/>
        </p:nvSpPr>
        <p:spPr>
          <a:xfrm>
            <a:off x="7613600" y="3971925"/>
            <a:ext cx="221787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E08A3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júzi</a:t>
            </a:r>
            <a:endParaRPr lang="en-US" sz="1050" dirty="0"/>
          </a:p>
        </p:txBody>
      </p:sp>
      <p:sp>
        <p:nvSpPr>
          <p:cNvPr id="60" name="Text 58"/>
          <p:cNvSpPr/>
          <p:nvPr/>
        </p:nvSpPr>
        <p:spPr>
          <a:xfrm>
            <a:off x="8566100" y="3971925"/>
            <a:ext cx="617541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5C665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tangerine</a:t>
            </a:r>
            <a:endParaRPr lang="en-US" sz="1050" dirty="0"/>
          </a:p>
        </p:txBody>
      </p:sp>
      <p:sp>
        <p:nvSpPr>
          <p:cNvPr id="61" name="Shape 59"/>
          <p:cNvSpPr/>
          <p:nvPr/>
        </p:nvSpPr>
        <p:spPr>
          <a:xfrm>
            <a:off x="6470600" y="4633913"/>
            <a:ext cx="5346650" cy="0"/>
          </a:xfrm>
          <a:prstGeom prst="line">
            <a:avLst/>
          </a:prstGeom>
          <a:noFill/>
          <a:ln w="9525">
            <a:solidFill>
              <a:srgbClr val="E1DBC0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6546800" y="4305300"/>
            <a:ext cx="38862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24321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西瓜</a:t>
            </a:r>
            <a:endParaRPr lang="en-US" sz="1500" dirty="0"/>
          </a:p>
        </p:txBody>
      </p:sp>
      <p:sp>
        <p:nvSpPr>
          <p:cNvPr id="63" name="Text 61"/>
          <p:cNvSpPr/>
          <p:nvPr/>
        </p:nvSpPr>
        <p:spPr>
          <a:xfrm>
            <a:off x="7613600" y="4362450"/>
            <a:ext cx="36296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E08A3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xīguā</a:t>
            </a:r>
            <a:endParaRPr lang="en-US" sz="1050" dirty="0"/>
          </a:p>
        </p:txBody>
      </p:sp>
      <p:sp>
        <p:nvSpPr>
          <p:cNvPr id="64" name="Text 62"/>
          <p:cNvSpPr/>
          <p:nvPr/>
        </p:nvSpPr>
        <p:spPr>
          <a:xfrm>
            <a:off x="8566100" y="4362450"/>
            <a:ext cx="759934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5C665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watermelon</a:t>
            </a:r>
            <a:endParaRPr lang="en-US" sz="1050" dirty="0"/>
          </a:p>
        </p:txBody>
      </p:sp>
      <p:sp>
        <p:nvSpPr>
          <p:cNvPr id="65" name="Text 63"/>
          <p:cNvSpPr/>
          <p:nvPr/>
        </p:nvSpPr>
        <p:spPr>
          <a:xfrm>
            <a:off x="6470600" y="4638675"/>
            <a:ext cx="5346650" cy="390525"/>
          </a:xfrm>
          <a:prstGeom prst="rect">
            <a:avLst/>
          </a:prstGeom>
          <a:solidFill>
            <a:srgbClr val="F2EFD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6" name="Shape 64"/>
          <p:cNvSpPr/>
          <p:nvPr/>
        </p:nvSpPr>
        <p:spPr>
          <a:xfrm>
            <a:off x="6470600" y="5024438"/>
            <a:ext cx="5346650" cy="0"/>
          </a:xfrm>
          <a:prstGeom prst="line">
            <a:avLst/>
          </a:prstGeom>
          <a:noFill/>
          <a:ln w="9525">
            <a:solidFill>
              <a:srgbClr val="E1DBC0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6546800" y="4695825"/>
            <a:ext cx="19431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24321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梨</a:t>
            </a:r>
            <a:endParaRPr lang="en-US" sz="1500" dirty="0"/>
          </a:p>
        </p:txBody>
      </p:sp>
      <p:sp>
        <p:nvSpPr>
          <p:cNvPr id="68" name="Text 66"/>
          <p:cNvSpPr/>
          <p:nvPr/>
        </p:nvSpPr>
        <p:spPr>
          <a:xfrm>
            <a:off x="7613600" y="4752975"/>
            <a:ext cx="72714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E08A3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lí</a:t>
            </a:r>
            <a:endParaRPr lang="en-US" sz="1050" dirty="0"/>
          </a:p>
        </p:txBody>
      </p:sp>
      <p:sp>
        <p:nvSpPr>
          <p:cNvPr id="69" name="Text 67"/>
          <p:cNvSpPr/>
          <p:nvPr/>
        </p:nvSpPr>
        <p:spPr>
          <a:xfrm>
            <a:off x="8566100" y="4752975"/>
            <a:ext cx="292072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5C665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pear</a:t>
            </a:r>
            <a:endParaRPr lang="en-US" sz="1050" dirty="0"/>
          </a:p>
        </p:txBody>
      </p:sp>
      <p:sp>
        <p:nvSpPr>
          <p:cNvPr id="70" name="Shape 68"/>
          <p:cNvSpPr/>
          <p:nvPr/>
        </p:nvSpPr>
        <p:spPr>
          <a:xfrm>
            <a:off x="12083951" y="2595563"/>
            <a:ext cx="5346650" cy="0"/>
          </a:xfrm>
          <a:prstGeom prst="line">
            <a:avLst/>
          </a:prstGeom>
          <a:noFill/>
          <a:ln w="28575">
            <a:solidFill>
              <a:srgbClr val="C94F3D"/>
            </a:solidFill>
            <a:prstDash val="solid"/>
          </a:ln>
        </p:spPr>
      </p:sp>
      <p:sp>
        <p:nvSpPr>
          <p:cNvPr id="71" name="Text 69"/>
          <p:cNvSpPr/>
          <p:nvPr/>
        </p:nvSpPr>
        <p:spPr>
          <a:xfrm>
            <a:off x="12236351" y="2276475"/>
            <a:ext cx="293894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C94F3D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语法</a:t>
            </a:r>
            <a:endParaRPr lang="en-US" sz="1050" dirty="0"/>
          </a:p>
        </p:txBody>
      </p:sp>
      <p:sp>
        <p:nvSpPr>
          <p:cNvPr id="72" name="Text 70"/>
          <p:cNvSpPr/>
          <p:nvPr/>
        </p:nvSpPr>
        <p:spPr>
          <a:xfrm>
            <a:off x="12772132" y="2252663"/>
            <a:ext cx="1277436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24321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Grammar Toolkit</a:t>
            </a:r>
            <a:endParaRPr lang="en-US" sz="1350" dirty="0"/>
          </a:p>
        </p:txBody>
      </p:sp>
      <p:sp>
        <p:nvSpPr>
          <p:cNvPr id="73" name="Shape 71"/>
          <p:cNvSpPr/>
          <p:nvPr/>
        </p:nvSpPr>
        <p:spPr>
          <a:xfrm>
            <a:off x="12083951" y="3071813"/>
            <a:ext cx="5346650" cy="0"/>
          </a:xfrm>
          <a:prstGeom prst="line">
            <a:avLst/>
          </a:prstGeom>
          <a:noFill/>
          <a:ln w="9525">
            <a:solidFill>
              <a:srgbClr val="E1DBC0"/>
            </a:solidFill>
            <a:prstDash val="solid"/>
          </a:ln>
        </p:spPr>
      </p:sp>
      <p:sp>
        <p:nvSpPr>
          <p:cNvPr id="74" name="Text 72"/>
          <p:cNvSpPr/>
          <p:nvPr/>
        </p:nvSpPr>
        <p:spPr>
          <a:xfrm>
            <a:off x="12160151" y="2743200"/>
            <a:ext cx="38862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24321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应该</a:t>
            </a:r>
            <a:endParaRPr lang="en-US" sz="1500" dirty="0"/>
          </a:p>
        </p:txBody>
      </p:sp>
      <p:sp>
        <p:nvSpPr>
          <p:cNvPr id="75" name="Text 73"/>
          <p:cNvSpPr/>
          <p:nvPr/>
        </p:nvSpPr>
        <p:spPr>
          <a:xfrm>
            <a:off x="13226951" y="2800350"/>
            <a:ext cx="48198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E08A3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yīnggāi</a:t>
            </a:r>
            <a:endParaRPr lang="en-US" sz="1050" dirty="0"/>
          </a:p>
        </p:txBody>
      </p:sp>
      <p:sp>
        <p:nvSpPr>
          <p:cNvPr id="76" name="Text 74"/>
          <p:cNvSpPr/>
          <p:nvPr/>
        </p:nvSpPr>
        <p:spPr>
          <a:xfrm>
            <a:off x="14179451" y="2800350"/>
            <a:ext cx="4290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5C665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should</a:t>
            </a:r>
            <a:endParaRPr lang="en-US" sz="1050" dirty="0"/>
          </a:p>
        </p:txBody>
      </p:sp>
      <p:sp>
        <p:nvSpPr>
          <p:cNvPr id="77" name="Text 75"/>
          <p:cNvSpPr/>
          <p:nvPr/>
        </p:nvSpPr>
        <p:spPr>
          <a:xfrm>
            <a:off x="12083951" y="3076575"/>
            <a:ext cx="5346650" cy="390525"/>
          </a:xfrm>
          <a:prstGeom prst="rect">
            <a:avLst/>
          </a:prstGeom>
          <a:solidFill>
            <a:srgbClr val="F2EFD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8" name="Shape 76"/>
          <p:cNvSpPr/>
          <p:nvPr/>
        </p:nvSpPr>
        <p:spPr>
          <a:xfrm>
            <a:off x="12083951" y="3462338"/>
            <a:ext cx="5346650" cy="0"/>
          </a:xfrm>
          <a:prstGeom prst="line">
            <a:avLst/>
          </a:prstGeom>
          <a:noFill/>
          <a:ln w="9525">
            <a:solidFill>
              <a:srgbClr val="E1DBC0"/>
            </a:solidFill>
            <a:prstDash val="solid"/>
          </a:ln>
        </p:spPr>
      </p:sp>
      <p:sp>
        <p:nvSpPr>
          <p:cNvPr id="79" name="Text 77"/>
          <p:cNvSpPr/>
          <p:nvPr/>
        </p:nvSpPr>
        <p:spPr>
          <a:xfrm>
            <a:off x="12160151" y="3133725"/>
            <a:ext cx="38862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24321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可是</a:t>
            </a:r>
            <a:endParaRPr lang="en-US" sz="1500" dirty="0"/>
          </a:p>
        </p:txBody>
      </p:sp>
      <p:sp>
        <p:nvSpPr>
          <p:cNvPr id="80" name="Text 78"/>
          <p:cNvSpPr/>
          <p:nvPr/>
        </p:nvSpPr>
        <p:spPr>
          <a:xfrm>
            <a:off x="13226951" y="3190875"/>
            <a:ext cx="338373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E08A3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kěshì</a:t>
            </a:r>
            <a:endParaRPr lang="en-US" sz="1050" dirty="0"/>
          </a:p>
        </p:txBody>
      </p:sp>
      <p:sp>
        <p:nvSpPr>
          <p:cNvPr id="81" name="Text 79"/>
          <p:cNvSpPr/>
          <p:nvPr/>
        </p:nvSpPr>
        <p:spPr>
          <a:xfrm>
            <a:off x="14179451" y="3190875"/>
            <a:ext cx="212527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5C665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but</a:t>
            </a:r>
            <a:endParaRPr lang="en-US" sz="1050" dirty="0"/>
          </a:p>
        </p:txBody>
      </p:sp>
      <p:sp>
        <p:nvSpPr>
          <p:cNvPr id="82" name="Shape 80"/>
          <p:cNvSpPr/>
          <p:nvPr/>
        </p:nvSpPr>
        <p:spPr>
          <a:xfrm>
            <a:off x="12083951" y="3852863"/>
            <a:ext cx="5346650" cy="0"/>
          </a:xfrm>
          <a:prstGeom prst="line">
            <a:avLst/>
          </a:prstGeom>
          <a:noFill/>
          <a:ln w="9525">
            <a:solidFill>
              <a:srgbClr val="E1DBC0"/>
            </a:solidFill>
            <a:prstDash val="solid"/>
          </a:ln>
        </p:spPr>
      </p:sp>
      <p:sp>
        <p:nvSpPr>
          <p:cNvPr id="83" name="Text 81"/>
          <p:cNvSpPr/>
          <p:nvPr/>
        </p:nvSpPr>
        <p:spPr>
          <a:xfrm>
            <a:off x="12160151" y="3524250"/>
            <a:ext cx="38862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24321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这些</a:t>
            </a:r>
            <a:endParaRPr lang="en-US" sz="1500" dirty="0"/>
          </a:p>
        </p:txBody>
      </p:sp>
      <p:sp>
        <p:nvSpPr>
          <p:cNvPr id="84" name="Text 82"/>
          <p:cNvSpPr/>
          <p:nvPr/>
        </p:nvSpPr>
        <p:spPr>
          <a:xfrm>
            <a:off x="13226951" y="3581400"/>
            <a:ext cx="408962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E08A3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zhèxiē</a:t>
            </a:r>
            <a:endParaRPr lang="en-US" sz="1050" dirty="0"/>
          </a:p>
        </p:txBody>
      </p:sp>
      <p:sp>
        <p:nvSpPr>
          <p:cNvPr id="85" name="Text 83"/>
          <p:cNvSpPr/>
          <p:nvPr/>
        </p:nvSpPr>
        <p:spPr>
          <a:xfrm>
            <a:off x="14179451" y="3581400"/>
            <a:ext cx="3575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5C665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these</a:t>
            </a:r>
            <a:endParaRPr lang="en-US" sz="1050" dirty="0"/>
          </a:p>
        </p:txBody>
      </p:sp>
      <p:sp>
        <p:nvSpPr>
          <p:cNvPr id="86" name="Text 84"/>
          <p:cNvSpPr/>
          <p:nvPr/>
        </p:nvSpPr>
        <p:spPr>
          <a:xfrm>
            <a:off x="12083951" y="3857625"/>
            <a:ext cx="5346650" cy="390525"/>
          </a:xfrm>
          <a:prstGeom prst="rect">
            <a:avLst/>
          </a:prstGeom>
          <a:solidFill>
            <a:srgbClr val="F2EFD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7" name="Shape 85"/>
          <p:cNvSpPr/>
          <p:nvPr/>
        </p:nvSpPr>
        <p:spPr>
          <a:xfrm>
            <a:off x="12083951" y="4243388"/>
            <a:ext cx="5346650" cy="0"/>
          </a:xfrm>
          <a:prstGeom prst="line">
            <a:avLst/>
          </a:prstGeom>
          <a:noFill/>
          <a:ln w="9525">
            <a:solidFill>
              <a:srgbClr val="E1DBC0"/>
            </a:solidFill>
            <a:prstDash val="solid"/>
          </a:ln>
        </p:spPr>
      </p:sp>
      <p:sp>
        <p:nvSpPr>
          <p:cNvPr id="88" name="Text 86"/>
          <p:cNvSpPr/>
          <p:nvPr/>
        </p:nvSpPr>
        <p:spPr>
          <a:xfrm>
            <a:off x="12160151" y="3914775"/>
            <a:ext cx="38862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24321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那些</a:t>
            </a:r>
            <a:endParaRPr lang="en-US" sz="1500" dirty="0"/>
          </a:p>
        </p:txBody>
      </p:sp>
      <p:sp>
        <p:nvSpPr>
          <p:cNvPr id="89" name="Text 87"/>
          <p:cNvSpPr/>
          <p:nvPr/>
        </p:nvSpPr>
        <p:spPr>
          <a:xfrm>
            <a:off x="13226951" y="3971925"/>
            <a:ext cx="340194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E08A3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nàxiē</a:t>
            </a:r>
            <a:endParaRPr lang="en-US" sz="1050" dirty="0"/>
          </a:p>
        </p:txBody>
      </p:sp>
      <p:sp>
        <p:nvSpPr>
          <p:cNvPr id="90" name="Text 88"/>
          <p:cNvSpPr/>
          <p:nvPr/>
        </p:nvSpPr>
        <p:spPr>
          <a:xfrm>
            <a:off x="14179451" y="3971925"/>
            <a:ext cx="361902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5C665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those</a:t>
            </a:r>
            <a:endParaRPr lang="en-US" sz="1050" dirty="0"/>
          </a:p>
        </p:txBody>
      </p:sp>
      <p:sp>
        <p:nvSpPr>
          <p:cNvPr id="91" name="Shape 89"/>
          <p:cNvSpPr/>
          <p:nvPr/>
        </p:nvSpPr>
        <p:spPr>
          <a:xfrm>
            <a:off x="12083951" y="4633913"/>
            <a:ext cx="5346650" cy="0"/>
          </a:xfrm>
          <a:prstGeom prst="line">
            <a:avLst/>
          </a:prstGeom>
          <a:noFill/>
          <a:ln w="9525">
            <a:solidFill>
              <a:srgbClr val="E1DBC0"/>
            </a:solidFill>
            <a:prstDash val="solid"/>
          </a:ln>
        </p:spPr>
      </p:sp>
      <p:sp>
        <p:nvSpPr>
          <p:cNvPr id="92" name="Text 90"/>
          <p:cNvSpPr/>
          <p:nvPr/>
        </p:nvSpPr>
        <p:spPr>
          <a:xfrm>
            <a:off x="12160151" y="4305300"/>
            <a:ext cx="38862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24321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一些</a:t>
            </a:r>
            <a:endParaRPr lang="en-US" sz="1500" dirty="0"/>
          </a:p>
        </p:txBody>
      </p:sp>
      <p:sp>
        <p:nvSpPr>
          <p:cNvPr id="93" name="Text 91"/>
          <p:cNvSpPr/>
          <p:nvPr/>
        </p:nvSpPr>
        <p:spPr>
          <a:xfrm>
            <a:off x="13226951" y="4362450"/>
            <a:ext cx="293742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E08A3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yìxiē</a:t>
            </a:r>
            <a:endParaRPr lang="en-US" sz="1050" dirty="0"/>
          </a:p>
        </p:txBody>
      </p:sp>
      <p:sp>
        <p:nvSpPr>
          <p:cNvPr id="94" name="Text 92"/>
          <p:cNvSpPr/>
          <p:nvPr/>
        </p:nvSpPr>
        <p:spPr>
          <a:xfrm>
            <a:off x="14179451" y="4362450"/>
            <a:ext cx="35158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5C665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some</a:t>
            </a:r>
            <a:endParaRPr lang="en-US" sz="1050" dirty="0"/>
          </a:p>
        </p:txBody>
      </p:sp>
      <p:sp>
        <p:nvSpPr>
          <p:cNvPr id="95" name="Text 93"/>
          <p:cNvSpPr/>
          <p:nvPr/>
        </p:nvSpPr>
        <p:spPr>
          <a:xfrm>
            <a:off x="12083951" y="4638675"/>
            <a:ext cx="5346650" cy="390525"/>
          </a:xfrm>
          <a:prstGeom prst="rect">
            <a:avLst/>
          </a:prstGeom>
          <a:solidFill>
            <a:srgbClr val="F2EFD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6" name="Shape 94"/>
          <p:cNvSpPr/>
          <p:nvPr/>
        </p:nvSpPr>
        <p:spPr>
          <a:xfrm>
            <a:off x="12083951" y="5024438"/>
            <a:ext cx="5346650" cy="0"/>
          </a:xfrm>
          <a:prstGeom prst="line">
            <a:avLst/>
          </a:prstGeom>
          <a:noFill/>
          <a:ln w="9525">
            <a:solidFill>
              <a:srgbClr val="E1DBC0"/>
            </a:solidFill>
            <a:prstDash val="solid"/>
          </a:ln>
        </p:spPr>
      </p:sp>
      <p:sp>
        <p:nvSpPr>
          <p:cNvPr id="97" name="Text 95"/>
          <p:cNvSpPr/>
          <p:nvPr/>
        </p:nvSpPr>
        <p:spPr>
          <a:xfrm>
            <a:off x="12160151" y="4695825"/>
            <a:ext cx="19431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24321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都</a:t>
            </a:r>
            <a:endParaRPr lang="en-US" sz="1500" dirty="0"/>
          </a:p>
        </p:txBody>
      </p:sp>
      <p:sp>
        <p:nvSpPr>
          <p:cNvPr id="98" name="Text 96"/>
          <p:cNvSpPr/>
          <p:nvPr/>
        </p:nvSpPr>
        <p:spPr>
          <a:xfrm>
            <a:off x="13226951" y="4752975"/>
            <a:ext cx="237119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E08A3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dōu</a:t>
            </a:r>
            <a:endParaRPr lang="en-US" sz="1050" dirty="0"/>
          </a:p>
        </p:txBody>
      </p:sp>
      <p:sp>
        <p:nvSpPr>
          <p:cNvPr id="99" name="Text 97"/>
          <p:cNvSpPr/>
          <p:nvPr/>
        </p:nvSpPr>
        <p:spPr>
          <a:xfrm>
            <a:off x="14179451" y="4752975"/>
            <a:ext cx="529798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5C665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all; both</a:t>
            </a:r>
            <a:endParaRPr lang="en-US" sz="1050" dirty="0"/>
          </a:p>
        </p:txBody>
      </p:sp>
      <p:sp>
        <p:nvSpPr>
          <p:cNvPr id="100" name="Shape 98"/>
          <p:cNvSpPr/>
          <p:nvPr/>
        </p:nvSpPr>
        <p:spPr>
          <a:xfrm>
            <a:off x="12083951" y="5414963"/>
            <a:ext cx="5346650" cy="0"/>
          </a:xfrm>
          <a:prstGeom prst="line">
            <a:avLst/>
          </a:prstGeom>
          <a:noFill/>
          <a:ln w="9525">
            <a:solidFill>
              <a:srgbClr val="E1DBC0"/>
            </a:solidFill>
            <a:prstDash val="solid"/>
          </a:ln>
        </p:spPr>
      </p:sp>
      <p:sp>
        <p:nvSpPr>
          <p:cNvPr id="101" name="Text 99"/>
          <p:cNvSpPr/>
          <p:nvPr/>
        </p:nvSpPr>
        <p:spPr>
          <a:xfrm>
            <a:off x="12160151" y="5086350"/>
            <a:ext cx="19431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24321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种</a:t>
            </a:r>
            <a:endParaRPr lang="en-US" sz="1500" dirty="0"/>
          </a:p>
        </p:txBody>
      </p:sp>
      <p:sp>
        <p:nvSpPr>
          <p:cNvPr id="102" name="Text 100"/>
          <p:cNvSpPr/>
          <p:nvPr/>
        </p:nvSpPr>
        <p:spPr>
          <a:xfrm>
            <a:off x="13226951" y="5143500"/>
            <a:ext cx="385432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E08A3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zhǒng</a:t>
            </a:r>
            <a:endParaRPr lang="en-US" sz="1050" dirty="0"/>
          </a:p>
        </p:txBody>
      </p:sp>
      <p:sp>
        <p:nvSpPr>
          <p:cNvPr id="103" name="Text 101"/>
          <p:cNvSpPr/>
          <p:nvPr/>
        </p:nvSpPr>
        <p:spPr>
          <a:xfrm>
            <a:off x="14179451" y="5143500"/>
            <a:ext cx="642589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5C665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kind; type</a:t>
            </a:r>
            <a:endParaRPr lang="en-US" sz="1050" dirty="0"/>
          </a:p>
        </p:txBody>
      </p:sp>
      <p:sp>
        <p:nvSpPr>
          <p:cNvPr id="104" name="Text 102"/>
          <p:cNvSpPr/>
          <p:nvPr/>
        </p:nvSpPr>
        <p:spPr>
          <a:xfrm>
            <a:off x="857250" y="5553075"/>
            <a:ext cx="5435501" cy="611386"/>
          </a:xfrm>
          <a:prstGeom prst="roundRect">
            <a:avLst>
              <a:gd name="adj" fmla="val 18695"/>
            </a:avLst>
          </a:prstGeom>
          <a:solidFill>
            <a:srgbClr val="5C8A3A">
              <a:alpha val="12000"/>
            </a:srgbClr>
          </a:solidFill>
          <a:ln w="19050">
            <a:solidFill>
              <a:srgbClr val="5C8A3A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5" name="Text 103"/>
          <p:cNvSpPr/>
          <p:nvPr/>
        </p:nvSpPr>
        <p:spPr>
          <a:xfrm>
            <a:off x="1047750" y="5676900"/>
            <a:ext cx="213741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24321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🥬</a:t>
            </a:r>
            <a:endParaRPr lang="en-US" sz="1500" dirty="0"/>
          </a:p>
        </p:txBody>
      </p:sp>
      <p:sp>
        <p:nvSpPr>
          <p:cNvPr id="106" name="Text 104"/>
          <p:cNvSpPr/>
          <p:nvPr/>
        </p:nvSpPr>
        <p:spPr>
          <a:xfrm>
            <a:off x="1352550" y="5667375"/>
            <a:ext cx="262531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5C8A3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菜 is the vegetable building block</a:t>
            </a:r>
            <a:endParaRPr lang="en-US" sz="1200" dirty="0"/>
          </a:p>
        </p:txBody>
      </p:sp>
      <p:sp>
        <p:nvSpPr>
          <p:cNvPr id="107" name="Text 105"/>
          <p:cNvSpPr/>
          <p:nvPr/>
        </p:nvSpPr>
        <p:spPr>
          <a:xfrm>
            <a:off x="1352550" y="5876925"/>
            <a:ext cx="4465487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5"/>
              </a:lnSpc>
              <a:buNone/>
            </a:pPr>
            <a:r>
              <a:rPr lang="en-US" sz="975" dirty="0">
                <a:solidFill>
                  <a:srgbClr val="8C948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蔬菜, 生菜, 菜花儿 all share 菜 — just like 球 built the Unit 3 sports words</a:t>
            </a:r>
            <a:endParaRPr lang="en-US" sz="975" dirty="0"/>
          </a:p>
        </p:txBody>
      </p:sp>
      <p:sp>
        <p:nvSpPr>
          <p:cNvPr id="108" name="Text 106"/>
          <p:cNvSpPr/>
          <p:nvPr/>
        </p:nvSpPr>
        <p:spPr>
          <a:xfrm>
            <a:off x="6426101" y="5553075"/>
            <a:ext cx="5435650" cy="611386"/>
          </a:xfrm>
          <a:prstGeom prst="roundRect">
            <a:avLst>
              <a:gd name="adj" fmla="val 18695"/>
            </a:avLst>
          </a:prstGeom>
          <a:solidFill>
            <a:srgbClr val="E08A3C">
              <a:alpha val="12000"/>
            </a:srgbClr>
          </a:solidFill>
          <a:ln w="19050">
            <a:solidFill>
              <a:srgbClr val="E08A3C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9" name="Text 107"/>
          <p:cNvSpPr/>
          <p:nvPr/>
        </p:nvSpPr>
        <p:spPr>
          <a:xfrm>
            <a:off x="6616601" y="5676900"/>
            <a:ext cx="213741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24321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🍎</a:t>
            </a:r>
            <a:endParaRPr lang="en-US" sz="1500" dirty="0"/>
          </a:p>
        </p:txBody>
      </p:sp>
      <p:sp>
        <p:nvSpPr>
          <p:cNvPr id="110" name="Text 108"/>
          <p:cNvSpPr/>
          <p:nvPr/>
        </p:nvSpPr>
        <p:spPr>
          <a:xfrm>
            <a:off x="6921401" y="5667375"/>
            <a:ext cx="2196614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E08A3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果 is the fruit building block</a:t>
            </a:r>
            <a:endParaRPr lang="en-US" sz="1200" dirty="0"/>
          </a:p>
        </p:txBody>
      </p:sp>
      <p:sp>
        <p:nvSpPr>
          <p:cNvPr id="111" name="Text 109"/>
          <p:cNvSpPr/>
          <p:nvPr/>
        </p:nvSpPr>
        <p:spPr>
          <a:xfrm>
            <a:off x="6921401" y="5876925"/>
            <a:ext cx="3749576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5"/>
              </a:lnSpc>
              <a:buNone/>
            </a:pPr>
            <a:r>
              <a:rPr lang="en-US" sz="975" dirty="0">
                <a:solidFill>
                  <a:srgbClr val="8C948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水果 = "water" + 果; 苹果 also contains 果 — spot the pattern</a:t>
            </a:r>
            <a:endParaRPr lang="en-US" sz="975" dirty="0"/>
          </a:p>
        </p:txBody>
      </p:sp>
      <p:sp>
        <p:nvSpPr>
          <p:cNvPr id="112" name="Text 110"/>
          <p:cNvSpPr/>
          <p:nvPr/>
        </p:nvSpPr>
        <p:spPr>
          <a:xfrm>
            <a:off x="11995100" y="5553075"/>
            <a:ext cx="5435650" cy="611386"/>
          </a:xfrm>
          <a:prstGeom prst="roundRect">
            <a:avLst>
              <a:gd name="adj" fmla="val 18695"/>
            </a:avLst>
          </a:prstGeom>
          <a:solidFill>
            <a:srgbClr val="C94F3D">
              <a:alpha val="10000"/>
            </a:srgbClr>
          </a:solidFill>
          <a:ln w="19050">
            <a:solidFill>
              <a:srgbClr val="C94F3D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3" name="Text 111"/>
          <p:cNvSpPr/>
          <p:nvPr/>
        </p:nvSpPr>
        <p:spPr>
          <a:xfrm>
            <a:off x="12185600" y="5676900"/>
            <a:ext cx="213741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24321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⚠️</a:t>
            </a:r>
            <a:endParaRPr lang="en-US" sz="1500" dirty="0"/>
          </a:p>
        </p:txBody>
      </p:sp>
      <p:sp>
        <p:nvSpPr>
          <p:cNvPr id="114" name="Text 112"/>
          <p:cNvSpPr/>
          <p:nvPr/>
        </p:nvSpPr>
        <p:spPr>
          <a:xfrm>
            <a:off x="12490400" y="5667375"/>
            <a:ext cx="2638214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C94F3D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这些 / 那些 / 一些 — don't mix up!</a:t>
            </a:r>
            <a:endParaRPr lang="en-US" sz="1200" dirty="0"/>
          </a:p>
        </p:txBody>
      </p:sp>
      <p:sp>
        <p:nvSpPr>
          <p:cNvPr id="115" name="Text 113"/>
          <p:cNvSpPr/>
          <p:nvPr/>
        </p:nvSpPr>
        <p:spPr>
          <a:xfrm>
            <a:off x="12490400" y="5876925"/>
            <a:ext cx="4357098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5"/>
              </a:lnSpc>
              <a:buNone/>
            </a:pPr>
            <a:r>
              <a:rPr lang="en-US" sz="975" dirty="0">
                <a:solidFill>
                  <a:srgbClr val="8C948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near + plural / far + plural / unspecified amount — three different jobs</a:t>
            </a:r>
            <a:endParaRPr lang="en-US" sz="975" dirty="0"/>
          </a:p>
        </p:txBody>
      </p:sp>
      <p:sp>
        <p:nvSpPr>
          <p:cNvPr id="116" name="Shape 114"/>
          <p:cNvSpPr/>
          <p:nvPr/>
        </p:nvSpPr>
        <p:spPr>
          <a:xfrm>
            <a:off x="0" y="9786938"/>
            <a:ext cx="18288000" cy="0"/>
          </a:xfrm>
          <a:prstGeom prst="line">
            <a:avLst/>
          </a:prstGeom>
          <a:noFill/>
          <a:ln w="9525">
            <a:solidFill>
              <a:srgbClr val="E1DBC0"/>
            </a:solidFill>
            <a:prstDash val="solid"/>
          </a:ln>
        </p:spPr>
      </p:sp>
      <p:sp>
        <p:nvSpPr>
          <p:cNvPr id="117" name="Text 115"/>
          <p:cNvSpPr/>
          <p:nvPr/>
        </p:nvSpPr>
        <p:spPr>
          <a:xfrm>
            <a:off x="762000" y="9958388"/>
            <a:ext cx="3236476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8C948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Y8 Chinese · Unit 4 Vegetables &amp; Fruits 蔬菜、水果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BFA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8288000" cy="771525"/>
          </a:xfrm>
          <a:prstGeom prst="rect">
            <a:avLst/>
          </a:prstGeom>
          <a:solidFill>
            <a:srgbClr val="FBFAF2">
              <a:alpha val="92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0" y="766763"/>
            <a:ext cx="18288000" cy="0"/>
          </a:xfrm>
          <a:prstGeom prst="line">
            <a:avLst/>
          </a:prstGeom>
          <a:noFill/>
          <a:ln w="9525">
            <a:solidFill>
              <a:srgbClr val="E1DBC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62000" y="285750"/>
            <a:ext cx="1817709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5C8A3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L8 · CONSOLIDATION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2934593" y="280988"/>
            <a:ext cx="2479122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25" dirty="0">
                <a:solidFill>
                  <a:srgbClr val="5C665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I Do · 是……的 Possession Review</a:t>
            </a:r>
            <a:endParaRPr lang="en-US" sz="1125" dirty="0"/>
          </a:p>
        </p:txBody>
      </p:sp>
      <p:sp>
        <p:nvSpPr>
          <p:cNvPr id="6" name="Text 4"/>
          <p:cNvSpPr/>
          <p:nvPr/>
        </p:nvSpPr>
        <p:spPr>
          <a:xfrm>
            <a:off x="762000" y="0"/>
            <a:ext cx="16764000" cy="38100"/>
          </a:xfrm>
          <a:prstGeom prst="rect">
            <a:avLst/>
          </a:prstGeom>
          <a:solidFill>
            <a:srgbClr val="5C8A3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1333500" y="1181100"/>
            <a:ext cx="174545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5C8A3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10–20 MIN · I DO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333500" y="1485900"/>
            <a:ext cx="7348561" cy="590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300" b="1" dirty="0">
                <a:solidFill>
                  <a:srgbClr val="24321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关键句型 · 是……的 Possession Review</a:t>
            </a:r>
            <a:endParaRPr lang="en-US" sz="3300" dirty="0"/>
          </a:p>
        </p:txBody>
      </p:sp>
      <p:sp>
        <p:nvSpPr>
          <p:cNvPr id="9" name="Text 7"/>
          <p:cNvSpPr/>
          <p:nvPr/>
        </p:nvSpPr>
        <p:spPr>
          <a:xfrm>
            <a:off x="1333500" y="2133600"/>
            <a:ext cx="5897916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25" dirty="0">
                <a:solidFill>
                  <a:srgbClr val="8C948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Revisits the 是……的 possession pattern with 这些, from Lesson 6</a:t>
            </a:r>
            <a:endParaRPr lang="en-US" sz="1425" dirty="0"/>
          </a:p>
        </p:txBody>
      </p:sp>
      <p:sp>
        <p:nvSpPr>
          <p:cNvPr id="10" name="Text 8"/>
          <p:cNvSpPr/>
          <p:nvPr/>
        </p:nvSpPr>
        <p:spPr>
          <a:xfrm>
            <a:off x="1333500" y="2609850"/>
            <a:ext cx="15621000" cy="1047750"/>
          </a:xfrm>
          <a:prstGeom prst="rect">
            <a:avLst/>
          </a:prstGeom>
          <a:solidFill>
            <a:srgbClr val="E8E2C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Shape 9"/>
          <p:cNvSpPr/>
          <p:nvPr/>
        </p:nvSpPr>
        <p:spPr>
          <a:xfrm>
            <a:off x="1357313" y="2609850"/>
            <a:ext cx="0" cy="1047750"/>
          </a:xfrm>
          <a:prstGeom prst="line">
            <a:avLst/>
          </a:prstGeom>
          <a:noFill/>
          <a:ln w="47625">
            <a:solidFill>
              <a:srgbClr val="5C8A3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609725" y="2762250"/>
            <a:ext cx="9715500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dirty="0">
                <a:solidFill>
                  <a:srgbClr val="24321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这些小说是</a:t>
            </a:r>
            <a:r>
              <a:rPr lang="en-US" sz="2400" b="1" dirty="0">
                <a:solidFill>
                  <a:srgbClr val="5C8A3A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你</a:t>
            </a:r>
            <a:r>
              <a:rPr lang="en-US" sz="2400" dirty="0">
                <a:solidFill>
                  <a:srgbClr val="24321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的吗？不是</a:t>
            </a:r>
            <a:r>
              <a:rPr lang="en-US" sz="2400" b="1" dirty="0">
                <a:solidFill>
                  <a:srgbClr val="5C8A3A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我</a:t>
            </a:r>
            <a:r>
              <a:rPr lang="en-US" sz="2400" dirty="0">
                <a:solidFill>
                  <a:srgbClr val="24321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的。那是谁的？是</a:t>
            </a:r>
            <a:r>
              <a:rPr lang="en-US" sz="2400" b="1" dirty="0">
                <a:solidFill>
                  <a:srgbClr val="5C8A3A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小明</a:t>
            </a:r>
            <a:r>
              <a:rPr lang="en-US" sz="2400" dirty="0">
                <a:solidFill>
                  <a:srgbClr val="24321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的。</a:t>
            </a:r>
            <a:endParaRPr lang="en-US" sz="2400" dirty="0"/>
          </a:p>
        </p:txBody>
      </p:sp>
      <p:sp>
        <p:nvSpPr>
          <p:cNvPr id="13" name="Text 11"/>
          <p:cNvSpPr/>
          <p:nvPr/>
        </p:nvSpPr>
        <p:spPr>
          <a:xfrm>
            <a:off x="1609725" y="3295650"/>
            <a:ext cx="5843873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8C948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Are these novels yours? Not mine. Whose are they, then? They're Xiaoming's.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1333500" y="3867150"/>
            <a:ext cx="1867346" cy="638175"/>
          </a:xfrm>
          <a:prstGeom prst="roundRect">
            <a:avLst>
              <a:gd name="adj" fmla="val 29851"/>
            </a:avLst>
          </a:prstGeom>
          <a:solidFill>
            <a:srgbClr val="E8E2C8"/>
          </a:solidFill>
          <a:ln w="28575">
            <a:solidFill>
              <a:srgbClr val="5C8A3A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1590675" y="4010025"/>
            <a:ext cx="1380056" cy="3524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dirty="0">
                <a:solidFill>
                  <a:srgbClr val="24321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这些/那些 X</a:t>
            </a:r>
            <a:endParaRPr lang="en-US" sz="1950" dirty="0"/>
          </a:p>
        </p:txBody>
      </p:sp>
      <p:sp>
        <p:nvSpPr>
          <p:cNvPr id="16" name="Text 14"/>
          <p:cNvSpPr/>
          <p:nvPr/>
        </p:nvSpPr>
        <p:spPr>
          <a:xfrm>
            <a:off x="3315146" y="4043363"/>
            <a:ext cx="136472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5C8A3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+</a:t>
            </a:r>
            <a:endParaRPr lang="en-US" sz="1650" dirty="0"/>
          </a:p>
        </p:txBody>
      </p:sp>
      <p:sp>
        <p:nvSpPr>
          <p:cNvPr id="17" name="Text 15"/>
          <p:cNvSpPr/>
          <p:nvPr/>
        </p:nvSpPr>
        <p:spPr>
          <a:xfrm>
            <a:off x="3563243" y="3867150"/>
            <a:ext cx="762000" cy="638175"/>
          </a:xfrm>
          <a:prstGeom prst="roundRect">
            <a:avLst>
              <a:gd name="adj" fmla="val 29851"/>
            </a:avLst>
          </a:prstGeom>
          <a:solidFill>
            <a:srgbClr val="E8E2C8"/>
          </a:solidFill>
          <a:ln w="28575">
            <a:solidFill>
              <a:srgbClr val="5C8A3A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3820418" y="4010025"/>
            <a:ext cx="252603" cy="3524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dirty="0">
                <a:solidFill>
                  <a:srgbClr val="24321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是</a:t>
            </a:r>
            <a:endParaRPr lang="en-US" sz="1950" dirty="0"/>
          </a:p>
        </p:txBody>
      </p:sp>
      <p:sp>
        <p:nvSpPr>
          <p:cNvPr id="19" name="Text 17"/>
          <p:cNvSpPr/>
          <p:nvPr/>
        </p:nvSpPr>
        <p:spPr>
          <a:xfrm>
            <a:off x="4439543" y="4043363"/>
            <a:ext cx="136472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5C8A3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+</a:t>
            </a:r>
            <a:endParaRPr lang="en-US" sz="1650" dirty="0"/>
          </a:p>
        </p:txBody>
      </p:sp>
      <p:sp>
        <p:nvSpPr>
          <p:cNvPr id="20" name="Text 18"/>
          <p:cNvSpPr/>
          <p:nvPr/>
        </p:nvSpPr>
        <p:spPr>
          <a:xfrm>
            <a:off x="4687639" y="3867150"/>
            <a:ext cx="1504950" cy="638175"/>
          </a:xfrm>
          <a:prstGeom prst="roundRect">
            <a:avLst>
              <a:gd name="adj" fmla="val 29851"/>
            </a:avLst>
          </a:prstGeom>
          <a:solidFill>
            <a:srgbClr val="E8E2C8"/>
          </a:solidFill>
          <a:ln w="28575">
            <a:solidFill>
              <a:srgbClr val="C94F3D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1" name="Text 19"/>
          <p:cNvSpPr/>
          <p:nvPr/>
        </p:nvSpPr>
        <p:spPr>
          <a:xfrm>
            <a:off x="4944814" y="4010025"/>
            <a:ext cx="1010412" cy="3524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dirty="0">
                <a:solidFill>
                  <a:srgbClr val="C94F3D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谁 / 人名</a:t>
            </a:r>
            <a:endParaRPr lang="en-US" sz="1950" dirty="0"/>
          </a:p>
        </p:txBody>
      </p:sp>
      <p:sp>
        <p:nvSpPr>
          <p:cNvPr id="22" name="Text 20"/>
          <p:cNvSpPr/>
          <p:nvPr/>
        </p:nvSpPr>
        <p:spPr>
          <a:xfrm>
            <a:off x="6306889" y="4043363"/>
            <a:ext cx="136472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5C8A3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+</a:t>
            </a:r>
            <a:endParaRPr lang="en-US" sz="1650" dirty="0"/>
          </a:p>
        </p:txBody>
      </p:sp>
      <p:sp>
        <p:nvSpPr>
          <p:cNvPr id="23" name="Text 21"/>
          <p:cNvSpPr/>
          <p:nvPr/>
        </p:nvSpPr>
        <p:spPr>
          <a:xfrm>
            <a:off x="6554986" y="3867150"/>
            <a:ext cx="762000" cy="638175"/>
          </a:xfrm>
          <a:prstGeom prst="roundRect">
            <a:avLst>
              <a:gd name="adj" fmla="val 29851"/>
            </a:avLst>
          </a:prstGeom>
          <a:solidFill>
            <a:srgbClr val="E8E2C8"/>
          </a:solidFill>
          <a:ln w="28575">
            <a:solidFill>
              <a:srgbClr val="5C8A3A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4" name="Text 22"/>
          <p:cNvSpPr/>
          <p:nvPr/>
        </p:nvSpPr>
        <p:spPr>
          <a:xfrm>
            <a:off x="6812161" y="4010025"/>
            <a:ext cx="252603" cy="3524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dirty="0">
                <a:solidFill>
                  <a:srgbClr val="24321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的</a:t>
            </a:r>
            <a:endParaRPr lang="en-US" sz="1950" dirty="0"/>
          </a:p>
        </p:txBody>
      </p:sp>
      <p:sp>
        <p:nvSpPr>
          <p:cNvPr id="25" name="Text 23"/>
          <p:cNvSpPr/>
          <p:nvPr/>
        </p:nvSpPr>
        <p:spPr>
          <a:xfrm>
            <a:off x="7526536" y="4071938"/>
            <a:ext cx="2814003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75" dirty="0">
                <a:solidFill>
                  <a:srgbClr val="8C948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these/those X + are + [whose] + 的</a:t>
            </a:r>
            <a:endParaRPr lang="en-US" sz="1275" dirty="0"/>
          </a:p>
        </p:txBody>
      </p:sp>
      <p:sp>
        <p:nvSpPr>
          <p:cNvPr id="26" name="Text 24"/>
          <p:cNvSpPr/>
          <p:nvPr/>
        </p:nvSpPr>
        <p:spPr>
          <a:xfrm>
            <a:off x="1333500" y="4733925"/>
            <a:ext cx="15621000" cy="1028700"/>
          </a:xfrm>
          <a:prstGeom prst="roundRect">
            <a:avLst>
              <a:gd name="adj" fmla="val 11111"/>
            </a:avLst>
          </a:prstGeom>
          <a:solidFill>
            <a:srgbClr val="F2EFDE"/>
          </a:solidFill>
          <a:ln w="9525">
            <a:solidFill>
              <a:srgbClr val="E1DBC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7" name="Text 25"/>
          <p:cNvSpPr/>
          <p:nvPr/>
        </p:nvSpPr>
        <p:spPr>
          <a:xfrm>
            <a:off x="1685925" y="5000625"/>
            <a:ext cx="90324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75" b="1" dirty="0">
                <a:solidFill>
                  <a:srgbClr val="5C8A3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A</a:t>
            </a:r>
            <a:endParaRPr lang="en-US" sz="975" dirty="0"/>
          </a:p>
        </p:txBody>
      </p:sp>
      <p:sp>
        <p:nvSpPr>
          <p:cNvPr id="28" name="Text 26"/>
          <p:cNvSpPr/>
          <p:nvPr/>
        </p:nvSpPr>
        <p:spPr>
          <a:xfrm>
            <a:off x="2022128" y="4895850"/>
            <a:ext cx="2098548" cy="3143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rgbClr val="24321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这些</a:t>
            </a:r>
            <a:r>
              <a:rPr lang="en-US" sz="1800" b="1" dirty="0">
                <a:solidFill>
                  <a:srgbClr val="5C8A3A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杂志</a:t>
            </a:r>
            <a:r>
              <a:rPr lang="en-US" sz="1800" dirty="0">
                <a:solidFill>
                  <a:srgbClr val="24321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是你的吗？</a:t>
            </a:r>
            <a:endParaRPr lang="en-US" sz="1800" dirty="0"/>
          </a:p>
        </p:txBody>
      </p:sp>
      <p:sp>
        <p:nvSpPr>
          <p:cNvPr id="29" name="Text 27"/>
          <p:cNvSpPr/>
          <p:nvPr/>
        </p:nvSpPr>
        <p:spPr>
          <a:xfrm>
            <a:off x="4212878" y="4991100"/>
            <a:ext cx="1853232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8C948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Are these magazines yours?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1685925" y="5391150"/>
            <a:ext cx="91235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75" b="1" dirty="0">
                <a:solidFill>
                  <a:srgbClr val="5C8A3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B</a:t>
            </a:r>
            <a:endParaRPr lang="en-US" sz="975" dirty="0"/>
          </a:p>
        </p:txBody>
      </p:sp>
      <p:sp>
        <p:nvSpPr>
          <p:cNvPr id="31" name="Text 29"/>
          <p:cNvSpPr/>
          <p:nvPr/>
        </p:nvSpPr>
        <p:spPr>
          <a:xfrm>
            <a:off x="2023021" y="5286375"/>
            <a:ext cx="1865376" cy="3143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rgbClr val="24321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不是，是</a:t>
            </a:r>
            <a:r>
              <a:rPr lang="en-US" sz="1800" b="1" dirty="0">
                <a:solidFill>
                  <a:srgbClr val="5C8A3A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老师</a:t>
            </a:r>
            <a:r>
              <a:rPr lang="en-US" sz="1800" dirty="0">
                <a:solidFill>
                  <a:srgbClr val="24321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的。</a:t>
            </a:r>
            <a:endParaRPr lang="en-US" sz="1800" dirty="0"/>
          </a:p>
        </p:txBody>
      </p:sp>
      <p:sp>
        <p:nvSpPr>
          <p:cNvPr id="32" name="Text 30"/>
          <p:cNvSpPr/>
          <p:nvPr/>
        </p:nvSpPr>
        <p:spPr>
          <a:xfrm>
            <a:off x="3985171" y="5381625"/>
            <a:ext cx="1664994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8C948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No, they're the teacher's.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1333500" y="5876925"/>
            <a:ext cx="15621000" cy="1028700"/>
          </a:xfrm>
          <a:prstGeom prst="roundRect">
            <a:avLst>
              <a:gd name="adj" fmla="val 11111"/>
            </a:avLst>
          </a:prstGeom>
          <a:solidFill>
            <a:srgbClr val="F2EFDE"/>
          </a:solidFill>
          <a:ln w="9525">
            <a:solidFill>
              <a:srgbClr val="E1DBC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4" name="Text 32"/>
          <p:cNvSpPr/>
          <p:nvPr/>
        </p:nvSpPr>
        <p:spPr>
          <a:xfrm>
            <a:off x="1685925" y="6143625"/>
            <a:ext cx="90324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75" b="1" dirty="0">
                <a:solidFill>
                  <a:srgbClr val="5C8A3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A</a:t>
            </a:r>
            <a:endParaRPr lang="en-US" sz="975" dirty="0"/>
          </a:p>
        </p:txBody>
      </p:sp>
      <p:sp>
        <p:nvSpPr>
          <p:cNvPr id="35" name="Text 33"/>
          <p:cNvSpPr/>
          <p:nvPr/>
        </p:nvSpPr>
        <p:spPr>
          <a:xfrm>
            <a:off x="2022128" y="6038850"/>
            <a:ext cx="2098548" cy="3143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rgbClr val="24321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那些</a:t>
            </a:r>
            <a:r>
              <a:rPr lang="en-US" sz="1800" b="1" dirty="0">
                <a:solidFill>
                  <a:srgbClr val="5C8A3A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画儿</a:t>
            </a:r>
            <a:r>
              <a:rPr lang="en-US" sz="1800" dirty="0">
                <a:solidFill>
                  <a:srgbClr val="24321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是你的吗？</a:t>
            </a:r>
            <a:endParaRPr lang="en-US" sz="1800" dirty="0"/>
          </a:p>
        </p:txBody>
      </p:sp>
      <p:sp>
        <p:nvSpPr>
          <p:cNvPr id="36" name="Text 34"/>
          <p:cNvSpPr/>
          <p:nvPr/>
        </p:nvSpPr>
        <p:spPr>
          <a:xfrm>
            <a:off x="4212878" y="6134100"/>
            <a:ext cx="169156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8C948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Are those pictures yours?</a:t>
            </a:r>
            <a:endParaRPr lang="en-US" sz="1050" dirty="0"/>
          </a:p>
        </p:txBody>
      </p:sp>
      <p:sp>
        <p:nvSpPr>
          <p:cNvPr id="37" name="Text 35"/>
          <p:cNvSpPr/>
          <p:nvPr/>
        </p:nvSpPr>
        <p:spPr>
          <a:xfrm>
            <a:off x="1685925" y="6534150"/>
            <a:ext cx="91235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75" b="1" dirty="0">
                <a:solidFill>
                  <a:srgbClr val="5C8A3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B</a:t>
            </a:r>
            <a:endParaRPr lang="en-US" sz="975" dirty="0"/>
          </a:p>
        </p:txBody>
      </p:sp>
      <p:sp>
        <p:nvSpPr>
          <p:cNvPr id="38" name="Text 36"/>
          <p:cNvSpPr/>
          <p:nvPr/>
        </p:nvSpPr>
        <p:spPr>
          <a:xfrm>
            <a:off x="2023021" y="6429375"/>
            <a:ext cx="1865376" cy="3143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rgbClr val="24321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不是，是</a:t>
            </a:r>
            <a:r>
              <a:rPr lang="en-US" sz="1800" b="1" dirty="0">
                <a:solidFill>
                  <a:srgbClr val="5C8A3A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姐姐</a:t>
            </a:r>
            <a:r>
              <a:rPr lang="en-US" sz="1800" dirty="0">
                <a:solidFill>
                  <a:srgbClr val="24321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的。</a:t>
            </a:r>
            <a:endParaRPr lang="en-US" sz="1800" dirty="0"/>
          </a:p>
        </p:txBody>
      </p:sp>
      <p:sp>
        <p:nvSpPr>
          <p:cNvPr id="39" name="Text 37"/>
          <p:cNvSpPr/>
          <p:nvPr/>
        </p:nvSpPr>
        <p:spPr>
          <a:xfrm>
            <a:off x="3985171" y="6524625"/>
            <a:ext cx="1893308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8C948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No, they're my older sister's.</a:t>
            </a:r>
            <a:endParaRPr lang="en-US" sz="1050" dirty="0"/>
          </a:p>
        </p:txBody>
      </p:sp>
      <p:sp>
        <p:nvSpPr>
          <p:cNvPr id="40" name="Shape 38"/>
          <p:cNvSpPr/>
          <p:nvPr/>
        </p:nvSpPr>
        <p:spPr>
          <a:xfrm>
            <a:off x="0" y="9786938"/>
            <a:ext cx="18288000" cy="0"/>
          </a:xfrm>
          <a:prstGeom prst="line">
            <a:avLst/>
          </a:prstGeom>
          <a:noFill/>
          <a:ln w="9525">
            <a:solidFill>
              <a:srgbClr val="E1DBC0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762000" y="9958388"/>
            <a:ext cx="3236476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8C948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Y8 Chinese · Unit 4 Vegetables &amp; Fruits 蔬菜、水果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BFA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8288000" cy="771525"/>
          </a:xfrm>
          <a:prstGeom prst="rect">
            <a:avLst/>
          </a:prstGeom>
          <a:solidFill>
            <a:srgbClr val="FBFAF2">
              <a:alpha val="92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0" y="766763"/>
            <a:ext cx="18288000" cy="0"/>
          </a:xfrm>
          <a:prstGeom prst="line">
            <a:avLst/>
          </a:prstGeom>
          <a:noFill/>
          <a:ln w="9525">
            <a:solidFill>
              <a:srgbClr val="E1DBC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62000" y="285750"/>
            <a:ext cx="1817709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5C8A3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L8 · CONSOLIDATION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2934593" y="280988"/>
            <a:ext cx="1715848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25" dirty="0">
                <a:solidFill>
                  <a:srgbClr val="5C665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I Do · CFU Checkpoints</a:t>
            </a:r>
            <a:endParaRPr lang="en-US" sz="1125" dirty="0"/>
          </a:p>
        </p:txBody>
      </p:sp>
      <p:sp>
        <p:nvSpPr>
          <p:cNvPr id="6" name="Text 4"/>
          <p:cNvSpPr/>
          <p:nvPr/>
        </p:nvSpPr>
        <p:spPr>
          <a:xfrm>
            <a:off x="762000" y="0"/>
            <a:ext cx="16764000" cy="38100"/>
          </a:xfrm>
          <a:prstGeom prst="rect">
            <a:avLst/>
          </a:prstGeom>
          <a:solidFill>
            <a:srgbClr val="5C8A3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1333500" y="2543175"/>
            <a:ext cx="3615988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5C8A3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I DO · CHECK FOR UNDERSTANDING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333500" y="2867025"/>
            <a:ext cx="3616139" cy="666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750" b="1" dirty="0">
                <a:solidFill>
                  <a:srgbClr val="24321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理解检查 · CFU</a:t>
            </a:r>
            <a:endParaRPr lang="en-US" sz="3750" dirty="0"/>
          </a:p>
        </p:txBody>
      </p:sp>
      <p:sp>
        <p:nvSpPr>
          <p:cNvPr id="9" name="Text 7"/>
          <p:cNvSpPr/>
          <p:nvPr/>
        </p:nvSpPr>
        <p:spPr>
          <a:xfrm>
            <a:off x="1333500" y="3648075"/>
            <a:ext cx="4387914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8C948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Respond as prompted for each question </a:t>
            </a:r>
            <a:r>
              <a:rPr lang="en-US" sz="975" b="1" dirty="0">
                <a:solidFill>
                  <a:srgbClr val="E08A3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CFU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1333500" y="4257675"/>
            <a:ext cx="15621000" cy="1133475"/>
          </a:xfrm>
          <a:prstGeom prst="roundRect">
            <a:avLst>
              <a:gd name="adj" fmla="val 16807"/>
            </a:avLst>
          </a:prstGeom>
          <a:solidFill>
            <a:srgbClr val="F2EFDE"/>
          </a:solidFill>
          <a:ln w="9525">
            <a:solidFill>
              <a:srgbClr val="E1DBC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1609725" y="4476750"/>
            <a:ext cx="419100" cy="419100"/>
          </a:xfrm>
          <a:prstGeom prst="roundRect">
            <a:avLst>
              <a:gd name="adj" fmla="val 218182"/>
            </a:avLst>
          </a:prstGeom>
          <a:solidFill>
            <a:srgbClr val="5C8A3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1772692" y="4543425"/>
            <a:ext cx="9503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1</a:t>
            </a:r>
            <a:endParaRPr lang="en-US" sz="1650" dirty="0"/>
          </a:p>
        </p:txBody>
      </p:sp>
      <p:sp>
        <p:nvSpPr>
          <p:cNvPr id="13" name="Text 11"/>
          <p:cNvSpPr/>
          <p:nvPr/>
        </p:nvSpPr>
        <p:spPr>
          <a:xfrm>
            <a:off x="2219325" y="4524375"/>
            <a:ext cx="6240235" cy="3143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rgbClr val="24321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Give me a sentence with </a:t>
            </a:r>
            <a:r>
              <a:rPr lang="en-US" sz="2100" b="1" dirty="0">
                <a:solidFill>
                  <a:srgbClr val="5C8A3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应该</a:t>
            </a:r>
            <a:r>
              <a:rPr lang="en-US" sz="1800" dirty="0">
                <a:solidFill>
                  <a:srgbClr val="24321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. </a:t>
            </a:r>
            <a:r>
              <a:rPr lang="en-US" sz="1425" b="1" i="1" dirty="0">
                <a:solidFill>
                  <a:srgbClr val="8C948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Write it on your whiteboard.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2219325" y="4933950"/>
            <a:ext cx="1993651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50" i="1" dirty="0">
                <a:solidFill>
                  <a:srgbClr val="8C948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Answer on next slide →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1333500" y="5600700"/>
            <a:ext cx="15621000" cy="1133475"/>
          </a:xfrm>
          <a:prstGeom prst="roundRect">
            <a:avLst>
              <a:gd name="adj" fmla="val 16807"/>
            </a:avLst>
          </a:prstGeom>
          <a:solidFill>
            <a:srgbClr val="F2EFDE"/>
          </a:solidFill>
          <a:ln w="9525">
            <a:solidFill>
              <a:srgbClr val="E1DBC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1609725" y="5819775"/>
            <a:ext cx="419100" cy="419100"/>
          </a:xfrm>
          <a:prstGeom prst="roundRect">
            <a:avLst>
              <a:gd name="adj" fmla="val 218182"/>
            </a:avLst>
          </a:prstGeom>
          <a:solidFill>
            <a:srgbClr val="5C8A3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1753642" y="5886450"/>
            <a:ext cx="133892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2</a:t>
            </a:r>
            <a:endParaRPr lang="en-US" sz="1650" dirty="0"/>
          </a:p>
        </p:txBody>
      </p:sp>
      <p:sp>
        <p:nvSpPr>
          <p:cNvPr id="18" name="Text 16"/>
          <p:cNvSpPr/>
          <p:nvPr/>
        </p:nvSpPr>
        <p:spPr>
          <a:xfrm>
            <a:off x="2219325" y="5867400"/>
            <a:ext cx="6240235" cy="3143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rgbClr val="24321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Give me a sentence with </a:t>
            </a:r>
            <a:r>
              <a:rPr lang="en-US" sz="2100" b="1" dirty="0">
                <a:solidFill>
                  <a:srgbClr val="5C8A3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可是</a:t>
            </a:r>
            <a:r>
              <a:rPr lang="en-US" sz="1800" dirty="0">
                <a:solidFill>
                  <a:srgbClr val="24321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. </a:t>
            </a:r>
            <a:r>
              <a:rPr lang="en-US" sz="1425" b="1" i="1" dirty="0">
                <a:solidFill>
                  <a:srgbClr val="8C948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Write it on your whiteboard.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2219325" y="6276975"/>
            <a:ext cx="1993651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50" i="1" dirty="0">
                <a:solidFill>
                  <a:srgbClr val="8C948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Answer on next slide →</a:t>
            </a:r>
            <a:endParaRPr lang="en-US" sz="1350" dirty="0"/>
          </a:p>
        </p:txBody>
      </p:sp>
      <p:sp>
        <p:nvSpPr>
          <p:cNvPr id="20" name="Text 18"/>
          <p:cNvSpPr/>
          <p:nvPr/>
        </p:nvSpPr>
        <p:spPr>
          <a:xfrm>
            <a:off x="1333500" y="6943725"/>
            <a:ext cx="15621000" cy="1066800"/>
          </a:xfrm>
          <a:prstGeom prst="roundRect">
            <a:avLst>
              <a:gd name="adj" fmla="val 17857"/>
            </a:avLst>
          </a:prstGeom>
          <a:solidFill>
            <a:srgbClr val="F2EFDE"/>
          </a:solidFill>
          <a:ln w="9525">
            <a:solidFill>
              <a:srgbClr val="E1DBC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1" name="Text 19"/>
          <p:cNvSpPr/>
          <p:nvPr/>
        </p:nvSpPr>
        <p:spPr>
          <a:xfrm>
            <a:off x="1609725" y="7162800"/>
            <a:ext cx="419100" cy="419100"/>
          </a:xfrm>
          <a:prstGeom prst="roundRect">
            <a:avLst>
              <a:gd name="adj" fmla="val 218182"/>
            </a:avLst>
          </a:prstGeom>
          <a:solidFill>
            <a:srgbClr val="5C8A3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2" name="Text 20"/>
          <p:cNvSpPr/>
          <p:nvPr/>
        </p:nvSpPr>
        <p:spPr>
          <a:xfrm>
            <a:off x="1753046" y="7229475"/>
            <a:ext cx="134954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3</a:t>
            </a:r>
            <a:endParaRPr lang="en-US" sz="1650" dirty="0"/>
          </a:p>
        </p:txBody>
      </p:sp>
      <p:sp>
        <p:nvSpPr>
          <p:cNvPr id="23" name="Text 21"/>
          <p:cNvSpPr/>
          <p:nvPr/>
        </p:nvSpPr>
        <p:spPr>
          <a:xfrm>
            <a:off x="2219325" y="7162800"/>
            <a:ext cx="7559266" cy="3143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rgbClr val="24321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How do you say </a:t>
            </a:r>
            <a:r>
              <a:rPr lang="en-US" sz="1800" b="1" dirty="0">
                <a:solidFill>
                  <a:srgbClr val="24321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"whose is this?"</a:t>
            </a:r>
            <a:r>
              <a:rPr lang="en-US" sz="1800" dirty="0">
                <a:solidFill>
                  <a:srgbClr val="24321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in Chinese? </a:t>
            </a:r>
            <a:r>
              <a:rPr lang="en-US" sz="1425" b="1" i="1" dirty="0">
                <a:solidFill>
                  <a:srgbClr val="8C948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Thumbs up if you know.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2219325" y="7553325"/>
            <a:ext cx="1993651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50" i="1" dirty="0">
                <a:solidFill>
                  <a:srgbClr val="8C948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Answer on next slide →</a:t>
            </a:r>
            <a:endParaRPr lang="en-US" sz="1350" dirty="0"/>
          </a:p>
        </p:txBody>
      </p:sp>
      <p:sp>
        <p:nvSpPr>
          <p:cNvPr id="25" name="Shape 23"/>
          <p:cNvSpPr/>
          <p:nvPr/>
        </p:nvSpPr>
        <p:spPr>
          <a:xfrm>
            <a:off x="0" y="9786938"/>
            <a:ext cx="18288000" cy="0"/>
          </a:xfrm>
          <a:prstGeom prst="line">
            <a:avLst/>
          </a:prstGeom>
          <a:noFill/>
          <a:ln w="9525">
            <a:solidFill>
              <a:srgbClr val="E1DBC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62000" y="9958388"/>
            <a:ext cx="3236476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8C948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Y8 Chinese · Unit 4 Vegetables &amp; Fruits 蔬菜、水果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BFA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8288000" cy="771525"/>
          </a:xfrm>
          <a:prstGeom prst="rect">
            <a:avLst/>
          </a:prstGeom>
          <a:solidFill>
            <a:srgbClr val="FBFAF2">
              <a:alpha val="92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0" y="766763"/>
            <a:ext cx="18288000" cy="0"/>
          </a:xfrm>
          <a:prstGeom prst="line">
            <a:avLst/>
          </a:prstGeom>
          <a:noFill/>
          <a:ln w="9525">
            <a:solidFill>
              <a:srgbClr val="E1DBC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62000" y="285750"/>
            <a:ext cx="1817709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5C8A3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L8 · CONSOLIDATION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2934593" y="280988"/>
            <a:ext cx="1624917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25" dirty="0">
                <a:solidFill>
                  <a:srgbClr val="5C665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I Do · CFU Answers ↳</a:t>
            </a:r>
            <a:endParaRPr lang="en-US" sz="1125" dirty="0"/>
          </a:p>
        </p:txBody>
      </p:sp>
      <p:sp>
        <p:nvSpPr>
          <p:cNvPr id="6" name="Text 4"/>
          <p:cNvSpPr/>
          <p:nvPr/>
        </p:nvSpPr>
        <p:spPr>
          <a:xfrm>
            <a:off x="762000" y="0"/>
            <a:ext cx="16764000" cy="38100"/>
          </a:xfrm>
          <a:prstGeom prst="rect">
            <a:avLst/>
          </a:prstGeom>
          <a:solidFill>
            <a:srgbClr val="5C8A3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1333500" y="2557463"/>
            <a:ext cx="2758595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5C8A3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I DO · ANSWERS REVEALED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333500" y="2881313"/>
            <a:ext cx="3355794" cy="666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750" b="1" dirty="0">
                <a:solidFill>
                  <a:srgbClr val="24321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答案 · Answers</a:t>
            </a:r>
            <a:endParaRPr lang="en-US" sz="3750" dirty="0"/>
          </a:p>
        </p:txBody>
      </p:sp>
      <p:sp>
        <p:nvSpPr>
          <p:cNvPr id="9" name="Text 7"/>
          <p:cNvSpPr/>
          <p:nvPr/>
        </p:nvSpPr>
        <p:spPr>
          <a:xfrm>
            <a:off x="1333500" y="3852863"/>
            <a:ext cx="15621000" cy="1266825"/>
          </a:xfrm>
          <a:prstGeom prst="roundRect">
            <a:avLst>
              <a:gd name="adj" fmla="val 15038"/>
            </a:avLst>
          </a:prstGeom>
          <a:solidFill>
            <a:srgbClr val="F2EFDE"/>
          </a:solidFill>
          <a:ln w="9525">
            <a:solidFill>
              <a:srgbClr val="E1DBC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1609725" y="4033837"/>
            <a:ext cx="419100" cy="419100"/>
          </a:xfrm>
          <a:prstGeom prst="roundRect">
            <a:avLst>
              <a:gd name="adj" fmla="val 218182"/>
            </a:avLst>
          </a:prstGeom>
          <a:solidFill>
            <a:srgbClr val="5C8A3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1772692" y="4100513"/>
            <a:ext cx="9503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1</a:t>
            </a:r>
            <a:endParaRPr lang="en-US" sz="1650" dirty="0"/>
          </a:p>
        </p:txBody>
      </p:sp>
      <p:sp>
        <p:nvSpPr>
          <p:cNvPr id="12" name="Text 10"/>
          <p:cNvSpPr/>
          <p:nvPr/>
        </p:nvSpPr>
        <p:spPr>
          <a:xfrm>
            <a:off x="2219325" y="4033837"/>
            <a:ext cx="2832524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8C948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Give me a sentence with 应该.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2219325" y="4376738"/>
            <a:ext cx="2098548" cy="3143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5C8A3A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你应该每天吃蔬菜。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2219325" y="4729163"/>
            <a:ext cx="8217491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C665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nǐ yīnggāi měitiān chī shūcài — "you should eat vegetables every day." (any correct 应该 sentence accepted)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1333500" y="5291138"/>
            <a:ext cx="15621000" cy="1266825"/>
          </a:xfrm>
          <a:prstGeom prst="roundRect">
            <a:avLst>
              <a:gd name="adj" fmla="val 15038"/>
            </a:avLst>
          </a:prstGeom>
          <a:solidFill>
            <a:srgbClr val="F2EFDE"/>
          </a:solidFill>
          <a:ln w="9525">
            <a:solidFill>
              <a:srgbClr val="E1DBC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1609725" y="5472113"/>
            <a:ext cx="419100" cy="419100"/>
          </a:xfrm>
          <a:prstGeom prst="roundRect">
            <a:avLst>
              <a:gd name="adj" fmla="val 218182"/>
            </a:avLst>
          </a:prstGeom>
          <a:solidFill>
            <a:srgbClr val="5C8A3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1753642" y="5538788"/>
            <a:ext cx="133892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2</a:t>
            </a:r>
            <a:endParaRPr lang="en-US" sz="1650" dirty="0"/>
          </a:p>
        </p:txBody>
      </p:sp>
      <p:sp>
        <p:nvSpPr>
          <p:cNvPr id="18" name="Text 16"/>
          <p:cNvSpPr/>
          <p:nvPr/>
        </p:nvSpPr>
        <p:spPr>
          <a:xfrm>
            <a:off x="2219325" y="5472113"/>
            <a:ext cx="2832524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8C948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Give me a sentence with 可是.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2219325" y="5815013"/>
            <a:ext cx="3730752" cy="3143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5C8A3A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我不太喜欢吃青菜，可是我应该吃。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2219325" y="6167438"/>
            <a:ext cx="11127891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C665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wǒ bú tài xǐhuan chī qīngcài, kěshì wǒ yīnggāi chī — "I don't really like eating greens, but I should eat them." (any correct 可是 sentence accepted)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1333500" y="6729413"/>
            <a:ext cx="15621000" cy="1266825"/>
          </a:xfrm>
          <a:prstGeom prst="roundRect">
            <a:avLst>
              <a:gd name="adj" fmla="val 15038"/>
            </a:avLst>
          </a:prstGeom>
          <a:solidFill>
            <a:srgbClr val="F2EFDE"/>
          </a:solidFill>
          <a:ln w="9525">
            <a:solidFill>
              <a:srgbClr val="E1DBC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2" name="Text 20"/>
          <p:cNvSpPr/>
          <p:nvPr/>
        </p:nvSpPr>
        <p:spPr>
          <a:xfrm>
            <a:off x="1609725" y="6910388"/>
            <a:ext cx="419100" cy="419100"/>
          </a:xfrm>
          <a:prstGeom prst="roundRect">
            <a:avLst>
              <a:gd name="adj" fmla="val 218182"/>
            </a:avLst>
          </a:prstGeom>
          <a:solidFill>
            <a:srgbClr val="5C8A3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3" name="Text 21"/>
          <p:cNvSpPr/>
          <p:nvPr/>
        </p:nvSpPr>
        <p:spPr>
          <a:xfrm>
            <a:off x="1753046" y="6977063"/>
            <a:ext cx="134954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3</a:t>
            </a:r>
            <a:endParaRPr lang="en-US" sz="1650" dirty="0"/>
          </a:p>
        </p:txBody>
      </p:sp>
      <p:sp>
        <p:nvSpPr>
          <p:cNvPr id="24" name="Text 22"/>
          <p:cNvSpPr/>
          <p:nvPr/>
        </p:nvSpPr>
        <p:spPr>
          <a:xfrm>
            <a:off x="2219325" y="6910388"/>
            <a:ext cx="4241878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8C948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How do you say "whose is this?" in Chinese?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2219325" y="7253288"/>
            <a:ext cx="1165860" cy="3143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5C8A3A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这是谁的？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2219325" y="7605713"/>
            <a:ext cx="2601173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C665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zhè shì shéi de — "whose is this?"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0" y="9786938"/>
            <a:ext cx="18288000" cy="0"/>
          </a:xfrm>
          <a:prstGeom prst="line">
            <a:avLst/>
          </a:prstGeom>
          <a:noFill/>
          <a:ln w="9525">
            <a:solidFill>
              <a:srgbClr val="E1DBC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762000" y="9958388"/>
            <a:ext cx="3236476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8C948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Y8 Chinese · Unit 4 Vegetables &amp; Fruits 蔬菜、水果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BFA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8288000" cy="771525"/>
          </a:xfrm>
          <a:prstGeom prst="rect">
            <a:avLst/>
          </a:prstGeom>
          <a:solidFill>
            <a:srgbClr val="FBFAF2">
              <a:alpha val="92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0" y="766763"/>
            <a:ext cx="18288000" cy="0"/>
          </a:xfrm>
          <a:prstGeom prst="line">
            <a:avLst/>
          </a:prstGeom>
          <a:noFill/>
          <a:ln w="9525">
            <a:solidFill>
              <a:srgbClr val="E1DBC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62000" y="285750"/>
            <a:ext cx="1817709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5C8A3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L8 · CONSOLIDATION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2934593" y="280988"/>
            <a:ext cx="1302788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25" dirty="0">
                <a:solidFill>
                  <a:srgbClr val="5C665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Activity 1 · We Do</a:t>
            </a:r>
            <a:endParaRPr lang="en-US" sz="1125" dirty="0"/>
          </a:p>
        </p:txBody>
      </p:sp>
      <p:sp>
        <p:nvSpPr>
          <p:cNvPr id="6" name="Text 4"/>
          <p:cNvSpPr/>
          <p:nvPr/>
        </p:nvSpPr>
        <p:spPr>
          <a:xfrm>
            <a:off x="762000" y="0"/>
            <a:ext cx="16764000" cy="38100"/>
          </a:xfrm>
          <a:prstGeom prst="rect">
            <a:avLst/>
          </a:prstGeom>
          <a:solidFill>
            <a:srgbClr val="5C8A3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952500" y="1166813"/>
            <a:ext cx="1259681" cy="304800"/>
          </a:xfrm>
          <a:prstGeom prst="roundRect">
            <a:avLst>
              <a:gd name="adj" fmla="val 3121875"/>
            </a:avLst>
          </a:prstGeom>
          <a:solidFill>
            <a:srgbClr val="E08A3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1143000" y="1223963"/>
            <a:ext cx="89625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ACTIVITY 1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2364581" y="1066800"/>
            <a:ext cx="7378619" cy="504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50" b="1" dirty="0">
                <a:solidFill>
                  <a:srgbClr val="24321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这是谁的？· Whose Is This? Partner Dialogues</a:t>
            </a:r>
            <a:endParaRPr lang="en-US" sz="2850" dirty="0"/>
          </a:p>
        </p:txBody>
      </p:sp>
      <p:sp>
        <p:nvSpPr>
          <p:cNvPr id="10" name="Text 8"/>
          <p:cNvSpPr/>
          <p:nvPr/>
        </p:nvSpPr>
        <p:spPr>
          <a:xfrm>
            <a:off x="952500" y="1628775"/>
            <a:ext cx="881211" cy="323850"/>
          </a:xfrm>
          <a:prstGeom prst="roundRect">
            <a:avLst>
              <a:gd name="adj" fmla="val 2938235"/>
            </a:avLst>
          </a:prstGeom>
          <a:solidFill>
            <a:srgbClr val="5C8A3A">
              <a:alpha val="12000"/>
            </a:srgbClr>
          </a:solidFill>
          <a:ln w="9525">
            <a:solidFill>
              <a:srgbClr val="5C8A3A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1114425" y="1685925"/>
            <a:ext cx="568509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25" b="1" dirty="0">
                <a:solidFill>
                  <a:srgbClr val="5C8A3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⏱ 7 min</a:t>
            </a:r>
            <a:endParaRPr lang="en-US" sz="1125" dirty="0"/>
          </a:p>
        </p:txBody>
      </p:sp>
      <p:sp>
        <p:nvSpPr>
          <p:cNvPr id="12" name="Text 10"/>
          <p:cNvSpPr/>
          <p:nvPr/>
        </p:nvSpPr>
        <p:spPr>
          <a:xfrm>
            <a:off x="1948011" y="1657350"/>
            <a:ext cx="757089" cy="266700"/>
          </a:xfrm>
          <a:prstGeom prst="roundRect">
            <a:avLst>
              <a:gd name="adj" fmla="val 3567857"/>
            </a:avLst>
          </a:prstGeom>
          <a:solidFill>
            <a:srgbClr val="E08A3C">
              <a:alpha val="12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2081361" y="1704975"/>
            <a:ext cx="500196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75" b="1" dirty="0">
                <a:solidFill>
                  <a:srgbClr val="E08A3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WE DO</a:t>
            </a:r>
            <a:endParaRPr lang="en-US" sz="975" dirty="0"/>
          </a:p>
        </p:txBody>
      </p:sp>
      <p:sp>
        <p:nvSpPr>
          <p:cNvPr id="14" name="Text 12"/>
          <p:cNvSpPr/>
          <p:nvPr/>
        </p:nvSpPr>
        <p:spPr>
          <a:xfrm>
            <a:off x="952500" y="2105025"/>
            <a:ext cx="4248150" cy="3886200"/>
          </a:xfrm>
          <a:prstGeom prst="roundRect">
            <a:avLst>
              <a:gd name="adj" fmla="val 4902"/>
            </a:avLst>
          </a:prstGeom>
          <a:noFill/>
          <a:ln w="28575">
            <a:solidFill>
              <a:srgbClr val="E08A3C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981075" y="2133600"/>
            <a:ext cx="4191000" cy="361950"/>
          </a:xfrm>
          <a:prstGeom prst="rect">
            <a:avLst/>
          </a:prstGeom>
          <a:solidFill>
            <a:srgbClr val="E08A3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1650977" y="2209800"/>
            <a:ext cx="2851196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WORD BANK · TEXTBOOK ACT.16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981075" y="2495550"/>
            <a:ext cx="2095500" cy="866775"/>
          </a:xfrm>
          <a:prstGeom prst="rect">
            <a:avLst/>
          </a:prstGeom>
          <a:solidFill>
            <a:srgbClr val="FBFAF2"/>
          </a:solidFill>
          <a:ln w="9525">
            <a:solidFill>
              <a:srgbClr val="CFC7A6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1795653" y="2600325"/>
            <a:ext cx="466344" cy="3143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4321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小说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1782903" y="2933700"/>
            <a:ext cx="491695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E08A3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xiǎoshuō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1881574" y="3095625"/>
            <a:ext cx="294501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8C948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novel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3076575" y="2495550"/>
            <a:ext cx="2095500" cy="866775"/>
          </a:xfrm>
          <a:prstGeom prst="rect">
            <a:avLst/>
          </a:prstGeom>
          <a:solidFill>
            <a:srgbClr val="FBFAF2"/>
          </a:solidFill>
          <a:ln w="9525">
            <a:solidFill>
              <a:srgbClr val="CFC7A6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2" name="Text 20"/>
          <p:cNvSpPr/>
          <p:nvPr/>
        </p:nvSpPr>
        <p:spPr>
          <a:xfrm>
            <a:off x="3891153" y="2600325"/>
            <a:ext cx="466344" cy="3143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4321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杂志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3982539" y="2933700"/>
            <a:ext cx="283571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E08A3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zázhì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3856239" y="3095625"/>
            <a:ext cx="536022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8C948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magazine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981075" y="3362325"/>
            <a:ext cx="2095500" cy="866775"/>
          </a:xfrm>
          <a:prstGeom prst="rect">
            <a:avLst/>
          </a:prstGeom>
          <a:solidFill>
            <a:srgbClr val="FBFAF2"/>
          </a:solidFill>
          <a:ln w="9525">
            <a:solidFill>
              <a:srgbClr val="CFC7A6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6" name="Text 24"/>
          <p:cNvSpPr/>
          <p:nvPr/>
        </p:nvSpPr>
        <p:spPr>
          <a:xfrm>
            <a:off x="1679067" y="3467100"/>
            <a:ext cx="699516" cy="3143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4321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小人书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1727950" y="3800475"/>
            <a:ext cx="601602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E08A3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xiǎorénshū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1672995" y="3962400"/>
            <a:ext cx="711660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8C948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picture book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3076575" y="3362325"/>
            <a:ext cx="2095500" cy="866775"/>
          </a:xfrm>
          <a:prstGeom prst="rect">
            <a:avLst/>
          </a:prstGeom>
          <a:solidFill>
            <a:srgbClr val="FBFAF2"/>
          </a:solidFill>
          <a:ln w="9525">
            <a:solidFill>
              <a:srgbClr val="CFC7A6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0" name="Text 28"/>
          <p:cNvSpPr/>
          <p:nvPr/>
        </p:nvSpPr>
        <p:spPr>
          <a:xfrm>
            <a:off x="3891153" y="3467100"/>
            <a:ext cx="466344" cy="3143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4321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画儿</a:t>
            </a:r>
            <a:endParaRPr lang="en-US" sz="1800" dirty="0"/>
          </a:p>
        </p:txBody>
      </p:sp>
      <p:sp>
        <p:nvSpPr>
          <p:cNvPr id="31" name="Text 29"/>
          <p:cNvSpPr/>
          <p:nvPr/>
        </p:nvSpPr>
        <p:spPr>
          <a:xfrm>
            <a:off x="4001667" y="3800475"/>
            <a:ext cx="245316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E08A3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huàr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3927436" y="3962400"/>
            <a:ext cx="393630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8C948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picture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981075" y="4229100"/>
            <a:ext cx="2095500" cy="866775"/>
          </a:xfrm>
          <a:prstGeom prst="rect">
            <a:avLst/>
          </a:prstGeom>
          <a:solidFill>
            <a:srgbClr val="FBFAF2"/>
          </a:solidFill>
          <a:ln w="9525">
            <a:solidFill>
              <a:srgbClr val="CFC7A6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4" name="Text 32"/>
          <p:cNvSpPr/>
          <p:nvPr/>
        </p:nvSpPr>
        <p:spPr>
          <a:xfrm>
            <a:off x="1795653" y="4333875"/>
            <a:ext cx="466344" cy="3143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4321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网球</a:t>
            </a:r>
            <a:endParaRPr lang="en-US" sz="1800" dirty="0"/>
          </a:p>
        </p:txBody>
      </p:sp>
      <p:sp>
        <p:nvSpPr>
          <p:cNvPr id="35" name="Text 33"/>
          <p:cNvSpPr/>
          <p:nvPr/>
        </p:nvSpPr>
        <p:spPr>
          <a:xfrm>
            <a:off x="1797475" y="4667250"/>
            <a:ext cx="462701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E08A3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wǎngqiú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1858502" y="4829175"/>
            <a:ext cx="340498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8C948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tennis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3076575" y="4229100"/>
            <a:ext cx="2095500" cy="866775"/>
          </a:xfrm>
          <a:prstGeom prst="rect">
            <a:avLst/>
          </a:prstGeom>
          <a:solidFill>
            <a:srgbClr val="FBFAF2"/>
          </a:solidFill>
          <a:ln w="9525">
            <a:solidFill>
              <a:srgbClr val="CFC7A6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8" name="Text 36"/>
          <p:cNvSpPr/>
          <p:nvPr/>
        </p:nvSpPr>
        <p:spPr>
          <a:xfrm>
            <a:off x="3891153" y="4333875"/>
            <a:ext cx="466344" cy="3143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4321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短裤</a:t>
            </a:r>
            <a:endParaRPr lang="en-US" sz="1800" dirty="0"/>
          </a:p>
        </p:txBody>
      </p:sp>
      <p:sp>
        <p:nvSpPr>
          <p:cNvPr id="39" name="Text 37"/>
          <p:cNvSpPr/>
          <p:nvPr/>
        </p:nvSpPr>
        <p:spPr>
          <a:xfrm>
            <a:off x="3924096" y="4667250"/>
            <a:ext cx="400309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E08A3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duǎnkù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3949144" y="4829175"/>
            <a:ext cx="350213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8C948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shorts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981075" y="5095875"/>
            <a:ext cx="2095500" cy="866775"/>
          </a:xfrm>
          <a:prstGeom prst="rect">
            <a:avLst/>
          </a:prstGeom>
          <a:solidFill>
            <a:srgbClr val="FBFAF2"/>
          </a:solidFill>
          <a:ln w="9525">
            <a:solidFill>
              <a:srgbClr val="CFC7A6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2" name="Text 40"/>
          <p:cNvSpPr/>
          <p:nvPr/>
        </p:nvSpPr>
        <p:spPr>
          <a:xfrm>
            <a:off x="1795653" y="5200650"/>
            <a:ext cx="466344" cy="3143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4321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汗衫</a:t>
            </a:r>
            <a:endParaRPr lang="en-US" sz="1800" dirty="0"/>
          </a:p>
        </p:txBody>
      </p:sp>
      <p:sp>
        <p:nvSpPr>
          <p:cNvPr id="43" name="Text 41"/>
          <p:cNvSpPr/>
          <p:nvPr/>
        </p:nvSpPr>
        <p:spPr>
          <a:xfrm>
            <a:off x="1798082" y="5534025"/>
            <a:ext cx="461486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E08A3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hànshān</a:t>
            </a:r>
            <a:endParaRPr lang="en-US" sz="900" dirty="0"/>
          </a:p>
        </p:txBody>
      </p:sp>
      <p:sp>
        <p:nvSpPr>
          <p:cNvPr id="44" name="Text 42"/>
          <p:cNvSpPr/>
          <p:nvPr/>
        </p:nvSpPr>
        <p:spPr>
          <a:xfrm>
            <a:off x="1744343" y="5695950"/>
            <a:ext cx="568964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8C948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undershirt</a:t>
            </a:r>
            <a:endParaRPr lang="en-US" sz="900" dirty="0"/>
          </a:p>
        </p:txBody>
      </p:sp>
      <p:sp>
        <p:nvSpPr>
          <p:cNvPr id="45" name="Text 43"/>
          <p:cNvSpPr/>
          <p:nvPr/>
        </p:nvSpPr>
        <p:spPr>
          <a:xfrm>
            <a:off x="3076575" y="5095875"/>
            <a:ext cx="2095500" cy="866775"/>
          </a:xfrm>
          <a:prstGeom prst="rect">
            <a:avLst/>
          </a:prstGeom>
          <a:solidFill>
            <a:srgbClr val="FBFAF2"/>
          </a:solidFill>
          <a:ln w="9525">
            <a:solidFill>
              <a:srgbClr val="CFC7A6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6" name="Text 44"/>
          <p:cNvSpPr/>
          <p:nvPr/>
        </p:nvSpPr>
        <p:spPr>
          <a:xfrm>
            <a:off x="3891153" y="5200650"/>
            <a:ext cx="466344" cy="3143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4321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衣服</a:t>
            </a:r>
            <a:endParaRPr lang="en-US" sz="1800" dirty="0"/>
          </a:p>
        </p:txBody>
      </p:sp>
      <p:sp>
        <p:nvSpPr>
          <p:cNvPr id="47" name="Text 45"/>
          <p:cNvSpPr/>
          <p:nvPr/>
        </p:nvSpPr>
        <p:spPr>
          <a:xfrm>
            <a:off x="4014418" y="5534025"/>
            <a:ext cx="219813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E08A3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yīfu</a:t>
            </a:r>
            <a:endParaRPr lang="en-US" sz="900" dirty="0"/>
          </a:p>
        </p:txBody>
      </p:sp>
      <p:sp>
        <p:nvSpPr>
          <p:cNvPr id="48" name="Text 46"/>
          <p:cNvSpPr/>
          <p:nvPr/>
        </p:nvSpPr>
        <p:spPr>
          <a:xfrm>
            <a:off x="3920755" y="5695950"/>
            <a:ext cx="407140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8C948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clothes</a:t>
            </a:r>
            <a:endParaRPr lang="en-US" sz="900" dirty="0"/>
          </a:p>
        </p:txBody>
      </p:sp>
      <p:sp>
        <p:nvSpPr>
          <p:cNvPr id="49" name="Text 47"/>
          <p:cNvSpPr/>
          <p:nvPr/>
        </p:nvSpPr>
        <p:spPr>
          <a:xfrm>
            <a:off x="5505450" y="2105025"/>
            <a:ext cx="11830050" cy="1838325"/>
          </a:xfrm>
          <a:prstGeom prst="rect">
            <a:avLst/>
          </a:prstGeom>
          <a:solidFill>
            <a:srgbClr val="E8E2C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0" name="Shape 48"/>
          <p:cNvSpPr/>
          <p:nvPr/>
        </p:nvSpPr>
        <p:spPr>
          <a:xfrm>
            <a:off x="5529263" y="2105025"/>
            <a:ext cx="0" cy="1838325"/>
          </a:xfrm>
          <a:prstGeom prst="line">
            <a:avLst/>
          </a:prstGeom>
          <a:noFill/>
          <a:ln w="47625">
            <a:solidFill>
              <a:srgbClr val="5C8A3A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5762625" y="2257425"/>
            <a:ext cx="3350937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5C8A3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MODEL DIALOGUE — DISPLAYED THROUGHOUT</a:t>
            </a:r>
            <a:endParaRPr lang="en-US" sz="900" dirty="0"/>
          </a:p>
        </p:txBody>
      </p:sp>
      <p:sp>
        <p:nvSpPr>
          <p:cNvPr id="52" name="Text 50"/>
          <p:cNvSpPr/>
          <p:nvPr/>
        </p:nvSpPr>
        <p:spPr>
          <a:xfrm>
            <a:off x="5857875" y="2581275"/>
            <a:ext cx="90324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75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A</a:t>
            </a:r>
            <a:endParaRPr lang="en-US" sz="975" dirty="0"/>
          </a:p>
        </p:txBody>
      </p:sp>
      <p:sp>
        <p:nvSpPr>
          <p:cNvPr id="53" name="Text 51"/>
          <p:cNvSpPr/>
          <p:nvPr/>
        </p:nvSpPr>
        <p:spPr>
          <a:xfrm>
            <a:off x="6155978" y="2495550"/>
            <a:ext cx="427482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24321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这些</a:t>
            </a:r>
            <a:endParaRPr lang="en-US" sz="1650" dirty="0"/>
          </a:p>
        </p:txBody>
      </p:sp>
      <p:sp>
        <p:nvSpPr>
          <p:cNvPr id="54" name="Text 52"/>
          <p:cNvSpPr/>
          <p:nvPr/>
        </p:nvSpPr>
        <p:spPr>
          <a:xfrm>
            <a:off x="6689378" y="2495550"/>
            <a:ext cx="325166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E08A3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___</a:t>
            </a:r>
            <a:endParaRPr lang="en-US" sz="1650" dirty="0"/>
          </a:p>
        </p:txBody>
      </p:sp>
      <p:sp>
        <p:nvSpPr>
          <p:cNvPr id="55" name="Text 53"/>
          <p:cNvSpPr/>
          <p:nvPr/>
        </p:nvSpPr>
        <p:spPr>
          <a:xfrm>
            <a:off x="7122468" y="2495550"/>
            <a:ext cx="1068705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24321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是你的吗？</a:t>
            </a:r>
            <a:endParaRPr lang="en-US" sz="1650" dirty="0"/>
          </a:p>
        </p:txBody>
      </p:sp>
      <p:sp>
        <p:nvSpPr>
          <p:cNvPr id="56" name="Text 54"/>
          <p:cNvSpPr/>
          <p:nvPr/>
        </p:nvSpPr>
        <p:spPr>
          <a:xfrm>
            <a:off x="5857875" y="2905125"/>
            <a:ext cx="91235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75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B</a:t>
            </a:r>
            <a:endParaRPr lang="en-US" sz="975" dirty="0"/>
          </a:p>
        </p:txBody>
      </p:sp>
      <p:sp>
        <p:nvSpPr>
          <p:cNvPr id="57" name="Text 55"/>
          <p:cNvSpPr/>
          <p:nvPr/>
        </p:nvSpPr>
        <p:spPr>
          <a:xfrm>
            <a:off x="6156871" y="2819400"/>
            <a:ext cx="1068705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24321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不是我的。</a:t>
            </a:r>
            <a:endParaRPr lang="en-US" sz="1650" dirty="0"/>
          </a:p>
        </p:txBody>
      </p:sp>
      <p:sp>
        <p:nvSpPr>
          <p:cNvPr id="58" name="Text 56"/>
          <p:cNvSpPr/>
          <p:nvPr/>
        </p:nvSpPr>
        <p:spPr>
          <a:xfrm>
            <a:off x="5857875" y="3228975"/>
            <a:ext cx="90324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75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A</a:t>
            </a:r>
            <a:endParaRPr lang="en-US" sz="975" dirty="0"/>
          </a:p>
        </p:txBody>
      </p:sp>
      <p:sp>
        <p:nvSpPr>
          <p:cNvPr id="59" name="Text 57"/>
          <p:cNvSpPr/>
          <p:nvPr/>
        </p:nvSpPr>
        <p:spPr>
          <a:xfrm>
            <a:off x="6155978" y="3143250"/>
            <a:ext cx="1068705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24321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那是谁的？</a:t>
            </a:r>
            <a:endParaRPr lang="en-US" sz="1650" dirty="0"/>
          </a:p>
        </p:txBody>
      </p:sp>
      <p:sp>
        <p:nvSpPr>
          <p:cNvPr id="60" name="Text 58"/>
          <p:cNvSpPr/>
          <p:nvPr/>
        </p:nvSpPr>
        <p:spPr>
          <a:xfrm>
            <a:off x="5857875" y="3552825"/>
            <a:ext cx="91235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75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B</a:t>
            </a:r>
            <a:endParaRPr lang="en-US" sz="975" dirty="0"/>
          </a:p>
        </p:txBody>
      </p:sp>
      <p:sp>
        <p:nvSpPr>
          <p:cNvPr id="61" name="Text 59"/>
          <p:cNvSpPr/>
          <p:nvPr/>
        </p:nvSpPr>
        <p:spPr>
          <a:xfrm>
            <a:off x="6156871" y="3467100"/>
            <a:ext cx="213741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24321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是</a:t>
            </a:r>
            <a:endParaRPr lang="en-US" sz="1650" dirty="0"/>
          </a:p>
        </p:txBody>
      </p:sp>
      <p:sp>
        <p:nvSpPr>
          <p:cNvPr id="62" name="Text 60"/>
          <p:cNvSpPr/>
          <p:nvPr/>
        </p:nvSpPr>
        <p:spPr>
          <a:xfrm>
            <a:off x="6480721" y="3467100"/>
            <a:ext cx="325166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E08A3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___</a:t>
            </a:r>
            <a:endParaRPr lang="en-US" sz="1650" dirty="0"/>
          </a:p>
        </p:txBody>
      </p:sp>
      <p:sp>
        <p:nvSpPr>
          <p:cNvPr id="63" name="Text 61"/>
          <p:cNvSpPr/>
          <p:nvPr/>
        </p:nvSpPr>
        <p:spPr>
          <a:xfrm>
            <a:off x="6913811" y="3467100"/>
            <a:ext cx="427482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24321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的。</a:t>
            </a:r>
            <a:endParaRPr lang="en-US" sz="1650" dirty="0"/>
          </a:p>
        </p:txBody>
      </p:sp>
      <p:sp>
        <p:nvSpPr>
          <p:cNvPr id="64" name="Text 62"/>
          <p:cNvSpPr/>
          <p:nvPr/>
        </p:nvSpPr>
        <p:spPr>
          <a:xfrm>
            <a:off x="5505450" y="4076700"/>
            <a:ext cx="11830050" cy="1287512"/>
          </a:xfrm>
          <a:prstGeom prst="roundRect">
            <a:avLst>
              <a:gd name="adj" fmla="val 14796"/>
            </a:avLst>
          </a:prstGeom>
          <a:solidFill>
            <a:srgbClr val="F2EFDE"/>
          </a:solidFill>
          <a:ln w="9525">
            <a:solidFill>
              <a:srgbClr val="E1DBC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5" name="Text 63"/>
          <p:cNvSpPr/>
          <p:nvPr/>
        </p:nvSpPr>
        <p:spPr>
          <a:xfrm>
            <a:off x="5724525" y="4257675"/>
            <a:ext cx="126893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750"/>
              </a:spcAft>
              <a:buNone/>
            </a:pPr>
            <a:r>
              <a:rPr lang="en-US" sz="1050" b="1" dirty="0">
                <a:solidFill>
                  <a:srgbClr val="E08A3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HOW IT WORKS</a:t>
            </a:r>
            <a:endParaRPr lang="en-US" sz="1050" dirty="0"/>
          </a:p>
        </p:txBody>
      </p:sp>
      <p:sp>
        <p:nvSpPr>
          <p:cNvPr id="66" name="Text 64"/>
          <p:cNvSpPr/>
          <p:nvPr/>
        </p:nvSpPr>
        <p:spPr>
          <a:xfrm>
            <a:off x="5724525" y="4448175"/>
            <a:ext cx="19431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24321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1️⃣</a:t>
            </a:r>
            <a:endParaRPr lang="en-US" sz="1200" dirty="0"/>
          </a:p>
        </p:txBody>
      </p:sp>
      <p:sp>
        <p:nvSpPr>
          <p:cNvPr id="67" name="Text 65"/>
          <p:cNvSpPr/>
          <p:nvPr/>
        </p:nvSpPr>
        <p:spPr>
          <a:xfrm>
            <a:off x="6029325" y="4448175"/>
            <a:ext cx="5840837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24321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In pairs, pick a word from the bank and slot it into the model dialogue above.</a:t>
            </a:r>
            <a:endParaRPr lang="en-US" sz="1200" dirty="0"/>
          </a:p>
        </p:txBody>
      </p:sp>
      <p:sp>
        <p:nvSpPr>
          <p:cNvPr id="68" name="Text 66"/>
          <p:cNvSpPr/>
          <p:nvPr/>
        </p:nvSpPr>
        <p:spPr>
          <a:xfrm>
            <a:off x="5724525" y="4718596"/>
            <a:ext cx="19431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24321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2️⃣</a:t>
            </a:r>
            <a:endParaRPr lang="en-US" sz="1200" dirty="0"/>
          </a:p>
        </p:txBody>
      </p:sp>
      <p:sp>
        <p:nvSpPr>
          <p:cNvPr id="69" name="Text 67"/>
          <p:cNvSpPr/>
          <p:nvPr/>
        </p:nvSpPr>
        <p:spPr>
          <a:xfrm>
            <a:off x="6029325" y="4718596"/>
            <a:ext cx="7256264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24321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Swap roles and repeat with a new word — work through as many of the 8 words as time allows.</a:t>
            </a:r>
            <a:endParaRPr lang="en-US" sz="1200" dirty="0"/>
          </a:p>
        </p:txBody>
      </p:sp>
      <p:sp>
        <p:nvSpPr>
          <p:cNvPr id="70" name="Text 68"/>
          <p:cNvSpPr/>
          <p:nvPr/>
        </p:nvSpPr>
        <p:spPr>
          <a:xfrm>
            <a:off x="5724525" y="4989016"/>
            <a:ext cx="19431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24321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✨</a:t>
            </a:r>
            <a:endParaRPr lang="en-US" sz="1200" dirty="0"/>
          </a:p>
        </p:txBody>
      </p:sp>
      <p:sp>
        <p:nvSpPr>
          <p:cNvPr id="71" name="Text 69"/>
          <p:cNvSpPr/>
          <p:nvPr/>
        </p:nvSpPr>
        <p:spPr>
          <a:xfrm>
            <a:off x="6029325" y="4989016"/>
            <a:ext cx="5684023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24321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Extension:</a:t>
            </a:r>
            <a:r>
              <a:rPr lang="en-US" sz="1200" dirty="0">
                <a:solidFill>
                  <a:srgbClr val="24321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add a follow-up with 可是 — e.g. B: 是小明的，可是他不喜欢看。</a:t>
            </a:r>
            <a:endParaRPr lang="en-US" sz="1200" dirty="0"/>
          </a:p>
        </p:txBody>
      </p:sp>
      <p:sp>
        <p:nvSpPr>
          <p:cNvPr id="72" name="Text 70"/>
          <p:cNvSpPr/>
          <p:nvPr/>
        </p:nvSpPr>
        <p:spPr>
          <a:xfrm>
            <a:off x="952500" y="6353175"/>
            <a:ext cx="5384750" cy="571500"/>
          </a:xfrm>
          <a:prstGeom prst="roundRect">
            <a:avLst>
              <a:gd name="adj" fmla="val 20000"/>
            </a:avLst>
          </a:prstGeom>
          <a:solidFill>
            <a:srgbClr val="F2EFD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3" name="Text 71"/>
          <p:cNvSpPr/>
          <p:nvPr/>
        </p:nvSpPr>
        <p:spPr>
          <a:xfrm>
            <a:off x="1085850" y="6448425"/>
            <a:ext cx="68221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25" b="1" dirty="0">
                <a:solidFill>
                  <a:srgbClr val="E08A3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SCAFFOLD</a:t>
            </a:r>
            <a:endParaRPr lang="en-US" sz="825" dirty="0"/>
          </a:p>
        </p:txBody>
      </p:sp>
      <p:sp>
        <p:nvSpPr>
          <p:cNvPr id="74" name="Text 72"/>
          <p:cNvSpPr/>
          <p:nvPr/>
        </p:nvSpPr>
        <p:spPr>
          <a:xfrm>
            <a:off x="1085850" y="6638925"/>
            <a:ext cx="481737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5C665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Model dialogue displayed throughout; word list provided on the projector</a:t>
            </a:r>
            <a:endParaRPr lang="en-US" sz="1050" dirty="0"/>
          </a:p>
        </p:txBody>
      </p:sp>
      <p:sp>
        <p:nvSpPr>
          <p:cNvPr id="75" name="Text 73"/>
          <p:cNvSpPr/>
          <p:nvPr/>
        </p:nvSpPr>
        <p:spPr>
          <a:xfrm>
            <a:off x="6451550" y="6353175"/>
            <a:ext cx="5384750" cy="571500"/>
          </a:xfrm>
          <a:prstGeom prst="roundRect">
            <a:avLst>
              <a:gd name="adj" fmla="val 20000"/>
            </a:avLst>
          </a:prstGeom>
          <a:solidFill>
            <a:srgbClr val="F2EFD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6" name="Text 74"/>
          <p:cNvSpPr/>
          <p:nvPr/>
        </p:nvSpPr>
        <p:spPr>
          <a:xfrm>
            <a:off x="6584900" y="6448425"/>
            <a:ext cx="739896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25" b="1" dirty="0">
                <a:solidFill>
                  <a:srgbClr val="5C8A3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EXTENSION</a:t>
            </a:r>
            <a:endParaRPr lang="en-US" sz="825" dirty="0"/>
          </a:p>
        </p:txBody>
      </p:sp>
      <p:sp>
        <p:nvSpPr>
          <p:cNvPr id="77" name="Text 75"/>
          <p:cNvSpPr/>
          <p:nvPr/>
        </p:nvSpPr>
        <p:spPr>
          <a:xfrm>
            <a:off x="6584900" y="6638925"/>
            <a:ext cx="3951172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5C665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Extend with a 可是 follow-up, e.g. 是小明的，可是他不喜欢看</a:t>
            </a:r>
            <a:endParaRPr lang="en-US" sz="1050" dirty="0"/>
          </a:p>
        </p:txBody>
      </p:sp>
      <p:sp>
        <p:nvSpPr>
          <p:cNvPr id="78" name="Text 76"/>
          <p:cNvSpPr/>
          <p:nvPr/>
        </p:nvSpPr>
        <p:spPr>
          <a:xfrm>
            <a:off x="11950601" y="6353175"/>
            <a:ext cx="5384750" cy="571500"/>
          </a:xfrm>
          <a:prstGeom prst="roundRect">
            <a:avLst>
              <a:gd name="adj" fmla="val 20000"/>
            </a:avLst>
          </a:prstGeom>
          <a:solidFill>
            <a:srgbClr val="F2EFD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9" name="Text 77"/>
          <p:cNvSpPr/>
          <p:nvPr/>
        </p:nvSpPr>
        <p:spPr>
          <a:xfrm>
            <a:off x="12083951" y="6448425"/>
            <a:ext cx="26626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25" b="1" dirty="0">
                <a:solidFill>
                  <a:srgbClr val="C94F3D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OTR</a:t>
            </a:r>
            <a:endParaRPr lang="en-US" sz="825" dirty="0"/>
          </a:p>
        </p:txBody>
      </p:sp>
      <p:sp>
        <p:nvSpPr>
          <p:cNvPr id="80" name="Text 78"/>
          <p:cNvSpPr/>
          <p:nvPr/>
        </p:nvSpPr>
        <p:spPr>
          <a:xfrm>
            <a:off x="12083951" y="6638925"/>
            <a:ext cx="3895612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5C665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Every student performs at least one full dialogue exchange</a:t>
            </a:r>
            <a:endParaRPr lang="en-US" sz="1050" dirty="0"/>
          </a:p>
        </p:txBody>
      </p:sp>
      <p:sp>
        <p:nvSpPr>
          <p:cNvPr id="81" name="Shape 79"/>
          <p:cNvSpPr/>
          <p:nvPr/>
        </p:nvSpPr>
        <p:spPr>
          <a:xfrm>
            <a:off x="0" y="9786938"/>
            <a:ext cx="18288000" cy="0"/>
          </a:xfrm>
          <a:prstGeom prst="line">
            <a:avLst/>
          </a:prstGeom>
          <a:noFill/>
          <a:ln w="9525">
            <a:solidFill>
              <a:srgbClr val="E1DBC0"/>
            </a:solidFill>
            <a:prstDash val="solid"/>
          </a:ln>
        </p:spPr>
      </p:sp>
      <p:sp>
        <p:nvSpPr>
          <p:cNvPr id="82" name="Text 80"/>
          <p:cNvSpPr/>
          <p:nvPr/>
        </p:nvSpPr>
        <p:spPr>
          <a:xfrm>
            <a:off x="762000" y="9958388"/>
            <a:ext cx="3236476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8C948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Y8 Chinese · Unit 4 Vegetables &amp; Fruits 蔬菜、水果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BFA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8288000" cy="771525"/>
          </a:xfrm>
          <a:prstGeom prst="rect">
            <a:avLst/>
          </a:prstGeom>
          <a:solidFill>
            <a:srgbClr val="FBFAF2">
              <a:alpha val="92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0" y="766763"/>
            <a:ext cx="18288000" cy="0"/>
          </a:xfrm>
          <a:prstGeom prst="line">
            <a:avLst/>
          </a:prstGeom>
          <a:noFill/>
          <a:ln w="9525">
            <a:solidFill>
              <a:srgbClr val="E1DBC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62000" y="285750"/>
            <a:ext cx="1817709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5C8A3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L8 · CONSOLIDATION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2934593" y="280988"/>
            <a:ext cx="2107656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25" dirty="0">
                <a:solidFill>
                  <a:srgbClr val="5C665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Activity 2 · We Do → You Do</a:t>
            </a:r>
            <a:endParaRPr lang="en-US" sz="1125" dirty="0"/>
          </a:p>
        </p:txBody>
      </p:sp>
      <p:sp>
        <p:nvSpPr>
          <p:cNvPr id="6" name="Text 4"/>
          <p:cNvSpPr/>
          <p:nvPr/>
        </p:nvSpPr>
        <p:spPr>
          <a:xfrm>
            <a:off x="762000" y="0"/>
            <a:ext cx="16764000" cy="38100"/>
          </a:xfrm>
          <a:prstGeom prst="rect">
            <a:avLst/>
          </a:prstGeom>
          <a:solidFill>
            <a:srgbClr val="5C8A3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952500" y="1152525"/>
            <a:ext cx="1283940" cy="304800"/>
          </a:xfrm>
          <a:prstGeom prst="roundRect">
            <a:avLst>
              <a:gd name="adj" fmla="val 3121875"/>
            </a:avLst>
          </a:prstGeom>
          <a:solidFill>
            <a:srgbClr val="C94F3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1143000" y="1209675"/>
            <a:ext cx="920999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ACTIVITY 2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2388840" y="1066800"/>
            <a:ext cx="5082421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24321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翻译挑战 · Translation Challenge</a:t>
            </a:r>
            <a:endParaRPr lang="en-US" sz="2700" dirty="0"/>
          </a:p>
        </p:txBody>
      </p:sp>
      <p:sp>
        <p:nvSpPr>
          <p:cNvPr id="10" name="Text 8"/>
          <p:cNvSpPr/>
          <p:nvPr/>
        </p:nvSpPr>
        <p:spPr>
          <a:xfrm>
            <a:off x="952500" y="1600200"/>
            <a:ext cx="881211" cy="323850"/>
          </a:xfrm>
          <a:prstGeom prst="roundRect">
            <a:avLst>
              <a:gd name="adj" fmla="val 2938235"/>
            </a:avLst>
          </a:prstGeom>
          <a:solidFill>
            <a:srgbClr val="5C8A3A">
              <a:alpha val="12000"/>
            </a:srgbClr>
          </a:solidFill>
          <a:ln w="9525">
            <a:solidFill>
              <a:srgbClr val="5C8A3A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1114425" y="1657350"/>
            <a:ext cx="568509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25" b="1" dirty="0">
                <a:solidFill>
                  <a:srgbClr val="5C8A3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⏱ 7 min</a:t>
            </a:r>
            <a:endParaRPr lang="en-US" sz="1125" dirty="0"/>
          </a:p>
        </p:txBody>
      </p:sp>
      <p:sp>
        <p:nvSpPr>
          <p:cNvPr id="12" name="Text 10"/>
          <p:cNvSpPr/>
          <p:nvPr/>
        </p:nvSpPr>
        <p:spPr>
          <a:xfrm>
            <a:off x="1948011" y="1628775"/>
            <a:ext cx="1577429" cy="266700"/>
          </a:xfrm>
          <a:prstGeom prst="roundRect">
            <a:avLst>
              <a:gd name="adj" fmla="val 3567857"/>
            </a:avLst>
          </a:prstGeom>
          <a:solidFill>
            <a:srgbClr val="C94F3D">
              <a:alpha val="10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2081361" y="1676400"/>
            <a:ext cx="1336944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75" b="1" dirty="0">
                <a:solidFill>
                  <a:srgbClr val="C94F3D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WE DO → YOU DO</a:t>
            </a:r>
            <a:endParaRPr lang="en-US" sz="975" dirty="0"/>
          </a:p>
        </p:txBody>
      </p:sp>
      <p:sp>
        <p:nvSpPr>
          <p:cNvPr id="14" name="Text 12"/>
          <p:cNvSpPr/>
          <p:nvPr/>
        </p:nvSpPr>
        <p:spPr>
          <a:xfrm>
            <a:off x="952500" y="2076450"/>
            <a:ext cx="9152186" cy="1866900"/>
          </a:xfrm>
          <a:prstGeom prst="roundRect">
            <a:avLst>
              <a:gd name="adj" fmla="val 10204"/>
            </a:avLst>
          </a:prstGeom>
          <a:solidFill>
            <a:srgbClr val="F2EFDE"/>
          </a:solidFill>
          <a:ln w="9525">
            <a:solidFill>
              <a:srgbClr val="E1DBC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1190625" y="2295525"/>
            <a:ext cx="5450396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900"/>
              </a:spcAft>
              <a:buNone/>
            </a:pPr>
            <a:r>
              <a:rPr lang="en-US" sz="1050" b="1" dirty="0">
                <a:solidFill>
                  <a:srgbClr val="C94F3D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PART 1 · TRANSLATE THE 4 GIVEN SENTENCES (TEXTBOOK ACT.15)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1190625" y="2519363"/>
            <a:ext cx="209550" cy="209550"/>
          </a:xfrm>
          <a:prstGeom prst="roundRect">
            <a:avLst>
              <a:gd name="adj" fmla="val 436364"/>
            </a:avLst>
          </a:prstGeom>
          <a:solidFill>
            <a:srgbClr val="C94F3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1269504" y="2543175"/>
            <a:ext cx="52828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1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1514475" y="2486025"/>
            <a:ext cx="2273427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90"/>
              </a:lnSpc>
              <a:buNone/>
            </a:pPr>
            <a:r>
              <a:rPr lang="en-US" sz="1350" dirty="0">
                <a:solidFill>
                  <a:srgbClr val="24321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妈妈说我不</a:t>
            </a:r>
            <a:r>
              <a:rPr lang="en-US" sz="1350" b="1" dirty="0">
                <a:solidFill>
                  <a:srgbClr val="5C8A3A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应该</a:t>
            </a:r>
            <a:r>
              <a:rPr lang="en-US" sz="1350" dirty="0">
                <a:solidFill>
                  <a:srgbClr val="24321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看太多电视。</a:t>
            </a:r>
            <a:endParaRPr lang="en-US" sz="1350" dirty="0"/>
          </a:p>
        </p:txBody>
      </p:sp>
      <p:sp>
        <p:nvSpPr>
          <p:cNvPr id="19" name="Text 17"/>
          <p:cNvSpPr/>
          <p:nvPr/>
        </p:nvSpPr>
        <p:spPr>
          <a:xfrm>
            <a:off x="1190625" y="2857500"/>
            <a:ext cx="209550" cy="209550"/>
          </a:xfrm>
          <a:prstGeom prst="roundRect">
            <a:avLst>
              <a:gd name="adj" fmla="val 436364"/>
            </a:avLst>
          </a:prstGeom>
          <a:solidFill>
            <a:srgbClr val="C94F3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Text 18"/>
          <p:cNvSpPr/>
          <p:nvPr/>
        </p:nvSpPr>
        <p:spPr>
          <a:xfrm>
            <a:off x="1259086" y="2881313"/>
            <a:ext cx="73929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2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1514475" y="2824163"/>
            <a:ext cx="2098548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90"/>
              </a:lnSpc>
              <a:buNone/>
            </a:pPr>
            <a:r>
              <a:rPr lang="en-US" sz="1350" dirty="0">
                <a:solidFill>
                  <a:srgbClr val="24321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老师说我们</a:t>
            </a:r>
            <a:r>
              <a:rPr lang="en-US" sz="1350" b="1" dirty="0">
                <a:solidFill>
                  <a:srgbClr val="5C8A3A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应该</a:t>
            </a:r>
            <a:r>
              <a:rPr lang="en-US" sz="1350" dirty="0">
                <a:solidFill>
                  <a:srgbClr val="24321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多说汉语。</a:t>
            </a:r>
            <a:endParaRPr lang="en-US" sz="1350" dirty="0"/>
          </a:p>
        </p:txBody>
      </p:sp>
      <p:sp>
        <p:nvSpPr>
          <p:cNvPr id="22" name="Text 20"/>
          <p:cNvSpPr/>
          <p:nvPr/>
        </p:nvSpPr>
        <p:spPr>
          <a:xfrm>
            <a:off x="1190625" y="3195638"/>
            <a:ext cx="209550" cy="209550"/>
          </a:xfrm>
          <a:prstGeom prst="roundRect">
            <a:avLst>
              <a:gd name="adj" fmla="val 436364"/>
            </a:avLst>
          </a:prstGeom>
          <a:solidFill>
            <a:srgbClr val="C94F3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3" name="Text 21"/>
          <p:cNvSpPr/>
          <p:nvPr/>
        </p:nvSpPr>
        <p:spPr>
          <a:xfrm>
            <a:off x="1258788" y="3219450"/>
            <a:ext cx="74536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3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1514475" y="3162300"/>
            <a:ext cx="3847338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90"/>
              </a:lnSpc>
              <a:buNone/>
            </a:pPr>
            <a:r>
              <a:rPr lang="en-US" sz="1350" b="1" dirty="0">
                <a:solidFill>
                  <a:srgbClr val="5C8A3A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医生</a:t>
            </a:r>
            <a:r>
              <a:rPr lang="en-US" sz="1350" dirty="0">
                <a:solidFill>
                  <a:srgbClr val="24321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说我们应该每天吃蔬菜、水果，</a:t>
            </a:r>
            <a:r>
              <a:rPr lang="en-US" sz="1350" b="1" dirty="0">
                <a:solidFill>
                  <a:srgbClr val="5C8A3A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还要</a:t>
            </a:r>
            <a:r>
              <a:rPr lang="en-US" sz="1350" dirty="0">
                <a:solidFill>
                  <a:srgbClr val="24321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做运动。</a:t>
            </a:r>
            <a:endParaRPr lang="en-US" sz="1350" dirty="0"/>
          </a:p>
        </p:txBody>
      </p:sp>
      <p:sp>
        <p:nvSpPr>
          <p:cNvPr id="25" name="Text 23"/>
          <p:cNvSpPr/>
          <p:nvPr/>
        </p:nvSpPr>
        <p:spPr>
          <a:xfrm>
            <a:off x="1190625" y="3533775"/>
            <a:ext cx="209550" cy="209550"/>
          </a:xfrm>
          <a:prstGeom prst="roundRect">
            <a:avLst>
              <a:gd name="adj" fmla="val 436364"/>
            </a:avLst>
          </a:prstGeom>
          <a:solidFill>
            <a:srgbClr val="C94F3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6" name="Text 24"/>
          <p:cNvSpPr/>
          <p:nvPr/>
        </p:nvSpPr>
        <p:spPr>
          <a:xfrm>
            <a:off x="1258342" y="3557588"/>
            <a:ext cx="75447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4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1514475" y="3500438"/>
            <a:ext cx="2273427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90"/>
              </a:lnSpc>
              <a:buNone/>
            </a:pPr>
            <a:r>
              <a:rPr lang="en-US" sz="1350" b="1" dirty="0">
                <a:solidFill>
                  <a:srgbClr val="24321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爸爸说他今天不回家吃晚饭。</a:t>
            </a:r>
            <a:endParaRPr lang="en-US" sz="1350" dirty="0"/>
          </a:p>
        </p:txBody>
      </p:sp>
      <p:sp>
        <p:nvSpPr>
          <p:cNvPr id="28" name="Text 26"/>
          <p:cNvSpPr/>
          <p:nvPr/>
        </p:nvSpPr>
        <p:spPr>
          <a:xfrm>
            <a:off x="10295186" y="2076450"/>
            <a:ext cx="7040166" cy="1866900"/>
          </a:xfrm>
          <a:prstGeom prst="roundRect">
            <a:avLst>
              <a:gd name="adj" fmla="val 10204"/>
            </a:avLst>
          </a:prstGeom>
          <a:solidFill>
            <a:srgbClr val="F2EFDE"/>
          </a:solidFill>
          <a:ln w="9525">
            <a:solidFill>
              <a:srgbClr val="E1DBC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9" name="Text 27"/>
          <p:cNvSpPr/>
          <p:nvPr/>
        </p:nvSpPr>
        <p:spPr>
          <a:xfrm>
            <a:off x="10533311" y="2295525"/>
            <a:ext cx="3194426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900"/>
              </a:spcAft>
              <a:buNone/>
            </a:pPr>
            <a:r>
              <a:rPr lang="en-US" sz="1050" b="1" dirty="0">
                <a:solidFill>
                  <a:srgbClr val="C94F3D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PART 2 · WRITE 4 MORE OF YOUR OWN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10533311" y="2486025"/>
            <a:ext cx="19431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40"/>
              </a:lnSpc>
              <a:buNone/>
            </a:pPr>
            <a:r>
              <a:rPr lang="en-US" sz="1200" dirty="0">
                <a:solidFill>
                  <a:srgbClr val="24321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✏️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10819061" y="2486025"/>
            <a:ext cx="4438921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40"/>
              </a:lnSpc>
              <a:buNone/>
            </a:pPr>
            <a:r>
              <a:rPr lang="en-US" sz="1200" dirty="0">
                <a:solidFill>
                  <a:srgbClr val="24321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C→E or E→C — your choice, using </a:t>
            </a:r>
            <a:r>
              <a:rPr lang="en-US" sz="1200" b="1" dirty="0">
                <a:solidFill>
                  <a:srgbClr val="24321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this lesson's grammar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10533311" y="2802136"/>
            <a:ext cx="19431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40"/>
              </a:lnSpc>
              <a:buNone/>
            </a:pPr>
            <a:r>
              <a:rPr lang="en-US" sz="1200" dirty="0">
                <a:solidFill>
                  <a:srgbClr val="24321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🎯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10819061" y="2802136"/>
            <a:ext cx="6215339" cy="4304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40"/>
              </a:lnSpc>
              <a:buNone/>
            </a:pPr>
            <a:r>
              <a:rPr lang="en-US" sz="1200" b="1" dirty="0">
                <a:solidFill>
                  <a:srgbClr val="24321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Extension:</a:t>
            </a:r>
            <a:r>
              <a:rPr lang="en-US" sz="1200" dirty="0">
                <a:solidFill>
                  <a:srgbClr val="24321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your 4 original sentences must each use a </a:t>
            </a:r>
            <a:r>
              <a:rPr lang="en-US" sz="1200" b="1" dirty="0">
                <a:solidFill>
                  <a:srgbClr val="24321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different</a:t>
            </a:r>
            <a:r>
              <a:rPr lang="en-US" sz="1200" dirty="0">
                <a:solidFill>
                  <a:srgbClr val="24321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one of: 应该, 可是, 这些/那些, 种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10533311" y="3339108"/>
            <a:ext cx="19431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40"/>
              </a:lnSpc>
              <a:buNone/>
            </a:pPr>
            <a:r>
              <a:rPr lang="en-US" sz="1200" dirty="0">
                <a:solidFill>
                  <a:srgbClr val="24321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📣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10819061" y="3339108"/>
            <a:ext cx="4491597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40"/>
              </a:lnSpc>
              <a:buNone/>
            </a:pPr>
            <a:r>
              <a:rPr lang="en-US" sz="1200" b="1" dirty="0">
                <a:solidFill>
                  <a:srgbClr val="24321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OTR:</a:t>
            </a:r>
            <a:r>
              <a:rPr lang="en-US" sz="1200" dirty="0">
                <a:solidFill>
                  <a:srgbClr val="24321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cold call 4–5 students to share one original sentence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952500" y="4076700"/>
            <a:ext cx="16383000" cy="838200"/>
          </a:xfrm>
          <a:prstGeom prst="roundRect">
            <a:avLst>
              <a:gd name="adj" fmla="val 13636"/>
            </a:avLst>
          </a:prstGeom>
          <a:solidFill>
            <a:srgbClr val="5C8A3A">
              <a:alpha val="12000"/>
            </a:srgbClr>
          </a:solidFill>
          <a:ln w="19050">
            <a:solidFill>
              <a:srgbClr val="5C8A3A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7" name="Text 35"/>
          <p:cNvSpPr/>
          <p:nvPr/>
        </p:nvSpPr>
        <p:spPr>
          <a:xfrm>
            <a:off x="1238250" y="4305300"/>
            <a:ext cx="272034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100" dirty="0">
                <a:solidFill>
                  <a:srgbClr val="24321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🔑</a:t>
            </a:r>
            <a:endParaRPr lang="en-US" sz="2100" dirty="0"/>
          </a:p>
        </p:txBody>
      </p:sp>
      <p:sp>
        <p:nvSpPr>
          <p:cNvPr id="38" name="Text 36"/>
          <p:cNvSpPr/>
          <p:nvPr/>
        </p:nvSpPr>
        <p:spPr>
          <a:xfrm>
            <a:off x="1657350" y="4248150"/>
            <a:ext cx="4594824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5C8A3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Scaffold — key vocabulary pre-highlighted</a:t>
            </a:r>
            <a:endParaRPr lang="en-US" sz="1650" dirty="0"/>
          </a:p>
        </p:txBody>
      </p:sp>
      <p:sp>
        <p:nvSpPr>
          <p:cNvPr id="39" name="Text 37"/>
          <p:cNvSpPr/>
          <p:nvPr/>
        </p:nvSpPr>
        <p:spPr>
          <a:xfrm>
            <a:off x="1657350" y="4533900"/>
            <a:ext cx="6975577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8C948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应该 (should), 医生 (doctor), 还要 (also need to), 做运动 (exercise) are marked in green above</a:t>
            </a:r>
            <a:endParaRPr lang="en-US" sz="1200" dirty="0"/>
          </a:p>
        </p:txBody>
      </p:sp>
      <p:sp>
        <p:nvSpPr>
          <p:cNvPr id="40" name="Shape 38"/>
          <p:cNvSpPr/>
          <p:nvPr/>
        </p:nvSpPr>
        <p:spPr>
          <a:xfrm>
            <a:off x="0" y="9786938"/>
            <a:ext cx="18288000" cy="0"/>
          </a:xfrm>
          <a:prstGeom prst="line">
            <a:avLst/>
          </a:prstGeom>
          <a:noFill/>
          <a:ln w="9525">
            <a:solidFill>
              <a:srgbClr val="E1DBC0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762000" y="9958388"/>
            <a:ext cx="3236476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8C948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Y8 Chinese · Unit 4 Vegetables &amp; Fruits 蔬菜、水果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BFA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8288000" cy="771525"/>
          </a:xfrm>
          <a:prstGeom prst="rect">
            <a:avLst/>
          </a:prstGeom>
          <a:solidFill>
            <a:srgbClr val="FBFAF2">
              <a:alpha val="92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0" y="766763"/>
            <a:ext cx="18288000" cy="0"/>
          </a:xfrm>
          <a:prstGeom prst="line">
            <a:avLst/>
          </a:prstGeom>
          <a:noFill/>
          <a:ln w="9525">
            <a:solidFill>
              <a:srgbClr val="E1DBC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62000" y="285750"/>
            <a:ext cx="1817709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5C8A3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L8 · CONSOLIDATION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2934593" y="280988"/>
            <a:ext cx="1997598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25" dirty="0">
                <a:solidFill>
                  <a:srgbClr val="5C665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Game · Word-Building Grid</a:t>
            </a:r>
            <a:endParaRPr lang="en-US" sz="1125" dirty="0"/>
          </a:p>
        </p:txBody>
      </p:sp>
      <p:sp>
        <p:nvSpPr>
          <p:cNvPr id="6" name="Text 4"/>
          <p:cNvSpPr/>
          <p:nvPr/>
        </p:nvSpPr>
        <p:spPr>
          <a:xfrm>
            <a:off x="762000" y="0"/>
            <a:ext cx="16764000" cy="38100"/>
          </a:xfrm>
          <a:prstGeom prst="rect">
            <a:avLst/>
          </a:prstGeom>
          <a:solidFill>
            <a:srgbClr val="5C8A3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952500" y="1062038"/>
            <a:ext cx="840879" cy="314325"/>
          </a:xfrm>
          <a:prstGeom prst="roundRect">
            <a:avLst>
              <a:gd name="adj" fmla="val 3027273"/>
            </a:avLst>
          </a:prstGeom>
          <a:solidFill>
            <a:srgbClr val="C94F3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1143000" y="1119188"/>
            <a:ext cx="469076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25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Game</a:t>
            </a:r>
            <a:endParaRPr lang="en-US" sz="1125" dirty="0"/>
          </a:p>
        </p:txBody>
      </p:sp>
      <p:sp>
        <p:nvSpPr>
          <p:cNvPr id="9" name="Text 7"/>
          <p:cNvSpPr/>
          <p:nvPr/>
        </p:nvSpPr>
        <p:spPr>
          <a:xfrm>
            <a:off x="1945779" y="1047750"/>
            <a:ext cx="927646" cy="342900"/>
          </a:xfrm>
          <a:prstGeom prst="roundRect">
            <a:avLst>
              <a:gd name="adj" fmla="val 2775000"/>
            </a:avLst>
          </a:prstGeom>
          <a:solidFill>
            <a:srgbClr val="F2EFDE"/>
          </a:solidFill>
          <a:ln w="9525">
            <a:solidFill>
              <a:srgbClr val="E1DBC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2126754" y="1114425"/>
            <a:ext cx="577010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25" b="1" dirty="0">
                <a:solidFill>
                  <a:srgbClr val="5C665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⏱ 9 min</a:t>
            </a:r>
            <a:endParaRPr lang="en-US" sz="1125" dirty="0"/>
          </a:p>
        </p:txBody>
      </p:sp>
      <p:sp>
        <p:nvSpPr>
          <p:cNvPr id="11" name="Text 9"/>
          <p:cNvSpPr/>
          <p:nvPr/>
        </p:nvSpPr>
        <p:spPr>
          <a:xfrm>
            <a:off x="3025825" y="1062038"/>
            <a:ext cx="2690515" cy="314325"/>
          </a:xfrm>
          <a:prstGeom prst="roundRect">
            <a:avLst>
              <a:gd name="adj" fmla="val 3027273"/>
            </a:avLst>
          </a:prstGeom>
          <a:solidFill>
            <a:srgbClr val="C94F3D">
              <a:alpha val="10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3197275" y="1119188"/>
            <a:ext cx="2394567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25" b="1" dirty="0">
                <a:solidFill>
                  <a:srgbClr val="C94F3D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Act.17 Style · Team Competition</a:t>
            </a:r>
            <a:endParaRPr lang="en-US" sz="1125" dirty="0"/>
          </a:p>
        </p:txBody>
      </p:sp>
      <p:sp>
        <p:nvSpPr>
          <p:cNvPr id="13" name="Text 11"/>
          <p:cNvSpPr/>
          <p:nvPr/>
        </p:nvSpPr>
        <p:spPr>
          <a:xfrm>
            <a:off x="952500" y="1466850"/>
            <a:ext cx="5071946" cy="504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50" b="1" dirty="0">
                <a:solidFill>
                  <a:srgbClr val="24321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组词方格 · Word-Building Grid</a:t>
            </a:r>
            <a:endParaRPr lang="en-US" sz="2850" dirty="0"/>
          </a:p>
        </p:txBody>
      </p:sp>
      <p:sp>
        <p:nvSpPr>
          <p:cNvPr id="14" name="Text 12"/>
          <p:cNvSpPr/>
          <p:nvPr/>
        </p:nvSpPr>
        <p:spPr>
          <a:xfrm>
            <a:off x="952500" y="2009775"/>
            <a:ext cx="797445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75" dirty="0">
                <a:solidFill>
                  <a:srgbClr val="8C948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Add one character to each base to form a valid two-character word — 20 items, most correct wins</a:t>
            </a:r>
            <a:endParaRPr lang="en-US" sz="1275" dirty="0"/>
          </a:p>
        </p:txBody>
      </p:sp>
      <p:sp>
        <p:nvSpPr>
          <p:cNvPr id="15" name="Text 13"/>
          <p:cNvSpPr/>
          <p:nvPr/>
        </p:nvSpPr>
        <p:spPr>
          <a:xfrm>
            <a:off x="952500" y="2390775"/>
            <a:ext cx="5391150" cy="2705100"/>
          </a:xfrm>
          <a:prstGeom prst="roundRect">
            <a:avLst>
              <a:gd name="adj" fmla="val 7042"/>
            </a:avLst>
          </a:prstGeom>
          <a:noFill/>
          <a:ln w="28575">
            <a:solidFill>
              <a:srgbClr val="C94F3D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981075" y="2419350"/>
            <a:ext cx="5334000" cy="361950"/>
          </a:xfrm>
          <a:prstGeom prst="rect">
            <a:avLst/>
          </a:prstGeom>
          <a:solidFill>
            <a:srgbClr val="C94F3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2325706" y="2495550"/>
            <a:ext cx="2644589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20-ITEM WORD-BUILDING GRID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981075" y="2781300"/>
            <a:ext cx="1066800" cy="571500"/>
          </a:xfrm>
          <a:prstGeom prst="rect">
            <a:avLst/>
          </a:prstGeom>
          <a:solidFill>
            <a:srgbClr val="FBFAF2"/>
          </a:solidFill>
          <a:ln w="9525">
            <a:solidFill>
              <a:srgbClr val="CFC7A6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9" name="Text 17"/>
          <p:cNvSpPr/>
          <p:nvPr/>
        </p:nvSpPr>
        <p:spPr>
          <a:xfrm>
            <a:off x="1037837" y="2809875"/>
            <a:ext cx="39621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675" b="1" dirty="0">
                <a:solidFill>
                  <a:srgbClr val="8C948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1</a:t>
            </a:r>
            <a:endParaRPr lang="en-US" sz="675" dirty="0"/>
          </a:p>
        </p:txBody>
      </p:sp>
      <p:sp>
        <p:nvSpPr>
          <p:cNvPr id="20" name="Text 18"/>
          <p:cNvSpPr/>
          <p:nvPr/>
        </p:nvSpPr>
        <p:spPr>
          <a:xfrm>
            <a:off x="1283589" y="2909888"/>
            <a:ext cx="233172" cy="3143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4321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黄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1512189" y="2909888"/>
            <a:ext cx="233172" cy="3143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E08A3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＿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2047875" y="2781300"/>
            <a:ext cx="1066800" cy="571500"/>
          </a:xfrm>
          <a:prstGeom prst="rect">
            <a:avLst/>
          </a:prstGeom>
          <a:solidFill>
            <a:srgbClr val="FBFAF2"/>
          </a:solidFill>
          <a:ln w="9525">
            <a:solidFill>
              <a:srgbClr val="CFC7A6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3" name="Text 21"/>
          <p:cNvSpPr/>
          <p:nvPr/>
        </p:nvSpPr>
        <p:spPr>
          <a:xfrm>
            <a:off x="2104480" y="2809875"/>
            <a:ext cx="55561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675" b="1" dirty="0">
                <a:solidFill>
                  <a:srgbClr val="8C948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2</a:t>
            </a:r>
            <a:endParaRPr lang="en-US" sz="675" dirty="0"/>
          </a:p>
        </p:txBody>
      </p:sp>
      <p:sp>
        <p:nvSpPr>
          <p:cNvPr id="24" name="Text 22"/>
          <p:cNvSpPr/>
          <p:nvPr/>
        </p:nvSpPr>
        <p:spPr>
          <a:xfrm>
            <a:off x="2350389" y="2909888"/>
            <a:ext cx="233172" cy="3143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4321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电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2578989" y="2909888"/>
            <a:ext cx="233172" cy="3143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E08A3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＿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3114675" y="2781300"/>
            <a:ext cx="1066800" cy="571500"/>
          </a:xfrm>
          <a:prstGeom prst="rect">
            <a:avLst/>
          </a:prstGeom>
          <a:solidFill>
            <a:srgbClr val="FBFAF2"/>
          </a:solidFill>
          <a:ln w="9525">
            <a:solidFill>
              <a:srgbClr val="CFC7A6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7" name="Text 25"/>
          <p:cNvSpPr/>
          <p:nvPr/>
        </p:nvSpPr>
        <p:spPr>
          <a:xfrm>
            <a:off x="3171276" y="2809875"/>
            <a:ext cx="56016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675" b="1" dirty="0">
                <a:solidFill>
                  <a:srgbClr val="8C948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3</a:t>
            </a:r>
            <a:endParaRPr lang="en-US" sz="675" dirty="0"/>
          </a:p>
        </p:txBody>
      </p:sp>
      <p:sp>
        <p:nvSpPr>
          <p:cNvPr id="28" name="Text 26"/>
          <p:cNvSpPr/>
          <p:nvPr/>
        </p:nvSpPr>
        <p:spPr>
          <a:xfrm>
            <a:off x="3417189" y="2909888"/>
            <a:ext cx="233172" cy="3143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4321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号</a:t>
            </a:r>
            <a:endParaRPr lang="en-US" sz="1800" dirty="0"/>
          </a:p>
        </p:txBody>
      </p:sp>
      <p:sp>
        <p:nvSpPr>
          <p:cNvPr id="29" name="Text 27"/>
          <p:cNvSpPr/>
          <p:nvPr/>
        </p:nvSpPr>
        <p:spPr>
          <a:xfrm>
            <a:off x="3645789" y="2909888"/>
            <a:ext cx="233172" cy="3143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E08A3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＿</a:t>
            </a:r>
            <a:endParaRPr lang="en-US" sz="1800" dirty="0"/>
          </a:p>
        </p:txBody>
      </p:sp>
      <p:sp>
        <p:nvSpPr>
          <p:cNvPr id="30" name="Text 28"/>
          <p:cNvSpPr/>
          <p:nvPr/>
        </p:nvSpPr>
        <p:spPr>
          <a:xfrm>
            <a:off x="4181475" y="2781300"/>
            <a:ext cx="1066800" cy="571500"/>
          </a:xfrm>
          <a:prstGeom prst="rect">
            <a:avLst/>
          </a:prstGeom>
          <a:solidFill>
            <a:srgbClr val="FBFAF2"/>
          </a:solidFill>
          <a:ln w="9525">
            <a:solidFill>
              <a:srgbClr val="CFC7A6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1" name="Text 29"/>
          <p:cNvSpPr/>
          <p:nvPr/>
        </p:nvSpPr>
        <p:spPr>
          <a:xfrm>
            <a:off x="4238070" y="2809875"/>
            <a:ext cx="56623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675" b="1" dirty="0">
                <a:solidFill>
                  <a:srgbClr val="8C948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4</a:t>
            </a:r>
            <a:endParaRPr lang="en-US" sz="675" dirty="0"/>
          </a:p>
        </p:txBody>
      </p:sp>
      <p:sp>
        <p:nvSpPr>
          <p:cNvPr id="32" name="Text 30"/>
          <p:cNvSpPr/>
          <p:nvPr/>
        </p:nvSpPr>
        <p:spPr>
          <a:xfrm>
            <a:off x="4483989" y="2909888"/>
            <a:ext cx="233172" cy="3143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4321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多</a:t>
            </a:r>
            <a:endParaRPr lang="en-US" sz="1800" dirty="0"/>
          </a:p>
        </p:txBody>
      </p:sp>
      <p:sp>
        <p:nvSpPr>
          <p:cNvPr id="33" name="Text 31"/>
          <p:cNvSpPr/>
          <p:nvPr/>
        </p:nvSpPr>
        <p:spPr>
          <a:xfrm>
            <a:off x="4712589" y="2909888"/>
            <a:ext cx="233172" cy="3143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E08A3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＿</a:t>
            </a:r>
            <a:endParaRPr lang="en-US" sz="1800" dirty="0"/>
          </a:p>
        </p:txBody>
      </p:sp>
      <p:sp>
        <p:nvSpPr>
          <p:cNvPr id="34" name="Text 32"/>
          <p:cNvSpPr/>
          <p:nvPr/>
        </p:nvSpPr>
        <p:spPr>
          <a:xfrm>
            <a:off x="5248275" y="2781300"/>
            <a:ext cx="1066800" cy="571500"/>
          </a:xfrm>
          <a:prstGeom prst="rect">
            <a:avLst/>
          </a:prstGeom>
          <a:solidFill>
            <a:srgbClr val="FBFAF2"/>
          </a:solidFill>
          <a:ln w="9525">
            <a:solidFill>
              <a:srgbClr val="CFC7A6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5" name="Text 33"/>
          <p:cNvSpPr/>
          <p:nvPr/>
        </p:nvSpPr>
        <p:spPr>
          <a:xfrm>
            <a:off x="5304877" y="2809875"/>
            <a:ext cx="55864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675" b="1" dirty="0">
                <a:solidFill>
                  <a:srgbClr val="8C948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5</a:t>
            </a:r>
            <a:endParaRPr lang="en-US" sz="675" dirty="0"/>
          </a:p>
        </p:txBody>
      </p:sp>
      <p:sp>
        <p:nvSpPr>
          <p:cNvPr id="36" name="Text 34"/>
          <p:cNvSpPr/>
          <p:nvPr/>
        </p:nvSpPr>
        <p:spPr>
          <a:xfrm>
            <a:off x="5550789" y="2909888"/>
            <a:ext cx="233172" cy="3143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4321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学</a:t>
            </a:r>
            <a:endParaRPr lang="en-US" sz="1800" dirty="0"/>
          </a:p>
        </p:txBody>
      </p:sp>
      <p:sp>
        <p:nvSpPr>
          <p:cNvPr id="37" name="Text 35"/>
          <p:cNvSpPr/>
          <p:nvPr/>
        </p:nvSpPr>
        <p:spPr>
          <a:xfrm>
            <a:off x="5779389" y="2909888"/>
            <a:ext cx="233172" cy="3143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E08A3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＿</a:t>
            </a:r>
            <a:endParaRPr lang="en-US" sz="1800" dirty="0"/>
          </a:p>
        </p:txBody>
      </p:sp>
      <p:sp>
        <p:nvSpPr>
          <p:cNvPr id="38" name="Text 36"/>
          <p:cNvSpPr/>
          <p:nvPr/>
        </p:nvSpPr>
        <p:spPr>
          <a:xfrm>
            <a:off x="981075" y="3352800"/>
            <a:ext cx="1066800" cy="571500"/>
          </a:xfrm>
          <a:prstGeom prst="rect">
            <a:avLst/>
          </a:prstGeom>
          <a:solidFill>
            <a:srgbClr val="FBFAF2"/>
          </a:solidFill>
          <a:ln w="9525">
            <a:solidFill>
              <a:srgbClr val="CFC7A6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9" name="Text 37"/>
          <p:cNvSpPr/>
          <p:nvPr/>
        </p:nvSpPr>
        <p:spPr>
          <a:xfrm>
            <a:off x="1037668" y="3381375"/>
            <a:ext cx="56775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675" b="1" dirty="0">
                <a:solidFill>
                  <a:srgbClr val="8C948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6</a:t>
            </a:r>
            <a:endParaRPr lang="en-US" sz="675" dirty="0"/>
          </a:p>
        </p:txBody>
      </p:sp>
      <p:sp>
        <p:nvSpPr>
          <p:cNvPr id="40" name="Text 38"/>
          <p:cNvSpPr/>
          <p:nvPr/>
        </p:nvSpPr>
        <p:spPr>
          <a:xfrm>
            <a:off x="1283589" y="3481388"/>
            <a:ext cx="233172" cy="3143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4321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中</a:t>
            </a:r>
            <a:endParaRPr lang="en-US" sz="1800" dirty="0"/>
          </a:p>
        </p:txBody>
      </p:sp>
      <p:sp>
        <p:nvSpPr>
          <p:cNvPr id="41" name="Text 39"/>
          <p:cNvSpPr/>
          <p:nvPr/>
        </p:nvSpPr>
        <p:spPr>
          <a:xfrm>
            <a:off x="1512189" y="3481388"/>
            <a:ext cx="233172" cy="3143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E08A3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＿</a:t>
            </a:r>
            <a:endParaRPr lang="en-US" sz="1800" dirty="0"/>
          </a:p>
        </p:txBody>
      </p:sp>
      <p:sp>
        <p:nvSpPr>
          <p:cNvPr id="42" name="Text 40"/>
          <p:cNvSpPr/>
          <p:nvPr/>
        </p:nvSpPr>
        <p:spPr>
          <a:xfrm>
            <a:off x="2047875" y="3352800"/>
            <a:ext cx="1066800" cy="571500"/>
          </a:xfrm>
          <a:prstGeom prst="rect">
            <a:avLst/>
          </a:prstGeom>
          <a:solidFill>
            <a:srgbClr val="FBFAF2"/>
          </a:solidFill>
          <a:ln w="9525">
            <a:solidFill>
              <a:srgbClr val="CFC7A6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3" name="Text 41"/>
          <p:cNvSpPr/>
          <p:nvPr/>
        </p:nvSpPr>
        <p:spPr>
          <a:xfrm>
            <a:off x="2104517" y="3381375"/>
            <a:ext cx="51765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675" b="1" dirty="0">
                <a:solidFill>
                  <a:srgbClr val="8C948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7</a:t>
            </a:r>
            <a:endParaRPr lang="en-US" sz="675" dirty="0"/>
          </a:p>
        </p:txBody>
      </p:sp>
      <p:sp>
        <p:nvSpPr>
          <p:cNvPr id="44" name="Text 42"/>
          <p:cNvSpPr/>
          <p:nvPr/>
        </p:nvSpPr>
        <p:spPr>
          <a:xfrm>
            <a:off x="2350389" y="3481388"/>
            <a:ext cx="233172" cy="3143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4321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秘</a:t>
            </a:r>
            <a:endParaRPr lang="en-US" sz="1800" dirty="0"/>
          </a:p>
        </p:txBody>
      </p:sp>
      <p:sp>
        <p:nvSpPr>
          <p:cNvPr id="45" name="Text 43"/>
          <p:cNvSpPr/>
          <p:nvPr/>
        </p:nvSpPr>
        <p:spPr>
          <a:xfrm>
            <a:off x="2578989" y="3481388"/>
            <a:ext cx="233172" cy="3143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E08A3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＿</a:t>
            </a:r>
            <a:endParaRPr lang="en-US" sz="1800" dirty="0"/>
          </a:p>
        </p:txBody>
      </p:sp>
      <p:sp>
        <p:nvSpPr>
          <p:cNvPr id="46" name="Text 44"/>
          <p:cNvSpPr/>
          <p:nvPr/>
        </p:nvSpPr>
        <p:spPr>
          <a:xfrm>
            <a:off x="3114675" y="3352800"/>
            <a:ext cx="1066800" cy="571500"/>
          </a:xfrm>
          <a:prstGeom prst="rect">
            <a:avLst/>
          </a:prstGeom>
          <a:solidFill>
            <a:srgbClr val="FBFAF2"/>
          </a:solidFill>
          <a:ln w="9525">
            <a:solidFill>
              <a:srgbClr val="CFC7A6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7" name="Text 45"/>
          <p:cNvSpPr/>
          <p:nvPr/>
        </p:nvSpPr>
        <p:spPr>
          <a:xfrm>
            <a:off x="3171270" y="3381375"/>
            <a:ext cx="56623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675" b="1" dirty="0">
                <a:solidFill>
                  <a:srgbClr val="8C948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8</a:t>
            </a:r>
            <a:endParaRPr lang="en-US" sz="675" dirty="0"/>
          </a:p>
        </p:txBody>
      </p:sp>
      <p:sp>
        <p:nvSpPr>
          <p:cNvPr id="48" name="Text 46"/>
          <p:cNvSpPr/>
          <p:nvPr/>
        </p:nvSpPr>
        <p:spPr>
          <a:xfrm>
            <a:off x="3417189" y="3481388"/>
            <a:ext cx="233172" cy="3143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4321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下</a:t>
            </a:r>
            <a:endParaRPr lang="en-US" sz="1800" dirty="0"/>
          </a:p>
        </p:txBody>
      </p:sp>
      <p:sp>
        <p:nvSpPr>
          <p:cNvPr id="49" name="Text 47"/>
          <p:cNvSpPr/>
          <p:nvPr/>
        </p:nvSpPr>
        <p:spPr>
          <a:xfrm>
            <a:off x="3645789" y="3481388"/>
            <a:ext cx="233172" cy="3143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E08A3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＿</a:t>
            </a:r>
            <a:endParaRPr lang="en-US" sz="1800" dirty="0"/>
          </a:p>
        </p:txBody>
      </p:sp>
      <p:sp>
        <p:nvSpPr>
          <p:cNvPr id="50" name="Text 48"/>
          <p:cNvSpPr/>
          <p:nvPr/>
        </p:nvSpPr>
        <p:spPr>
          <a:xfrm>
            <a:off x="4181475" y="3352800"/>
            <a:ext cx="1066800" cy="571500"/>
          </a:xfrm>
          <a:prstGeom prst="rect">
            <a:avLst/>
          </a:prstGeom>
          <a:solidFill>
            <a:srgbClr val="FBFAF2"/>
          </a:solidFill>
          <a:ln w="9525">
            <a:solidFill>
              <a:srgbClr val="CFC7A6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1" name="Text 49"/>
          <p:cNvSpPr/>
          <p:nvPr/>
        </p:nvSpPr>
        <p:spPr>
          <a:xfrm>
            <a:off x="4238068" y="3381375"/>
            <a:ext cx="56775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675" b="1" dirty="0">
                <a:solidFill>
                  <a:srgbClr val="8C948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9</a:t>
            </a:r>
            <a:endParaRPr lang="en-US" sz="675" dirty="0"/>
          </a:p>
        </p:txBody>
      </p:sp>
      <p:sp>
        <p:nvSpPr>
          <p:cNvPr id="52" name="Text 50"/>
          <p:cNvSpPr/>
          <p:nvPr/>
        </p:nvSpPr>
        <p:spPr>
          <a:xfrm>
            <a:off x="4483989" y="3481388"/>
            <a:ext cx="233172" cy="3143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4321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上</a:t>
            </a:r>
            <a:endParaRPr lang="en-US" sz="1800" dirty="0"/>
          </a:p>
        </p:txBody>
      </p:sp>
      <p:sp>
        <p:nvSpPr>
          <p:cNvPr id="53" name="Text 51"/>
          <p:cNvSpPr/>
          <p:nvPr/>
        </p:nvSpPr>
        <p:spPr>
          <a:xfrm>
            <a:off x="4712589" y="3481388"/>
            <a:ext cx="233172" cy="3143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E08A3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＿</a:t>
            </a:r>
            <a:endParaRPr lang="en-US" sz="1800" dirty="0"/>
          </a:p>
        </p:txBody>
      </p:sp>
      <p:sp>
        <p:nvSpPr>
          <p:cNvPr id="54" name="Text 52"/>
          <p:cNvSpPr/>
          <p:nvPr/>
        </p:nvSpPr>
        <p:spPr>
          <a:xfrm>
            <a:off x="5248275" y="3352800"/>
            <a:ext cx="1066800" cy="571500"/>
          </a:xfrm>
          <a:prstGeom prst="rect">
            <a:avLst/>
          </a:prstGeom>
          <a:solidFill>
            <a:srgbClr val="FBFAF2"/>
          </a:solidFill>
          <a:ln w="9525">
            <a:solidFill>
              <a:srgbClr val="CFC7A6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5" name="Text 53"/>
          <p:cNvSpPr/>
          <p:nvPr/>
        </p:nvSpPr>
        <p:spPr>
          <a:xfrm>
            <a:off x="5304478" y="3381375"/>
            <a:ext cx="96548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675" b="1" dirty="0">
                <a:solidFill>
                  <a:srgbClr val="8C948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10</a:t>
            </a:r>
            <a:endParaRPr lang="en-US" sz="675" dirty="0"/>
          </a:p>
        </p:txBody>
      </p:sp>
      <p:sp>
        <p:nvSpPr>
          <p:cNvPr id="56" name="Text 54"/>
          <p:cNvSpPr/>
          <p:nvPr/>
        </p:nvSpPr>
        <p:spPr>
          <a:xfrm>
            <a:off x="5550789" y="3481388"/>
            <a:ext cx="233172" cy="3143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4321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走</a:t>
            </a:r>
            <a:endParaRPr lang="en-US" sz="1800" dirty="0"/>
          </a:p>
        </p:txBody>
      </p:sp>
      <p:sp>
        <p:nvSpPr>
          <p:cNvPr id="57" name="Text 55"/>
          <p:cNvSpPr/>
          <p:nvPr/>
        </p:nvSpPr>
        <p:spPr>
          <a:xfrm>
            <a:off x="5779389" y="3481388"/>
            <a:ext cx="233172" cy="3143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E08A3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＿</a:t>
            </a:r>
            <a:endParaRPr lang="en-US" sz="1800" dirty="0"/>
          </a:p>
        </p:txBody>
      </p:sp>
      <p:sp>
        <p:nvSpPr>
          <p:cNvPr id="58" name="Text 56"/>
          <p:cNvSpPr/>
          <p:nvPr/>
        </p:nvSpPr>
        <p:spPr>
          <a:xfrm>
            <a:off x="981075" y="3924300"/>
            <a:ext cx="1066800" cy="571500"/>
          </a:xfrm>
          <a:prstGeom prst="rect">
            <a:avLst/>
          </a:prstGeom>
          <a:solidFill>
            <a:srgbClr val="FBFAF2"/>
          </a:solidFill>
          <a:ln w="9525">
            <a:solidFill>
              <a:srgbClr val="CFC7A6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9" name="Text 57"/>
          <p:cNvSpPr/>
          <p:nvPr/>
        </p:nvSpPr>
        <p:spPr>
          <a:xfrm>
            <a:off x="1037448" y="3952875"/>
            <a:ext cx="79242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675" b="1" dirty="0">
                <a:solidFill>
                  <a:srgbClr val="8C948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11</a:t>
            </a:r>
            <a:endParaRPr lang="en-US" sz="675" dirty="0"/>
          </a:p>
        </p:txBody>
      </p:sp>
      <p:sp>
        <p:nvSpPr>
          <p:cNvPr id="60" name="Text 58"/>
          <p:cNvSpPr/>
          <p:nvPr/>
        </p:nvSpPr>
        <p:spPr>
          <a:xfrm>
            <a:off x="1283589" y="4052888"/>
            <a:ext cx="233172" cy="3143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4321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地</a:t>
            </a:r>
            <a:endParaRPr lang="en-US" sz="1800" dirty="0"/>
          </a:p>
        </p:txBody>
      </p:sp>
      <p:sp>
        <p:nvSpPr>
          <p:cNvPr id="61" name="Text 59"/>
          <p:cNvSpPr/>
          <p:nvPr/>
        </p:nvSpPr>
        <p:spPr>
          <a:xfrm>
            <a:off x="1512189" y="4052888"/>
            <a:ext cx="233172" cy="3143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E08A3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＿</a:t>
            </a:r>
            <a:endParaRPr lang="en-US" sz="1800" dirty="0"/>
          </a:p>
        </p:txBody>
      </p:sp>
      <p:sp>
        <p:nvSpPr>
          <p:cNvPr id="62" name="Text 60"/>
          <p:cNvSpPr/>
          <p:nvPr/>
        </p:nvSpPr>
        <p:spPr>
          <a:xfrm>
            <a:off x="2047875" y="3924300"/>
            <a:ext cx="1066800" cy="571500"/>
          </a:xfrm>
          <a:prstGeom prst="rect">
            <a:avLst/>
          </a:prstGeom>
          <a:solidFill>
            <a:srgbClr val="FBFAF2"/>
          </a:solidFill>
          <a:ln w="9525">
            <a:solidFill>
              <a:srgbClr val="CFC7A6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3" name="Text 61"/>
          <p:cNvSpPr/>
          <p:nvPr/>
        </p:nvSpPr>
        <p:spPr>
          <a:xfrm>
            <a:off x="2104092" y="3952875"/>
            <a:ext cx="95182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675" b="1" dirty="0">
                <a:solidFill>
                  <a:srgbClr val="8C948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12</a:t>
            </a:r>
            <a:endParaRPr lang="en-US" sz="675" dirty="0"/>
          </a:p>
        </p:txBody>
      </p:sp>
      <p:sp>
        <p:nvSpPr>
          <p:cNvPr id="64" name="Text 62"/>
          <p:cNvSpPr/>
          <p:nvPr/>
        </p:nvSpPr>
        <p:spPr>
          <a:xfrm>
            <a:off x="2350389" y="4052888"/>
            <a:ext cx="233172" cy="3143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4321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蓝</a:t>
            </a:r>
            <a:endParaRPr lang="en-US" sz="1800" dirty="0"/>
          </a:p>
        </p:txBody>
      </p:sp>
      <p:sp>
        <p:nvSpPr>
          <p:cNvPr id="65" name="Text 63"/>
          <p:cNvSpPr/>
          <p:nvPr/>
        </p:nvSpPr>
        <p:spPr>
          <a:xfrm>
            <a:off x="2578989" y="4052888"/>
            <a:ext cx="233172" cy="3143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E08A3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＿</a:t>
            </a:r>
            <a:endParaRPr lang="en-US" sz="1800" dirty="0"/>
          </a:p>
        </p:txBody>
      </p:sp>
      <p:sp>
        <p:nvSpPr>
          <p:cNvPr id="66" name="Text 64"/>
          <p:cNvSpPr/>
          <p:nvPr/>
        </p:nvSpPr>
        <p:spPr>
          <a:xfrm>
            <a:off x="3114675" y="3924300"/>
            <a:ext cx="1066800" cy="571500"/>
          </a:xfrm>
          <a:prstGeom prst="rect">
            <a:avLst/>
          </a:prstGeom>
          <a:solidFill>
            <a:srgbClr val="FBFAF2"/>
          </a:solidFill>
          <a:ln w="9525">
            <a:solidFill>
              <a:srgbClr val="CFC7A6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7" name="Text 65"/>
          <p:cNvSpPr/>
          <p:nvPr/>
        </p:nvSpPr>
        <p:spPr>
          <a:xfrm>
            <a:off x="3170887" y="3952875"/>
            <a:ext cx="95637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675" b="1" dirty="0">
                <a:solidFill>
                  <a:srgbClr val="8C948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13</a:t>
            </a:r>
            <a:endParaRPr lang="en-US" sz="675" dirty="0"/>
          </a:p>
        </p:txBody>
      </p:sp>
      <p:sp>
        <p:nvSpPr>
          <p:cNvPr id="68" name="Text 66"/>
          <p:cNvSpPr/>
          <p:nvPr/>
        </p:nvSpPr>
        <p:spPr>
          <a:xfrm>
            <a:off x="3417189" y="4052888"/>
            <a:ext cx="233172" cy="3143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4321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校</a:t>
            </a:r>
            <a:endParaRPr lang="en-US" sz="1800" dirty="0"/>
          </a:p>
        </p:txBody>
      </p:sp>
      <p:sp>
        <p:nvSpPr>
          <p:cNvPr id="69" name="Text 67"/>
          <p:cNvSpPr/>
          <p:nvPr/>
        </p:nvSpPr>
        <p:spPr>
          <a:xfrm>
            <a:off x="3645789" y="4052888"/>
            <a:ext cx="233172" cy="3143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E08A3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＿</a:t>
            </a:r>
            <a:endParaRPr lang="en-US" sz="1800" dirty="0"/>
          </a:p>
        </p:txBody>
      </p:sp>
      <p:sp>
        <p:nvSpPr>
          <p:cNvPr id="70" name="Text 68"/>
          <p:cNvSpPr/>
          <p:nvPr/>
        </p:nvSpPr>
        <p:spPr>
          <a:xfrm>
            <a:off x="4181475" y="3924300"/>
            <a:ext cx="1066800" cy="571500"/>
          </a:xfrm>
          <a:prstGeom prst="rect">
            <a:avLst/>
          </a:prstGeom>
          <a:solidFill>
            <a:srgbClr val="FBFAF2"/>
          </a:solidFill>
          <a:ln w="9525">
            <a:solidFill>
              <a:srgbClr val="CFC7A6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1" name="Text 69"/>
          <p:cNvSpPr/>
          <p:nvPr/>
        </p:nvSpPr>
        <p:spPr>
          <a:xfrm>
            <a:off x="4237681" y="3952875"/>
            <a:ext cx="96244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675" b="1" dirty="0">
                <a:solidFill>
                  <a:srgbClr val="8C948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14</a:t>
            </a:r>
            <a:endParaRPr lang="en-US" sz="675" dirty="0"/>
          </a:p>
        </p:txBody>
      </p:sp>
      <p:sp>
        <p:nvSpPr>
          <p:cNvPr id="72" name="Text 70"/>
          <p:cNvSpPr/>
          <p:nvPr/>
        </p:nvSpPr>
        <p:spPr>
          <a:xfrm>
            <a:off x="4483989" y="4052888"/>
            <a:ext cx="233172" cy="3143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4321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长</a:t>
            </a:r>
            <a:endParaRPr lang="en-US" sz="1800" dirty="0"/>
          </a:p>
        </p:txBody>
      </p:sp>
      <p:sp>
        <p:nvSpPr>
          <p:cNvPr id="73" name="Text 71"/>
          <p:cNvSpPr/>
          <p:nvPr/>
        </p:nvSpPr>
        <p:spPr>
          <a:xfrm>
            <a:off x="4712589" y="4052888"/>
            <a:ext cx="233172" cy="3143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E08A3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＿</a:t>
            </a:r>
            <a:endParaRPr lang="en-US" sz="1800" dirty="0"/>
          </a:p>
        </p:txBody>
      </p:sp>
      <p:sp>
        <p:nvSpPr>
          <p:cNvPr id="74" name="Text 72"/>
          <p:cNvSpPr/>
          <p:nvPr/>
        </p:nvSpPr>
        <p:spPr>
          <a:xfrm>
            <a:off x="5248275" y="3924300"/>
            <a:ext cx="1066800" cy="571500"/>
          </a:xfrm>
          <a:prstGeom prst="rect">
            <a:avLst/>
          </a:prstGeom>
          <a:solidFill>
            <a:srgbClr val="FBFAF2"/>
          </a:solidFill>
          <a:ln w="9525">
            <a:solidFill>
              <a:srgbClr val="CFC7A6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5" name="Text 73"/>
          <p:cNvSpPr/>
          <p:nvPr/>
        </p:nvSpPr>
        <p:spPr>
          <a:xfrm>
            <a:off x="5304489" y="3952875"/>
            <a:ext cx="95485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675" b="1" dirty="0">
                <a:solidFill>
                  <a:srgbClr val="8C948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15</a:t>
            </a:r>
            <a:endParaRPr lang="en-US" sz="675" dirty="0"/>
          </a:p>
        </p:txBody>
      </p:sp>
      <p:sp>
        <p:nvSpPr>
          <p:cNvPr id="76" name="Text 74"/>
          <p:cNvSpPr/>
          <p:nvPr/>
        </p:nvSpPr>
        <p:spPr>
          <a:xfrm>
            <a:off x="5550789" y="4052888"/>
            <a:ext cx="233172" cy="3143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4321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汗</a:t>
            </a:r>
            <a:endParaRPr lang="en-US" sz="1800" dirty="0"/>
          </a:p>
        </p:txBody>
      </p:sp>
      <p:sp>
        <p:nvSpPr>
          <p:cNvPr id="77" name="Text 75"/>
          <p:cNvSpPr/>
          <p:nvPr/>
        </p:nvSpPr>
        <p:spPr>
          <a:xfrm>
            <a:off x="5779389" y="4052888"/>
            <a:ext cx="233172" cy="3143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E08A3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＿</a:t>
            </a:r>
            <a:endParaRPr lang="en-US" sz="1800" dirty="0"/>
          </a:p>
        </p:txBody>
      </p:sp>
      <p:sp>
        <p:nvSpPr>
          <p:cNvPr id="78" name="Text 76"/>
          <p:cNvSpPr/>
          <p:nvPr/>
        </p:nvSpPr>
        <p:spPr>
          <a:xfrm>
            <a:off x="981075" y="4495800"/>
            <a:ext cx="1066800" cy="571500"/>
          </a:xfrm>
          <a:prstGeom prst="rect">
            <a:avLst/>
          </a:prstGeom>
          <a:solidFill>
            <a:srgbClr val="FBFAF2"/>
          </a:solidFill>
          <a:ln w="9525">
            <a:solidFill>
              <a:srgbClr val="CFC7A6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9" name="Text 77"/>
          <p:cNvSpPr/>
          <p:nvPr/>
        </p:nvSpPr>
        <p:spPr>
          <a:xfrm>
            <a:off x="1037280" y="4524375"/>
            <a:ext cx="96396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675" b="1" dirty="0">
                <a:solidFill>
                  <a:srgbClr val="8C948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16</a:t>
            </a:r>
            <a:endParaRPr lang="en-US" sz="675" dirty="0"/>
          </a:p>
        </p:txBody>
      </p:sp>
      <p:sp>
        <p:nvSpPr>
          <p:cNvPr id="80" name="Text 78"/>
          <p:cNvSpPr/>
          <p:nvPr/>
        </p:nvSpPr>
        <p:spPr>
          <a:xfrm>
            <a:off x="1283589" y="4624388"/>
            <a:ext cx="233172" cy="3143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4321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毛</a:t>
            </a:r>
            <a:endParaRPr lang="en-US" sz="1800" dirty="0"/>
          </a:p>
        </p:txBody>
      </p:sp>
      <p:sp>
        <p:nvSpPr>
          <p:cNvPr id="81" name="Text 79"/>
          <p:cNvSpPr/>
          <p:nvPr/>
        </p:nvSpPr>
        <p:spPr>
          <a:xfrm>
            <a:off x="1512189" y="4624388"/>
            <a:ext cx="233172" cy="3143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E08A3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＿</a:t>
            </a:r>
            <a:endParaRPr lang="en-US" sz="1800" dirty="0"/>
          </a:p>
        </p:txBody>
      </p:sp>
      <p:sp>
        <p:nvSpPr>
          <p:cNvPr id="82" name="Text 80"/>
          <p:cNvSpPr/>
          <p:nvPr/>
        </p:nvSpPr>
        <p:spPr>
          <a:xfrm>
            <a:off x="2047875" y="4495800"/>
            <a:ext cx="1066800" cy="571500"/>
          </a:xfrm>
          <a:prstGeom prst="rect">
            <a:avLst/>
          </a:prstGeom>
          <a:solidFill>
            <a:srgbClr val="FBFAF2"/>
          </a:solidFill>
          <a:ln w="9525">
            <a:solidFill>
              <a:srgbClr val="CFC7A6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3" name="Text 81"/>
          <p:cNvSpPr/>
          <p:nvPr/>
        </p:nvSpPr>
        <p:spPr>
          <a:xfrm>
            <a:off x="2104129" y="4524375"/>
            <a:ext cx="91386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675" b="1" dirty="0">
                <a:solidFill>
                  <a:srgbClr val="8C948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17</a:t>
            </a:r>
            <a:endParaRPr lang="en-US" sz="675" dirty="0"/>
          </a:p>
        </p:txBody>
      </p:sp>
      <p:sp>
        <p:nvSpPr>
          <p:cNvPr id="84" name="Text 82"/>
          <p:cNvSpPr/>
          <p:nvPr/>
        </p:nvSpPr>
        <p:spPr>
          <a:xfrm>
            <a:off x="2350389" y="4624388"/>
            <a:ext cx="233172" cy="3143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4321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喜</a:t>
            </a:r>
            <a:endParaRPr lang="en-US" sz="1800" dirty="0"/>
          </a:p>
        </p:txBody>
      </p:sp>
      <p:sp>
        <p:nvSpPr>
          <p:cNvPr id="85" name="Text 83"/>
          <p:cNvSpPr/>
          <p:nvPr/>
        </p:nvSpPr>
        <p:spPr>
          <a:xfrm>
            <a:off x="2578989" y="4624388"/>
            <a:ext cx="233172" cy="3143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E08A3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＿</a:t>
            </a:r>
            <a:endParaRPr lang="en-US" sz="1800" dirty="0"/>
          </a:p>
        </p:txBody>
      </p:sp>
      <p:sp>
        <p:nvSpPr>
          <p:cNvPr id="86" name="Text 84"/>
          <p:cNvSpPr/>
          <p:nvPr/>
        </p:nvSpPr>
        <p:spPr>
          <a:xfrm>
            <a:off x="3114675" y="4495800"/>
            <a:ext cx="1066800" cy="571500"/>
          </a:xfrm>
          <a:prstGeom prst="rect">
            <a:avLst/>
          </a:prstGeom>
          <a:solidFill>
            <a:srgbClr val="FBFAF2"/>
          </a:solidFill>
          <a:ln w="9525">
            <a:solidFill>
              <a:srgbClr val="CFC7A6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7" name="Text 85"/>
          <p:cNvSpPr/>
          <p:nvPr/>
        </p:nvSpPr>
        <p:spPr>
          <a:xfrm>
            <a:off x="3170881" y="4524375"/>
            <a:ext cx="96244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675" b="1" dirty="0">
                <a:solidFill>
                  <a:srgbClr val="8C948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18</a:t>
            </a:r>
            <a:endParaRPr lang="en-US" sz="675" dirty="0"/>
          </a:p>
        </p:txBody>
      </p:sp>
      <p:sp>
        <p:nvSpPr>
          <p:cNvPr id="88" name="Text 86"/>
          <p:cNvSpPr/>
          <p:nvPr/>
        </p:nvSpPr>
        <p:spPr>
          <a:xfrm>
            <a:off x="3417189" y="4624388"/>
            <a:ext cx="233172" cy="3143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4321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起</a:t>
            </a:r>
            <a:endParaRPr lang="en-US" sz="1800" dirty="0"/>
          </a:p>
        </p:txBody>
      </p:sp>
      <p:sp>
        <p:nvSpPr>
          <p:cNvPr id="89" name="Text 87"/>
          <p:cNvSpPr/>
          <p:nvPr/>
        </p:nvSpPr>
        <p:spPr>
          <a:xfrm>
            <a:off x="3645789" y="4624388"/>
            <a:ext cx="233172" cy="3143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E08A3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＿</a:t>
            </a:r>
            <a:endParaRPr lang="en-US" sz="1800" dirty="0"/>
          </a:p>
        </p:txBody>
      </p:sp>
      <p:sp>
        <p:nvSpPr>
          <p:cNvPr id="90" name="Text 88"/>
          <p:cNvSpPr/>
          <p:nvPr/>
        </p:nvSpPr>
        <p:spPr>
          <a:xfrm>
            <a:off x="4181475" y="4495800"/>
            <a:ext cx="1066800" cy="571500"/>
          </a:xfrm>
          <a:prstGeom prst="rect">
            <a:avLst/>
          </a:prstGeom>
          <a:solidFill>
            <a:srgbClr val="FBFAF2"/>
          </a:solidFill>
          <a:ln w="9525">
            <a:solidFill>
              <a:srgbClr val="CFC7A6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1" name="Text 89"/>
          <p:cNvSpPr/>
          <p:nvPr/>
        </p:nvSpPr>
        <p:spPr>
          <a:xfrm>
            <a:off x="4237680" y="4524375"/>
            <a:ext cx="96396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675" b="1" dirty="0">
                <a:solidFill>
                  <a:srgbClr val="8C948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19</a:t>
            </a:r>
            <a:endParaRPr lang="en-US" sz="675" dirty="0"/>
          </a:p>
        </p:txBody>
      </p:sp>
      <p:sp>
        <p:nvSpPr>
          <p:cNvPr id="92" name="Text 90"/>
          <p:cNvSpPr/>
          <p:nvPr/>
        </p:nvSpPr>
        <p:spPr>
          <a:xfrm>
            <a:off x="4483989" y="4624388"/>
            <a:ext cx="233172" cy="3143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4321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早</a:t>
            </a:r>
            <a:endParaRPr lang="en-US" sz="1800" dirty="0"/>
          </a:p>
        </p:txBody>
      </p:sp>
      <p:sp>
        <p:nvSpPr>
          <p:cNvPr id="93" name="Text 91"/>
          <p:cNvSpPr/>
          <p:nvPr/>
        </p:nvSpPr>
        <p:spPr>
          <a:xfrm>
            <a:off x="4712589" y="4624388"/>
            <a:ext cx="233172" cy="3143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E08A3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＿</a:t>
            </a:r>
            <a:endParaRPr lang="en-US" sz="1800" dirty="0"/>
          </a:p>
        </p:txBody>
      </p:sp>
      <p:sp>
        <p:nvSpPr>
          <p:cNvPr id="94" name="Text 92"/>
          <p:cNvSpPr/>
          <p:nvPr/>
        </p:nvSpPr>
        <p:spPr>
          <a:xfrm>
            <a:off x="5248275" y="4495800"/>
            <a:ext cx="1066800" cy="571500"/>
          </a:xfrm>
          <a:prstGeom prst="rect">
            <a:avLst/>
          </a:prstGeom>
          <a:solidFill>
            <a:srgbClr val="FBFAF2"/>
          </a:solidFill>
          <a:ln w="9525">
            <a:solidFill>
              <a:srgbClr val="CFC7A6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5" name="Text 93"/>
          <p:cNvSpPr/>
          <p:nvPr/>
        </p:nvSpPr>
        <p:spPr>
          <a:xfrm>
            <a:off x="5304322" y="4524375"/>
            <a:ext cx="112487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675" b="1" dirty="0">
                <a:solidFill>
                  <a:srgbClr val="8C948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20</a:t>
            </a:r>
            <a:endParaRPr lang="en-US" sz="675" dirty="0"/>
          </a:p>
        </p:txBody>
      </p:sp>
      <p:sp>
        <p:nvSpPr>
          <p:cNvPr id="96" name="Text 94"/>
          <p:cNvSpPr/>
          <p:nvPr/>
        </p:nvSpPr>
        <p:spPr>
          <a:xfrm>
            <a:off x="5550789" y="4624388"/>
            <a:ext cx="233172" cy="3143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4321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火</a:t>
            </a:r>
            <a:endParaRPr lang="en-US" sz="1800" dirty="0"/>
          </a:p>
        </p:txBody>
      </p:sp>
      <p:sp>
        <p:nvSpPr>
          <p:cNvPr id="97" name="Text 95"/>
          <p:cNvSpPr/>
          <p:nvPr/>
        </p:nvSpPr>
        <p:spPr>
          <a:xfrm>
            <a:off x="5779389" y="4624388"/>
            <a:ext cx="233172" cy="3143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E08A3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＿</a:t>
            </a:r>
            <a:endParaRPr lang="en-US" sz="1800" dirty="0"/>
          </a:p>
        </p:txBody>
      </p:sp>
      <p:sp>
        <p:nvSpPr>
          <p:cNvPr id="98" name="Text 96"/>
          <p:cNvSpPr/>
          <p:nvPr/>
        </p:nvSpPr>
        <p:spPr>
          <a:xfrm>
            <a:off x="6610350" y="2390775"/>
            <a:ext cx="10725150" cy="1895475"/>
          </a:xfrm>
          <a:prstGeom prst="roundRect">
            <a:avLst>
              <a:gd name="adj" fmla="val 10050"/>
            </a:avLst>
          </a:prstGeom>
          <a:solidFill>
            <a:srgbClr val="F2EFDE"/>
          </a:solidFill>
          <a:ln w="9525">
            <a:solidFill>
              <a:srgbClr val="E1DBC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9" name="Text 97"/>
          <p:cNvSpPr/>
          <p:nvPr/>
        </p:nvSpPr>
        <p:spPr>
          <a:xfrm>
            <a:off x="6829425" y="2590800"/>
            <a:ext cx="1164494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900"/>
              </a:spcAft>
              <a:buNone/>
            </a:pPr>
            <a:r>
              <a:rPr lang="en-US" sz="1050" b="1" dirty="0">
                <a:solidFill>
                  <a:srgbClr val="C94F3D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HOW TO PLAY</a:t>
            </a:r>
            <a:endParaRPr lang="en-US" sz="1050" dirty="0"/>
          </a:p>
        </p:txBody>
      </p:sp>
      <p:sp>
        <p:nvSpPr>
          <p:cNvPr id="100" name="Text 98"/>
          <p:cNvSpPr/>
          <p:nvPr/>
        </p:nvSpPr>
        <p:spPr>
          <a:xfrm>
            <a:off x="6829425" y="2800350"/>
            <a:ext cx="204026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50" dirty="0">
                <a:solidFill>
                  <a:srgbClr val="24321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1️⃣</a:t>
            </a:r>
            <a:endParaRPr lang="en-US" sz="1350" dirty="0"/>
          </a:p>
        </p:txBody>
      </p:sp>
      <p:sp>
        <p:nvSpPr>
          <p:cNvPr id="101" name="Text 99"/>
          <p:cNvSpPr/>
          <p:nvPr/>
        </p:nvSpPr>
        <p:spPr>
          <a:xfrm>
            <a:off x="7143750" y="2781300"/>
            <a:ext cx="6915159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50" dirty="0">
                <a:solidFill>
                  <a:srgbClr val="24321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Grid projected or printed </a:t>
            </a:r>
            <a:r>
              <a:rPr lang="en-US" sz="1350" b="1" dirty="0">
                <a:solidFill>
                  <a:srgbClr val="24321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one per team</a:t>
            </a:r>
            <a:r>
              <a:rPr lang="en-US" sz="1350" dirty="0">
                <a:solidFill>
                  <a:srgbClr val="24321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— 20 base characters, each with a blank.</a:t>
            </a:r>
            <a:endParaRPr lang="en-US" sz="1350" dirty="0"/>
          </a:p>
        </p:txBody>
      </p:sp>
      <p:sp>
        <p:nvSpPr>
          <p:cNvPr id="102" name="Text 100"/>
          <p:cNvSpPr/>
          <p:nvPr/>
        </p:nvSpPr>
        <p:spPr>
          <a:xfrm>
            <a:off x="6829425" y="3152775"/>
            <a:ext cx="204026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50" dirty="0">
                <a:solidFill>
                  <a:srgbClr val="24321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2️⃣</a:t>
            </a:r>
            <a:endParaRPr lang="en-US" sz="1350" dirty="0"/>
          </a:p>
        </p:txBody>
      </p:sp>
      <p:sp>
        <p:nvSpPr>
          <p:cNvPr id="103" name="Text 101"/>
          <p:cNvSpPr/>
          <p:nvPr/>
        </p:nvSpPr>
        <p:spPr>
          <a:xfrm>
            <a:off x="7143750" y="3133725"/>
            <a:ext cx="7921776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50" dirty="0">
                <a:solidFill>
                  <a:srgbClr val="24321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Teams add </a:t>
            </a:r>
            <a:r>
              <a:rPr lang="en-US" sz="1350" b="1" dirty="0">
                <a:solidFill>
                  <a:srgbClr val="24321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one character</a:t>
            </a:r>
            <a:r>
              <a:rPr lang="en-US" sz="1350" dirty="0">
                <a:solidFill>
                  <a:srgbClr val="24321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to each base to form a valid </a:t>
            </a:r>
            <a:r>
              <a:rPr lang="en-US" sz="1350" b="1" dirty="0">
                <a:solidFill>
                  <a:srgbClr val="24321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two-character word</a:t>
            </a:r>
            <a:r>
              <a:rPr lang="en-US" sz="1350" dirty="0">
                <a:solidFill>
                  <a:srgbClr val="24321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(e.g. 黄瓜, 电脑).</a:t>
            </a:r>
            <a:endParaRPr lang="en-US" sz="1350" dirty="0"/>
          </a:p>
        </p:txBody>
      </p:sp>
      <p:sp>
        <p:nvSpPr>
          <p:cNvPr id="104" name="Text 102"/>
          <p:cNvSpPr/>
          <p:nvPr/>
        </p:nvSpPr>
        <p:spPr>
          <a:xfrm>
            <a:off x="6829425" y="3505200"/>
            <a:ext cx="204026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50" dirty="0">
                <a:solidFill>
                  <a:srgbClr val="24321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3️⃣</a:t>
            </a:r>
            <a:endParaRPr lang="en-US" sz="1350" dirty="0"/>
          </a:p>
        </p:txBody>
      </p:sp>
      <p:sp>
        <p:nvSpPr>
          <p:cNvPr id="105" name="Text 103"/>
          <p:cNvSpPr/>
          <p:nvPr/>
        </p:nvSpPr>
        <p:spPr>
          <a:xfrm>
            <a:off x="7143750" y="3486150"/>
            <a:ext cx="6171164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50" dirty="0">
                <a:solidFill>
                  <a:srgbClr val="24321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Write the </a:t>
            </a:r>
            <a:r>
              <a:rPr lang="en-US" sz="1350" b="1" dirty="0">
                <a:solidFill>
                  <a:srgbClr val="24321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character</a:t>
            </a:r>
            <a:r>
              <a:rPr lang="en-US" sz="1350" dirty="0">
                <a:solidFill>
                  <a:srgbClr val="24321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if known, or </a:t>
            </a:r>
            <a:r>
              <a:rPr lang="en-US" sz="1350" b="1" dirty="0">
                <a:solidFill>
                  <a:srgbClr val="24321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pinyin</a:t>
            </a:r>
            <a:r>
              <a:rPr lang="en-US" sz="1350" dirty="0">
                <a:solidFill>
                  <a:srgbClr val="24321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if not — both count as attempts.</a:t>
            </a:r>
            <a:endParaRPr lang="en-US" sz="1350" dirty="0"/>
          </a:p>
        </p:txBody>
      </p:sp>
      <p:sp>
        <p:nvSpPr>
          <p:cNvPr id="106" name="Text 104"/>
          <p:cNvSpPr/>
          <p:nvPr/>
        </p:nvSpPr>
        <p:spPr>
          <a:xfrm>
            <a:off x="6829425" y="3857625"/>
            <a:ext cx="204026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50" dirty="0">
                <a:solidFill>
                  <a:srgbClr val="24321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🏆</a:t>
            </a:r>
            <a:endParaRPr lang="en-US" sz="1350" dirty="0"/>
          </a:p>
        </p:txBody>
      </p:sp>
      <p:sp>
        <p:nvSpPr>
          <p:cNvPr id="107" name="Text 105"/>
          <p:cNvSpPr/>
          <p:nvPr/>
        </p:nvSpPr>
        <p:spPr>
          <a:xfrm>
            <a:off x="7143750" y="3838575"/>
            <a:ext cx="4600745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24321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Most correctly completed items</a:t>
            </a:r>
            <a:r>
              <a:rPr lang="en-US" sz="1350" dirty="0">
                <a:solidFill>
                  <a:srgbClr val="24321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after time's up wins.</a:t>
            </a:r>
            <a:endParaRPr lang="en-US" sz="1350" dirty="0"/>
          </a:p>
        </p:txBody>
      </p:sp>
      <p:sp>
        <p:nvSpPr>
          <p:cNvPr id="108" name="Text 106"/>
          <p:cNvSpPr/>
          <p:nvPr/>
        </p:nvSpPr>
        <p:spPr>
          <a:xfrm>
            <a:off x="6610350" y="4419600"/>
            <a:ext cx="10725150" cy="704850"/>
          </a:xfrm>
          <a:prstGeom prst="roundRect">
            <a:avLst>
              <a:gd name="adj" fmla="val 16216"/>
            </a:avLst>
          </a:prstGeom>
          <a:solidFill>
            <a:srgbClr val="C94F3D">
              <a:alpha val="10000"/>
            </a:srgbClr>
          </a:solidFill>
          <a:ln w="19050">
            <a:solidFill>
              <a:srgbClr val="C94F3D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9" name="Text 107"/>
          <p:cNvSpPr/>
          <p:nvPr/>
        </p:nvSpPr>
        <p:spPr>
          <a:xfrm>
            <a:off x="6800850" y="4643438"/>
            <a:ext cx="213741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24321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🗂️</a:t>
            </a:r>
            <a:endParaRPr lang="en-US" sz="1500" dirty="0"/>
          </a:p>
        </p:txBody>
      </p:sp>
      <p:sp>
        <p:nvSpPr>
          <p:cNvPr id="110" name="Text 108"/>
          <p:cNvSpPr/>
          <p:nvPr/>
        </p:nvSpPr>
        <p:spPr>
          <a:xfrm>
            <a:off x="7143750" y="4552950"/>
            <a:ext cx="1169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75" b="1" dirty="0">
                <a:solidFill>
                  <a:srgbClr val="C94F3D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Setup Needed</a:t>
            </a:r>
            <a:endParaRPr lang="en-US" sz="1275" dirty="0"/>
          </a:p>
        </p:txBody>
      </p:sp>
      <p:sp>
        <p:nvSpPr>
          <p:cNvPr id="111" name="Text 109"/>
          <p:cNvSpPr/>
          <p:nvPr/>
        </p:nvSpPr>
        <p:spPr>
          <a:xfrm>
            <a:off x="7143750" y="4800600"/>
            <a:ext cx="5265497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8C948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Grid projected or printed per team; whiteboard for teams to write their answers</a:t>
            </a:r>
            <a:endParaRPr lang="en-US" sz="1050" dirty="0"/>
          </a:p>
        </p:txBody>
      </p:sp>
      <p:sp>
        <p:nvSpPr>
          <p:cNvPr id="112" name="Text 110"/>
          <p:cNvSpPr/>
          <p:nvPr/>
        </p:nvSpPr>
        <p:spPr>
          <a:xfrm>
            <a:off x="6610350" y="5219700"/>
            <a:ext cx="8693399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63"/>
              </a:lnSpc>
              <a:buNone/>
            </a:pPr>
            <a:r>
              <a:rPr lang="en-US" sz="975" dirty="0">
                <a:solidFill>
                  <a:srgbClr val="8C948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Grid drawn from the textbook's own word-building set, Act.17 — bases mix Unit 3 and Unit 4 characters, so every student has an entry point.</a:t>
            </a:r>
            <a:endParaRPr lang="en-US" sz="975" dirty="0"/>
          </a:p>
        </p:txBody>
      </p:sp>
      <p:sp>
        <p:nvSpPr>
          <p:cNvPr id="113" name="Shape 111"/>
          <p:cNvSpPr/>
          <p:nvPr/>
        </p:nvSpPr>
        <p:spPr>
          <a:xfrm>
            <a:off x="0" y="9786938"/>
            <a:ext cx="18288000" cy="0"/>
          </a:xfrm>
          <a:prstGeom prst="line">
            <a:avLst/>
          </a:prstGeom>
          <a:noFill/>
          <a:ln w="9525">
            <a:solidFill>
              <a:srgbClr val="E1DBC0"/>
            </a:solidFill>
            <a:prstDash val="solid"/>
          </a:ln>
        </p:spPr>
      </p:sp>
      <p:sp>
        <p:nvSpPr>
          <p:cNvPr id="114" name="Text 112"/>
          <p:cNvSpPr/>
          <p:nvPr/>
        </p:nvSpPr>
        <p:spPr>
          <a:xfrm>
            <a:off x="762000" y="9958388"/>
            <a:ext cx="3236476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8C948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Y8 Chinese · Unit 4 Vegetables &amp; Fruits 蔬菜、水果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BFA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8288000" cy="771525"/>
          </a:xfrm>
          <a:prstGeom prst="rect">
            <a:avLst/>
          </a:prstGeom>
          <a:solidFill>
            <a:srgbClr val="FBFAF2">
              <a:alpha val="92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0" y="766763"/>
            <a:ext cx="18288000" cy="0"/>
          </a:xfrm>
          <a:prstGeom prst="line">
            <a:avLst/>
          </a:prstGeom>
          <a:noFill/>
          <a:ln w="9525">
            <a:solidFill>
              <a:srgbClr val="E1DBC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62000" y="285750"/>
            <a:ext cx="1817709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5C8A3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L8 · CONSOLIDATION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2934593" y="280988"/>
            <a:ext cx="1505295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25" dirty="0">
                <a:solidFill>
                  <a:srgbClr val="5C665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Plenary · 43–50 min</a:t>
            </a:r>
            <a:endParaRPr lang="en-US" sz="1125" dirty="0"/>
          </a:p>
        </p:txBody>
      </p:sp>
      <p:sp>
        <p:nvSpPr>
          <p:cNvPr id="6" name="Text 4"/>
          <p:cNvSpPr/>
          <p:nvPr/>
        </p:nvSpPr>
        <p:spPr>
          <a:xfrm>
            <a:off x="762000" y="0"/>
            <a:ext cx="16764000" cy="38100"/>
          </a:xfrm>
          <a:prstGeom prst="rect">
            <a:avLst/>
          </a:prstGeom>
          <a:solidFill>
            <a:srgbClr val="5C8A3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1238250" y="2910036"/>
            <a:ext cx="915838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C94F3D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PLENARY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238250" y="3214836"/>
            <a:ext cx="4168860" cy="590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300" b="1" dirty="0">
                <a:solidFill>
                  <a:srgbClr val="24321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总结 · Final Wrap-Up</a:t>
            </a:r>
            <a:endParaRPr lang="en-US" sz="3300" dirty="0"/>
          </a:p>
        </p:txBody>
      </p:sp>
      <p:sp>
        <p:nvSpPr>
          <p:cNvPr id="9" name="Text 7"/>
          <p:cNvSpPr/>
          <p:nvPr/>
        </p:nvSpPr>
        <p:spPr>
          <a:xfrm>
            <a:off x="1238250" y="4014936"/>
            <a:ext cx="7411343" cy="2638127"/>
          </a:xfrm>
          <a:prstGeom prst="roundRect">
            <a:avLst>
              <a:gd name="adj" fmla="val 7221"/>
            </a:avLst>
          </a:prstGeom>
          <a:solidFill>
            <a:srgbClr val="F2EFDE"/>
          </a:solidFill>
          <a:ln w="9525">
            <a:solidFill>
              <a:srgbClr val="E1DBC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1495425" y="4243536"/>
            <a:ext cx="2401854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050"/>
              </a:spcAft>
              <a:buNone/>
            </a:pPr>
            <a:r>
              <a:rPr lang="en-US" sz="1125" b="1" dirty="0">
                <a:solidFill>
                  <a:srgbClr val="5C8A3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REVISIT SUCCESS CRITERIA</a:t>
            </a:r>
            <a:endParaRPr lang="en-US" sz="1125" dirty="0"/>
          </a:p>
        </p:txBody>
      </p:sp>
      <p:sp>
        <p:nvSpPr>
          <p:cNvPr id="11" name="Text 9"/>
          <p:cNvSpPr/>
          <p:nvPr/>
        </p:nvSpPr>
        <p:spPr>
          <a:xfrm>
            <a:off x="1495425" y="4443561"/>
            <a:ext cx="266700" cy="266700"/>
          </a:xfrm>
          <a:prstGeom prst="roundRect">
            <a:avLst>
              <a:gd name="adj" fmla="val 342857"/>
            </a:avLst>
          </a:prstGeom>
          <a:solidFill>
            <a:srgbClr val="5C8A3A">
              <a:alpha val="12000"/>
            </a:srgbClr>
          </a:solidFill>
          <a:ln w="9525">
            <a:solidFill>
              <a:srgbClr val="5C8A3A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1552575" y="4490293"/>
            <a:ext cx="155448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5"/>
              </a:lnSpc>
              <a:buNone/>
            </a:pPr>
            <a:r>
              <a:rPr lang="en-US" sz="975" dirty="0">
                <a:solidFill>
                  <a:srgbClr val="5C665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👍</a:t>
            </a:r>
            <a:endParaRPr lang="en-US" sz="975" dirty="0"/>
          </a:p>
        </p:txBody>
      </p:sp>
      <p:sp>
        <p:nvSpPr>
          <p:cNvPr id="13" name="Text 11"/>
          <p:cNvSpPr/>
          <p:nvPr/>
        </p:nvSpPr>
        <p:spPr>
          <a:xfrm>
            <a:off x="1809750" y="4443561"/>
            <a:ext cx="266700" cy="266700"/>
          </a:xfrm>
          <a:prstGeom prst="roundRect">
            <a:avLst>
              <a:gd name="adj" fmla="val 342857"/>
            </a:avLst>
          </a:prstGeom>
          <a:solidFill>
            <a:srgbClr val="E08A3C">
              <a:alpha val="12000"/>
            </a:srgbClr>
          </a:solidFill>
          <a:ln w="9525">
            <a:solidFill>
              <a:srgbClr val="E08A3C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1866900" y="4490293"/>
            <a:ext cx="155448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5"/>
              </a:lnSpc>
              <a:buNone/>
            </a:pPr>
            <a:r>
              <a:rPr lang="en-US" sz="975" dirty="0">
                <a:solidFill>
                  <a:srgbClr val="5C665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✋</a:t>
            </a:r>
            <a:endParaRPr lang="en-US" sz="975" dirty="0"/>
          </a:p>
        </p:txBody>
      </p:sp>
      <p:sp>
        <p:nvSpPr>
          <p:cNvPr id="15" name="Text 13"/>
          <p:cNvSpPr/>
          <p:nvPr/>
        </p:nvSpPr>
        <p:spPr>
          <a:xfrm>
            <a:off x="2124075" y="4443561"/>
            <a:ext cx="266700" cy="266700"/>
          </a:xfrm>
          <a:prstGeom prst="roundRect">
            <a:avLst>
              <a:gd name="adj" fmla="val 342857"/>
            </a:avLst>
          </a:prstGeom>
          <a:solidFill>
            <a:srgbClr val="C94F3D">
              <a:alpha val="10000"/>
            </a:srgbClr>
          </a:solidFill>
          <a:ln w="9525">
            <a:solidFill>
              <a:srgbClr val="C94F3D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2181225" y="4490293"/>
            <a:ext cx="155448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5"/>
              </a:lnSpc>
              <a:buNone/>
            </a:pPr>
            <a:r>
              <a:rPr lang="en-US" sz="975" dirty="0">
                <a:solidFill>
                  <a:srgbClr val="5C665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👎</a:t>
            </a:r>
            <a:endParaRPr lang="en-US" sz="975" dirty="0"/>
          </a:p>
        </p:txBody>
      </p:sp>
      <p:sp>
        <p:nvSpPr>
          <p:cNvPr id="17" name="Text 15"/>
          <p:cNvSpPr/>
          <p:nvPr/>
        </p:nvSpPr>
        <p:spPr>
          <a:xfrm>
            <a:off x="2524125" y="4470202"/>
            <a:ext cx="3030477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C665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Hold a conversation using 应该 and 可是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1495425" y="4805511"/>
            <a:ext cx="266700" cy="266700"/>
          </a:xfrm>
          <a:prstGeom prst="roundRect">
            <a:avLst>
              <a:gd name="adj" fmla="val 342857"/>
            </a:avLst>
          </a:prstGeom>
          <a:solidFill>
            <a:srgbClr val="5C8A3A">
              <a:alpha val="12000"/>
            </a:srgbClr>
          </a:solidFill>
          <a:ln w="9525">
            <a:solidFill>
              <a:srgbClr val="5C8A3A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9" name="Text 17"/>
          <p:cNvSpPr/>
          <p:nvPr/>
        </p:nvSpPr>
        <p:spPr>
          <a:xfrm>
            <a:off x="1552575" y="4852243"/>
            <a:ext cx="155448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5"/>
              </a:lnSpc>
              <a:buNone/>
            </a:pPr>
            <a:r>
              <a:rPr lang="en-US" sz="975" dirty="0">
                <a:solidFill>
                  <a:srgbClr val="5C665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👍</a:t>
            </a:r>
            <a:endParaRPr lang="en-US" sz="975" dirty="0"/>
          </a:p>
        </p:txBody>
      </p:sp>
      <p:sp>
        <p:nvSpPr>
          <p:cNvPr id="20" name="Text 18"/>
          <p:cNvSpPr/>
          <p:nvPr/>
        </p:nvSpPr>
        <p:spPr>
          <a:xfrm>
            <a:off x="1809750" y="4805511"/>
            <a:ext cx="266700" cy="266700"/>
          </a:xfrm>
          <a:prstGeom prst="roundRect">
            <a:avLst>
              <a:gd name="adj" fmla="val 342857"/>
            </a:avLst>
          </a:prstGeom>
          <a:solidFill>
            <a:srgbClr val="E08A3C">
              <a:alpha val="12000"/>
            </a:srgbClr>
          </a:solidFill>
          <a:ln w="9525">
            <a:solidFill>
              <a:srgbClr val="E08A3C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1" name="Text 19"/>
          <p:cNvSpPr/>
          <p:nvPr/>
        </p:nvSpPr>
        <p:spPr>
          <a:xfrm>
            <a:off x="1866900" y="4852243"/>
            <a:ext cx="155448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5"/>
              </a:lnSpc>
              <a:buNone/>
            </a:pPr>
            <a:r>
              <a:rPr lang="en-US" sz="975" dirty="0">
                <a:solidFill>
                  <a:srgbClr val="5C665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✋</a:t>
            </a:r>
            <a:endParaRPr lang="en-US" sz="975" dirty="0"/>
          </a:p>
        </p:txBody>
      </p:sp>
      <p:sp>
        <p:nvSpPr>
          <p:cNvPr id="22" name="Text 20"/>
          <p:cNvSpPr/>
          <p:nvPr/>
        </p:nvSpPr>
        <p:spPr>
          <a:xfrm>
            <a:off x="2124075" y="4805511"/>
            <a:ext cx="266700" cy="266700"/>
          </a:xfrm>
          <a:prstGeom prst="roundRect">
            <a:avLst>
              <a:gd name="adj" fmla="val 342857"/>
            </a:avLst>
          </a:prstGeom>
          <a:solidFill>
            <a:srgbClr val="C94F3D">
              <a:alpha val="10000"/>
            </a:srgbClr>
          </a:solidFill>
          <a:ln w="9525">
            <a:solidFill>
              <a:srgbClr val="C94F3D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3" name="Text 21"/>
          <p:cNvSpPr/>
          <p:nvPr/>
        </p:nvSpPr>
        <p:spPr>
          <a:xfrm>
            <a:off x="2181225" y="4852243"/>
            <a:ext cx="155448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5"/>
              </a:lnSpc>
              <a:buNone/>
            </a:pPr>
            <a:r>
              <a:rPr lang="en-US" sz="975" dirty="0">
                <a:solidFill>
                  <a:srgbClr val="5C665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👎</a:t>
            </a:r>
            <a:endParaRPr lang="en-US" sz="975" dirty="0"/>
          </a:p>
        </p:txBody>
      </p:sp>
      <p:sp>
        <p:nvSpPr>
          <p:cNvPr id="24" name="Text 22"/>
          <p:cNvSpPr/>
          <p:nvPr/>
        </p:nvSpPr>
        <p:spPr>
          <a:xfrm>
            <a:off x="2524125" y="4832152"/>
            <a:ext cx="3355035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C665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Ask &amp; answer "whose is this?" with 是……的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1495425" y="5167461"/>
            <a:ext cx="266700" cy="266700"/>
          </a:xfrm>
          <a:prstGeom prst="roundRect">
            <a:avLst>
              <a:gd name="adj" fmla="val 342857"/>
            </a:avLst>
          </a:prstGeom>
          <a:solidFill>
            <a:srgbClr val="5C8A3A">
              <a:alpha val="12000"/>
            </a:srgbClr>
          </a:solidFill>
          <a:ln w="9525">
            <a:solidFill>
              <a:srgbClr val="5C8A3A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6" name="Text 24"/>
          <p:cNvSpPr/>
          <p:nvPr/>
        </p:nvSpPr>
        <p:spPr>
          <a:xfrm>
            <a:off x="1552575" y="5214193"/>
            <a:ext cx="155448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5"/>
              </a:lnSpc>
              <a:buNone/>
            </a:pPr>
            <a:r>
              <a:rPr lang="en-US" sz="975" dirty="0">
                <a:solidFill>
                  <a:srgbClr val="5C665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👍</a:t>
            </a:r>
            <a:endParaRPr lang="en-US" sz="975" dirty="0"/>
          </a:p>
        </p:txBody>
      </p:sp>
      <p:sp>
        <p:nvSpPr>
          <p:cNvPr id="27" name="Text 25"/>
          <p:cNvSpPr/>
          <p:nvPr/>
        </p:nvSpPr>
        <p:spPr>
          <a:xfrm>
            <a:off x="1809750" y="5167461"/>
            <a:ext cx="266700" cy="266700"/>
          </a:xfrm>
          <a:prstGeom prst="roundRect">
            <a:avLst>
              <a:gd name="adj" fmla="val 342857"/>
            </a:avLst>
          </a:prstGeom>
          <a:solidFill>
            <a:srgbClr val="E08A3C">
              <a:alpha val="12000"/>
            </a:srgbClr>
          </a:solidFill>
          <a:ln w="9525">
            <a:solidFill>
              <a:srgbClr val="E08A3C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8" name="Text 26"/>
          <p:cNvSpPr/>
          <p:nvPr/>
        </p:nvSpPr>
        <p:spPr>
          <a:xfrm>
            <a:off x="1866900" y="5214193"/>
            <a:ext cx="155448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5"/>
              </a:lnSpc>
              <a:buNone/>
            </a:pPr>
            <a:r>
              <a:rPr lang="en-US" sz="975" dirty="0">
                <a:solidFill>
                  <a:srgbClr val="5C665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✋</a:t>
            </a:r>
            <a:endParaRPr lang="en-US" sz="975" dirty="0"/>
          </a:p>
        </p:txBody>
      </p:sp>
      <p:sp>
        <p:nvSpPr>
          <p:cNvPr id="29" name="Text 27"/>
          <p:cNvSpPr/>
          <p:nvPr/>
        </p:nvSpPr>
        <p:spPr>
          <a:xfrm>
            <a:off x="2124075" y="5167461"/>
            <a:ext cx="266700" cy="266700"/>
          </a:xfrm>
          <a:prstGeom prst="roundRect">
            <a:avLst>
              <a:gd name="adj" fmla="val 342857"/>
            </a:avLst>
          </a:prstGeom>
          <a:solidFill>
            <a:srgbClr val="C94F3D">
              <a:alpha val="10000"/>
            </a:srgbClr>
          </a:solidFill>
          <a:ln w="9525">
            <a:solidFill>
              <a:srgbClr val="C94F3D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0" name="Text 28"/>
          <p:cNvSpPr/>
          <p:nvPr/>
        </p:nvSpPr>
        <p:spPr>
          <a:xfrm>
            <a:off x="2181225" y="5214193"/>
            <a:ext cx="155448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5"/>
              </a:lnSpc>
              <a:buNone/>
            </a:pPr>
            <a:r>
              <a:rPr lang="en-US" sz="975" dirty="0">
                <a:solidFill>
                  <a:srgbClr val="5C665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👎</a:t>
            </a:r>
            <a:endParaRPr lang="en-US" sz="975" dirty="0"/>
          </a:p>
        </p:txBody>
      </p:sp>
      <p:sp>
        <p:nvSpPr>
          <p:cNvPr id="31" name="Text 29"/>
          <p:cNvSpPr/>
          <p:nvPr/>
        </p:nvSpPr>
        <p:spPr>
          <a:xfrm>
            <a:off x="2524125" y="5194102"/>
            <a:ext cx="3146911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C665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Build new words by combining characters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1495425" y="5529411"/>
            <a:ext cx="266700" cy="266700"/>
          </a:xfrm>
          <a:prstGeom prst="roundRect">
            <a:avLst>
              <a:gd name="adj" fmla="val 342857"/>
            </a:avLst>
          </a:prstGeom>
          <a:solidFill>
            <a:srgbClr val="5C8A3A">
              <a:alpha val="12000"/>
            </a:srgbClr>
          </a:solidFill>
          <a:ln w="9525">
            <a:solidFill>
              <a:srgbClr val="5C8A3A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3" name="Text 31"/>
          <p:cNvSpPr/>
          <p:nvPr/>
        </p:nvSpPr>
        <p:spPr>
          <a:xfrm>
            <a:off x="1552575" y="5576143"/>
            <a:ext cx="155448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5"/>
              </a:lnSpc>
              <a:buNone/>
            </a:pPr>
            <a:r>
              <a:rPr lang="en-US" sz="975" dirty="0">
                <a:solidFill>
                  <a:srgbClr val="5C665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👍</a:t>
            </a:r>
            <a:endParaRPr lang="en-US" sz="975" dirty="0"/>
          </a:p>
        </p:txBody>
      </p:sp>
      <p:sp>
        <p:nvSpPr>
          <p:cNvPr id="34" name="Text 32"/>
          <p:cNvSpPr/>
          <p:nvPr/>
        </p:nvSpPr>
        <p:spPr>
          <a:xfrm>
            <a:off x="1809750" y="5529411"/>
            <a:ext cx="266700" cy="266700"/>
          </a:xfrm>
          <a:prstGeom prst="roundRect">
            <a:avLst>
              <a:gd name="adj" fmla="val 342857"/>
            </a:avLst>
          </a:prstGeom>
          <a:solidFill>
            <a:srgbClr val="E08A3C">
              <a:alpha val="12000"/>
            </a:srgbClr>
          </a:solidFill>
          <a:ln w="9525">
            <a:solidFill>
              <a:srgbClr val="E08A3C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5" name="Text 33"/>
          <p:cNvSpPr/>
          <p:nvPr/>
        </p:nvSpPr>
        <p:spPr>
          <a:xfrm>
            <a:off x="1866900" y="5576143"/>
            <a:ext cx="155448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5"/>
              </a:lnSpc>
              <a:buNone/>
            </a:pPr>
            <a:r>
              <a:rPr lang="en-US" sz="975" dirty="0">
                <a:solidFill>
                  <a:srgbClr val="5C665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✋</a:t>
            </a:r>
            <a:endParaRPr lang="en-US" sz="975" dirty="0"/>
          </a:p>
        </p:txBody>
      </p:sp>
      <p:sp>
        <p:nvSpPr>
          <p:cNvPr id="36" name="Text 34"/>
          <p:cNvSpPr/>
          <p:nvPr/>
        </p:nvSpPr>
        <p:spPr>
          <a:xfrm>
            <a:off x="2124075" y="5529411"/>
            <a:ext cx="266700" cy="266700"/>
          </a:xfrm>
          <a:prstGeom prst="roundRect">
            <a:avLst>
              <a:gd name="adj" fmla="val 342857"/>
            </a:avLst>
          </a:prstGeom>
          <a:solidFill>
            <a:srgbClr val="C94F3D">
              <a:alpha val="10000"/>
            </a:srgbClr>
          </a:solidFill>
          <a:ln w="9525">
            <a:solidFill>
              <a:srgbClr val="C94F3D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7" name="Text 35"/>
          <p:cNvSpPr/>
          <p:nvPr/>
        </p:nvSpPr>
        <p:spPr>
          <a:xfrm>
            <a:off x="2181225" y="5576143"/>
            <a:ext cx="155448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5"/>
              </a:lnSpc>
              <a:buNone/>
            </a:pPr>
            <a:r>
              <a:rPr lang="en-US" sz="975" dirty="0">
                <a:solidFill>
                  <a:srgbClr val="5C665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👎</a:t>
            </a:r>
            <a:endParaRPr lang="en-US" sz="975" dirty="0"/>
          </a:p>
        </p:txBody>
      </p:sp>
      <p:sp>
        <p:nvSpPr>
          <p:cNvPr id="38" name="Text 36"/>
          <p:cNvSpPr/>
          <p:nvPr/>
        </p:nvSpPr>
        <p:spPr>
          <a:xfrm>
            <a:off x="2524125" y="5556052"/>
            <a:ext cx="4007492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C665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Write a short paragraph about food habits &amp; hobbies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8897243" y="4014936"/>
            <a:ext cx="8152507" cy="2638127"/>
          </a:xfrm>
          <a:prstGeom prst="roundRect">
            <a:avLst>
              <a:gd name="adj" fmla="val 7221"/>
            </a:avLst>
          </a:prstGeom>
          <a:solidFill>
            <a:srgbClr val="F2EFDE"/>
          </a:solidFill>
          <a:ln w="9525">
            <a:solidFill>
              <a:srgbClr val="E1DBC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0" name="Text 38"/>
          <p:cNvSpPr/>
          <p:nvPr/>
        </p:nvSpPr>
        <p:spPr>
          <a:xfrm>
            <a:off x="9154418" y="4243536"/>
            <a:ext cx="2922392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050"/>
              </a:spcAft>
              <a:buNone/>
            </a:pPr>
            <a:r>
              <a:rPr lang="en-US" sz="1125" b="1" dirty="0">
                <a:solidFill>
                  <a:srgbClr val="E08A3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EXIT TICKET · FINAL ESSAY TASK</a:t>
            </a:r>
            <a:endParaRPr lang="en-US" sz="1125" dirty="0"/>
          </a:p>
        </p:txBody>
      </p:sp>
      <p:sp>
        <p:nvSpPr>
          <p:cNvPr id="41" name="Text 39"/>
          <p:cNvSpPr/>
          <p:nvPr/>
        </p:nvSpPr>
        <p:spPr>
          <a:xfrm>
            <a:off x="9154418" y="4443561"/>
            <a:ext cx="7638157" cy="1030486"/>
          </a:xfrm>
          <a:prstGeom prst="rect">
            <a:avLst/>
          </a:prstGeom>
          <a:solidFill>
            <a:srgbClr val="E8E2C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2" name="Shape 40"/>
          <p:cNvSpPr/>
          <p:nvPr/>
        </p:nvSpPr>
        <p:spPr>
          <a:xfrm>
            <a:off x="9178230" y="4443561"/>
            <a:ext cx="0" cy="1030486"/>
          </a:xfrm>
          <a:prstGeom prst="line">
            <a:avLst/>
          </a:prstGeom>
          <a:noFill/>
          <a:ln w="47625">
            <a:solidFill>
              <a:srgbClr val="E08A3C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9392543" y="4595961"/>
            <a:ext cx="372529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E08A3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TASK</a:t>
            </a:r>
            <a:endParaRPr lang="en-US" sz="900" dirty="0"/>
          </a:p>
        </p:txBody>
      </p:sp>
      <p:sp>
        <p:nvSpPr>
          <p:cNvPr id="44" name="Text 42"/>
          <p:cNvSpPr/>
          <p:nvPr/>
        </p:nvSpPr>
        <p:spPr>
          <a:xfrm>
            <a:off x="9392543" y="4815036"/>
            <a:ext cx="7340971" cy="500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95"/>
              </a:lnSpc>
              <a:buNone/>
            </a:pPr>
            <a:r>
              <a:rPr lang="en-US" sz="1425" b="1" dirty="0">
                <a:solidFill>
                  <a:srgbClr val="24321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Write 4–6 sentences about a family member's food habits and hobbies, following the model essay structure</a:t>
            </a:r>
            <a:endParaRPr lang="en-US" sz="1425" dirty="0"/>
          </a:p>
        </p:txBody>
      </p:sp>
      <p:sp>
        <p:nvSpPr>
          <p:cNvPr id="45" name="Text 43"/>
          <p:cNvSpPr/>
          <p:nvPr/>
        </p:nvSpPr>
        <p:spPr>
          <a:xfrm>
            <a:off x="9154418" y="5607397"/>
            <a:ext cx="1097756" cy="285750"/>
          </a:xfrm>
          <a:prstGeom prst="roundRect">
            <a:avLst>
              <a:gd name="adj" fmla="val 3330000"/>
            </a:avLst>
          </a:prstGeom>
          <a:solidFill>
            <a:srgbClr val="FBFAF2"/>
          </a:solidFill>
          <a:ln w="9525">
            <a:solidFill>
              <a:srgbClr val="CFC7A6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6" name="Text 44"/>
          <p:cNvSpPr/>
          <p:nvPr/>
        </p:nvSpPr>
        <p:spPr>
          <a:xfrm>
            <a:off x="9297293" y="5664547"/>
            <a:ext cx="828246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75" b="1" dirty="0">
                <a:solidFill>
                  <a:srgbClr val="5C665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1. Nationality</a:t>
            </a:r>
            <a:endParaRPr lang="en-US" sz="975" dirty="0"/>
          </a:p>
        </p:txBody>
      </p:sp>
      <p:sp>
        <p:nvSpPr>
          <p:cNvPr id="47" name="Text 45"/>
          <p:cNvSpPr/>
          <p:nvPr/>
        </p:nvSpPr>
        <p:spPr>
          <a:xfrm>
            <a:off x="10328374" y="5607397"/>
            <a:ext cx="1187797" cy="285750"/>
          </a:xfrm>
          <a:prstGeom prst="roundRect">
            <a:avLst>
              <a:gd name="adj" fmla="val 3330000"/>
            </a:avLst>
          </a:prstGeom>
          <a:solidFill>
            <a:srgbClr val="FBFAF2"/>
          </a:solidFill>
          <a:ln w="9525">
            <a:solidFill>
              <a:srgbClr val="CFC7A6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8" name="Text 46"/>
          <p:cNvSpPr/>
          <p:nvPr/>
        </p:nvSpPr>
        <p:spPr>
          <a:xfrm>
            <a:off x="10471249" y="5664547"/>
            <a:ext cx="920088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75" b="1" dirty="0">
                <a:solidFill>
                  <a:srgbClr val="5C665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2. Appearance</a:t>
            </a:r>
            <a:endParaRPr lang="en-US" sz="975" dirty="0"/>
          </a:p>
        </p:txBody>
      </p:sp>
      <p:sp>
        <p:nvSpPr>
          <p:cNvPr id="49" name="Text 47"/>
          <p:cNvSpPr/>
          <p:nvPr/>
        </p:nvSpPr>
        <p:spPr>
          <a:xfrm>
            <a:off x="11592371" y="5607397"/>
            <a:ext cx="1103858" cy="285750"/>
          </a:xfrm>
          <a:prstGeom prst="roundRect">
            <a:avLst>
              <a:gd name="adj" fmla="val 3330000"/>
            </a:avLst>
          </a:prstGeom>
          <a:solidFill>
            <a:srgbClr val="FBFAF2"/>
          </a:solidFill>
          <a:ln w="9525">
            <a:solidFill>
              <a:srgbClr val="CFC7A6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0" name="Text 48"/>
          <p:cNvSpPr/>
          <p:nvPr/>
        </p:nvSpPr>
        <p:spPr>
          <a:xfrm>
            <a:off x="11735246" y="5664547"/>
            <a:ext cx="83447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75" b="1" dirty="0">
                <a:solidFill>
                  <a:srgbClr val="5C665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3. Job / Role</a:t>
            </a:r>
            <a:endParaRPr lang="en-US" sz="975" dirty="0"/>
          </a:p>
        </p:txBody>
      </p:sp>
      <p:sp>
        <p:nvSpPr>
          <p:cNvPr id="51" name="Text 49"/>
          <p:cNvSpPr/>
          <p:nvPr/>
        </p:nvSpPr>
        <p:spPr>
          <a:xfrm>
            <a:off x="12772430" y="5607397"/>
            <a:ext cx="1131540" cy="285750"/>
          </a:xfrm>
          <a:prstGeom prst="roundRect">
            <a:avLst>
              <a:gd name="adj" fmla="val 3330000"/>
            </a:avLst>
          </a:prstGeom>
          <a:solidFill>
            <a:srgbClr val="FBFAF2"/>
          </a:solidFill>
          <a:ln w="9525">
            <a:solidFill>
              <a:srgbClr val="CFC7A6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2" name="Text 50"/>
          <p:cNvSpPr/>
          <p:nvPr/>
        </p:nvSpPr>
        <p:spPr>
          <a:xfrm>
            <a:off x="12915305" y="5664547"/>
            <a:ext cx="862706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75" b="1" dirty="0">
                <a:solidFill>
                  <a:srgbClr val="5C665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4. Food Likes</a:t>
            </a:r>
            <a:endParaRPr lang="en-US" sz="975" dirty="0"/>
          </a:p>
        </p:txBody>
      </p:sp>
      <p:sp>
        <p:nvSpPr>
          <p:cNvPr id="53" name="Text 51"/>
          <p:cNvSpPr/>
          <p:nvPr/>
        </p:nvSpPr>
        <p:spPr>
          <a:xfrm>
            <a:off x="13980170" y="5607397"/>
            <a:ext cx="955774" cy="285750"/>
          </a:xfrm>
          <a:prstGeom prst="roundRect">
            <a:avLst>
              <a:gd name="adj" fmla="val 3330000"/>
            </a:avLst>
          </a:prstGeom>
          <a:solidFill>
            <a:srgbClr val="FBFAF2"/>
          </a:solidFill>
          <a:ln w="9525">
            <a:solidFill>
              <a:srgbClr val="CFC7A6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4" name="Text 52"/>
          <p:cNvSpPr/>
          <p:nvPr/>
        </p:nvSpPr>
        <p:spPr>
          <a:xfrm>
            <a:off x="14123045" y="5664547"/>
            <a:ext cx="683425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75" b="1" dirty="0">
                <a:solidFill>
                  <a:srgbClr val="5C665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5. Hobbies</a:t>
            </a:r>
            <a:endParaRPr lang="en-US" sz="975" dirty="0"/>
          </a:p>
        </p:txBody>
      </p:sp>
      <p:sp>
        <p:nvSpPr>
          <p:cNvPr id="55" name="Text 53"/>
          <p:cNvSpPr/>
          <p:nvPr/>
        </p:nvSpPr>
        <p:spPr>
          <a:xfrm>
            <a:off x="9154418" y="6016972"/>
            <a:ext cx="7508563" cy="4037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050" dirty="0">
                <a:solidFill>
                  <a:srgbClr val="8C948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Collected as the </a:t>
            </a:r>
            <a:r>
              <a:rPr lang="en-US" sz="1050" b="1" dirty="0">
                <a:solidFill>
                  <a:srgbClr val="C94F3D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wrap-up assessment for the whole Lesson 10 sequence</a:t>
            </a:r>
            <a:r>
              <a:rPr lang="en-US" sz="1050" dirty="0">
                <a:solidFill>
                  <a:srgbClr val="8C948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— traffic-light your confidence above first, plus a show of hands on your overall 蔬菜、水果 confidence.</a:t>
            </a:r>
            <a:endParaRPr lang="en-US" sz="1050" dirty="0"/>
          </a:p>
        </p:txBody>
      </p:sp>
      <p:sp>
        <p:nvSpPr>
          <p:cNvPr id="56" name="Text 54"/>
          <p:cNvSpPr/>
          <p:nvPr/>
        </p:nvSpPr>
        <p:spPr>
          <a:xfrm>
            <a:off x="1238250" y="6824514"/>
            <a:ext cx="15811500" cy="895350"/>
          </a:xfrm>
          <a:prstGeom prst="roundRect">
            <a:avLst>
              <a:gd name="adj" fmla="val 21277"/>
            </a:avLst>
          </a:prstGeom>
          <a:solidFill>
            <a:srgbClr val="5C8A3A">
              <a:alpha val="12000"/>
            </a:srgbClr>
          </a:solidFill>
          <a:ln w="19050">
            <a:solidFill>
              <a:srgbClr val="5C8A3A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7" name="Text 55"/>
          <p:cNvSpPr/>
          <p:nvPr/>
        </p:nvSpPr>
        <p:spPr>
          <a:xfrm>
            <a:off x="1543050" y="7043589"/>
            <a:ext cx="330327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550" dirty="0">
                <a:solidFill>
                  <a:srgbClr val="24321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🎉</a:t>
            </a:r>
            <a:endParaRPr lang="en-US" sz="2550" dirty="0"/>
          </a:p>
        </p:txBody>
      </p:sp>
      <p:sp>
        <p:nvSpPr>
          <p:cNvPr id="58" name="Text 56"/>
          <p:cNvSpPr/>
          <p:nvPr/>
        </p:nvSpPr>
        <p:spPr>
          <a:xfrm>
            <a:off x="2057400" y="7015014"/>
            <a:ext cx="6225510" cy="2762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75" b="1" dirty="0">
                <a:solidFill>
                  <a:srgbClr val="24321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Well done — that's the full Vegetables &amp; Fruits unit covered!</a:t>
            </a:r>
            <a:endParaRPr lang="en-US" sz="1575" dirty="0"/>
          </a:p>
        </p:txBody>
      </p:sp>
      <p:sp>
        <p:nvSpPr>
          <p:cNvPr id="59" name="Text 57"/>
          <p:cNvSpPr/>
          <p:nvPr/>
        </p:nvSpPr>
        <p:spPr>
          <a:xfrm>
            <a:off x="2057400" y="7329339"/>
            <a:ext cx="3669878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25" dirty="0">
                <a:solidFill>
                  <a:srgbClr val="5C665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Next up: Lesson 11 — 一日三餐 (Three Meals a Day).</a:t>
            </a:r>
            <a:endParaRPr lang="en-US" sz="1125" dirty="0"/>
          </a:p>
        </p:txBody>
      </p:sp>
      <p:sp>
        <p:nvSpPr>
          <p:cNvPr id="60" name="Shape 58"/>
          <p:cNvSpPr/>
          <p:nvPr/>
        </p:nvSpPr>
        <p:spPr>
          <a:xfrm>
            <a:off x="0" y="9786938"/>
            <a:ext cx="18288000" cy="0"/>
          </a:xfrm>
          <a:prstGeom prst="line">
            <a:avLst/>
          </a:prstGeom>
          <a:noFill/>
          <a:ln w="9525">
            <a:solidFill>
              <a:srgbClr val="E1DBC0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762000" y="9958388"/>
            <a:ext cx="3236476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8C948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Y8 Chinese · Unit 4 Vegetables &amp; Fruits 蔬菜、水果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BFA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8288000" cy="771525"/>
          </a:xfrm>
          <a:prstGeom prst="rect">
            <a:avLst/>
          </a:prstGeom>
          <a:solidFill>
            <a:srgbClr val="FBFAF2">
              <a:alpha val="92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0" y="766763"/>
            <a:ext cx="18288000" cy="0"/>
          </a:xfrm>
          <a:prstGeom prst="line">
            <a:avLst/>
          </a:prstGeom>
          <a:noFill/>
          <a:ln w="9525">
            <a:solidFill>
              <a:srgbClr val="E1DBC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62000" y="285750"/>
            <a:ext cx="1817709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5C8A3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L8 · CONSOLIDATION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2934593" y="280988"/>
            <a:ext cx="2784857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25" dirty="0">
                <a:solidFill>
                  <a:srgbClr val="5C665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Preview · What's Next in the Textbook</a:t>
            </a:r>
            <a:endParaRPr lang="en-US" sz="1125" dirty="0"/>
          </a:p>
        </p:txBody>
      </p:sp>
      <p:sp>
        <p:nvSpPr>
          <p:cNvPr id="6" name="Text 4"/>
          <p:cNvSpPr/>
          <p:nvPr/>
        </p:nvSpPr>
        <p:spPr>
          <a:xfrm>
            <a:off x="762000" y="0"/>
            <a:ext cx="16764000" cy="38100"/>
          </a:xfrm>
          <a:prstGeom prst="rect">
            <a:avLst/>
          </a:prstGeom>
          <a:solidFill>
            <a:srgbClr val="5C8A3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7637338" y="2426940"/>
            <a:ext cx="3013323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25" b="1" dirty="0">
                <a:solidFill>
                  <a:srgbClr val="5C8A3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COMING UP NEXT · LESSON 11</a:t>
            </a:r>
            <a:endParaRPr lang="en-US" sz="1125" dirty="0"/>
          </a:p>
        </p:txBody>
      </p:sp>
      <p:sp>
        <p:nvSpPr>
          <p:cNvPr id="8" name="Text 6"/>
          <p:cNvSpPr/>
          <p:nvPr/>
        </p:nvSpPr>
        <p:spPr>
          <a:xfrm>
            <a:off x="5511164" y="2712690"/>
            <a:ext cx="7265524" cy="7429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4830"/>
              </a:lnSpc>
              <a:buNone/>
            </a:pPr>
            <a:r>
              <a:rPr lang="en-US" sz="4200" b="1" dirty="0">
                <a:solidFill>
                  <a:srgbClr val="24321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一日三餐 · Three Meals a Day</a:t>
            </a:r>
            <a:endParaRPr lang="en-US" sz="4200" dirty="0"/>
          </a:p>
        </p:txBody>
      </p:sp>
      <p:sp>
        <p:nvSpPr>
          <p:cNvPr id="9" name="Text 7"/>
          <p:cNvSpPr/>
          <p:nvPr/>
        </p:nvSpPr>
        <p:spPr>
          <a:xfrm>
            <a:off x="4798744" y="3468886"/>
            <a:ext cx="8690363" cy="3143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dirty="0">
                <a:solidFill>
                  <a:srgbClr val="8C948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Building on today's food vocabulary to talk about breakfast, lunch, and dinner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3971925" y="4278511"/>
            <a:ext cx="3295650" cy="2047875"/>
          </a:xfrm>
          <a:prstGeom prst="roundRect">
            <a:avLst>
              <a:gd name="adj" fmla="val 9302"/>
            </a:avLst>
          </a:prstGeom>
          <a:solidFill>
            <a:srgbClr val="F2EFDE"/>
          </a:solidFill>
          <a:ln w="9525">
            <a:solidFill>
              <a:srgbClr val="E1DBC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5386578" y="4554736"/>
            <a:ext cx="466344" cy="6381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3600" dirty="0">
                <a:solidFill>
                  <a:srgbClr val="24321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🍳</a:t>
            </a:r>
            <a:endParaRPr lang="en-US" sz="3600" dirty="0"/>
          </a:p>
        </p:txBody>
      </p:sp>
      <p:sp>
        <p:nvSpPr>
          <p:cNvPr id="12" name="Text 10"/>
          <p:cNvSpPr/>
          <p:nvPr/>
        </p:nvSpPr>
        <p:spPr>
          <a:xfrm>
            <a:off x="5406009" y="5326261"/>
            <a:ext cx="427482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50" b="1" dirty="0">
                <a:solidFill>
                  <a:srgbClr val="24321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早饭</a:t>
            </a:r>
            <a:endParaRPr lang="en-US" sz="1650" dirty="0"/>
          </a:p>
        </p:txBody>
      </p:sp>
      <p:sp>
        <p:nvSpPr>
          <p:cNvPr id="13" name="Text 11"/>
          <p:cNvSpPr/>
          <p:nvPr/>
        </p:nvSpPr>
        <p:spPr>
          <a:xfrm>
            <a:off x="4359467" y="5650111"/>
            <a:ext cx="2520565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25" dirty="0">
                <a:solidFill>
                  <a:srgbClr val="8C948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Breakfast — what do you eat in the morning?</a:t>
            </a:r>
            <a:endParaRPr lang="en-US" sz="1125" dirty="0"/>
          </a:p>
        </p:txBody>
      </p:sp>
      <p:sp>
        <p:nvSpPr>
          <p:cNvPr id="14" name="Text 12"/>
          <p:cNvSpPr/>
          <p:nvPr/>
        </p:nvSpPr>
        <p:spPr>
          <a:xfrm>
            <a:off x="7496175" y="4278511"/>
            <a:ext cx="3295650" cy="2047875"/>
          </a:xfrm>
          <a:prstGeom prst="roundRect">
            <a:avLst>
              <a:gd name="adj" fmla="val 9302"/>
            </a:avLst>
          </a:prstGeom>
          <a:solidFill>
            <a:srgbClr val="F2EFDE"/>
          </a:solidFill>
          <a:ln w="9525">
            <a:solidFill>
              <a:srgbClr val="E1DBC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8910828" y="4554736"/>
            <a:ext cx="466344" cy="6381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3600" dirty="0">
                <a:solidFill>
                  <a:srgbClr val="24321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🍱</a:t>
            </a:r>
            <a:endParaRPr lang="en-US" sz="3600" dirty="0"/>
          </a:p>
        </p:txBody>
      </p:sp>
      <p:sp>
        <p:nvSpPr>
          <p:cNvPr id="16" name="Text 14"/>
          <p:cNvSpPr/>
          <p:nvPr/>
        </p:nvSpPr>
        <p:spPr>
          <a:xfrm>
            <a:off x="8930259" y="5326261"/>
            <a:ext cx="427482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50" b="1" dirty="0">
                <a:solidFill>
                  <a:srgbClr val="24321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午饭</a:t>
            </a:r>
            <a:endParaRPr lang="en-US" sz="1650" dirty="0"/>
          </a:p>
        </p:txBody>
      </p:sp>
      <p:sp>
        <p:nvSpPr>
          <p:cNvPr id="17" name="Text 15"/>
          <p:cNvSpPr/>
          <p:nvPr/>
        </p:nvSpPr>
        <p:spPr>
          <a:xfrm>
            <a:off x="7929411" y="5650111"/>
            <a:ext cx="2429179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25" dirty="0">
                <a:solidFill>
                  <a:srgbClr val="8C948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Lunch — talking about the midday meal</a:t>
            </a:r>
            <a:endParaRPr lang="en-US" sz="1125" dirty="0"/>
          </a:p>
        </p:txBody>
      </p:sp>
      <p:sp>
        <p:nvSpPr>
          <p:cNvPr id="18" name="Text 16"/>
          <p:cNvSpPr/>
          <p:nvPr/>
        </p:nvSpPr>
        <p:spPr>
          <a:xfrm>
            <a:off x="11020425" y="4278511"/>
            <a:ext cx="3295650" cy="2047875"/>
          </a:xfrm>
          <a:prstGeom prst="roundRect">
            <a:avLst>
              <a:gd name="adj" fmla="val 9302"/>
            </a:avLst>
          </a:prstGeom>
          <a:solidFill>
            <a:srgbClr val="F2EFDE"/>
          </a:solidFill>
          <a:ln w="9525">
            <a:solidFill>
              <a:srgbClr val="E1DBC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9" name="Text 17"/>
          <p:cNvSpPr/>
          <p:nvPr/>
        </p:nvSpPr>
        <p:spPr>
          <a:xfrm>
            <a:off x="12435078" y="4554736"/>
            <a:ext cx="466344" cy="6381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3600" dirty="0">
                <a:solidFill>
                  <a:srgbClr val="24321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🍜</a:t>
            </a:r>
            <a:endParaRPr lang="en-US" sz="3600" dirty="0"/>
          </a:p>
        </p:txBody>
      </p:sp>
      <p:sp>
        <p:nvSpPr>
          <p:cNvPr id="20" name="Text 18"/>
          <p:cNvSpPr/>
          <p:nvPr/>
        </p:nvSpPr>
        <p:spPr>
          <a:xfrm>
            <a:off x="12454509" y="5326261"/>
            <a:ext cx="427482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50" b="1" dirty="0">
                <a:solidFill>
                  <a:srgbClr val="24321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晚饭</a:t>
            </a:r>
            <a:endParaRPr lang="en-US" sz="1650" dirty="0"/>
          </a:p>
        </p:txBody>
      </p:sp>
      <p:sp>
        <p:nvSpPr>
          <p:cNvPr id="21" name="Text 19"/>
          <p:cNvSpPr/>
          <p:nvPr/>
        </p:nvSpPr>
        <p:spPr>
          <a:xfrm>
            <a:off x="11324475" y="5650111"/>
            <a:ext cx="2687550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25" dirty="0">
                <a:solidFill>
                  <a:srgbClr val="8C948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Dinner — describing the evening meal</a:t>
            </a:r>
            <a:endParaRPr lang="en-US" sz="1125" dirty="0"/>
          </a:p>
        </p:txBody>
      </p:sp>
      <p:sp>
        <p:nvSpPr>
          <p:cNvPr id="22" name="Text 20"/>
          <p:cNvSpPr/>
          <p:nvPr/>
        </p:nvSpPr>
        <p:spPr>
          <a:xfrm>
            <a:off x="4585841" y="6745486"/>
            <a:ext cx="9116318" cy="1381125"/>
          </a:xfrm>
          <a:prstGeom prst="roundRect">
            <a:avLst>
              <a:gd name="adj" fmla="val 13793"/>
            </a:avLst>
          </a:prstGeom>
          <a:solidFill>
            <a:srgbClr val="E8E2C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3" name="Text 21"/>
          <p:cNvSpPr/>
          <p:nvPr/>
        </p:nvSpPr>
        <p:spPr>
          <a:xfrm>
            <a:off x="8699212" y="6955036"/>
            <a:ext cx="889575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75" b="1" dirty="0">
                <a:solidFill>
                  <a:srgbClr val="5C8A3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COMING UP</a:t>
            </a:r>
            <a:endParaRPr lang="en-US" sz="975" dirty="0"/>
          </a:p>
        </p:txBody>
      </p:sp>
      <p:sp>
        <p:nvSpPr>
          <p:cNvPr id="24" name="Text 22"/>
          <p:cNvSpPr/>
          <p:nvPr/>
        </p:nvSpPr>
        <p:spPr>
          <a:xfrm>
            <a:off x="7744968" y="7202686"/>
            <a:ext cx="2798064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24321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早饭 · 午饭 · 晚饭</a:t>
            </a:r>
            <a:endParaRPr lang="en-US" sz="2400" dirty="0"/>
          </a:p>
        </p:txBody>
      </p:sp>
      <p:sp>
        <p:nvSpPr>
          <p:cNvPr id="25" name="Text 23"/>
          <p:cNvSpPr/>
          <p:nvPr/>
        </p:nvSpPr>
        <p:spPr>
          <a:xfrm>
            <a:off x="4961022" y="7688461"/>
            <a:ext cx="836595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75" dirty="0">
                <a:solidFill>
                  <a:srgbClr val="5C665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breakfast · lunch · dinner — three new mealtime words, all built on the food language you already know</a:t>
            </a:r>
            <a:endParaRPr lang="en-US" sz="1275" dirty="0"/>
          </a:p>
        </p:txBody>
      </p:sp>
      <p:sp>
        <p:nvSpPr>
          <p:cNvPr id="26" name="Shape 24"/>
          <p:cNvSpPr/>
          <p:nvPr/>
        </p:nvSpPr>
        <p:spPr>
          <a:xfrm>
            <a:off x="0" y="9786938"/>
            <a:ext cx="18288000" cy="0"/>
          </a:xfrm>
          <a:prstGeom prst="line">
            <a:avLst/>
          </a:prstGeom>
          <a:noFill/>
          <a:ln w="9525">
            <a:solidFill>
              <a:srgbClr val="E1DBC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62000" y="9958388"/>
            <a:ext cx="3236476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8C948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Y8 Chinese · Unit 4 Vegetables &amp; Fruits 蔬菜、水果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2026-08-01T05:47:00Z</dcterms:created>
  <dcterms:modified xsi:type="dcterms:W3CDTF">2026-08-01T05:47:00Z</dcterms:modified>
</cp:coreProperties>
</file>