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34171" y="4476750"/>
            <a:ext cx="3901836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0"/>
              </a:lnSpc>
              <a:buNone/>
            </a:pPr>
            <a:r>
              <a:rPr lang="en-US" sz="30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该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7261775" y="2824163"/>
            <a:ext cx="37643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2 OF 8 · Y8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558643" y="3090863"/>
            <a:ext cx="11705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0"/>
              </a:lnSpc>
              <a:buNone/>
            </a:pPr>
            <a:r>
              <a:rPr lang="en-US" sz="900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7589520" y="4386263"/>
            <a:ext cx="3108960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0"/>
              </a:lnSpc>
              <a:spcAft>
                <a:spcPts val="600"/>
              </a:spcAft>
              <a:buNone/>
            </a:pPr>
            <a:r>
              <a:rPr lang="en-US" sz="12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062695" y="6215063"/>
            <a:ext cx="216261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Giving Advice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28913" y="7253288"/>
            <a:ext cx="128168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86852" y="7253288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22586" y="7253288"/>
            <a:ext cx="1463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44837" y="7253288"/>
            <a:ext cx="22234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181100"/>
            <a:ext cx="18620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485900"/>
            <a:ext cx="491361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Vegetable Bingo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143000" y="2381250"/>
            <a:ext cx="7100441" cy="2576513"/>
          </a:xfrm>
          <a:prstGeom prst="roundRect">
            <a:avLst>
              <a:gd name="adj" fmla="val 7394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2638425"/>
            <a:ext cx="178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2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BINGO RAPID FIRE</a:t>
            </a:r>
            <a:endParaRPr lang="en-US" sz="1275" dirty="0"/>
          </a:p>
        </p:txBody>
      </p:sp>
      <p:sp>
        <p:nvSpPr>
          <p:cNvPr id="11" name="Text 9"/>
          <p:cNvSpPr/>
          <p:nvPr/>
        </p:nvSpPr>
        <p:spPr>
          <a:xfrm>
            <a:off x="1400175" y="3019425"/>
            <a:ext cx="6586091" cy="152876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have a pre-made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or 4×4 grid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of Lesson 1's vegetable words</a:t>
            </a:r>
            <a:endParaRPr lang="en-US" sz="1425" dirty="0"/>
          </a:p>
          <a:p>
            <a:pPr algn="l" marL="104775" indent="-104775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an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word or pinyin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students cross off the matching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word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grid</a:t>
            </a:r>
            <a:endParaRPr lang="en-US" sz="1425" dirty="0"/>
          </a:p>
          <a:p>
            <a:pPr algn="l" marL="104775" indent="-104775">
              <a:lnSpc>
                <a:spcPts val="2138"/>
              </a:lnSpc>
              <a:buSzPct val="100000"/>
              <a:buChar char="•"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to complete a line (or full house) calls </a:t>
            </a:r>
            <a:r>
              <a:rPr lang="en-US" sz="1425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"Bingo!"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8624441" y="2381250"/>
            <a:ext cx="319078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· 12 VEGETABLE WORDS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24441" y="2590800"/>
            <a:ext cx="2072878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476286" y="26765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蔬菜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382775" y="2924175"/>
            <a:ext cx="5560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vegetables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0773519" y="25908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625364" y="26765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生菜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1632649" y="2924175"/>
            <a:ext cx="3547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lettuce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2922746" y="25908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3774591" y="26765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黄瓜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3705063" y="2924175"/>
            <a:ext cx="5083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cucumber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5071973" y="25908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831520" y="26765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15826359" y="2924175"/>
            <a:ext cx="56410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cauliflower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8624441" y="3238500"/>
            <a:ext cx="2072878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476286" y="33242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土豆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491771" y="3571875"/>
            <a:ext cx="3380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potato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0773519" y="32385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533066" y="33242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1626577" y="3571875"/>
            <a:ext cx="366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tomato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2922746" y="32385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3774591" y="33242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非常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3852920" y="3571875"/>
            <a:ext cx="2126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very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5071973" y="32385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923818" y="33242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青菜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5933987" y="3571875"/>
            <a:ext cx="348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greens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8624441" y="3886200"/>
            <a:ext cx="2072878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476286" y="39719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冬瓜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9327365" y="4219575"/>
            <a:ext cx="6670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winter melon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0773519" y="38862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625364" y="39719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南瓜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1591358" y="4219575"/>
            <a:ext cx="437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pumpkin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2922746" y="38862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3682293" y="39719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四季豆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3640242" y="4219575"/>
            <a:ext cx="638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green beans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5071973" y="3886200"/>
            <a:ext cx="2073027" cy="571500"/>
          </a:xfrm>
          <a:prstGeom prst="roundRect">
            <a:avLst>
              <a:gd name="adj" fmla="val 20000"/>
            </a:avLst>
          </a:prstGeom>
          <a:solidFill>
            <a:srgbClr val="E8E2C8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831520" y="39719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大白菜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15661196" y="4219575"/>
            <a:ext cx="89443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Chinese cabbage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143000" y="5167313"/>
            <a:ext cx="16002000" cy="800100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1166813" y="5167313"/>
            <a:ext cx="0" cy="800100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19225" y="5319713"/>
            <a:ext cx="1566897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can now name lots of vegetables and say how much you like them. Today we learn a really useful word —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 (should)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so you can tell someone what they </a:t>
            </a:r>
            <a:r>
              <a:rPr lang="en-US" sz="14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r>
              <a:rPr lang="en-US" sz="14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do, like eating more vegetables!"</a:t>
            </a:r>
            <a:endParaRPr lang="en-US" sz="1425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3033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000375"/>
            <a:ext cx="36756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324225"/>
            <a:ext cx="507801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267200"/>
            <a:ext cx="13992225" cy="1000125"/>
          </a:xfrm>
          <a:prstGeom prst="rect">
            <a:avLst/>
          </a:prstGeom>
          <a:solidFill>
            <a:srgbClr val="5C8A3A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4267200"/>
            <a:ext cx="0" cy="1000125"/>
          </a:xfrm>
          <a:prstGeom prst="line">
            <a:avLst/>
          </a:prstGeom>
          <a:noFill/>
          <a:ln w="47625">
            <a:solidFill>
              <a:srgbClr val="5C8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4476750"/>
            <a:ext cx="16610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4705350"/>
            <a:ext cx="96383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give advice and say what someone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do, using </a:t>
            </a:r>
            <a:r>
              <a:rPr lang="en-US" sz="19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9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333500" y="55911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80096" y="5667375"/>
            <a:ext cx="701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47850" y="5581650"/>
            <a:ext cx="50297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应该, 等等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</a:t>
            </a:r>
            <a:r>
              <a:rPr lang="en-US" sz="16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(用拼音说出新词汇)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33500" y="61245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466106" y="6200775"/>
            <a:ext cx="985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47850" y="6115050"/>
            <a:ext cx="677990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make a sentence with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giving advice —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你应该每天吃蔬菜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333500" y="66579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65808" y="6734175"/>
            <a:ext cx="99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47850" y="6648450"/>
            <a:ext cx="64318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use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等等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 a list of items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我喜欢吃黄瓜、土豆等等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333500" y="7191375"/>
            <a:ext cx="361950" cy="361950"/>
          </a:xfrm>
          <a:prstGeom prst="roundRect">
            <a:avLst>
              <a:gd name="adj" fmla="val 252632"/>
            </a:avLst>
          </a:prstGeom>
          <a:noFill/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465213" y="7267575"/>
            <a:ext cx="10034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47850" y="7181850"/>
            <a:ext cx="53420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6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short listening clips</a:t>
            </a:r>
            <a:r>
              <a:rPr lang="en-US" sz="16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that use </a:t>
            </a:r>
            <a:r>
              <a:rPr lang="en-US" sz="1650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2570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8250" y="318135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3486150"/>
            <a:ext cx="4827693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8250" y="4410075"/>
            <a:ext cx="3009900" cy="1790700"/>
          </a:xfrm>
          <a:prstGeom prst="roundRect">
            <a:avLst>
              <a:gd name="adj" fmla="val 10638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71166" y="4591050"/>
            <a:ext cx="54406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06840" y="5324475"/>
            <a:ext cx="472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děng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94585" y="5686425"/>
            <a:ext cx="297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etc.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438650" y="4410075"/>
            <a:ext cx="3009900" cy="1790700"/>
          </a:xfrm>
          <a:prstGeom prst="roundRect">
            <a:avLst>
              <a:gd name="adj" fmla="val 10638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99532" y="4591050"/>
            <a:ext cx="108813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等等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470882" y="5324475"/>
            <a:ext cx="9452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děngděng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94985" y="5686425"/>
            <a:ext cx="2970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etc.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7639050" y="4410075"/>
            <a:ext cx="3009900" cy="1790700"/>
          </a:xfrm>
          <a:prstGeom prst="roundRect">
            <a:avLst>
              <a:gd name="adj" fmla="val 10638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71966" y="4591050"/>
            <a:ext cx="54406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928287" y="5324475"/>
            <a:ext cx="431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84110" y="5686425"/>
            <a:ext cx="519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0839450" y="4410075"/>
            <a:ext cx="3009900" cy="1790700"/>
          </a:xfrm>
          <a:prstGeom prst="roundRect">
            <a:avLst>
              <a:gd name="adj" fmla="val 10638"/>
            </a:avLst>
          </a:prstGeom>
          <a:solidFill>
            <a:srgbClr val="F2EFDE"/>
          </a:solidFill>
          <a:ln w="19050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072366" y="4591050"/>
            <a:ext cx="54406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该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2199275" y="5324475"/>
            <a:ext cx="29025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gāi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084510" y="5686425"/>
            <a:ext cx="519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039850" y="4410075"/>
            <a:ext cx="3009900" cy="1790700"/>
          </a:xfrm>
          <a:prstGeom prst="roundRect">
            <a:avLst>
              <a:gd name="adj" fmla="val 10638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000732" y="4591050"/>
            <a:ext cx="108813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15184112" y="5324475"/>
            <a:ext cx="7213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yīnggāi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84910" y="5686425"/>
            <a:ext cx="5197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</a:t>
            </a:r>
            <a:endParaRPr lang="en-US" sz="1275" dirty="0"/>
          </a:p>
        </p:txBody>
      </p:sp>
      <p:sp>
        <p:nvSpPr>
          <p:cNvPr id="29" name="Text 27"/>
          <p:cNvSpPr/>
          <p:nvPr/>
        </p:nvSpPr>
        <p:spPr>
          <a:xfrm>
            <a:off x="1238250" y="6505575"/>
            <a:ext cx="15811500" cy="866775"/>
          </a:xfrm>
          <a:prstGeom prst="roundRect">
            <a:avLst>
              <a:gd name="adj" fmla="val 13187"/>
            </a:avLst>
          </a:prstGeom>
          <a:solidFill>
            <a:srgbClr val="5C8A3A">
              <a:alpha val="12000"/>
            </a:srgbClr>
          </a:solidFill>
          <a:ln w="19050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24000" y="6748463"/>
            <a:ext cx="27203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943100" y="6705600"/>
            <a:ext cx="67471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575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made of two characters that </a:t>
            </a: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both independently mean "should"</a:t>
            </a:r>
            <a:endParaRPr lang="en-US" sz="1575" dirty="0"/>
          </a:p>
        </p:txBody>
      </p:sp>
      <p:sp>
        <p:nvSpPr>
          <p:cNvPr id="32" name="Text 30"/>
          <p:cNvSpPr/>
          <p:nvPr/>
        </p:nvSpPr>
        <p:spPr>
          <a:xfrm>
            <a:off x="1943100" y="6981825"/>
            <a:ext cx="8121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 and 该 each carry the same meaning on their own — put together, it's like a "double-strength" word for should.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20293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38250" y="1143000"/>
            <a:ext cx="17454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1428750"/>
            <a:ext cx="582262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Key Sentence Pattern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238250" y="2162175"/>
            <a:ext cx="2471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· GIVING ADVICE WITH 应该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238250" y="2438400"/>
            <a:ext cx="1219200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76375" y="2562225"/>
            <a:ext cx="75780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552700" y="2438400"/>
            <a:ext cx="971550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790825" y="256222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619500" y="2438400"/>
            <a:ext cx="795338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57625" y="2562225"/>
            <a:ext cx="32546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VP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586288" y="2624138"/>
            <a:ext cx="2290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should [VP] every day."</a:t>
            </a:r>
            <a:endParaRPr lang="en-US" sz="1275" dirty="0"/>
          </a:p>
        </p:txBody>
      </p:sp>
      <p:sp>
        <p:nvSpPr>
          <p:cNvPr id="17" name="Text 15"/>
          <p:cNvSpPr/>
          <p:nvPr/>
        </p:nvSpPr>
        <p:spPr>
          <a:xfrm>
            <a:off x="1238250" y="3152775"/>
            <a:ext cx="15811500" cy="514350"/>
          </a:xfrm>
          <a:prstGeom prst="roundRect">
            <a:avLst>
              <a:gd name="adj" fmla="val 2222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38275" y="3257550"/>
            <a:ext cx="20111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</a:t>
            </a: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每天吃蔬菜。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4443472" y="3314700"/>
            <a:ext cx="24543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should eat vegetables every day.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238250" y="3743325"/>
            <a:ext cx="15811500" cy="514350"/>
          </a:xfrm>
          <a:prstGeom prst="roundRect">
            <a:avLst>
              <a:gd name="adj" fmla="val 2222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38275" y="3848100"/>
            <a:ext cx="26814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今天很冷，</a:t>
            </a:r>
            <a:r>
              <a:rPr lang="en-US" sz="17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</a:t>
            </a: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穿大衣。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4303871" y="3905250"/>
            <a:ext cx="259677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It's cold today, you should wear a coat.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38250" y="4333875"/>
            <a:ext cx="15811500" cy="514350"/>
          </a:xfrm>
          <a:prstGeom prst="roundRect">
            <a:avLst>
              <a:gd name="adj" fmla="val 2222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438275" y="4438650"/>
            <a:ext cx="290493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</a:t>
            </a: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少看电视，多做作业。</a:t>
            </a:r>
            <a:endParaRPr lang="en-US" sz="1725" dirty="0"/>
          </a:p>
        </p:txBody>
      </p:sp>
      <p:sp>
        <p:nvSpPr>
          <p:cNvPr id="25" name="Text 23"/>
          <p:cNvSpPr/>
          <p:nvPr/>
        </p:nvSpPr>
        <p:spPr>
          <a:xfrm>
            <a:off x="13818394" y="4495800"/>
            <a:ext cx="30919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should watch less TV, do more homework.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38250" y="4924425"/>
            <a:ext cx="15811500" cy="514350"/>
          </a:xfrm>
          <a:prstGeom prst="roundRect">
            <a:avLst>
              <a:gd name="adj" fmla="val 22222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38275" y="5029200"/>
            <a:ext cx="385022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</a:t>
            </a: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每天吃一百个土豆！</a:t>
            </a:r>
            <a:r>
              <a:rPr lang="en-US" sz="825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SILLY EXAMPLE</a:t>
            </a:r>
            <a:endParaRPr lang="en-US" sz="1725" dirty="0"/>
          </a:p>
        </p:txBody>
      </p:sp>
      <p:sp>
        <p:nvSpPr>
          <p:cNvPr id="28" name="Text 26"/>
          <p:cNvSpPr/>
          <p:nvPr/>
        </p:nvSpPr>
        <p:spPr>
          <a:xfrm>
            <a:off x="14295834" y="5086350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should eat 100 potatoes every day!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38250" y="5629275"/>
            <a:ext cx="24759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· ENDING A LIST WITH 等等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238250" y="5905500"/>
            <a:ext cx="652909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476375" y="6029325"/>
            <a:ext cx="18019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C94F3D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2024509" y="6062663"/>
            <a:ext cx="21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370237" y="5905500"/>
            <a:ext cx="645170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08362" y="6029325"/>
            <a:ext cx="17229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3148757" y="6062663"/>
            <a:ext cx="21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3494484" y="5905500"/>
            <a:ext cx="633561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732609" y="6029325"/>
            <a:ext cx="16045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08A3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Z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4223296" y="5905500"/>
            <a:ext cx="971550" cy="600075"/>
          </a:xfrm>
          <a:prstGeom prst="roundRect">
            <a:avLst>
              <a:gd name="adj" fmla="val 31746"/>
            </a:avLst>
          </a:prstGeom>
          <a:solidFill>
            <a:srgbClr val="E8E2C8"/>
          </a:solidFill>
          <a:ln w="2857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461421" y="6029325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等等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5366296" y="6091238"/>
            <a:ext cx="1089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"X, Y, Z, etc."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238250" y="6619875"/>
            <a:ext cx="15811500" cy="514350"/>
          </a:xfrm>
          <a:prstGeom prst="roundRect">
            <a:avLst>
              <a:gd name="adj" fmla="val 2222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438275" y="6724650"/>
            <a:ext cx="513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我喜欢吃黄瓜、菜花儿、土豆、生菜、西红柿</a:t>
            </a:r>
            <a:r>
              <a:rPr lang="en-US" sz="17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等等</a:t>
            </a:r>
            <a:r>
              <a:rPr lang="en-US" sz="17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725" dirty="0"/>
          </a:p>
        </p:txBody>
      </p:sp>
      <p:sp>
        <p:nvSpPr>
          <p:cNvPr id="43" name="Text 41"/>
          <p:cNvSpPr/>
          <p:nvPr/>
        </p:nvSpPr>
        <p:spPr>
          <a:xfrm>
            <a:off x="12737902" y="6781800"/>
            <a:ext cx="41940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eating cucumber, cauliflower, potato, lettuce, tomato, etc.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715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361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61613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662362"/>
            <a:ext cx="43879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CFU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33500" y="4271963"/>
            <a:ext cx="15621000" cy="1133475"/>
          </a:xfrm>
          <a:prstGeom prst="roundRect">
            <a:avLst>
              <a:gd name="adj" fmla="val 1680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609725" y="449103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772692" y="45577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219325" y="4538663"/>
            <a:ext cx="5006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21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应该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94823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33500" y="5614988"/>
            <a:ext cx="15621000" cy="1066800"/>
          </a:xfrm>
          <a:prstGeom prst="roundRect">
            <a:avLst>
              <a:gd name="adj" fmla="val 1785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83406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90073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834063"/>
            <a:ext cx="80731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would I say "you should eat vegetables"? </a:t>
            </a:r>
            <a:r>
              <a:rPr lang="en-US" sz="1425" b="1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219325" y="6224588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33500" y="6891338"/>
            <a:ext cx="15621000" cy="1104900"/>
          </a:xfrm>
          <a:prstGeom prst="roundRect">
            <a:avLst>
              <a:gd name="adj" fmla="val 1724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609725" y="71104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53046" y="7177088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219325" y="7138988"/>
            <a:ext cx="843244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</a:t>
            </a:r>
            <a:r>
              <a:rPr lang="en-US" sz="19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等等</a:t>
            </a:r>
            <a:r>
              <a:rPr lang="en-US" sz="18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go in a sentence — beginning, middle, or end of a list?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19325" y="7539037"/>
            <a:ext cx="19936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6249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2557463"/>
            <a:ext cx="275859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2881313"/>
            <a:ext cx="3355794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7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3750" dirty="0"/>
          </a:p>
        </p:txBody>
      </p:sp>
      <p:sp>
        <p:nvSpPr>
          <p:cNvPr id="9" name="Text 7"/>
          <p:cNvSpPr/>
          <p:nvPr/>
        </p:nvSpPr>
        <p:spPr>
          <a:xfrm>
            <a:off x="1333500" y="385286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9725" y="4033837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72692" y="4100513"/>
            <a:ext cx="95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219325" y="4033837"/>
            <a:ext cx="2148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应该 mean?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9325" y="4376738"/>
            <a:ext cx="136791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应该 = should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19325" y="4729163"/>
            <a:ext cx="47402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yīnggāi — used to give advice about what someone should 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33500" y="5291138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609725" y="5472113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3642" y="5538788"/>
            <a:ext cx="1338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219325" y="5472113"/>
            <a:ext cx="26585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should eat vegetables"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219325" y="5815013"/>
            <a:ext cx="163220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你应该吃蔬菜。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219325" y="6167438"/>
            <a:ext cx="156328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yīnggāi chī shūcài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33500" y="6729413"/>
            <a:ext cx="15621000" cy="1266825"/>
          </a:xfrm>
          <a:prstGeom prst="roundRect">
            <a:avLst>
              <a:gd name="adj" fmla="val 1503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09725" y="6910388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753046" y="6977063"/>
            <a:ext cx="1349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2219325" y="6910388"/>
            <a:ext cx="33192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Where does 等等 go in a sentence?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219325" y="7253288"/>
            <a:ext cx="18248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At the end of a list.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19325" y="7605713"/>
            <a:ext cx="516242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我喜欢吃黄瓜、土豆等等 — 等等 comes after all the items are named.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302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28713"/>
            <a:ext cx="1259681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85863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066800"/>
            <a:ext cx="73801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完成建议句子 · Complete the Advice Sentences · Act.2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2500" y="1628775"/>
            <a:ext cx="919311" cy="342900"/>
          </a:xfrm>
          <a:prstGeom prst="roundRect">
            <a:avLst>
              <a:gd name="adj" fmla="val 2775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695450"/>
            <a:ext cx="5685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86111" y="1666875"/>
            <a:ext cx="757089" cy="266700"/>
          </a:xfrm>
          <a:prstGeom prst="roundRect">
            <a:avLst>
              <a:gd name="adj" fmla="val 3567857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19461" y="1714500"/>
            <a:ext cx="500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52500" y="2124075"/>
            <a:ext cx="8884890" cy="4381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971550" y="2124075"/>
            <a:ext cx="0" cy="438150"/>
          </a:xfrm>
          <a:prstGeom prst="line">
            <a:avLst/>
          </a:prstGeom>
          <a:noFill/>
          <a:ln w="38100">
            <a:solidFill>
              <a:srgbClr val="5C8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050" y="2209800"/>
            <a:ext cx="2234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今天很冷，你应该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52500" y="2638425"/>
            <a:ext cx="8884890" cy="4381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971550" y="2638425"/>
            <a:ext cx="0" cy="438150"/>
          </a:xfrm>
          <a:prstGeom prst="line">
            <a:avLst/>
          </a:prstGeom>
          <a:noFill/>
          <a:ln w="38100">
            <a:solidFill>
              <a:srgbClr val="5C8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2050" y="2724150"/>
            <a:ext cx="281749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北京现在是冬天，你应该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2500" y="3152775"/>
            <a:ext cx="8884890" cy="4381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971550" y="3152775"/>
            <a:ext cx="0" cy="438150"/>
          </a:xfrm>
          <a:prstGeom prst="line">
            <a:avLst/>
          </a:prstGeom>
          <a:noFill/>
          <a:ln w="38100">
            <a:solidFill>
              <a:srgbClr val="5C8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2050" y="3238500"/>
            <a:ext cx="18459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妈妈说我应该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2500" y="3667125"/>
            <a:ext cx="8884890" cy="4381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971550" y="3667125"/>
            <a:ext cx="0" cy="438150"/>
          </a:xfrm>
          <a:prstGeom prst="line">
            <a:avLst/>
          </a:prstGeom>
          <a:noFill/>
          <a:ln w="38100">
            <a:solidFill>
              <a:srgbClr val="5C8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2050" y="3752850"/>
            <a:ext cx="26231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不要看电视了，你应该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2500" y="4181475"/>
            <a:ext cx="8884890" cy="43815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971550" y="4181475"/>
            <a:ext cx="0" cy="438150"/>
          </a:xfrm>
          <a:prstGeom prst="line">
            <a:avLst/>
          </a:prstGeom>
          <a:noFill/>
          <a:ln w="38100">
            <a:solidFill>
              <a:srgbClr val="5C8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62050" y="4267200"/>
            <a:ext cx="1651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周末你应该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065990" y="2124075"/>
            <a:ext cx="7269510" cy="838200"/>
          </a:xfrm>
          <a:prstGeom prst="roundRect">
            <a:avLst>
              <a:gd name="adj" fmla="val 2272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246965" y="2295525"/>
            <a:ext cx="91872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0246965" y="2476500"/>
            <a:ext cx="771525" cy="342900"/>
          </a:xfrm>
          <a:prstGeom prst="roundRect">
            <a:avLst>
              <a:gd name="adj" fmla="val 33333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389840" y="253365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穿大衣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1094690" y="2476500"/>
            <a:ext cx="771525" cy="342900"/>
          </a:xfrm>
          <a:prstGeom prst="roundRect">
            <a:avLst>
              <a:gd name="adj" fmla="val 33333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237565" y="253365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吃蔬菜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1942415" y="2476500"/>
            <a:ext cx="771525" cy="342900"/>
          </a:xfrm>
          <a:prstGeom prst="roundRect">
            <a:avLst>
              <a:gd name="adj" fmla="val 33333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2085290" y="2533650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2790140" y="2476500"/>
            <a:ext cx="609600" cy="342900"/>
          </a:xfrm>
          <a:prstGeom prst="roundRect">
            <a:avLst>
              <a:gd name="adj" fmla="val 33333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933015" y="253365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运动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3475940" y="2476500"/>
            <a:ext cx="609600" cy="342900"/>
          </a:xfrm>
          <a:prstGeom prst="roundRect">
            <a:avLst>
              <a:gd name="adj" fmla="val 33333"/>
            </a:avLst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3618815" y="2533650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10065990" y="3076575"/>
            <a:ext cx="7269510" cy="1181100"/>
          </a:xfrm>
          <a:prstGeom prst="roundRect">
            <a:avLst>
              <a:gd name="adj" fmla="val 16129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256490" y="3257550"/>
            <a:ext cx="23645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 IS YOUR TURN! · EXTENSION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12628513" y="3238500"/>
            <a:ext cx="4584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</a:t>
            </a: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original sentences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应该 — </a:t>
            </a: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the word bank.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10256490" y="3462338"/>
            <a:ext cx="34965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 translate 2 sentences from </a:t>
            </a: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Ex.7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</a:t>
            </a:r>
            <a:endParaRPr lang="en-US" sz="1125" dirty="0"/>
          </a:p>
        </p:txBody>
      </p:sp>
      <p:sp>
        <p:nvSpPr>
          <p:cNvPr id="45" name="Text 43"/>
          <p:cNvSpPr/>
          <p:nvPr/>
        </p:nvSpPr>
        <p:spPr>
          <a:xfrm>
            <a:off x="10256490" y="3676650"/>
            <a:ext cx="62450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 says I should eat fruit and vegetables every day → 妈妈说我应该每天吃水果和蔬菜。</a:t>
            </a:r>
            <a:endParaRPr lang="en-US" sz="1125" dirty="0"/>
          </a:p>
          <a:p>
            <a:pPr algn="l" indent="0" marL="0">
              <a:lnSpc>
                <a:spcPts val="1688"/>
              </a:lnSpc>
              <a:spcAft>
                <a:spcPts val="450"/>
              </a:spcAft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teacher says I should read more Chinese novels → 老师说我应该多看中文小说。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952500" y="4810125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85850" y="4895850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1085850" y="5086350"/>
            <a:ext cx="500636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of possible endings (穿大衣, 吃蔬菜, 做作业, 运动, 睡觉) stays displayed for reference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6451550" y="4810125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584900" y="4895850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6584900" y="5086350"/>
            <a:ext cx="39827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original 应该 sentences + translate 2 Workbook Ex.7 sentences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11950601" y="4810125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2083951" y="4895850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2083951" y="5086350"/>
            <a:ext cx="49512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— every student responds each round, teacher cold-calls after each item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330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09663"/>
            <a:ext cx="1283940" cy="304800"/>
          </a:xfrm>
          <a:prstGeom prst="roundRect">
            <a:avLst>
              <a:gd name="adj" fmla="val 3121875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66813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6940" y="1047750"/>
            <a:ext cx="60389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听力选择 · Choose the Right Answer · Act.4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52500" y="1571625"/>
            <a:ext cx="927646" cy="342900"/>
          </a:xfrm>
          <a:prstGeom prst="roundRect">
            <a:avLst>
              <a:gd name="adj" fmla="val 2775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1638300"/>
            <a:ext cx="577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6 min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1994446" y="1609725"/>
            <a:ext cx="757089" cy="266700"/>
          </a:xfrm>
          <a:prstGeom prst="roundRect">
            <a:avLst>
              <a:gd name="adj" fmla="val 3567857"/>
            </a:avLst>
          </a:prstGeom>
          <a:solidFill>
            <a:srgbClr val="E08A3C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7796" y="1657350"/>
            <a:ext cx="5001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865834" y="1595438"/>
            <a:ext cx="1339900" cy="295275"/>
          </a:xfrm>
          <a:prstGeom prst="roundRect">
            <a:avLst>
              <a:gd name="adj" fmla="val 3222581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999184" y="1662113"/>
            <a:ext cx="10946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🔊 CD Track 47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52500" y="2066925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33475" y="21907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29320" y="2228850"/>
            <a:ext cx="570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1476375" y="2190750"/>
            <a:ext cx="1457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美文应该每天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1476375" y="2495550"/>
            <a:ext cx="6271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吃蔬菜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2243584" y="2495550"/>
            <a:ext cx="631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3015258" y="2495550"/>
            <a:ext cx="62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画画儿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201150" y="2066925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382125" y="219075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466659" y="2228850"/>
            <a:ext cx="80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725025" y="2190750"/>
            <a:ext cx="1457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小明应该每天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725025" y="2495550"/>
            <a:ext cx="7757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拉小提琴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10637937" y="2495550"/>
            <a:ext cx="631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说汉语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11409611" y="2495550"/>
            <a:ext cx="62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弹钢琴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52500" y="2933700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33475" y="30575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17712" y="3095625"/>
            <a:ext cx="806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1476375" y="3057525"/>
            <a:ext cx="1457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大生应该每天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1476375" y="3362325"/>
            <a:ext cx="6271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做作业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243584" y="3362325"/>
            <a:ext cx="483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读书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2869555" y="3362325"/>
            <a:ext cx="4772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跑步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9201150" y="2933700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382125" y="3057525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465915" y="3095625"/>
            <a:ext cx="81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725025" y="3057525"/>
            <a:ext cx="18265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京京差不多每天吃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9725025" y="3362325"/>
            <a:ext cx="62710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菜花儿</a:t>
            </a:r>
            <a:endParaRPr lang="en-US" sz="1125" dirty="0"/>
          </a:p>
        </p:txBody>
      </p:sp>
      <p:sp>
        <p:nvSpPr>
          <p:cNvPr id="42" name="Text 40"/>
          <p:cNvSpPr/>
          <p:nvPr/>
        </p:nvSpPr>
        <p:spPr>
          <a:xfrm>
            <a:off x="10492234" y="3362325"/>
            <a:ext cx="483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生菜</a:t>
            </a:r>
            <a:endParaRPr lang="en-US" sz="1125" dirty="0"/>
          </a:p>
        </p:txBody>
      </p:sp>
      <p:sp>
        <p:nvSpPr>
          <p:cNvPr id="43" name="Text 41"/>
          <p:cNvSpPr/>
          <p:nvPr/>
        </p:nvSpPr>
        <p:spPr>
          <a:xfrm>
            <a:off x="11118205" y="3362325"/>
            <a:ext cx="62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西红柿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952500" y="3800475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33475" y="39243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1217861" y="3962400"/>
            <a:ext cx="804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1476375" y="3924300"/>
            <a:ext cx="2564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东东不应该一边做作业一边</a:t>
            </a:r>
            <a:endParaRPr lang="en-US" sz="1425" dirty="0"/>
          </a:p>
        </p:txBody>
      </p:sp>
      <p:sp>
        <p:nvSpPr>
          <p:cNvPr id="48" name="Text 46"/>
          <p:cNvSpPr/>
          <p:nvPr/>
        </p:nvSpPr>
        <p:spPr>
          <a:xfrm>
            <a:off x="1476375" y="4229100"/>
            <a:ext cx="478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唱歌</a:t>
            </a:r>
            <a:endParaRPr lang="en-US" sz="1125" dirty="0"/>
          </a:p>
        </p:txBody>
      </p:sp>
      <p:sp>
        <p:nvSpPr>
          <p:cNvPr id="49" name="Text 47"/>
          <p:cNvSpPr/>
          <p:nvPr/>
        </p:nvSpPr>
        <p:spPr>
          <a:xfrm>
            <a:off x="2097881" y="4229100"/>
            <a:ext cx="631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看电视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2869555" y="4229100"/>
            <a:ext cx="62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听音乐</a:t>
            </a:r>
            <a:endParaRPr lang="en-US" sz="1125" dirty="0"/>
          </a:p>
        </p:txBody>
      </p:sp>
      <p:sp>
        <p:nvSpPr>
          <p:cNvPr id="51" name="Text 49"/>
          <p:cNvSpPr/>
          <p:nvPr/>
        </p:nvSpPr>
        <p:spPr>
          <a:xfrm>
            <a:off x="9201150" y="3800475"/>
            <a:ext cx="8134350" cy="752475"/>
          </a:xfrm>
          <a:prstGeom prst="roundRect">
            <a:avLst>
              <a:gd name="adj" fmla="val 1519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9382125" y="3924300"/>
            <a:ext cx="247650" cy="247650"/>
          </a:xfrm>
          <a:prstGeom prst="roundRect">
            <a:avLst>
              <a:gd name="adj" fmla="val 369231"/>
            </a:avLst>
          </a:prstGeom>
          <a:solidFill>
            <a:srgbClr val="E08A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465766" y="3962400"/>
            <a:ext cx="818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975" dirty="0"/>
          </a:p>
        </p:txBody>
      </p:sp>
      <p:sp>
        <p:nvSpPr>
          <p:cNvPr id="54" name="Text 52"/>
          <p:cNvSpPr/>
          <p:nvPr/>
        </p:nvSpPr>
        <p:spPr>
          <a:xfrm>
            <a:off x="9725025" y="3924300"/>
            <a:ext cx="256489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他妈妈不应该一边开车一边</a:t>
            </a:r>
            <a:endParaRPr lang="en-US" sz="1425" dirty="0"/>
          </a:p>
        </p:txBody>
      </p:sp>
      <p:sp>
        <p:nvSpPr>
          <p:cNvPr id="55" name="Text 53"/>
          <p:cNvSpPr/>
          <p:nvPr/>
        </p:nvSpPr>
        <p:spPr>
          <a:xfrm>
            <a:off x="9725025" y="4229100"/>
            <a:ext cx="4784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睡觉</a:t>
            </a:r>
            <a:endParaRPr lang="en-US" sz="1125" dirty="0"/>
          </a:p>
        </p:txBody>
      </p:sp>
      <p:sp>
        <p:nvSpPr>
          <p:cNvPr id="56" name="Text 54"/>
          <p:cNvSpPr/>
          <p:nvPr/>
        </p:nvSpPr>
        <p:spPr>
          <a:xfrm>
            <a:off x="10346531" y="4229100"/>
            <a:ext cx="6316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打电话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11118205" y="4229100"/>
            <a:ext cx="6258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c)</a:t>
            </a: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看杂志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952500" y="4914900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085850" y="5000625"/>
            <a:ext cx="6822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60" name="Text 58"/>
          <p:cNvSpPr/>
          <p:nvPr/>
        </p:nvSpPr>
        <p:spPr>
          <a:xfrm>
            <a:off x="1085850" y="5191125"/>
            <a:ext cx="50315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Pause after each item and replay once if needed; pre-teach the 3 answer choices before playing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6451550" y="4914900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584900" y="5000625"/>
            <a:ext cx="7398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6584900" y="5191125"/>
            <a:ext cx="47955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checking answers, fluent speakers write a full sentence for 2 items from memory, not just the letter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11950601" y="4914900"/>
            <a:ext cx="5384750" cy="704850"/>
          </a:xfrm>
          <a:prstGeom prst="roundRect">
            <a:avLst>
              <a:gd name="adj" fmla="val 16216"/>
            </a:avLst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12083951" y="5000625"/>
            <a:ext cx="2662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12083951" y="5191125"/>
            <a:ext cx="38896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 hold-up after every item — every student responds</a:t>
            </a:r>
            <a:endParaRPr lang="en-US" sz="975" dirty="0"/>
          </a:p>
        </p:txBody>
      </p:sp>
      <p:sp>
        <p:nvSpPr>
          <p:cNvPr id="67" name="Shape 6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289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Act It Out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062038"/>
            <a:ext cx="840879" cy="314325"/>
          </a:xfrm>
          <a:prstGeom prst="roundRect">
            <a:avLst>
              <a:gd name="adj" fmla="val 3027273"/>
            </a:avLst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19188"/>
            <a:ext cx="4690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1945779" y="1047750"/>
            <a:ext cx="927199" cy="342900"/>
          </a:xfrm>
          <a:prstGeom prst="roundRect">
            <a:avLst>
              <a:gd name="adj" fmla="val 277500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26754" y="1114425"/>
            <a:ext cx="576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025378" y="1062038"/>
            <a:ext cx="2632770" cy="314325"/>
          </a:xfrm>
          <a:prstGeom prst="roundRect">
            <a:avLst>
              <a:gd name="adj" fmla="val 3027273"/>
            </a:avLst>
          </a:prstGeom>
          <a:solidFill>
            <a:srgbClr val="C94F3D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6828" y="1119188"/>
            <a:ext cx="2335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Act.5 Style · Team Competition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952500" y="1466850"/>
            <a:ext cx="360885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表演猜词 · Act It Out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52500" y="2009775"/>
            <a:ext cx="71981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a phrase — one player from each team races to act it out and win the point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952500" y="2390775"/>
            <a:ext cx="5391150" cy="3790950"/>
          </a:xfrm>
          <a:prstGeom prst="roundRect">
            <a:avLst>
              <a:gd name="adj" fmla="val 5025"/>
            </a:avLst>
          </a:prstGeom>
          <a:noFill/>
          <a:ln w="2857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81075" y="2419350"/>
            <a:ext cx="5334000" cy="381000"/>
          </a:xfrm>
          <a:prstGeom prst="rect">
            <a:avLst/>
          </a:prstGeom>
          <a:solidFill>
            <a:srgbClr val="C94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83583" y="2495550"/>
            <a:ext cx="23288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 ACTION PHRASE CARDS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981075" y="28003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47391" y="2819400"/>
            <a:ext cx="3658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1463231" y="30194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564788" y="3255615"/>
            <a:ext cx="1660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314575" y="28003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80722" y="2819400"/>
            <a:ext cx="538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796731" y="30194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2849560" y="3255615"/>
            <a:ext cx="2633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648075" y="28003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14225" y="2819400"/>
            <a:ext cx="535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4037933" y="30194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3933341" y="3255615"/>
            <a:ext cx="7628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981575" y="28003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47720" y="2819400"/>
            <a:ext cx="54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371433" y="30194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5260768" y="3255615"/>
            <a:ext cx="775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981075" y="3638550"/>
            <a:ext cx="1333500" cy="838200"/>
          </a:xfrm>
          <a:prstGeom prst="rect">
            <a:avLst/>
          </a:prstGeom>
          <a:solidFill>
            <a:srgbClr val="5C8A3A">
              <a:alpha val="12000"/>
            </a:srgbClr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7222" y="3657600"/>
            <a:ext cx="5389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1463231" y="38576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373971" y="4093815"/>
            <a:ext cx="5475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eat a meal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2314575" y="36385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380717" y="3657600"/>
            <a:ext cx="5434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796731" y="38576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2874152" y="4093815"/>
            <a:ext cx="2141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3648075" y="36385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714260" y="3657600"/>
            <a:ext cx="4994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4037933" y="38576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4048409" y="4093815"/>
            <a:ext cx="5326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piano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981575" y="36385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047720" y="3657600"/>
            <a:ext cx="5404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371433" y="38576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看电视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5405439" y="4093815"/>
            <a:ext cx="4856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watch TV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981075" y="44767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047216" y="4495800"/>
            <a:ext cx="544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1463231" y="46958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1425" dirty="0"/>
          </a:p>
        </p:txBody>
      </p:sp>
      <p:sp>
        <p:nvSpPr>
          <p:cNvPr id="53" name="Text 51"/>
          <p:cNvSpPr/>
          <p:nvPr/>
        </p:nvSpPr>
        <p:spPr>
          <a:xfrm>
            <a:off x="1462927" y="4932015"/>
            <a:ext cx="3697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shower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2314575" y="44767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2380370" y="4495800"/>
            <a:ext cx="8971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2796731" y="46958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睡觉</a:t>
            </a:r>
            <a:endParaRPr lang="en-US" sz="1425" dirty="0"/>
          </a:p>
        </p:txBody>
      </p:sp>
      <p:sp>
        <p:nvSpPr>
          <p:cNvPr id="57" name="Text 55"/>
          <p:cNvSpPr/>
          <p:nvPr/>
        </p:nvSpPr>
        <p:spPr>
          <a:xfrm>
            <a:off x="2845156" y="4932015"/>
            <a:ext cx="2723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sleep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3648075" y="44767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714034" y="4495800"/>
            <a:ext cx="7301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4037933" y="46958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1425" dirty="0"/>
          </a:p>
        </p:txBody>
      </p:sp>
      <p:sp>
        <p:nvSpPr>
          <p:cNvPr id="61" name="Text 59"/>
          <p:cNvSpPr/>
          <p:nvPr/>
        </p:nvSpPr>
        <p:spPr>
          <a:xfrm>
            <a:off x="4034291" y="4932015"/>
            <a:ext cx="5609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tennis</a:t>
            </a:r>
            <a:endParaRPr lang="en-US" sz="825" dirty="0"/>
          </a:p>
        </p:txBody>
      </p:sp>
      <p:sp>
        <p:nvSpPr>
          <p:cNvPr id="62" name="Text 60"/>
          <p:cNvSpPr/>
          <p:nvPr/>
        </p:nvSpPr>
        <p:spPr>
          <a:xfrm>
            <a:off x="4981575" y="44767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5047364" y="4495800"/>
            <a:ext cx="903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5371433" y="46958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画画儿</a:t>
            </a:r>
            <a:endParaRPr lang="en-US" sz="1425" dirty="0"/>
          </a:p>
        </p:txBody>
      </p:sp>
      <p:sp>
        <p:nvSpPr>
          <p:cNvPr id="65" name="Text 63"/>
          <p:cNvSpPr/>
          <p:nvPr/>
        </p:nvSpPr>
        <p:spPr>
          <a:xfrm>
            <a:off x="5522329" y="4932015"/>
            <a:ext cx="2518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draw</a:t>
            </a:r>
            <a:endParaRPr lang="en-US" sz="825" dirty="0"/>
          </a:p>
        </p:txBody>
      </p:sp>
      <p:sp>
        <p:nvSpPr>
          <p:cNvPr id="66" name="Text 64"/>
          <p:cNvSpPr/>
          <p:nvPr/>
        </p:nvSpPr>
        <p:spPr>
          <a:xfrm>
            <a:off x="981075" y="53149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046867" y="5334000"/>
            <a:ext cx="9002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675" dirty="0"/>
          </a:p>
        </p:txBody>
      </p:sp>
      <p:sp>
        <p:nvSpPr>
          <p:cNvPr id="68" name="Text 66"/>
          <p:cNvSpPr/>
          <p:nvPr/>
        </p:nvSpPr>
        <p:spPr>
          <a:xfrm>
            <a:off x="1463231" y="55340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425" dirty="0"/>
          </a:p>
        </p:txBody>
      </p:sp>
      <p:sp>
        <p:nvSpPr>
          <p:cNvPr id="69" name="Text 67"/>
          <p:cNvSpPr/>
          <p:nvPr/>
        </p:nvSpPr>
        <p:spPr>
          <a:xfrm>
            <a:off x="1491771" y="5770215"/>
            <a:ext cx="3119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2314575" y="53149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380363" y="5334000"/>
            <a:ext cx="904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675" dirty="0"/>
          </a:p>
        </p:txBody>
      </p:sp>
      <p:sp>
        <p:nvSpPr>
          <p:cNvPr id="72" name="Text 70"/>
          <p:cNvSpPr/>
          <p:nvPr/>
        </p:nvSpPr>
        <p:spPr>
          <a:xfrm>
            <a:off x="2796731" y="5534025"/>
            <a:ext cx="3691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跳高</a:t>
            </a:r>
            <a:endParaRPr lang="en-US" sz="1425" dirty="0"/>
          </a:p>
        </p:txBody>
      </p:sp>
      <p:sp>
        <p:nvSpPr>
          <p:cNvPr id="73" name="Text 71"/>
          <p:cNvSpPr/>
          <p:nvPr/>
        </p:nvSpPr>
        <p:spPr>
          <a:xfrm>
            <a:off x="2726749" y="5770215"/>
            <a:ext cx="5091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 jump</a:t>
            </a:r>
            <a:endParaRPr lang="en-US" sz="825" dirty="0"/>
          </a:p>
        </p:txBody>
      </p:sp>
      <p:sp>
        <p:nvSpPr>
          <p:cNvPr id="74" name="Text 72"/>
          <p:cNvSpPr/>
          <p:nvPr/>
        </p:nvSpPr>
        <p:spPr>
          <a:xfrm>
            <a:off x="3648075" y="53149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713864" y="5334000"/>
            <a:ext cx="903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675" dirty="0"/>
          </a:p>
        </p:txBody>
      </p:sp>
      <p:sp>
        <p:nvSpPr>
          <p:cNvPr id="76" name="Text 74"/>
          <p:cNvSpPr/>
          <p:nvPr/>
        </p:nvSpPr>
        <p:spPr>
          <a:xfrm>
            <a:off x="4037933" y="5534025"/>
            <a:ext cx="5537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穿衣服</a:t>
            </a:r>
            <a:endParaRPr lang="en-US" sz="1425" dirty="0"/>
          </a:p>
        </p:txBody>
      </p:sp>
      <p:sp>
        <p:nvSpPr>
          <p:cNvPr id="77" name="Text 75"/>
          <p:cNvSpPr/>
          <p:nvPr/>
        </p:nvSpPr>
        <p:spPr>
          <a:xfrm>
            <a:off x="4008181" y="5770215"/>
            <a:ext cx="6131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get dressed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4981575" y="5314950"/>
            <a:ext cx="1333500" cy="838200"/>
          </a:xfrm>
          <a:prstGeom prst="rect">
            <a:avLst/>
          </a:prstGeom>
          <a:solidFill>
            <a:srgbClr val="FBFAF2"/>
          </a:solidFill>
          <a:ln w="9525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5047360" y="5334000"/>
            <a:ext cx="907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675" dirty="0"/>
          </a:p>
        </p:txBody>
      </p:sp>
      <p:sp>
        <p:nvSpPr>
          <p:cNvPr id="80" name="Text 78"/>
          <p:cNvSpPr/>
          <p:nvPr/>
        </p:nvSpPr>
        <p:spPr>
          <a:xfrm>
            <a:off x="5279136" y="5534025"/>
            <a:ext cx="7383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拉小提琴</a:t>
            </a:r>
            <a:endParaRPr lang="en-US" sz="1425" dirty="0"/>
          </a:p>
        </p:txBody>
      </p:sp>
      <p:sp>
        <p:nvSpPr>
          <p:cNvPr id="81" name="Text 79"/>
          <p:cNvSpPr/>
          <p:nvPr/>
        </p:nvSpPr>
        <p:spPr>
          <a:xfrm>
            <a:off x="5389803" y="5770215"/>
            <a:ext cx="51689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violin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6610350" y="2390775"/>
            <a:ext cx="10725150" cy="2105025"/>
          </a:xfrm>
          <a:prstGeom prst="roundRect">
            <a:avLst>
              <a:gd name="adj" fmla="val 905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6829425" y="2590800"/>
            <a:ext cx="11644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6829425" y="2800350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350" dirty="0"/>
          </a:p>
        </p:txBody>
      </p:sp>
      <p:sp>
        <p:nvSpPr>
          <p:cNvPr id="85" name="Text 83"/>
          <p:cNvSpPr/>
          <p:nvPr/>
        </p:nvSpPr>
        <p:spPr>
          <a:xfrm>
            <a:off x="7143750" y="2781300"/>
            <a:ext cx="418540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Class splits into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teams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lined up at the front.</a:t>
            </a:r>
            <a:endParaRPr lang="en-US" sz="1350" dirty="0"/>
          </a:p>
        </p:txBody>
      </p:sp>
      <p:sp>
        <p:nvSpPr>
          <p:cNvPr id="86" name="Text 84"/>
          <p:cNvSpPr/>
          <p:nvPr/>
        </p:nvSpPr>
        <p:spPr>
          <a:xfrm>
            <a:off x="6829425" y="3152775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7143750" y="3133725"/>
            <a:ext cx="974525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a phrase from the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16-card set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sometimes framed as advice,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"你应该……"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one member from each team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acts it out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</a:t>
            </a:r>
            <a:endParaRPr lang="en-US" sz="1350" dirty="0"/>
          </a:p>
        </p:txBody>
      </p:sp>
      <p:sp>
        <p:nvSpPr>
          <p:cNvPr id="88" name="Text 86"/>
          <p:cNvSpPr/>
          <p:nvPr/>
        </p:nvSpPr>
        <p:spPr>
          <a:xfrm>
            <a:off x="6829425" y="3714750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</a:t>
            </a:r>
            <a:endParaRPr lang="en-US" sz="1350" dirty="0"/>
          </a:p>
        </p:txBody>
      </p:sp>
      <p:sp>
        <p:nvSpPr>
          <p:cNvPr id="89" name="Text 87"/>
          <p:cNvSpPr/>
          <p:nvPr/>
        </p:nvSpPr>
        <p:spPr>
          <a:xfrm>
            <a:off x="7143750" y="3695700"/>
            <a:ext cx="471793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to act it out correctly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wins a point for their team.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6829425" y="4067175"/>
            <a:ext cx="204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🥦</a:t>
            </a:r>
            <a:endParaRPr lang="en-US" sz="1350" dirty="0"/>
          </a:p>
        </p:txBody>
      </p:sp>
      <p:sp>
        <p:nvSpPr>
          <p:cNvPr id="91" name="Text 89"/>
          <p:cNvSpPr/>
          <p:nvPr/>
        </p:nvSpPr>
        <p:spPr>
          <a:xfrm>
            <a:off x="7143750" y="4048125"/>
            <a:ext cx="912756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a few rounds, teacher inserts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vegetable-eating mimes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(e.g. </a:t>
            </a:r>
            <a:r>
              <a:rPr lang="en-US" sz="1350" b="1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"你应该吃蔬菜"</a:t>
            </a:r>
            <a:r>
              <a:rPr lang="en-US" sz="135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 to loop in today's theme.</a:t>
            </a:r>
            <a:endParaRPr lang="en-US" sz="1350" dirty="0"/>
          </a:p>
        </p:txBody>
      </p:sp>
      <p:sp>
        <p:nvSpPr>
          <p:cNvPr id="92" name="Text 90"/>
          <p:cNvSpPr/>
          <p:nvPr/>
        </p:nvSpPr>
        <p:spPr>
          <a:xfrm>
            <a:off x="6610350" y="4610100"/>
            <a:ext cx="10725150" cy="704850"/>
          </a:xfrm>
          <a:prstGeom prst="roundRect">
            <a:avLst>
              <a:gd name="adj" fmla="val 16216"/>
            </a:avLst>
          </a:prstGeom>
          <a:solidFill>
            <a:srgbClr val="C94F3D">
              <a:alpha val="10000"/>
            </a:srgbClr>
          </a:solidFill>
          <a:ln w="19050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6800850" y="4833938"/>
            <a:ext cx="2137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🗂️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7143750" y="4743450"/>
            <a:ext cx="116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275" dirty="0"/>
          </a:p>
        </p:txBody>
      </p:sp>
      <p:sp>
        <p:nvSpPr>
          <p:cNvPr id="95" name="Text 93"/>
          <p:cNvSpPr/>
          <p:nvPr/>
        </p:nvSpPr>
        <p:spPr>
          <a:xfrm>
            <a:off x="7143750" y="4991100"/>
            <a:ext cx="32767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 phrase cards + two teams lined up at the front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6610350" y="5410200"/>
            <a:ext cx="81107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Highlighted card (吃饭) shows where a vegetable-themed advice mime can be looped in — e.g. teacher calls "你应该吃蔬菜" instead.</a:t>
            </a:r>
            <a:endParaRPr lang="en-US" sz="975" dirty="0"/>
          </a:p>
        </p:txBody>
      </p:sp>
      <p:sp>
        <p:nvSpPr>
          <p:cNvPr id="97" name="Shape 9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3186113"/>
            <a:ext cx="9158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3509963"/>
            <a:ext cx="3429572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33500" y="4452938"/>
            <a:ext cx="7658100" cy="2914650"/>
          </a:xfrm>
          <a:prstGeom prst="roundRect">
            <a:avLst>
              <a:gd name="adj" fmla="val 653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28775" y="4710113"/>
            <a:ext cx="25620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28775" y="49196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85925" y="49530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2150" y="49196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9300" y="49530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95525" y="49196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352675" y="49530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14625" y="4948238"/>
            <a:ext cx="2018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应该, 等等 in Chinese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628775" y="5319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685925" y="53530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962150" y="5319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019300" y="53530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95525" y="53197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352675" y="53530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14625" y="5348288"/>
            <a:ext cx="32439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 with 应该 giving advice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628775" y="57197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685925" y="57531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962150" y="57197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019300" y="57531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95525" y="571976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352675" y="575310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714625" y="5748338"/>
            <a:ext cx="24290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等等 to end a list of items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1628775" y="61198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08A3C">
              <a:alpha val="12000"/>
            </a:srgbClr>
          </a:solidFill>
          <a:ln w="9525">
            <a:solidFill>
              <a:srgbClr val="E08A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85925" y="61531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62150" y="61198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5C8A3A">
              <a:alpha val="12000"/>
            </a:srgbClr>
          </a:solidFill>
          <a:ln w="9525">
            <a:solidFill>
              <a:srgbClr val="5C8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19300" y="61531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95525" y="611981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C94F3D">
              <a:alpha val="10000"/>
            </a:srgbClr>
          </a:solidFill>
          <a:ln w="9525">
            <a:solidFill>
              <a:srgbClr val="C94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52675" y="6153150"/>
            <a:ext cx="1748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4625" y="6148388"/>
            <a:ext cx="34112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short listening clips using 应该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9296400" y="4452938"/>
            <a:ext cx="7658100" cy="2914650"/>
          </a:xfrm>
          <a:prstGeom prst="roundRect">
            <a:avLst>
              <a:gd name="adj" fmla="val 653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9591675" y="4710113"/>
            <a:ext cx="1139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20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91675" y="4919663"/>
            <a:ext cx="7067550" cy="876300"/>
          </a:xfrm>
          <a:prstGeom prst="rect">
            <a:avLst/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9615488" y="4919663"/>
            <a:ext cx="0" cy="876300"/>
          </a:xfrm>
          <a:prstGeom prst="line">
            <a:avLst/>
          </a:prstGeom>
          <a:noFill/>
          <a:ln w="47625">
            <a:solidFill>
              <a:srgbClr val="E08A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48850" y="5091113"/>
            <a:ext cx="4030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848850" y="5338763"/>
            <a:ext cx="65664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piece of advice using 应该 for a friend who never eats vegetables.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9591675" y="5976938"/>
            <a:ext cx="68429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structure each time.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4 criteria above.
</a:t>
            </a:r>
            <a:r>
              <a:rPr lang="en-US" sz="1125" b="1" dirty="0">
                <a:solidFill>
                  <a:srgbClr val="C94F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lesson: 可是 (but) — so you can say "I don't really like it, BUT I should still eat it!"</a:t>
            </a:r>
            <a:endParaRPr lang="en-US" sz="1125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BFAF2">
              <a:alpha val="9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14884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 · 应该 SHOULD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11785" y="280988"/>
            <a:ext cx="16271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5C8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36586" y="2550765"/>
            <a:ext cx="22146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L3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6526281" y="2836515"/>
            <a:ext cx="5235288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buNone/>
            </a:pP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 </a:t>
            </a:r>
            <a:r>
              <a:rPr lang="en-US" sz="4200" b="1" dirty="0">
                <a:solidFill>
                  <a:srgbClr val="5C8A3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but</a:t>
            </a:r>
            <a:r>
              <a:rPr lang="en-US" sz="42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Text 1 对话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06065" y="3592711"/>
            <a:ext cx="927572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Contrasting a like/dislike with an obligation — then reading the full Text 1 dialogue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734050" y="4402336"/>
            <a:ext cx="3295650" cy="1847850"/>
          </a:xfrm>
          <a:prstGeom prst="roundRect">
            <a:avLst>
              <a:gd name="adj" fmla="val 1030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48703" y="4678561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🔀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168134" y="5450086"/>
            <a:ext cx="427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可是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10893" y="5773936"/>
            <a:ext cx="21419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"but" — contrasting two ideas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9258300" y="4402336"/>
            <a:ext cx="3295650" cy="1847850"/>
          </a:xfrm>
          <a:prstGeom prst="roundRect">
            <a:avLst>
              <a:gd name="adj" fmla="val 10309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672953" y="4678561"/>
            <a:ext cx="466344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4321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392266" y="5450086"/>
            <a:ext cx="102771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1 对话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893284" y="5773936"/>
            <a:ext cx="2025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vegetable dialogue, p.90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400800" y="6669286"/>
            <a:ext cx="5486400" cy="1333500"/>
          </a:xfrm>
          <a:prstGeom prst="roundRect">
            <a:avLst>
              <a:gd name="adj" fmla="val 14286"/>
            </a:avLst>
          </a:prstGeom>
          <a:solidFill>
            <a:srgbClr val="E8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699212" y="6878836"/>
            <a:ext cx="889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5C8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6812280" y="7126486"/>
            <a:ext cx="46634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我不太喜欢吃，可是我应该每天吃。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7060025" y="7583686"/>
            <a:ext cx="4167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5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really like eating it, but I should eat it every day.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32364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948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4 Vegetables &amp; Fruits 蔬菜、水果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2026-08-01T05:49:27Z</dcterms:created>
  <dcterms:modified xsi:type="dcterms:W3CDTF">2026-08-01T05:49:27Z</dcterms:modified>
</cp:coreProperties>
</file>