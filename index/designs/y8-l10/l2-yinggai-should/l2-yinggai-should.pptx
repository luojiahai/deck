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image" Target="../media/image-1-5.png"/><Relationship Id="rId6" Type="http://schemas.openxmlformats.org/officeDocument/2006/relationships/image" Target="../media/image-1-6.svg"/><Relationship Id="rId7" Type="http://schemas.openxmlformats.org/officeDocument/2006/relationships/image" Target="../media/image-1-7.png"/><Relationship Id="rId8" Type="http://schemas.openxmlformats.org/officeDocument/2006/relationships/image" Target="../media/image-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A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47625"/>
          </a:xfrm>
          <a:prstGeom prst="rect">
            <a:avLst/>
          </a:prstGeom>
          <a:solidFill>
            <a:srgbClr val="4C7A2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066800" y="2453580"/>
            <a:ext cx="167106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B96A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2 · UNIT 4 · LESSON 10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66800" y="3082230"/>
            <a:ext cx="16710660" cy="184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5"/>
              </a:lnSpc>
              <a:spcBef>
                <a:spcPts val="1950"/>
              </a:spcBef>
              <a:spcAft>
                <a:spcPts val="750"/>
              </a:spcAft>
              <a:buNone/>
            </a:pPr>
            <a:r>
              <a:rPr lang="en-US" sz="142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应该</a:t>
            </a:r>
            <a:endParaRPr lang="en-US" sz="14250" dirty="0"/>
          </a:p>
        </p:txBody>
      </p:sp>
      <p:sp>
        <p:nvSpPr>
          <p:cNvPr id="7" name="Text 5"/>
          <p:cNvSpPr/>
          <p:nvPr/>
        </p:nvSpPr>
        <p:spPr>
          <a:xfrm>
            <a:off x="1066800" y="5023396"/>
            <a:ext cx="1671066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b="1" dirty="0">
                <a:solidFill>
                  <a:srgbClr val="4C7A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Should · and listing with 等等</a:t>
            </a:r>
            <a:endParaRPr lang="en-US" sz="5100" dirty="0"/>
          </a:p>
        </p:txBody>
      </p:sp>
      <p:sp>
        <p:nvSpPr>
          <p:cNvPr id="8" name="Text 6"/>
          <p:cNvSpPr/>
          <p:nvPr/>
        </p:nvSpPr>
        <p:spPr>
          <a:xfrm>
            <a:off x="1066800" y="6271171"/>
            <a:ext cx="167106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700"/>
              </a:spcBef>
              <a:buNone/>
            </a:pPr>
            <a:r>
              <a:rPr lang="en-US" sz="2250" dirty="0">
                <a:solidFill>
                  <a:srgbClr val="4E5A4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2 of 6 · 50 minutes · 课本 p.91–93</a:t>
            </a:r>
            <a:endParaRPr lang="en-US" sz="2250" dirty="0"/>
          </a:p>
        </p:txBody>
      </p:sp>
      <p:pic>
        <p:nvPicPr>
          <p:cNvPr id="9" name="Image 0" descr="/Users/luojiahai/code/deck/index/designs/y8-l10/img/qingcai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6800" y="7128421"/>
            <a:ext cx="1428750" cy="1428750"/>
          </a:xfrm>
          <a:prstGeom prst="rect">
            <a:avLst/>
          </a:prstGeom>
        </p:spPr>
      </p:pic>
      <p:pic>
        <p:nvPicPr>
          <p:cNvPr id="10" name="Image 1" descr="/Users/luojiahai/code/deck/index/designs/y8-l10/img/nangua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62250" y="7128421"/>
            <a:ext cx="1428750" cy="1428750"/>
          </a:xfrm>
          <a:prstGeom prst="rect">
            <a:avLst/>
          </a:prstGeom>
        </p:spPr>
      </p:pic>
      <p:pic>
        <p:nvPicPr>
          <p:cNvPr id="11" name="Image 2" descr="/Users/luojiahai/code/deck/index/designs/y8-l10/img/shengcai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457700" y="7128421"/>
            <a:ext cx="1428750" cy="1428750"/>
          </a:xfrm>
          <a:prstGeom prst="rect">
            <a:avLst/>
          </a:prstGeom>
        </p:spPr>
      </p:pic>
      <p:pic>
        <p:nvPicPr>
          <p:cNvPr id="12" name="Image 3" descr="/Users/luojiahai/code/deck/index/designs/y8-l10/img/huanggua.sv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53150" y="7128421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A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47625"/>
          </a:xfrm>
          <a:prstGeom prst="rect">
            <a:avLst/>
          </a:prstGeom>
          <a:solidFill>
            <a:srgbClr val="4C7A2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38200" y="1181100"/>
            <a:ext cx="1694383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350"/>
              </a:spcAft>
              <a:buNone/>
            </a:pPr>
            <a:r>
              <a:rPr lang="en-US" sz="1800" b="1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复习 · ACT IT OUT — TEXTBOOK P.93 EX.5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38200" y="1666875"/>
            <a:ext cx="3477071" cy="438150"/>
          </a:xfrm>
          <a:prstGeom prst="roundRect">
            <a:avLst>
              <a:gd name="adj" fmla="val 2171739"/>
            </a:avLst>
          </a:prstGeom>
          <a:solidFill>
            <a:srgbClr val="B96A12">
              <a:alpha val="1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09650" y="1743075"/>
            <a:ext cx="319685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96A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TWO TEAMS · 3 MINUTES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838200" y="2333625"/>
            <a:ext cx="419100" cy="419100"/>
          </a:xfrm>
          <a:prstGeom prst="roundRect">
            <a:avLst>
              <a:gd name="adj" fmla="val 2270455"/>
            </a:avLst>
          </a:prstGeom>
          <a:solidFill>
            <a:srgbClr val="4C7A2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97000" y="2386013"/>
            <a:ext cx="10353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BFAF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66850" y="2333625"/>
            <a:ext cx="10224198" cy="420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12"/>
              </a:lnSpc>
              <a:buNone/>
            </a:pPr>
            <a:r>
              <a:rPr lang="en-US" sz="2400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Teacher says a phrase. One member of each team acts it out in turn.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38200" y="2878038"/>
            <a:ext cx="419100" cy="419100"/>
          </a:xfrm>
          <a:prstGeom prst="roundRect">
            <a:avLst>
              <a:gd name="adj" fmla="val 2270455"/>
            </a:avLst>
          </a:prstGeom>
          <a:solidFill>
            <a:srgbClr val="4C7A2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976164" y="2930426"/>
            <a:ext cx="14603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BFAF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66850" y="2878038"/>
            <a:ext cx="3999750" cy="420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12"/>
              </a:lnSpc>
              <a:buNone/>
            </a:pPr>
            <a:r>
              <a:rPr lang="en-US" sz="2400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Correct action = one point.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38200" y="3422452"/>
            <a:ext cx="419100" cy="419100"/>
          </a:xfrm>
          <a:prstGeom prst="roundRect">
            <a:avLst>
              <a:gd name="adj" fmla="val 2270455"/>
            </a:avLst>
          </a:prstGeom>
          <a:solidFill>
            <a:srgbClr val="4C7A2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75568" y="3474839"/>
            <a:ext cx="14725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BFAF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66850" y="3422452"/>
            <a:ext cx="11683496" cy="420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12"/>
              </a:lnSpc>
              <a:buNone/>
            </a:pPr>
            <a:r>
              <a:rPr lang="en-US" sz="2400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Then: the six vegetables in characters — class reads them back with no pinyin.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38200" y="4090690"/>
            <a:ext cx="16611600" cy="1624310"/>
          </a:xfrm>
          <a:prstGeom prst="roundRect">
            <a:avLst>
              <a:gd name="adj" fmla="val 11728"/>
            </a:avLst>
          </a:prstGeom>
          <a:solidFill>
            <a:srgbClr val="F2EFDE"/>
          </a:solidFill>
          <a:ln w="2857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190625" y="4366915"/>
            <a:ext cx="16224885" cy="535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1"/>
              </a:lnSpc>
              <a:buNone/>
            </a:pPr>
            <a:r>
              <a:rPr lang="en-US" sz="31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跑步 · 游泳 · 听音乐 · 打篮球 · 吃饭 · 唱歌 · 弹钢琴 · 看电视</a:t>
            </a:r>
            <a:endParaRPr lang="en-US" sz="3150" dirty="0"/>
          </a:p>
        </p:txBody>
      </p:sp>
      <p:sp>
        <p:nvSpPr>
          <p:cNvPr id="19" name="Text 17"/>
          <p:cNvSpPr/>
          <p:nvPr/>
        </p:nvSpPr>
        <p:spPr>
          <a:xfrm>
            <a:off x="1190625" y="4902845"/>
            <a:ext cx="16224885" cy="535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1"/>
              </a:lnSpc>
              <a:buNone/>
            </a:pPr>
            <a:r>
              <a:rPr lang="en-US" sz="31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洗澡 · 睡觉 · 打网球 · 画画儿 · 跳舞 · 跳高 · 穿衣服 · 拉小提琴</a:t>
            </a:r>
            <a:endParaRPr lang="en-US" sz="3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A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47625"/>
          </a:xfrm>
          <a:prstGeom prst="rect">
            <a:avLst/>
          </a:prstGeom>
          <a:solidFill>
            <a:srgbClr val="4C7A2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38200" y="1719263"/>
            <a:ext cx="16943832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1800" b="1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LEARNING INTENTION · 学习目标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38200" y="2166938"/>
            <a:ext cx="16611600" cy="1581150"/>
          </a:xfrm>
          <a:prstGeom prst="roundRect">
            <a:avLst>
              <a:gd name="adj" fmla="val 12048"/>
            </a:avLst>
          </a:prstGeom>
          <a:solidFill>
            <a:srgbClr val="E8E2C8"/>
          </a:solidFill>
          <a:ln w="28575">
            <a:solidFill>
              <a:srgbClr val="B93F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190625" y="2405063"/>
            <a:ext cx="16224885" cy="1104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7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We are learning to say what someone should do, and to list several things in one sentence.</a:t>
            </a:r>
            <a:endParaRPr lang="en-US" sz="3750" dirty="0"/>
          </a:p>
        </p:txBody>
      </p:sp>
      <p:sp>
        <p:nvSpPr>
          <p:cNvPr id="8" name="Text 6"/>
          <p:cNvSpPr/>
          <p:nvPr/>
        </p:nvSpPr>
        <p:spPr>
          <a:xfrm>
            <a:off x="838200" y="3938588"/>
            <a:ext cx="16943832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500"/>
              </a:spcBef>
              <a:spcAft>
                <a:spcPts val="900"/>
              </a:spcAft>
              <a:buNone/>
            </a:pPr>
            <a:r>
              <a:rPr lang="en-US" sz="1800" b="1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SUCCESS CRITERIA · 我会……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38200" y="4386263"/>
            <a:ext cx="16611600" cy="1133475"/>
          </a:xfrm>
          <a:prstGeom prst="roundRect">
            <a:avLst>
              <a:gd name="adj" fmla="val 10084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95375" y="4529138"/>
            <a:ext cx="369189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78"/>
              </a:lnSpc>
              <a:buNone/>
            </a:pPr>
            <a:r>
              <a:rPr lang="en-US" sz="2850" b="1" dirty="0">
                <a:solidFill>
                  <a:srgbClr val="4C7A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1685925" y="4529138"/>
            <a:ext cx="382289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use 应该 to give advice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685925" y="4938713"/>
            <a:ext cx="3822897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2400" b="1" dirty="0">
                <a:solidFill>
                  <a:srgbClr val="B93F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你应该每天吃蔬菜。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38200" y="5643563"/>
            <a:ext cx="16611600" cy="1133475"/>
          </a:xfrm>
          <a:prstGeom prst="roundRect">
            <a:avLst>
              <a:gd name="adj" fmla="val 10084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95375" y="5786438"/>
            <a:ext cx="369189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78"/>
              </a:lnSpc>
              <a:buNone/>
            </a:pPr>
            <a:r>
              <a:rPr lang="en-US" sz="2850" b="1" dirty="0">
                <a:solidFill>
                  <a:srgbClr val="4C7A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1685925" y="5786438"/>
            <a:ext cx="4702606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report someone else's advice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685925" y="6196013"/>
            <a:ext cx="4702606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2400" b="1" dirty="0">
                <a:solidFill>
                  <a:srgbClr val="B93F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妈妈说我应该多吃青菜。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38200" y="6900863"/>
            <a:ext cx="16611600" cy="1133475"/>
          </a:xfrm>
          <a:prstGeom prst="roundRect">
            <a:avLst>
              <a:gd name="adj" fmla="val 10084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95375" y="7043738"/>
            <a:ext cx="369189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78"/>
              </a:lnSpc>
              <a:buNone/>
            </a:pPr>
            <a:r>
              <a:rPr lang="en-US" sz="2850" b="1" dirty="0">
                <a:solidFill>
                  <a:srgbClr val="4C7A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1685925" y="7043738"/>
            <a:ext cx="773551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list three or more things and close the list with 等等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685925" y="7453312"/>
            <a:ext cx="7735511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2400" b="1" dirty="0">
                <a:solidFill>
                  <a:srgbClr val="B93F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我喜欢吃黄瓜、土豆、生菜等等。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38200" y="8158163"/>
            <a:ext cx="16611600" cy="1133475"/>
          </a:xfrm>
          <a:prstGeom prst="roundRect">
            <a:avLst>
              <a:gd name="adj" fmla="val 10084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095375" y="8301038"/>
            <a:ext cx="369189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78"/>
              </a:lnSpc>
              <a:buNone/>
            </a:pPr>
            <a:r>
              <a:rPr lang="en-US" sz="2850" b="1" dirty="0">
                <a:solidFill>
                  <a:srgbClr val="4C7A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2850" dirty="0"/>
          </a:p>
        </p:txBody>
      </p:sp>
      <p:sp>
        <p:nvSpPr>
          <p:cNvPr id="23" name="Text 21"/>
          <p:cNvSpPr/>
          <p:nvPr/>
        </p:nvSpPr>
        <p:spPr>
          <a:xfrm>
            <a:off x="1685925" y="8301038"/>
            <a:ext cx="570284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use 非常 to say I like something a lot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1685925" y="8710613"/>
            <a:ext cx="5702847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2400" b="1" dirty="0">
                <a:solidFill>
                  <a:srgbClr val="B93F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我非常喜欢吃黄瓜。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A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47625"/>
          </a:xfrm>
          <a:prstGeom prst="rect">
            <a:avLst/>
          </a:prstGeom>
          <a:solidFill>
            <a:srgbClr val="4C7A2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38200" y="2270820"/>
            <a:ext cx="1694383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350"/>
              </a:spcAft>
              <a:buNone/>
            </a:pPr>
            <a:r>
              <a:rPr lang="en-US" sz="1800" b="1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NEW WORDS · 跟我读两遍 · REPEAT AFTER ME, TWICE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38200" y="2756595"/>
            <a:ext cx="8001000" cy="5983486"/>
          </a:xfrm>
          <a:prstGeom prst="roundRect">
            <a:avLst>
              <a:gd name="adj" fmla="val 3184"/>
            </a:avLst>
          </a:prstGeom>
          <a:solidFill>
            <a:srgbClr val="F2EFDE"/>
          </a:solidFill>
          <a:ln w="19050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7" name="Image 0" descr="/Users/luojiahai/code/deck/index/designs/y8-l10/img/qingcai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48075" y="3194745"/>
            <a:ext cx="2381250" cy="23812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053483" y="5709345"/>
            <a:ext cx="1601691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qīngcài</a:t>
            </a:r>
            <a:endParaRPr lang="en-US" sz="3300" dirty="0"/>
          </a:p>
        </p:txBody>
      </p:sp>
      <p:sp>
        <p:nvSpPr>
          <p:cNvPr id="9" name="Text 6"/>
          <p:cNvSpPr/>
          <p:nvPr/>
        </p:nvSpPr>
        <p:spPr>
          <a:xfrm>
            <a:off x="3657600" y="6433245"/>
            <a:ext cx="2409444" cy="1240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65"/>
              </a:lnSpc>
              <a:buNone/>
            </a:pPr>
            <a:r>
              <a:rPr lang="en-US" sz="930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青菜</a:t>
            </a:r>
            <a:endParaRPr lang="en-US" sz="9300" dirty="0"/>
          </a:p>
        </p:txBody>
      </p:sp>
      <p:sp>
        <p:nvSpPr>
          <p:cNvPr id="10" name="Text 7"/>
          <p:cNvSpPr/>
          <p:nvPr/>
        </p:nvSpPr>
        <p:spPr>
          <a:xfrm>
            <a:off x="3613845" y="7806630"/>
            <a:ext cx="24985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>
                <a:solidFill>
                  <a:srgbClr val="4E5A4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green vegetable</a:t>
            </a:r>
            <a:endParaRPr lang="en-US" sz="2550" dirty="0"/>
          </a:p>
        </p:txBody>
      </p:sp>
      <p:sp>
        <p:nvSpPr>
          <p:cNvPr id="11" name="Text 8"/>
          <p:cNvSpPr/>
          <p:nvPr/>
        </p:nvSpPr>
        <p:spPr>
          <a:xfrm>
            <a:off x="9448800" y="2756595"/>
            <a:ext cx="8001000" cy="5983486"/>
          </a:xfrm>
          <a:prstGeom prst="roundRect">
            <a:avLst>
              <a:gd name="adj" fmla="val 3184"/>
            </a:avLst>
          </a:prstGeom>
          <a:solidFill>
            <a:srgbClr val="F2EFDE"/>
          </a:solidFill>
          <a:ln w="19050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2" name="Image 1" descr="/Users/luojiahai/code/deck/index/designs/y8-l10/img/nangua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258675" y="3194745"/>
            <a:ext cx="2381250" cy="238125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2698313" y="5709345"/>
            <a:ext cx="1531861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nánguā</a:t>
            </a:r>
            <a:endParaRPr lang="en-US" sz="3300" dirty="0"/>
          </a:p>
        </p:txBody>
      </p:sp>
      <p:sp>
        <p:nvSpPr>
          <p:cNvPr id="14" name="Text 10"/>
          <p:cNvSpPr/>
          <p:nvPr/>
        </p:nvSpPr>
        <p:spPr>
          <a:xfrm>
            <a:off x="12268200" y="6433245"/>
            <a:ext cx="2409444" cy="1240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65"/>
              </a:lnSpc>
              <a:buNone/>
            </a:pPr>
            <a:r>
              <a:rPr lang="en-US" sz="930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南瓜</a:t>
            </a:r>
            <a:endParaRPr lang="en-US" sz="9300" dirty="0"/>
          </a:p>
        </p:txBody>
      </p:sp>
      <p:sp>
        <p:nvSpPr>
          <p:cNvPr id="15" name="Text 11"/>
          <p:cNvSpPr/>
          <p:nvPr/>
        </p:nvSpPr>
        <p:spPr>
          <a:xfrm>
            <a:off x="12802046" y="7806630"/>
            <a:ext cx="13202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>
                <a:solidFill>
                  <a:srgbClr val="4E5A4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pumpkin</a:t>
            </a:r>
            <a:endParaRPr lang="en-US" sz="2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A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47625"/>
          </a:xfrm>
          <a:prstGeom prst="rect">
            <a:avLst/>
          </a:prstGeom>
          <a:solidFill>
            <a:srgbClr val="4C7A2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38200" y="2044452"/>
            <a:ext cx="1694383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350"/>
              </a:spcAft>
              <a:buNone/>
            </a:pPr>
            <a:r>
              <a:rPr lang="en-US" sz="1800" b="1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· SEE THEM USED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38200" y="2530227"/>
            <a:ext cx="16611600" cy="2018407"/>
          </a:xfrm>
          <a:prstGeom prst="rect">
            <a:avLst/>
          </a:prstGeom>
          <a:solidFill>
            <a:srgbClr val="F2EF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885825" y="2530227"/>
            <a:ext cx="0" cy="2018407"/>
          </a:xfrm>
          <a:prstGeom prst="line">
            <a:avLst/>
          </a:prstGeom>
          <a:noFill/>
          <a:ln w="95250">
            <a:solidFill>
              <a:srgbClr val="4C7A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8250" y="2720727"/>
            <a:ext cx="1622488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50"/>
              </a:spcAft>
              <a:buNone/>
            </a:pPr>
            <a:r>
              <a:rPr lang="en-US" sz="2250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Wǒ māma měi tiān dōu chī qīngcài.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238250" y="3177927"/>
            <a:ext cx="16224885" cy="7039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44"/>
              </a:lnSpc>
              <a:buNone/>
            </a:pPr>
            <a:r>
              <a:rPr lang="en-US" sz="4200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我妈妈每天都吃</a:t>
            </a:r>
            <a:r>
              <a:rPr lang="en-US" sz="4200" b="1" dirty="0">
                <a:solidFill>
                  <a:srgbClr val="B93F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青菜</a:t>
            </a:r>
            <a:r>
              <a:rPr lang="en-US" sz="4200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1238250" y="3958084"/>
            <a:ext cx="1622488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2100" dirty="0">
                <a:solidFill>
                  <a:srgbClr val="4E5A4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My mum eats green vegetables every day.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838200" y="4739134"/>
            <a:ext cx="16611600" cy="2018407"/>
          </a:xfrm>
          <a:prstGeom prst="rect">
            <a:avLst/>
          </a:prstGeom>
          <a:solidFill>
            <a:srgbClr val="F2EF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885825" y="4739134"/>
            <a:ext cx="0" cy="2018407"/>
          </a:xfrm>
          <a:prstGeom prst="line">
            <a:avLst/>
          </a:prstGeom>
          <a:noFill/>
          <a:ln w="95250">
            <a:solidFill>
              <a:srgbClr val="4C7A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8250" y="4929634"/>
            <a:ext cx="1622488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50"/>
              </a:spcAft>
              <a:buNone/>
            </a:pPr>
            <a:r>
              <a:rPr lang="en-US" sz="2250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Wǒ bú tài xǐhuan chī nánguā.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238250" y="5386834"/>
            <a:ext cx="16224885" cy="7039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44"/>
              </a:lnSpc>
              <a:buNone/>
            </a:pPr>
            <a:r>
              <a:rPr lang="en-US" sz="4200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我不太喜欢吃</a:t>
            </a:r>
            <a:r>
              <a:rPr lang="en-US" sz="4200" b="1" dirty="0">
                <a:solidFill>
                  <a:srgbClr val="B93F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南瓜</a:t>
            </a:r>
            <a:r>
              <a:rPr lang="en-US" sz="4200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1238250" y="6166991"/>
            <a:ext cx="1622488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2100" dirty="0">
                <a:solidFill>
                  <a:srgbClr val="4E5A4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don't much like eating pumpkin.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838200" y="6948041"/>
            <a:ext cx="16611600" cy="2018407"/>
          </a:xfrm>
          <a:prstGeom prst="rect">
            <a:avLst/>
          </a:prstGeom>
          <a:solidFill>
            <a:srgbClr val="B93F2C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885825" y="6948041"/>
            <a:ext cx="0" cy="2018407"/>
          </a:xfrm>
          <a:prstGeom prst="line">
            <a:avLst/>
          </a:prstGeom>
          <a:noFill/>
          <a:ln w="95250">
            <a:solidFill>
              <a:srgbClr val="B93F2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38250" y="7138541"/>
            <a:ext cx="1622488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50"/>
              </a:spcAft>
              <a:buNone/>
            </a:pPr>
            <a:r>
              <a:rPr lang="en-US" sz="2250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Qīngcài hé nánguā wǒ dōu xǐhuan chī.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238250" y="7595741"/>
            <a:ext cx="16224885" cy="7039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44"/>
              </a:lnSpc>
              <a:buNone/>
            </a:pPr>
            <a:r>
              <a:rPr lang="en-US" sz="4200" b="1" dirty="0">
                <a:solidFill>
                  <a:srgbClr val="B93F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青菜</a:t>
            </a:r>
            <a:r>
              <a:rPr lang="en-US" sz="4200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和</a:t>
            </a:r>
            <a:r>
              <a:rPr lang="en-US" sz="4200" b="1" dirty="0">
                <a:solidFill>
                  <a:srgbClr val="B93F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南瓜</a:t>
            </a:r>
            <a:r>
              <a:rPr lang="en-US" sz="4200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我都喜欢吃。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1238250" y="8375898"/>
            <a:ext cx="1622488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2100" dirty="0">
                <a:solidFill>
                  <a:srgbClr val="4E5A4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like both green vegetables and pumpkin.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A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47625"/>
          </a:xfrm>
          <a:prstGeom prst="rect">
            <a:avLst/>
          </a:prstGeom>
          <a:solidFill>
            <a:srgbClr val="4C7A2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38200" y="2617143"/>
            <a:ext cx="1694383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350"/>
              </a:spcAft>
              <a:buNone/>
            </a:pPr>
            <a:r>
              <a:rPr lang="en-US" sz="1800" b="1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· WRITE YOUR OWN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38200" y="3102918"/>
            <a:ext cx="16611600" cy="3322141"/>
          </a:xfrm>
          <a:prstGeom prst="roundRect">
            <a:avLst>
              <a:gd name="adj" fmla="val 5734"/>
            </a:avLst>
          </a:prstGeom>
          <a:solidFill>
            <a:srgbClr val="E8E2C8"/>
          </a:solidFill>
          <a:ln w="28575">
            <a:solidFill>
              <a:srgbClr val="B96A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304925" y="3474393"/>
            <a:ext cx="15991713" cy="1003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5"/>
              </a:lnSpc>
              <a:buNone/>
            </a:pPr>
            <a:r>
              <a:rPr lang="en-US" sz="46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 ______ 喜欢吃青菜。</a:t>
            </a:r>
            <a:endParaRPr lang="en-US" sz="4650" dirty="0"/>
          </a:p>
        </p:txBody>
      </p:sp>
      <p:sp>
        <p:nvSpPr>
          <p:cNvPr id="8" name="Text 6"/>
          <p:cNvSpPr/>
          <p:nvPr/>
        </p:nvSpPr>
        <p:spPr>
          <a:xfrm>
            <a:off x="1304925" y="4478238"/>
            <a:ext cx="15991713" cy="1003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5"/>
              </a:lnSpc>
              <a:buNone/>
            </a:pPr>
            <a:r>
              <a:rPr lang="en-US" sz="46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 ______ 喜欢吃南瓜。</a:t>
            </a:r>
            <a:endParaRPr lang="en-US" sz="4650" dirty="0"/>
          </a:p>
        </p:txBody>
      </p:sp>
      <p:sp>
        <p:nvSpPr>
          <p:cNvPr id="9" name="Text 7"/>
          <p:cNvSpPr/>
          <p:nvPr/>
        </p:nvSpPr>
        <p:spPr>
          <a:xfrm>
            <a:off x="1304925" y="5653534"/>
            <a:ext cx="15991713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350"/>
              </a:spcBef>
              <a:buNone/>
            </a:pPr>
            <a:r>
              <a:rPr lang="en-US" sz="2250" dirty="0">
                <a:solidFill>
                  <a:srgbClr val="4E5A4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60 seconds. Mini whiteboards.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838200" y="6615559"/>
            <a:ext cx="16611600" cy="1778198"/>
          </a:xfrm>
          <a:prstGeom prst="roundRect">
            <a:avLst>
              <a:gd name="adj" fmla="val 6428"/>
            </a:avLst>
          </a:prstGeom>
          <a:solidFill>
            <a:srgbClr val="4C7A2C">
              <a:alpha val="12000"/>
            </a:srgbClr>
          </a:solidFill>
          <a:ln w="28575">
            <a:solidFill>
              <a:srgbClr val="4C7A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52525" y="6853684"/>
            <a:ext cx="1630260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50"/>
              </a:spcAft>
              <a:buNone/>
            </a:pPr>
            <a:r>
              <a:rPr lang="en-US" sz="1650" b="1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 · 加油题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152525" y="7234684"/>
            <a:ext cx="16302609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63"/>
              </a:lnSpc>
              <a:buNone/>
            </a:pPr>
            <a:r>
              <a:rPr lang="en-US" sz="2250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Use both words in </a:t>
            </a:r>
            <a:r>
              <a:rPr lang="en-US" sz="2250" b="1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one</a:t>
            </a:r>
            <a:r>
              <a:rPr lang="en-US" sz="2250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sentence with 除了…以外.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152525" y="7649021"/>
            <a:ext cx="16302609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除了青菜以外，我还喜欢吃南瓜。</a:t>
            </a:r>
            <a:endParaRPr lang="en-US" sz="2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A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47625"/>
          </a:xfrm>
          <a:prstGeom prst="rect">
            <a:avLst/>
          </a:prstGeom>
          <a:solidFill>
            <a:srgbClr val="4C7A2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38200" y="3159919"/>
            <a:ext cx="1694383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350"/>
              </a:spcAft>
              <a:buNone/>
            </a:pPr>
            <a:r>
              <a:rPr lang="en-US" sz="1800" b="1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EXTRA WORDS · P.91 — YOU ONLY NEED TO RECOGNISE THESE, NOT WRITE THEM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38200" y="6693694"/>
            <a:ext cx="16611600" cy="1157288"/>
          </a:xfrm>
          <a:prstGeom prst="roundRect">
            <a:avLst>
              <a:gd name="adj" fmla="val 9877"/>
            </a:avLst>
          </a:prstGeom>
          <a:solidFill>
            <a:srgbClr val="B96A12">
              <a:alpha val="14000"/>
            </a:srgbClr>
          </a:solidFill>
          <a:ln w="19050">
            <a:solidFill>
              <a:srgbClr val="B96A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123950" y="6922294"/>
            <a:ext cx="1464793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96A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NOTICE · 瓜 AND 菜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123950" y="7208044"/>
            <a:ext cx="14647938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63"/>
              </a:lnSpc>
              <a:buNone/>
            </a:pPr>
            <a:r>
              <a:rPr lang="en-US" sz="2250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Words that share a character share a category. 南瓜、冬瓜、西瓜 are all 瓜. 青菜、生菜、菜花儿 are all 菜.</a:t>
            </a:r>
            <a:endParaRPr lang="en-US" sz="2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A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47625"/>
          </a:xfrm>
          <a:prstGeom prst="rect">
            <a:avLst/>
          </a:prstGeom>
          <a:solidFill>
            <a:srgbClr val="4C7A2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38200" y="2383631"/>
            <a:ext cx="1694383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350"/>
              </a:spcAft>
              <a:buNone/>
            </a:pPr>
            <a:r>
              <a:rPr lang="en-US" sz="1800" b="1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NEW WORDS · 跟我读两遍 · REPEAT AFTER ME, TWICE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38200" y="2869406"/>
            <a:ext cx="8001000" cy="5757863"/>
          </a:xfrm>
          <a:prstGeom prst="roundRect">
            <a:avLst>
              <a:gd name="adj" fmla="val 3309"/>
            </a:avLst>
          </a:prstGeom>
          <a:solidFill>
            <a:srgbClr val="F2EFDE"/>
          </a:solidFill>
          <a:ln w="19050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061520" y="4012406"/>
            <a:ext cx="1585448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yīnggāi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3409950" y="4793456"/>
            <a:ext cx="2914650" cy="1500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13"/>
              </a:lnSpc>
              <a:buNone/>
            </a:pPr>
            <a:r>
              <a:rPr lang="en-US" sz="112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应该</a:t>
            </a:r>
            <a:endParaRPr lang="en-US" sz="11250" dirty="0"/>
          </a:p>
        </p:txBody>
      </p:sp>
      <p:sp>
        <p:nvSpPr>
          <p:cNvPr id="9" name="Text 7"/>
          <p:cNvSpPr/>
          <p:nvPr/>
        </p:nvSpPr>
        <p:spPr>
          <a:xfrm>
            <a:off x="4339233" y="6484144"/>
            <a:ext cx="10187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>
                <a:solidFill>
                  <a:srgbClr val="4E5A4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should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3571280" y="7131844"/>
            <a:ext cx="258553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>
                <a:solidFill>
                  <a:srgbClr val="78805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traditional 繁体：應該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448800" y="2869406"/>
            <a:ext cx="8001000" cy="5757863"/>
          </a:xfrm>
          <a:prstGeom prst="roundRect">
            <a:avLst>
              <a:gd name="adj" fmla="val 3309"/>
            </a:avLst>
          </a:prstGeom>
          <a:solidFill>
            <a:srgbClr val="F2EFDE"/>
          </a:solidFill>
          <a:ln w="19050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2556629" y="4012406"/>
            <a:ext cx="1821049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fēicháng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12020550" y="4793456"/>
            <a:ext cx="2914650" cy="1500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13"/>
              </a:lnSpc>
              <a:buNone/>
            </a:pPr>
            <a:r>
              <a:rPr lang="en-US" sz="112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非常</a:t>
            </a:r>
            <a:endParaRPr lang="en-US" sz="11250" dirty="0"/>
          </a:p>
        </p:txBody>
      </p:sp>
      <p:sp>
        <p:nvSpPr>
          <p:cNvPr id="14" name="Text 12"/>
          <p:cNvSpPr/>
          <p:nvPr/>
        </p:nvSpPr>
        <p:spPr>
          <a:xfrm>
            <a:off x="12297817" y="6484144"/>
            <a:ext cx="23488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>
                <a:solidFill>
                  <a:srgbClr val="4E5A4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very; extremely</a:t>
            </a:r>
            <a:endParaRPr lang="en-US" sz="2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A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47625"/>
          </a:xfrm>
          <a:prstGeom prst="rect">
            <a:avLst/>
          </a:prstGeom>
          <a:solidFill>
            <a:srgbClr val="4C7A2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38200" y="2044452"/>
            <a:ext cx="1694383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350"/>
              </a:spcAft>
              <a:buNone/>
            </a:pPr>
            <a:r>
              <a:rPr lang="en-US" sz="1800" b="1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· SEE THEM USED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38200" y="2530227"/>
            <a:ext cx="16611600" cy="2018407"/>
          </a:xfrm>
          <a:prstGeom prst="rect">
            <a:avLst/>
          </a:prstGeom>
          <a:solidFill>
            <a:srgbClr val="F2EF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885825" y="2530227"/>
            <a:ext cx="0" cy="2018407"/>
          </a:xfrm>
          <a:prstGeom prst="line">
            <a:avLst/>
          </a:prstGeom>
          <a:noFill/>
          <a:ln w="95250">
            <a:solidFill>
              <a:srgbClr val="4C7A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8250" y="2720727"/>
            <a:ext cx="1622488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50"/>
              </a:spcAft>
              <a:buNone/>
            </a:pPr>
            <a:r>
              <a:rPr lang="en-US" sz="2250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Wǒ fēicháng xǐhuan chī xīhóngshì.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238250" y="3177927"/>
            <a:ext cx="16224885" cy="7039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44"/>
              </a:lnSpc>
              <a:buNone/>
            </a:pPr>
            <a:r>
              <a:rPr lang="en-US" sz="4200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r>
              <a:rPr lang="en-US" sz="4200" b="1" dirty="0">
                <a:solidFill>
                  <a:srgbClr val="B93F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非常</a:t>
            </a:r>
            <a:r>
              <a:rPr lang="en-US" sz="4200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喜欢吃西红柿。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1238250" y="3958084"/>
            <a:ext cx="1622488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2100" dirty="0">
                <a:solidFill>
                  <a:srgbClr val="4E5A4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really like eating tomatoes.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838200" y="4739134"/>
            <a:ext cx="16611600" cy="2018407"/>
          </a:xfrm>
          <a:prstGeom prst="rect">
            <a:avLst/>
          </a:prstGeom>
          <a:solidFill>
            <a:srgbClr val="F2EF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885825" y="4739134"/>
            <a:ext cx="0" cy="2018407"/>
          </a:xfrm>
          <a:prstGeom prst="line">
            <a:avLst/>
          </a:prstGeom>
          <a:noFill/>
          <a:ln w="95250">
            <a:solidFill>
              <a:srgbClr val="4C7A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8250" y="4929634"/>
            <a:ext cx="1622488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50"/>
              </a:spcAft>
              <a:buNone/>
            </a:pPr>
            <a:r>
              <a:rPr lang="en-US" sz="2250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Nǐ yīnggāi měi tiān chī shūcài.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238250" y="5386834"/>
            <a:ext cx="16224885" cy="7039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44"/>
              </a:lnSpc>
              <a:buNone/>
            </a:pPr>
            <a:r>
              <a:rPr lang="en-US" sz="4200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</a:t>
            </a:r>
            <a:r>
              <a:rPr lang="en-US" sz="4200" b="1" dirty="0">
                <a:solidFill>
                  <a:srgbClr val="B93F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应该</a:t>
            </a:r>
            <a:r>
              <a:rPr lang="en-US" sz="4200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每天吃蔬菜。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1238250" y="6166991"/>
            <a:ext cx="1622488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2100" dirty="0">
                <a:solidFill>
                  <a:srgbClr val="4E5A4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You should eat vegetables every day.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838200" y="6948041"/>
            <a:ext cx="16611600" cy="2018407"/>
          </a:xfrm>
          <a:prstGeom prst="rect">
            <a:avLst/>
          </a:prstGeom>
          <a:solidFill>
            <a:srgbClr val="B93F2C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885825" y="6948041"/>
            <a:ext cx="0" cy="2018407"/>
          </a:xfrm>
          <a:prstGeom prst="line">
            <a:avLst/>
          </a:prstGeom>
          <a:noFill/>
          <a:ln w="95250">
            <a:solidFill>
              <a:srgbClr val="B93F2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38250" y="7138541"/>
            <a:ext cx="1622488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50"/>
              </a:spcAft>
              <a:buNone/>
            </a:pPr>
            <a:r>
              <a:rPr lang="en-US" sz="2250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Wǒ fēicháng xǐhuan chī tǔdòu, kěshì māma shuō wǒ yīnggāi duō chī qīngcài.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238250" y="7595741"/>
            <a:ext cx="16224885" cy="7039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44"/>
              </a:lnSpc>
              <a:buNone/>
            </a:pPr>
            <a:r>
              <a:rPr lang="en-US" sz="4200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r>
              <a:rPr lang="en-US" sz="4200" b="1" dirty="0">
                <a:solidFill>
                  <a:srgbClr val="B93F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非常</a:t>
            </a:r>
            <a:r>
              <a:rPr lang="en-US" sz="4200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喜欢吃土豆，可是妈妈说我</a:t>
            </a:r>
            <a:r>
              <a:rPr lang="en-US" sz="4200" b="1" dirty="0">
                <a:solidFill>
                  <a:srgbClr val="B93F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应该</a:t>
            </a:r>
            <a:r>
              <a:rPr lang="en-US" sz="4200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多吃青菜。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1238250" y="8375898"/>
            <a:ext cx="1622488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2100" dirty="0">
                <a:solidFill>
                  <a:srgbClr val="4E5A4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really like potatoes, but Mum says I should eat more green vegetables.</a:t>
            </a:r>
            <a:endParaRPr lang="en-US" sz="2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A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47625"/>
          </a:xfrm>
          <a:prstGeom prst="rect">
            <a:avLst/>
          </a:prstGeom>
          <a:solidFill>
            <a:srgbClr val="4C7A2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38200" y="2409974"/>
            <a:ext cx="1694383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350"/>
              </a:spcAft>
              <a:buNone/>
            </a:pPr>
            <a:r>
              <a:rPr lang="en-US" sz="1800" b="1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· WRITE YOUR OWN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38200" y="2895749"/>
            <a:ext cx="16611600" cy="3322141"/>
          </a:xfrm>
          <a:prstGeom prst="roundRect">
            <a:avLst>
              <a:gd name="adj" fmla="val 5734"/>
            </a:avLst>
          </a:prstGeom>
          <a:solidFill>
            <a:srgbClr val="E8E2C8"/>
          </a:solidFill>
          <a:ln w="28575">
            <a:solidFill>
              <a:srgbClr val="B96A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304925" y="3267224"/>
            <a:ext cx="15991713" cy="1003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5"/>
              </a:lnSpc>
              <a:buNone/>
            </a:pPr>
            <a:r>
              <a:rPr lang="en-US" sz="46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 ______ 喜欢 ______ 。</a:t>
            </a:r>
            <a:endParaRPr lang="en-US" sz="4650" dirty="0"/>
          </a:p>
        </p:txBody>
      </p:sp>
      <p:sp>
        <p:nvSpPr>
          <p:cNvPr id="8" name="Text 6"/>
          <p:cNvSpPr/>
          <p:nvPr/>
        </p:nvSpPr>
        <p:spPr>
          <a:xfrm>
            <a:off x="1304925" y="4271070"/>
            <a:ext cx="15991713" cy="1003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5"/>
              </a:lnSpc>
              <a:buNone/>
            </a:pPr>
            <a:r>
              <a:rPr lang="en-US" sz="46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你应该 ______ 。</a:t>
            </a:r>
            <a:endParaRPr lang="en-US" sz="4650" dirty="0"/>
          </a:p>
        </p:txBody>
      </p:sp>
      <p:sp>
        <p:nvSpPr>
          <p:cNvPr id="9" name="Text 7"/>
          <p:cNvSpPr/>
          <p:nvPr/>
        </p:nvSpPr>
        <p:spPr>
          <a:xfrm>
            <a:off x="1304925" y="5446365"/>
            <a:ext cx="15991713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350"/>
              </a:spcBef>
              <a:buNone/>
            </a:pPr>
            <a:r>
              <a:rPr lang="en-US" sz="2250" dirty="0">
                <a:solidFill>
                  <a:srgbClr val="4E5A4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60 seconds. One sentence of each kind.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838200" y="6408390"/>
            <a:ext cx="16611600" cy="2192536"/>
          </a:xfrm>
          <a:prstGeom prst="roundRect">
            <a:avLst>
              <a:gd name="adj" fmla="val 5213"/>
            </a:avLst>
          </a:prstGeom>
          <a:solidFill>
            <a:srgbClr val="4C7A2C">
              <a:alpha val="12000"/>
            </a:srgbClr>
          </a:solidFill>
          <a:ln w="28575">
            <a:solidFill>
              <a:srgbClr val="4C7A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52525" y="6646515"/>
            <a:ext cx="1630260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50"/>
              </a:spcAft>
              <a:buNone/>
            </a:pPr>
            <a:r>
              <a:rPr lang="en-US" sz="1650" b="1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 · 加油题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152525" y="7027515"/>
            <a:ext cx="16302609" cy="828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63"/>
              </a:lnSpc>
              <a:buNone/>
            </a:pPr>
            <a:r>
              <a:rPr lang="en-US" sz="2250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Write the </a:t>
            </a:r>
            <a:r>
              <a:rPr lang="en-US" sz="2250" b="1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reported</a:t>
            </a:r>
            <a:r>
              <a:rPr lang="en-US" sz="2250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version — not advice to the listener, but advice you were given. Two sentences, two different advice-givers.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152525" y="7856190"/>
            <a:ext cx="16302609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我的老师说我应该 ____________ 。</a:t>
            </a:r>
            <a:endParaRPr lang="en-US" sz="2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A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47625"/>
          </a:xfrm>
          <a:prstGeom prst="rect">
            <a:avLst/>
          </a:prstGeom>
          <a:solidFill>
            <a:srgbClr val="4C7A2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38200" y="4449663"/>
            <a:ext cx="1694383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350"/>
              </a:spcAft>
              <a:buNone/>
            </a:pPr>
            <a:r>
              <a:rPr lang="en-US" sz="1800" b="1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认字 · READ THESE BACK — NO PINYIN, NO ENGLISH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38200" y="4935438"/>
            <a:ext cx="3139380" cy="1625798"/>
          </a:xfrm>
          <a:prstGeom prst="roundRect">
            <a:avLst>
              <a:gd name="adj" fmla="val 11717"/>
            </a:avLst>
          </a:prstGeom>
          <a:solidFill>
            <a:srgbClr val="F2EFDE"/>
          </a:solidFill>
          <a:ln w="19050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42823" y="5278338"/>
            <a:ext cx="2930134" cy="939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403"/>
              </a:lnSpc>
              <a:buNone/>
            </a:pPr>
            <a:r>
              <a:rPr lang="en-US" sz="70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青菜</a:t>
            </a:r>
            <a:endParaRPr lang="en-US" sz="7050" dirty="0"/>
          </a:p>
        </p:txBody>
      </p:sp>
      <p:sp>
        <p:nvSpPr>
          <p:cNvPr id="8" name="Text 6"/>
          <p:cNvSpPr/>
          <p:nvPr/>
        </p:nvSpPr>
        <p:spPr>
          <a:xfrm>
            <a:off x="4206180" y="4935438"/>
            <a:ext cx="3139380" cy="1625798"/>
          </a:xfrm>
          <a:prstGeom prst="roundRect">
            <a:avLst>
              <a:gd name="adj" fmla="val 11717"/>
            </a:avLst>
          </a:prstGeom>
          <a:solidFill>
            <a:srgbClr val="F2EFDE"/>
          </a:solidFill>
          <a:ln w="19050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310804" y="5278338"/>
            <a:ext cx="2930134" cy="939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403"/>
              </a:lnSpc>
              <a:buNone/>
            </a:pPr>
            <a:r>
              <a:rPr lang="en-US" sz="70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南瓜</a:t>
            </a:r>
            <a:endParaRPr lang="en-US" sz="7050" dirty="0"/>
          </a:p>
        </p:txBody>
      </p:sp>
      <p:sp>
        <p:nvSpPr>
          <p:cNvPr id="10" name="Text 8"/>
          <p:cNvSpPr/>
          <p:nvPr/>
        </p:nvSpPr>
        <p:spPr>
          <a:xfrm>
            <a:off x="7574161" y="4935438"/>
            <a:ext cx="3139529" cy="1625798"/>
          </a:xfrm>
          <a:prstGeom prst="roundRect">
            <a:avLst>
              <a:gd name="adj" fmla="val 11717"/>
            </a:avLst>
          </a:prstGeom>
          <a:solidFill>
            <a:srgbClr val="F2EFDE"/>
          </a:solidFill>
          <a:ln w="19050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678783" y="5278338"/>
            <a:ext cx="2930286" cy="939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403"/>
              </a:lnSpc>
              <a:buNone/>
            </a:pPr>
            <a:r>
              <a:rPr lang="en-US" sz="70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应该</a:t>
            </a:r>
            <a:endParaRPr lang="en-US" sz="7050" dirty="0"/>
          </a:p>
        </p:txBody>
      </p:sp>
      <p:sp>
        <p:nvSpPr>
          <p:cNvPr id="12" name="Text 10"/>
          <p:cNvSpPr/>
          <p:nvPr/>
        </p:nvSpPr>
        <p:spPr>
          <a:xfrm>
            <a:off x="10942290" y="4935438"/>
            <a:ext cx="3139380" cy="1625798"/>
          </a:xfrm>
          <a:prstGeom prst="roundRect">
            <a:avLst>
              <a:gd name="adj" fmla="val 11717"/>
            </a:avLst>
          </a:prstGeom>
          <a:solidFill>
            <a:srgbClr val="F2EFDE"/>
          </a:solidFill>
          <a:ln w="19050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046913" y="5278338"/>
            <a:ext cx="2930134" cy="939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403"/>
              </a:lnSpc>
              <a:buNone/>
            </a:pPr>
            <a:r>
              <a:rPr lang="en-US" sz="70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非常</a:t>
            </a:r>
            <a:endParaRPr lang="en-US" sz="7050" dirty="0"/>
          </a:p>
        </p:txBody>
      </p:sp>
      <p:sp>
        <p:nvSpPr>
          <p:cNvPr id="14" name="Text 12"/>
          <p:cNvSpPr/>
          <p:nvPr/>
        </p:nvSpPr>
        <p:spPr>
          <a:xfrm>
            <a:off x="14310271" y="4935438"/>
            <a:ext cx="3139529" cy="1625798"/>
          </a:xfrm>
          <a:prstGeom prst="roundRect">
            <a:avLst>
              <a:gd name="adj" fmla="val 11717"/>
            </a:avLst>
          </a:prstGeom>
          <a:solidFill>
            <a:srgbClr val="F2EFDE"/>
          </a:solidFill>
          <a:ln w="19050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4414892" y="5278338"/>
            <a:ext cx="2930286" cy="939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403"/>
              </a:lnSpc>
              <a:buNone/>
            </a:pPr>
            <a:r>
              <a:rPr lang="en-US" sz="70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等等</a:t>
            </a:r>
            <a:endParaRPr lang="en-US" sz="7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A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47625"/>
          </a:xfrm>
          <a:prstGeom prst="rect">
            <a:avLst/>
          </a:prstGeom>
          <a:solidFill>
            <a:srgbClr val="4C7A2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38200" y="1445419"/>
            <a:ext cx="1694383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350"/>
              </a:spcAft>
              <a:buNone/>
            </a:pPr>
            <a:r>
              <a:rPr lang="en-US" sz="1800" b="1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写字 · COPY THE TEXT 1 NEW WORDS — STROKE ORDER ON THE BOARD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38200" y="8408194"/>
            <a:ext cx="16611600" cy="1157288"/>
          </a:xfrm>
          <a:prstGeom prst="roundRect">
            <a:avLst>
              <a:gd name="adj" fmla="val 9877"/>
            </a:avLst>
          </a:prstGeom>
          <a:solidFill>
            <a:srgbClr val="B93F2C">
              <a:alpha val="11000"/>
            </a:srgbClr>
          </a:solidFill>
          <a:ln w="19050">
            <a:solidFill>
              <a:srgbClr val="B93F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123950" y="8636794"/>
            <a:ext cx="1284799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93F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THIS IS A TEST QUESTION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123950" y="8922544"/>
            <a:ext cx="12847990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63"/>
              </a:lnSpc>
              <a:buNone/>
            </a:pPr>
            <a:r>
              <a:rPr lang="en-US" sz="2250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unit test asks you to </a:t>
            </a:r>
            <a:r>
              <a:rPr lang="en-US" sz="2250" b="1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write the radical and its meaning</a:t>
            </a:r>
            <a:r>
              <a:rPr lang="en-US" sz="2250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. That is exactly the last column.</a:t>
            </a:r>
            <a:endParaRPr lang="en-US" sz="2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A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47625"/>
          </a:xfrm>
          <a:prstGeom prst="rect">
            <a:avLst/>
          </a:prstGeom>
          <a:solidFill>
            <a:srgbClr val="4C7A2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38200" y="2042220"/>
            <a:ext cx="1694383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350"/>
              </a:spcAft>
              <a:buNone/>
            </a:pPr>
            <a:r>
              <a:rPr lang="en-US" sz="1800" b="1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KEY SENTENCE PATTERN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38200" y="2527995"/>
            <a:ext cx="16611600" cy="1922115"/>
          </a:xfrm>
          <a:prstGeom prst="roundRect">
            <a:avLst>
              <a:gd name="adj" fmla="val 9911"/>
            </a:avLst>
          </a:prstGeom>
          <a:solidFill>
            <a:srgbClr val="E8E2C8"/>
          </a:solidFill>
          <a:ln w="28575">
            <a:solidFill>
              <a:srgbClr val="B93F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89851" y="2823270"/>
            <a:ext cx="16108299" cy="817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435"/>
              </a:lnSpc>
              <a:buNone/>
            </a:pPr>
            <a:r>
              <a:rPr lang="en-US" sz="4950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主语 + </a:t>
            </a:r>
            <a:r>
              <a:rPr lang="en-US" sz="4950" b="1" dirty="0">
                <a:solidFill>
                  <a:srgbClr val="B93F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应该</a:t>
            </a:r>
            <a:r>
              <a:rPr lang="en-US" sz="4950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+ 动词</a:t>
            </a:r>
            <a:endParaRPr lang="en-US" sz="4950" dirty="0"/>
          </a:p>
        </p:txBody>
      </p:sp>
      <p:sp>
        <p:nvSpPr>
          <p:cNvPr id="8" name="Text 6"/>
          <p:cNvSpPr/>
          <p:nvPr/>
        </p:nvSpPr>
        <p:spPr>
          <a:xfrm>
            <a:off x="1089851" y="3773835"/>
            <a:ext cx="1610829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50"/>
              </a:spcBef>
              <a:buNone/>
            </a:pPr>
            <a:r>
              <a:rPr lang="en-US" sz="2100" dirty="0">
                <a:solidFill>
                  <a:srgbClr val="4E5A4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应该 goes BEFORE the verb — never after it.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38200" y="4897785"/>
            <a:ext cx="3886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96A1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447800" y="4793010"/>
            <a:ext cx="4494330" cy="591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58"/>
              </a:lnSpc>
              <a:buNone/>
            </a:pPr>
            <a:r>
              <a:rPr lang="en-US" sz="34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你应该每天吃蔬菜。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1447800" y="5384453"/>
            <a:ext cx="449433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>
                <a:solidFill>
                  <a:srgbClr val="78805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You should eat vegetables every day.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838200" y="5975003"/>
            <a:ext cx="3886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96A1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447800" y="5870228"/>
            <a:ext cx="5362956" cy="591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58"/>
              </a:lnSpc>
              <a:buNone/>
            </a:pPr>
            <a:r>
              <a:rPr lang="en-US" sz="34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今天很冷，你应该穿大衣。</a:t>
            </a:r>
            <a:endParaRPr lang="en-US" sz="3450" dirty="0"/>
          </a:p>
        </p:txBody>
      </p:sp>
      <p:sp>
        <p:nvSpPr>
          <p:cNvPr id="14" name="Text 12"/>
          <p:cNvSpPr/>
          <p:nvPr/>
        </p:nvSpPr>
        <p:spPr>
          <a:xfrm>
            <a:off x="1447800" y="6461671"/>
            <a:ext cx="536295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>
                <a:solidFill>
                  <a:srgbClr val="78805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It's cold today — you should wear a coat.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838200" y="7052221"/>
            <a:ext cx="3886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96A1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447800" y="6947446"/>
            <a:ext cx="6159323" cy="591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58"/>
              </a:lnSpc>
              <a:buNone/>
            </a:pPr>
            <a:r>
              <a:rPr lang="en-US" sz="34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妈妈说我应该每天吃青菜。</a:t>
            </a:r>
            <a:endParaRPr lang="en-US" sz="3450" dirty="0"/>
          </a:p>
        </p:txBody>
      </p:sp>
      <p:sp>
        <p:nvSpPr>
          <p:cNvPr id="17" name="Text 15"/>
          <p:cNvSpPr/>
          <p:nvPr/>
        </p:nvSpPr>
        <p:spPr>
          <a:xfrm>
            <a:off x="1447800" y="7538889"/>
            <a:ext cx="6159323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>
                <a:solidFill>
                  <a:srgbClr val="78805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Mum says I should eat green vegetables every day.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838200" y="8129439"/>
            <a:ext cx="3886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96A1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447800" y="8024664"/>
            <a:ext cx="8491347" cy="591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58"/>
              </a:lnSpc>
              <a:buNone/>
            </a:pPr>
            <a:r>
              <a:rPr lang="en-US" sz="3450" b="1" dirty="0">
                <a:solidFill>
                  <a:srgbClr val="4C7A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老师说我们不应该一边做作业一边听音乐。</a:t>
            </a:r>
            <a:endParaRPr lang="en-US" sz="3450" dirty="0"/>
          </a:p>
        </p:txBody>
      </p:sp>
      <p:sp>
        <p:nvSpPr>
          <p:cNvPr id="20" name="Text 18"/>
          <p:cNvSpPr/>
          <p:nvPr/>
        </p:nvSpPr>
        <p:spPr>
          <a:xfrm>
            <a:off x="1447800" y="8616107"/>
            <a:ext cx="849134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>
                <a:solidFill>
                  <a:srgbClr val="78805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Negative, reported, and carrying 一边…一边… from Unit 3.</a:t>
            </a:r>
            <a:endParaRPr lang="en-US" sz="1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A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47625"/>
          </a:xfrm>
          <a:prstGeom prst="rect">
            <a:avLst/>
          </a:prstGeom>
          <a:solidFill>
            <a:srgbClr val="4C7A2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38200" y="2540794"/>
            <a:ext cx="1694383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350"/>
              </a:spcAft>
              <a:buNone/>
            </a:pPr>
            <a:r>
              <a:rPr lang="en-US" sz="1800" b="1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· KEY SENTENCE PATTERN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38200" y="3026569"/>
            <a:ext cx="16611600" cy="1922115"/>
          </a:xfrm>
          <a:prstGeom prst="roundRect">
            <a:avLst>
              <a:gd name="adj" fmla="val 9911"/>
            </a:avLst>
          </a:prstGeom>
          <a:solidFill>
            <a:srgbClr val="E8E2C8"/>
          </a:solidFill>
          <a:ln w="28575">
            <a:solidFill>
              <a:srgbClr val="B93F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89851" y="3321844"/>
            <a:ext cx="16108299" cy="817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435"/>
              </a:lnSpc>
              <a:buNone/>
            </a:pPr>
            <a:r>
              <a:rPr lang="en-US" sz="4950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A、B、C </a:t>
            </a:r>
            <a:r>
              <a:rPr lang="en-US" sz="4950" b="1" dirty="0">
                <a:solidFill>
                  <a:srgbClr val="B93F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等等</a:t>
            </a:r>
            <a:r>
              <a:rPr lang="en-US" sz="4950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4950" dirty="0"/>
          </a:p>
        </p:txBody>
      </p:sp>
      <p:sp>
        <p:nvSpPr>
          <p:cNvPr id="8" name="Text 6"/>
          <p:cNvSpPr/>
          <p:nvPr/>
        </p:nvSpPr>
        <p:spPr>
          <a:xfrm>
            <a:off x="1089851" y="4272409"/>
            <a:ext cx="1610829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50"/>
              </a:spcBef>
              <a:buNone/>
            </a:pPr>
            <a:r>
              <a:rPr lang="en-US" sz="2100" dirty="0">
                <a:solidFill>
                  <a:srgbClr val="4E5A4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Items separated by 、 — then the list is closed with 等等.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38200" y="5396359"/>
            <a:ext cx="3886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96A1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447800" y="5291584"/>
            <a:ext cx="6703695" cy="591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58"/>
              </a:lnSpc>
              <a:buNone/>
            </a:pPr>
            <a:r>
              <a:rPr lang="en-US" sz="34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我喜欢吃黄瓜、土豆、生菜等等。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1447800" y="5883027"/>
            <a:ext cx="6703695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>
                <a:solidFill>
                  <a:srgbClr val="78805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like cucumber, potato, lettuce and so on.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838200" y="6473577"/>
            <a:ext cx="3886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96A1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447800" y="6368802"/>
            <a:ext cx="9832086" cy="591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58"/>
              </a:lnSpc>
              <a:buNone/>
            </a:pPr>
            <a:r>
              <a:rPr lang="en-US" sz="3450" b="1" dirty="0">
                <a:solidFill>
                  <a:srgbClr val="4C7A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老师说我们应该多吃青菜、菜花儿、西红柿等等。</a:t>
            </a:r>
            <a:endParaRPr lang="en-US" sz="3450" dirty="0"/>
          </a:p>
        </p:txBody>
      </p:sp>
      <p:sp>
        <p:nvSpPr>
          <p:cNvPr id="14" name="Text 12"/>
          <p:cNvSpPr/>
          <p:nvPr/>
        </p:nvSpPr>
        <p:spPr>
          <a:xfrm>
            <a:off x="1447800" y="6960245"/>
            <a:ext cx="983208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>
                <a:solidFill>
                  <a:srgbClr val="78805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Both structures in one sentence.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838200" y="7312670"/>
            <a:ext cx="16611600" cy="1157288"/>
          </a:xfrm>
          <a:prstGeom prst="roundRect">
            <a:avLst>
              <a:gd name="adj" fmla="val 9877"/>
            </a:avLst>
          </a:prstGeom>
          <a:solidFill>
            <a:srgbClr val="B93F2C">
              <a:alpha val="11000"/>
            </a:srgbClr>
          </a:solidFill>
          <a:ln w="19050">
            <a:solidFill>
              <a:srgbClr val="B93F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123950" y="7541270"/>
            <a:ext cx="1319243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93F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COMMON MISTAKE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123950" y="7827020"/>
            <a:ext cx="13192435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63"/>
              </a:lnSpc>
              <a:buNone/>
            </a:pPr>
            <a:r>
              <a:rPr lang="en-US" sz="2250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等等 needs a </a:t>
            </a:r>
            <a:r>
              <a:rPr lang="en-US" sz="2250" b="1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list</a:t>
            </a:r>
            <a:r>
              <a:rPr lang="en-US" sz="2250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in front of it. 我应该吃青菜等等。 on its own is wrong — one item is not a list.</a:t>
            </a:r>
            <a:endParaRPr lang="en-US" sz="2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A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47625"/>
          </a:xfrm>
          <a:prstGeom prst="rect">
            <a:avLst/>
          </a:prstGeom>
          <a:solidFill>
            <a:srgbClr val="4C7A2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38200" y="1181100"/>
            <a:ext cx="1694383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350"/>
              </a:spcAft>
              <a:buNone/>
            </a:pPr>
            <a:r>
              <a:rPr lang="en-US" sz="1800" b="1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ACTIVITY 1 · FINISH THE ADVICE — TEXTBOOK P.91 EX.2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38200" y="1666875"/>
            <a:ext cx="6812756" cy="438150"/>
          </a:xfrm>
          <a:prstGeom prst="roundRect">
            <a:avLst>
              <a:gd name="adj" fmla="val 2171739"/>
            </a:avLst>
          </a:prstGeom>
          <a:solidFill>
            <a:srgbClr val="B96A12">
              <a:alpha val="1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09650" y="1743075"/>
            <a:ext cx="659925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96A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WHITEBOARDS · HOLD UP AFTER EACH · 7 MINUTES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838200" y="2333625"/>
            <a:ext cx="419100" cy="419100"/>
          </a:xfrm>
          <a:prstGeom prst="roundRect">
            <a:avLst>
              <a:gd name="adj" fmla="val 2270455"/>
            </a:avLst>
          </a:prstGeom>
          <a:solidFill>
            <a:srgbClr val="4C7A2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97000" y="2386013"/>
            <a:ext cx="10353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BFAF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66850" y="2333625"/>
            <a:ext cx="5155287" cy="420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12"/>
              </a:lnSpc>
              <a:buNone/>
            </a:pPr>
            <a:r>
              <a:rPr lang="en-US" sz="2400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Complete each stem in characters.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38200" y="2878038"/>
            <a:ext cx="419100" cy="419100"/>
          </a:xfrm>
          <a:prstGeom prst="roundRect">
            <a:avLst>
              <a:gd name="adj" fmla="val 2270455"/>
            </a:avLst>
          </a:prstGeom>
          <a:solidFill>
            <a:srgbClr val="4C7A2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976164" y="2930426"/>
            <a:ext cx="14603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BFAF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66850" y="2878038"/>
            <a:ext cx="10464808" cy="420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12"/>
              </a:lnSpc>
              <a:buNone/>
            </a:pPr>
            <a:r>
              <a:rPr lang="en-US" sz="2400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Hold up after each one — two answers read aloud before we move on.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38200" y="3422452"/>
            <a:ext cx="419100" cy="419100"/>
          </a:xfrm>
          <a:prstGeom prst="roundRect">
            <a:avLst>
              <a:gd name="adj" fmla="val 2270455"/>
            </a:avLst>
          </a:prstGeom>
          <a:solidFill>
            <a:srgbClr val="4C7A2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75568" y="3474839"/>
            <a:ext cx="14725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BFAF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66850" y="3422452"/>
            <a:ext cx="8110773" cy="420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12"/>
              </a:lnSpc>
              <a:buNone/>
            </a:pPr>
            <a:r>
              <a:rPr lang="en-US" sz="2400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Items 3 and 5 must use food vocabulary from this unit.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38200" y="4090690"/>
            <a:ext cx="16611600" cy="3232100"/>
          </a:xfrm>
          <a:prstGeom prst="roundRect">
            <a:avLst>
              <a:gd name="adj" fmla="val 5894"/>
            </a:avLst>
          </a:prstGeom>
          <a:solidFill>
            <a:srgbClr val="F2EFDE"/>
          </a:solidFill>
          <a:ln w="2857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190625" y="4366915"/>
            <a:ext cx="16224885" cy="535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1"/>
              </a:lnSpc>
              <a:buNone/>
            </a:pPr>
            <a:r>
              <a:rPr lang="en-US" sz="31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1. 今天很冷，你应该 ____________ 。</a:t>
            </a:r>
            <a:endParaRPr lang="en-US" sz="3150" dirty="0"/>
          </a:p>
        </p:txBody>
      </p:sp>
      <p:sp>
        <p:nvSpPr>
          <p:cNvPr id="19" name="Text 17"/>
          <p:cNvSpPr/>
          <p:nvPr/>
        </p:nvSpPr>
        <p:spPr>
          <a:xfrm>
            <a:off x="1190625" y="4902845"/>
            <a:ext cx="16224885" cy="535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1"/>
              </a:lnSpc>
              <a:buNone/>
            </a:pPr>
            <a:r>
              <a:rPr lang="en-US" sz="31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2. 北京现在是冬天，你应该 ____________ 。</a:t>
            </a:r>
            <a:endParaRPr lang="en-US" sz="3150" dirty="0"/>
          </a:p>
        </p:txBody>
      </p:sp>
      <p:sp>
        <p:nvSpPr>
          <p:cNvPr id="20" name="Text 18"/>
          <p:cNvSpPr/>
          <p:nvPr/>
        </p:nvSpPr>
        <p:spPr>
          <a:xfrm>
            <a:off x="1190625" y="5438775"/>
            <a:ext cx="16224885" cy="535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1"/>
              </a:lnSpc>
              <a:buNone/>
            </a:pPr>
            <a:r>
              <a:rPr lang="en-US" sz="31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3. 妈妈说我应该 ____________ 。</a:t>
            </a:r>
            <a:endParaRPr lang="en-US" sz="3150" dirty="0"/>
          </a:p>
        </p:txBody>
      </p:sp>
      <p:sp>
        <p:nvSpPr>
          <p:cNvPr id="21" name="Text 19"/>
          <p:cNvSpPr/>
          <p:nvPr/>
        </p:nvSpPr>
        <p:spPr>
          <a:xfrm>
            <a:off x="1190625" y="5974705"/>
            <a:ext cx="16224885" cy="535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1"/>
              </a:lnSpc>
              <a:buNone/>
            </a:pPr>
            <a:r>
              <a:rPr lang="en-US" sz="31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4. 不要看电视了，你应该 ____________ 。</a:t>
            </a:r>
            <a:endParaRPr lang="en-US" sz="3150" dirty="0"/>
          </a:p>
        </p:txBody>
      </p:sp>
      <p:sp>
        <p:nvSpPr>
          <p:cNvPr id="22" name="Text 20"/>
          <p:cNvSpPr/>
          <p:nvPr/>
        </p:nvSpPr>
        <p:spPr>
          <a:xfrm>
            <a:off x="1190625" y="6510635"/>
            <a:ext cx="16224885" cy="535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1"/>
              </a:lnSpc>
              <a:buNone/>
            </a:pPr>
            <a:r>
              <a:rPr lang="en-US" sz="31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5. 周末你应该 ____________ 。</a:t>
            </a:r>
            <a:endParaRPr lang="en-US" sz="3150" dirty="0"/>
          </a:p>
        </p:txBody>
      </p:sp>
      <p:sp>
        <p:nvSpPr>
          <p:cNvPr id="23" name="Text 21"/>
          <p:cNvSpPr/>
          <p:nvPr/>
        </p:nvSpPr>
        <p:spPr>
          <a:xfrm>
            <a:off x="838200" y="7513290"/>
            <a:ext cx="16611600" cy="2192536"/>
          </a:xfrm>
          <a:prstGeom prst="roundRect">
            <a:avLst>
              <a:gd name="adj" fmla="val 5213"/>
            </a:avLst>
          </a:prstGeom>
          <a:solidFill>
            <a:srgbClr val="4C7A2C">
              <a:alpha val="12000"/>
            </a:srgbClr>
          </a:solidFill>
          <a:ln w="28575">
            <a:solidFill>
              <a:srgbClr val="4C7A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152525" y="7751415"/>
            <a:ext cx="1630260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50"/>
              </a:spcAft>
              <a:buNone/>
            </a:pPr>
            <a:r>
              <a:rPr lang="en-US" sz="1650" b="1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 · 加油题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152525" y="8132415"/>
            <a:ext cx="16302609" cy="828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63"/>
              </a:lnSpc>
              <a:buNone/>
            </a:pPr>
            <a:r>
              <a:rPr lang="en-US" sz="2250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Write all five in your book as </a:t>
            </a:r>
            <a:r>
              <a:rPr lang="en-US" sz="2250" b="1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two-clause</a:t>
            </a:r>
            <a:r>
              <a:rPr lang="en-US" sz="2250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sentences that give the reason as well as the advice. Then write one more stem for a partner to complete.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152525" y="8961090"/>
            <a:ext cx="16302609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今天很冷，你应该穿大衣，可是不应该穿短裤。</a:t>
            </a:r>
            <a:endParaRPr lang="en-US" sz="2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A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47625"/>
          </a:xfrm>
          <a:prstGeom prst="rect">
            <a:avLst/>
          </a:prstGeom>
          <a:solidFill>
            <a:srgbClr val="4C7A2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38200" y="1181100"/>
            <a:ext cx="1694383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350"/>
              </a:spcAft>
              <a:buNone/>
            </a:pPr>
            <a:r>
              <a:rPr lang="en-US" sz="1800" b="1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ACTIVITY 2 · TRANSLATE INTO ENGLISH — 练习册 EX.7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38200" y="1666875"/>
            <a:ext cx="3975795" cy="438150"/>
          </a:xfrm>
          <a:prstGeom prst="roundRect">
            <a:avLst>
              <a:gd name="adj" fmla="val 2171739"/>
            </a:avLst>
          </a:prstGeom>
          <a:solidFill>
            <a:srgbClr val="B96A12">
              <a:alpha val="1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09650" y="1743075"/>
            <a:ext cx="370555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96A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 YOUR BOOKS · 8 MINUTES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838200" y="2333625"/>
            <a:ext cx="419100" cy="419100"/>
          </a:xfrm>
          <a:prstGeom prst="roundRect">
            <a:avLst>
              <a:gd name="adj" fmla="val 2270455"/>
            </a:avLst>
          </a:prstGeom>
          <a:solidFill>
            <a:srgbClr val="4C7A2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97000" y="2386013"/>
            <a:ext cx="10353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BFAF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66850" y="2333625"/>
            <a:ext cx="5821862" cy="420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12"/>
              </a:lnSpc>
              <a:buNone/>
            </a:pPr>
            <a:r>
              <a:rPr lang="en-US" sz="2400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Translate all six sentences into English.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38200" y="2878038"/>
            <a:ext cx="419100" cy="419100"/>
          </a:xfrm>
          <a:prstGeom prst="roundRect">
            <a:avLst>
              <a:gd name="adj" fmla="val 2270455"/>
            </a:avLst>
          </a:prstGeom>
          <a:solidFill>
            <a:srgbClr val="4C7A2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976164" y="2930426"/>
            <a:ext cx="14603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BFAF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66850" y="2878038"/>
            <a:ext cx="9405363" cy="420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12"/>
              </a:lnSpc>
              <a:buNone/>
            </a:pPr>
            <a:r>
              <a:rPr lang="en-US" sz="2400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Then "It is your turn!" — two sentences of your own using 应该.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38200" y="3546277"/>
            <a:ext cx="16611600" cy="3768030"/>
          </a:xfrm>
          <a:prstGeom prst="roundRect">
            <a:avLst>
              <a:gd name="adj" fmla="val 5056"/>
            </a:avLst>
          </a:prstGeom>
          <a:solidFill>
            <a:srgbClr val="F2EFDE"/>
          </a:solidFill>
          <a:ln w="2857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190625" y="3822502"/>
            <a:ext cx="16224885" cy="535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1"/>
              </a:lnSpc>
              <a:buNone/>
            </a:pPr>
            <a:r>
              <a:rPr lang="en-US" sz="31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1. 今天很冷，你应该多穿点儿衣服。</a:t>
            </a:r>
            <a:endParaRPr lang="en-US" sz="3150" dirty="0"/>
          </a:p>
        </p:txBody>
      </p:sp>
      <p:sp>
        <p:nvSpPr>
          <p:cNvPr id="16" name="Text 14"/>
          <p:cNvSpPr/>
          <p:nvPr/>
        </p:nvSpPr>
        <p:spPr>
          <a:xfrm>
            <a:off x="1190625" y="4358432"/>
            <a:ext cx="16224885" cy="535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1"/>
              </a:lnSpc>
              <a:buNone/>
            </a:pPr>
            <a:r>
              <a:rPr lang="en-US" sz="31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2. 妈妈说我应该每天吃水果和蔬菜。</a:t>
            </a:r>
            <a:endParaRPr lang="en-US" sz="3150" dirty="0"/>
          </a:p>
        </p:txBody>
      </p:sp>
      <p:sp>
        <p:nvSpPr>
          <p:cNvPr id="17" name="Text 15"/>
          <p:cNvSpPr/>
          <p:nvPr/>
        </p:nvSpPr>
        <p:spPr>
          <a:xfrm>
            <a:off x="1190625" y="4894362"/>
            <a:ext cx="16224885" cy="535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1"/>
              </a:lnSpc>
              <a:buNone/>
            </a:pPr>
            <a:r>
              <a:rPr lang="en-US" sz="31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3. 爸爸说我应该每天做两个小时作业。</a:t>
            </a:r>
            <a:endParaRPr lang="en-US" sz="3150" dirty="0"/>
          </a:p>
        </p:txBody>
      </p:sp>
      <p:sp>
        <p:nvSpPr>
          <p:cNvPr id="18" name="Text 16"/>
          <p:cNvSpPr/>
          <p:nvPr/>
        </p:nvSpPr>
        <p:spPr>
          <a:xfrm>
            <a:off x="1190625" y="5430292"/>
            <a:ext cx="16224885" cy="535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1"/>
              </a:lnSpc>
              <a:buNone/>
            </a:pPr>
            <a:r>
              <a:rPr lang="en-US" sz="31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4. 老师说我应该多看中文小说。</a:t>
            </a:r>
            <a:endParaRPr lang="en-US" sz="3150" dirty="0"/>
          </a:p>
        </p:txBody>
      </p:sp>
      <p:sp>
        <p:nvSpPr>
          <p:cNvPr id="19" name="Text 17"/>
          <p:cNvSpPr/>
          <p:nvPr/>
        </p:nvSpPr>
        <p:spPr>
          <a:xfrm>
            <a:off x="1190625" y="5966222"/>
            <a:ext cx="16224885" cy="535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1"/>
              </a:lnSpc>
              <a:buNone/>
            </a:pPr>
            <a:r>
              <a:rPr lang="en-US" sz="31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5. 老师说我应该多学一门外语。</a:t>
            </a:r>
            <a:endParaRPr lang="en-US" sz="3150" dirty="0"/>
          </a:p>
        </p:txBody>
      </p:sp>
      <p:sp>
        <p:nvSpPr>
          <p:cNvPr id="20" name="Text 18"/>
          <p:cNvSpPr/>
          <p:nvPr/>
        </p:nvSpPr>
        <p:spPr>
          <a:xfrm>
            <a:off x="1190625" y="6502152"/>
            <a:ext cx="16224885" cy="535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1"/>
              </a:lnSpc>
              <a:buNone/>
            </a:pPr>
            <a:r>
              <a:rPr lang="en-US" sz="31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6. 我感冒了，医生说我应该多休息、多睡觉。</a:t>
            </a:r>
            <a:endParaRPr lang="en-US" sz="3150" dirty="0"/>
          </a:p>
        </p:txBody>
      </p:sp>
      <p:sp>
        <p:nvSpPr>
          <p:cNvPr id="21" name="Text 19"/>
          <p:cNvSpPr/>
          <p:nvPr/>
        </p:nvSpPr>
        <p:spPr>
          <a:xfrm>
            <a:off x="838200" y="7504807"/>
            <a:ext cx="16611600" cy="1685925"/>
          </a:xfrm>
          <a:prstGeom prst="roundRect">
            <a:avLst>
              <a:gd name="adj" fmla="val 6780"/>
            </a:avLst>
          </a:prstGeom>
          <a:solidFill>
            <a:srgbClr val="4C7A2C">
              <a:alpha val="12000"/>
            </a:srgbClr>
          </a:solidFill>
          <a:ln w="28575">
            <a:solidFill>
              <a:srgbClr val="4C7A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152525" y="7742932"/>
            <a:ext cx="1630260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50"/>
              </a:spcAft>
              <a:buNone/>
            </a:pPr>
            <a:r>
              <a:rPr lang="en-US" sz="1650" b="1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 · 加油题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152525" y="8123932"/>
            <a:ext cx="16302609" cy="828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63"/>
              </a:lnSpc>
              <a:buNone/>
            </a:pPr>
            <a:r>
              <a:rPr lang="en-US" sz="2250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Translate the </a:t>
            </a:r>
            <a:r>
              <a:rPr lang="en-US" sz="2250" b="1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other way</a:t>
            </a:r>
            <a:r>
              <a:rPr lang="en-US" sz="2250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too, sheet turned over: "The doctor said I should eat green vegetables, cauliflower, tomatoes and so on." Every item on the list, closed with 等等.</a:t>
            </a:r>
            <a:endParaRPr lang="en-US" sz="2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A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47625"/>
          </a:xfrm>
          <a:prstGeom prst="rect">
            <a:avLst/>
          </a:prstGeom>
          <a:solidFill>
            <a:srgbClr val="4C7A2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38200" y="1181100"/>
            <a:ext cx="1694383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350"/>
              </a:spcAft>
              <a:buNone/>
            </a:pPr>
            <a:r>
              <a:rPr lang="en-US" sz="1800" b="1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GAME · 排句子 SENTENCE JUMBLE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38200" y="1666875"/>
            <a:ext cx="5678984" cy="438150"/>
          </a:xfrm>
          <a:prstGeom prst="roundRect">
            <a:avLst>
              <a:gd name="adj" fmla="val 2171739"/>
            </a:avLst>
          </a:prstGeom>
          <a:solidFill>
            <a:srgbClr val="B96A12">
              <a:alpha val="1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09650" y="1743075"/>
            <a:ext cx="544280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96A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PAIRS · ONE ENVELOPE EACH · 8 MINUTES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838200" y="2333625"/>
            <a:ext cx="419100" cy="419100"/>
          </a:xfrm>
          <a:prstGeom prst="roundRect">
            <a:avLst>
              <a:gd name="adj" fmla="val 2270455"/>
            </a:avLst>
          </a:prstGeom>
          <a:solidFill>
            <a:srgbClr val="4C7A2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97000" y="2386013"/>
            <a:ext cx="10353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BFAF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66850" y="2333625"/>
            <a:ext cx="9003232" cy="420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12"/>
              </a:lnSpc>
              <a:buNone/>
            </a:pPr>
            <a:r>
              <a:rPr lang="en-US" sz="2400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Rebuild each of the six jumbled sentences and write it down.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38200" y="2878038"/>
            <a:ext cx="419100" cy="419100"/>
          </a:xfrm>
          <a:prstGeom prst="roundRect">
            <a:avLst>
              <a:gd name="adj" fmla="val 2270455"/>
            </a:avLst>
          </a:prstGeom>
          <a:solidFill>
            <a:srgbClr val="4C7A2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976164" y="2930426"/>
            <a:ext cx="14603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BFAF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66850" y="2878038"/>
            <a:ext cx="6622479" cy="420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12"/>
              </a:lnSpc>
              <a:buNone/>
            </a:pPr>
            <a:r>
              <a:rPr lang="en-US" sz="2400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All six contain 应该 or a list closed with 等等.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38200" y="3422452"/>
            <a:ext cx="419100" cy="419100"/>
          </a:xfrm>
          <a:prstGeom prst="roundRect">
            <a:avLst>
              <a:gd name="adj" fmla="val 2270455"/>
            </a:avLst>
          </a:prstGeom>
          <a:solidFill>
            <a:srgbClr val="4C7A2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75568" y="3474839"/>
            <a:ext cx="14725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BFAF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66850" y="3422452"/>
            <a:ext cx="4994374" cy="420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12"/>
              </a:lnSpc>
              <a:buNone/>
            </a:pPr>
            <a:r>
              <a:rPr lang="en-US" sz="2400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First pair with all six correct wins.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38200" y="4090690"/>
            <a:ext cx="16611600" cy="3232100"/>
          </a:xfrm>
          <a:prstGeom prst="roundRect">
            <a:avLst>
              <a:gd name="adj" fmla="val 5894"/>
            </a:avLst>
          </a:prstGeom>
          <a:solidFill>
            <a:srgbClr val="F2EFDE"/>
          </a:solidFill>
          <a:ln w="2857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190625" y="4366915"/>
            <a:ext cx="16224885" cy="535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1"/>
              </a:lnSpc>
              <a:buNone/>
            </a:pPr>
            <a:r>
              <a:rPr lang="en-US" sz="31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 / 吃 / 每天 / 水果 / 应该。</a:t>
            </a:r>
            <a:endParaRPr lang="en-US" sz="3150" dirty="0"/>
          </a:p>
        </p:txBody>
      </p:sp>
      <p:sp>
        <p:nvSpPr>
          <p:cNvPr id="19" name="Text 17"/>
          <p:cNvSpPr/>
          <p:nvPr/>
        </p:nvSpPr>
        <p:spPr>
          <a:xfrm>
            <a:off x="1190625" y="4902845"/>
            <a:ext cx="16224885" cy="535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1"/>
              </a:lnSpc>
              <a:buNone/>
            </a:pPr>
            <a:r>
              <a:rPr lang="en-US" sz="31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说 / 妈妈 / 应该 / 我 / 每天 / 吃 / 蔬菜。</a:t>
            </a:r>
            <a:endParaRPr lang="en-US" sz="3150" dirty="0"/>
          </a:p>
        </p:txBody>
      </p:sp>
      <p:sp>
        <p:nvSpPr>
          <p:cNvPr id="20" name="Text 18"/>
          <p:cNvSpPr/>
          <p:nvPr/>
        </p:nvSpPr>
        <p:spPr>
          <a:xfrm>
            <a:off x="1190625" y="5438775"/>
            <a:ext cx="16224885" cy="535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1"/>
              </a:lnSpc>
              <a:buNone/>
            </a:pPr>
            <a:r>
              <a:rPr lang="en-US" sz="31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非常 / 我 / 吃 / 喜欢 / 青菜。</a:t>
            </a:r>
            <a:endParaRPr lang="en-US" sz="3150" dirty="0"/>
          </a:p>
        </p:txBody>
      </p:sp>
      <p:sp>
        <p:nvSpPr>
          <p:cNvPr id="21" name="Text 19"/>
          <p:cNvSpPr/>
          <p:nvPr/>
        </p:nvSpPr>
        <p:spPr>
          <a:xfrm>
            <a:off x="1190625" y="5974705"/>
            <a:ext cx="16224885" cy="535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1"/>
              </a:lnSpc>
              <a:buNone/>
            </a:pPr>
            <a:r>
              <a:rPr lang="en-US" sz="31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等等 / 我 / 喜欢 / 吃 / 黄瓜、土豆、生菜。</a:t>
            </a:r>
            <a:endParaRPr lang="en-US" sz="3150" dirty="0"/>
          </a:p>
        </p:txBody>
      </p:sp>
      <p:sp>
        <p:nvSpPr>
          <p:cNvPr id="22" name="Text 20"/>
          <p:cNvSpPr/>
          <p:nvPr/>
        </p:nvSpPr>
        <p:spPr>
          <a:xfrm>
            <a:off x="1190625" y="6510635"/>
            <a:ext cx="16224885" cy="535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1"/>
              </a:lnSpc>
              <a:buNone/>
            </a:pPr>
            <a:r>
              <a:rPr lang="en-US" sz="31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 / 一边 / 应该 / 听音乐 / 你 / 一边 / 做作业。</a:t>
            </a:r>
            <a:endParaRPr lang="en-US" sz="3150" dirty="0"/>
          </a:p>
        </p:txBody>
      </p:sp>
      <p:sp>
        <p:nvSpPr>
          <p:cNvPr id="23" name="Text 21"/>
          <p:cNvSpPr/>
          <p:nvPr/>
        </p:nvSpPr>
        <p:spPr>
          <a:xfrm>
            <a:off x="838200" y="7513290"/>
            <a:ext cx="16611600" cy="1685925"/>
          </a:xfrm>
          <a:prstGeom prst="roundRect">
            <a:avLst>
              <a:gd name="adj" fmla="val 6780"/>
            </a:avLst>
          </a:prstGeom>
          <a:solidFill>
            <a:srgbClr val="4C7A2C">
              <a:alpha val="12000"/>
            </a:srgbClr>
          </a:solidFill>
          <a:ln w="28575">
            <a:solidFill>
              <a:srgbClr val="4C7A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152525" y="7751415"/>
            <a:ext cx="1630260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50"/>
              </a:spcAft>
              <a:buNone/>
            </a:pPr>
            <a:r>
              <a:rPr lang="en-US" sz="1650" b="1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 · 加油题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152525" y="8132415"/>
            <a:ext cx="16302609" cy="828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63"/>
              </a:lnSpc>
              <a:buNone/>
            </a:pPr>
            <a:r>
              <a:rPr lang="en-US" sz="2250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Strips face down — you may only turn over </a:t>
            </a:r>
            <a:r>
              <a:rPr lang="en-US" sz="2250" b="1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three at a time</a:t>
            </a:r>
            <a:r>
              <a:rPr lang="en-US" sz="2250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, so the rest has to be held in memory. Then cut up two sentences of your own and swap with the next pair.</a:t>
            </a:r>
            <a:endParaRPr lang="en-US" sz="2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A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47625"/>
          </a:xfrm>
          <a:prstGeom prst="rect">
            <a:avLst/>
          </a:prstGeom>
          <a:solidFill>
            <a:srgbClr val="4C7A2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38200" y="1902321"/>
            <a:ext cx="1694383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350"/>
              </a:spcAft>
              <a:buNone/>
            </a:pPr>
            <a:r>
              <a:rPr lang="en-US" sz="1800" b="1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PLENARY · 我做到了吗？ 👍 / 😐 / 👎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38200" y="2388096"/>
            <a:ext cx="16611600" cy="881955"/>
          </a:xfrm>
          <a:prstGeom prst="roundRect">
            <a:avLst>
              <a:gd name="adj" fmla="val 12960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114425" y="2588121"/>
            <a:ext cx="427482" cy="481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b="1" dirty="0">
                <a:solidFill>
                  <a:srgbClr val="4C7A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762125" y="2588121"/>
            <a:ext cx="4224573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use 应该 to give advice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38200" y="3393877"/>
            <a:ext cx="16611600" cy="881955"/>
          </a:xfrm>
          <a:prstGeom prst="roundRect">
            <a:avLst>
              <a:gd name="adj" fmla="val 12960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114425" y="3593902"/>
            <a:ext cx="427482" cy="481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b="1" dirty="0">
                <a:solidFill>
                  <a:srgbClr val="4C7A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762125" y="3593902"/>
            <a:ext cx="5133579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report someone else's advice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38200" y="4399657"/>
            <a:ext cx="16611600" cy="881955"/>
          </a:xfrm>
          <a:prstGeom prst="roundRect">
            <a:avLst>
              <a:gd name="adj" fmla="val 12960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14425" y="4599682"/>
            <a:ext cx="427482" cy="481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b="1" dirty="0">
                <a:solidFill>
                  <a:srgbClr val="4C7A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1762125" y="4599682"/>
            <a:ext cx="6332077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list things and close the list with 等等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38200" y="5405438"/>
            <a:ext cx="16611600" cy="881955"/>
          </a:xfrm>
          <a:prstGeom prst="roundRect">
            <a:avLst>
              <a:gd name="adj" fmla="val 12960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114425" y="5605463"/>
            <a:ext cx="427482" cy="481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b="1" dirty="0">
                <a:solidFill>
                  <a:srgbClr val="4C7A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762125" y="5605463"/>
            <a:ext cx="6255568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use 非常 to say I like something a lot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38200" y="6287393"/>
            <a:ext cx="16611600" cy="1663898"/>
          </a:xfrm>
          <a:prstGeom prst="roundRect">
            <a:avLst>
              <a:gd name="adj" fmla="val 6869"/>
            </a:avLst>
          </a:prstGeom>
          <a:solidFill>
            <a:srgbClr val="B96A12">
              <a:alpha val="14000"/>
            </a:srgbClr>
          </a:solidFill>
          <a:ln w="19050">
            <a:solidFill>
              <a:srgbClr val="B96A1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123950" y="6515993"/>
            <a:ext cx="691789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96A1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EXIT TICKET · 出门条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1123950" y="6801743"/>
            <a:ext cx="6917891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63"/>
              </a:lnSpc>
              <a:buNone/>
            </a:pPr>
            <a:r>
              <a:rPr lang="en-US" sz="2250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Translate into Chinese, on a slip: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123950" y="7216080"/>
            <a:ext cx="6917891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"Mum says I should eat vegetables every day."</a:t>
            </a:r>
            <a:endParaRPr lang="en-US" sz="2850" dirty="0"/>
          </a:p>
        </p:txBody>
      </p:sp>
      <p:sp>
        <p:nvSpPr>
          <p:cNvPr id="22" name="Text 20"/>
          <p:cNvSpPr/>
          <p:nvPr/>
        </p:nvSpPr>
        <p:spPr>
          <a:xfrm>
            <a:off x="838200" y="7951291"/>
            <a:ext cx="16611600" cy="1157288"/>
          </a:xfrm>
          <a:prstGeom prst="roundRect">
            <a:avLst>
              <a:gd name="adj" fmla="val 9877"/>
            </a:avLst>
          </a:prstGeom>
          <a:solidFill>
            <a:srgbClr val="4C7A2C">
              <a:alpha val="12000"/>
            </a:srgbClr>
          </a:solidFill>
          <a:ln w="19050">
            <a:solidFill>
              <a:srgbClr val="4C7A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123950" y="8179891"/>
            <a:ext cx="1048089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4C7A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NEXT LESSON · 下节课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123950" y="8465641"/>
            <a:ext cx="10480899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63"/>
              </a:lnSpc>
              <a:buNone/>
            </a:pPr>
            <a:r>
              <a:rPr lang="en-US" sz="2250" dirty="0">
                <a:solidFill>
                  <a:srgbClr val="24321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We put a "but" in the middle — 可是 — and read the whole Text 1 dialogue.</a:t>
            </a:r>
            <a:endParaRPr lang="en-US" sz="2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2026-09-14T04:54:28Z</dcterms:created>
  <dcterms:modified xsi:type="dcterms:W3CDTF">2026-09-14T04:54:28Z</dcterms:modified>
</cp:coreProperties>
</file>