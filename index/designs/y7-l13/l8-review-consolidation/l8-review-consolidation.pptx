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6500" y="5905500"/>
            <a:ext cx="38862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3445859" y="2198191"/>
            <a:ext cx="113962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8 OF 8 · Y7 UNIT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45859" y="2693491"/>
            <a:ext cx="1139628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50"/>
              </a:lnSpc>
              <a:buNone/>
            </a:pPr>
            <a:r>
              <a:rPr lang="en-US" sz="67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🎉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3445859" y="4393109"/>
            <a:ext cx="11396282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0"/>
              </a:lnSpc>
              <a:spcBef>
                <a:spcPts val="6633"/>
              </a:spcBef>
              <a:spcAft>
                <a:spcPts val="600"/>
              </a:spcAft>
              <a:buNone/>
            </a:pPr>
            <a:r>
              <a:rPr lang="en-US" sz="99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颜色总复习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3445859" y="5726609"/>
            <a:ext cx="113962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&amp; Consolidation — Colours 颜色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45859" y="6488609"/>
            <a:ext cx="113962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全部十一个颜色 · ALL 11 COLOURS WE LEARNED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57588" y="6831509"/>
            <a:ext cx="914400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3313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82974" y="6936284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4567238" y="6831509"/>
            <a:ext cx="914400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52963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92624" y="6936284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5576888" y="6831509"/>
            <a:ext cx="914400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62613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02274" y="6936284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586538" y="6831509"/>
            <a:ext cx="914400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72263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11924" y="6936284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7596187" y="6831509"/>
            <a:ext cx="914400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81912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21574" y="6936284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8605838" y="6831509"/>
            <a:ext cx="1076325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91563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029605" y="6936284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9777413" y="6831509"/>
            <a:ext cx="914400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863138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202799" y="6936284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0787063" y="6831509"/>
            <a:ext cx="914400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872788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212449" y="6936284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1796713" y="6831509"/>
            <a:ext cx="914400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882438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222099" y="6936284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2806363" y="6831509"/>
            <a:ext cx="914400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2892088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3231749" y="6936284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13816013" y="6831509"/>
            <a:ext cx="914400" cy="438150"/>
          </a:xfrm>
          <a:prstGeom prst="roundRect">
            <a:avLst>
              <a:gd name="adj" fmla="val 2171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3901738" y="691723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4241399" y="6936284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6047399" y="7879259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30777" y="796498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173559" y="7879259"/>
            <a:ext cx="24396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+ Speaking/Listening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817894" y="796498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0063100" y="7879259"/>
            <a:ext cx="21923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1 · Unit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 — WHOLE UNIT, RAPID RECALL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9065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总复习 · Cumulative Recall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2500" y="2152650"/>
            <a:ext cx="9109174" cy="2037159"/>
          </a:xfrm>
          <a:prstGeom prst="roundRect">
            <a:avLst>
              <a:gd name="adj" fmla="val 935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371725"/>
            <a:ext cx="88055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FLASHCARD RAPID FIRE — ALL 11 COLOURS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190625" y="2705100"/>
            <a:ext cx="819150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57300" y="28060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62100" y="2771775"/>
            <a:ext cx="3108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62100" y="2954536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hēisè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085975" y="2705100"/>
            <a:ext cx="819150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52650" y="28060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57450" y="2771775"/>
            <a:ext cx="3108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57450" y="2954536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báisè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981325" y="2705100"/>
            <a:ext cx="908745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048000" y="28060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52800" y="2771775"/>
            <a:ext cx="40228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52800" y="2954536"/>
            <a:ext cx="402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huángsè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966270" y="2705100"/>
            <a:ext cx="819150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32945" y="28060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37745" y="2771775"/>
            <a:ext cx="3108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37745" y="2954536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lánsè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61620" y="2705100"/>
            <a:ext cx="855464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28295" y="28060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33095" y="2771775"/>
            <a:ext cx="34793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3095" y="2954536"/>
            <a:ext cx="3479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hóngsè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793284" y="2705100"/>
            <a:ext cx="1006078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59959" y="28060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64759" y="2771775"/>
            <a:ext cx="50156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64759" y="2954536"/>
            <a:ext cx="501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fěnhóngsè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75562" y="2705100"/>
            <a:ext cx="907107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942237" y="28060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247037" y="2771775"/>
            <a:ext cx="40061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47037" y="2954536"/>
            <a:ext cx="4006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chéngsè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858869" y="2705100"/>
            <a:ext cx="819150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925544" y="28060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230344" y="2771775"/>
            <a:ext cx="3108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30344" y="2954536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zǐsè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754219" y="2705100"/>
            <a:ext cx="848618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820894" y="28060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125694" y="2771775"/>
            <a:ext cx="34095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25694" y="2954536"/>
            <a:ext cx="3409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zōngsè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90625" y="3211711"/>
            <a:ext cx="819150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257300" y="331261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562100" y="3278386"/>
            <a:ext cx="3108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562100" y="3461147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lǜsè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085975" y="3211711"/>
            <a:ext cx="819150" cy="430411"/>
          </a:xfrm>
          <a:prstGeom prst="roundRect">
            <a:avLst>
              <a:gd name="adj" fmla="val 2210788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152650" y="331261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457450" y="3278386"/>
            <a:ext cx="3108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457450" y="3461147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huīsè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190625" y="3756422"/>
            <a:ext cx="880558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Flashcard rapid fire through all 11 colours: </a:t>
            </a: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pinyin + English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each card, moving fast.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0328374" y="2152650"/>
            <a:ext cx="7006977" cy="4886325"/>
          </a:xfrm>
          <a:prstGeom prst="roundRect">
            <a:avLst>
              <a:gd name="adj" fmla="val 389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0566499" y="2371725"/>
            <a:ext cx="66613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THE SIX RADICALS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10566499" y="2705100"/>
            <a:ext cx="6530727" cy="523875"/>
          </a:xfrm>
          <a:prstGeom prst="roundRect">
            <a:avLst>
              <a:gd name="adj" fmla="val 10909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0709374" y="2790825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疒</a:t>
            </a:r>
            <a:endParaRPr lang="en-US" sz="1950" dirty="0"/>
          </a:p>
        </p:txBody>
      </p:sp>
      <p:sp>
        <p:nvSpPr>
          <p:cNvPr id="60" name="Text 58"/>
          <p:cNvSpPr/>
          <p:nvPr/>
        </p:nvSpPr>
        <p:spPr>
          <a:xfrm>
            <a:off x="11223724" y="2867025"/>
            <a:ext cx="5343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disease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16818322" y="2871788"/>
            <a:ext cx="1387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病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566499" y="3305175"/>
            <a:ext cx="6530727" cy="523875"/>
          </a:xfrm>
          <a:prstGeom prst="roundRect">
            <a:avLst>
              <a:gd name="adj" fmla="val 10909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0709374" y="3390900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11223724" y="3467100"/>
            <a:ext cx="2378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fire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16818322" y="3471863"/>
            <a:ext cx="1387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炒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0566499" y="3905250"/>
            <a:ext cx="6530727" cy="523875"/>
          </a:xfrm>
          <a:prstGeom prst="roundRect">
            <a:avLst>
              <a:gd name="adj" fmla="val 10909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0709374" y="3990975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爫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1223724" y="4067175"/>
            <a:ext cx="317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claw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16818322" y="4071938"/>
            <a:ext cx="1387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爱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0566499" y="4505325"/>
            <a:ext cx="6530727" cy="523875"/>
          </a:xfrm>
          <a:prstGeom prst="roundRect">
            <a:avLst>
              <a:gd name="adj" fmla="val 10909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0709374" y="4591050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弓</a:t>
            </a:r>
            <a:endParaRPr lang="en-US" sz="1950" dirty="0"/>
          </a:p>
        </p:txBody>
      </p:sp>
      <p:sp>
        <p:nvSpPr>
          <p:cNvPr id="72" name="Text 70"/>
          <p:cNvSpPr/>
          <p:nvPr/>
        </p:nvSpPr>
        <p:spPr>
          <a:xfrm>
            <a:off x="11223724" y="4667250"/>
            <a:ext cx="2899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bow</a:t>
            </a:r>
            <a:endParaRPr lang="en-US" sz="1125" dirty="0"/>
          </a:p>
        </p:txBody>
      </p:sp>
      <p:sp>
        <p:nvSpPr>
          <p:cNvPr id="73" name="Text 71"/>
          <p:cNvSpPr/>
          <p:nvPr/>
        </p:nvSpPr>
        <p:spPr>
          <a:xfrm>
            <a:off x="16818322" y="4672013"/>
            <a:ext cx="1387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0566499" y="5105400"/>
            <a:ext cx="6530727" cy="523875"/>
          </a:xfrm>
          <a:prstGeom prst="roundRect">
            <a:avLst>
              <a:gd name="adj" fmla="val 10909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0709374" y="5191125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力</a:t>
            </a:r>
            <a:endParaRPr lang="en-US" sz="1950" dirty="0"/>
          </a:p>
        </p:txBody>
      </p:sp>
      <p:sp>
        <p:nvSpPr>
          <p:cNvPr id="76" name="Text 74"/>
          <p:cNvSpPr/>
          <p:nvPr/>
        </p:nvSpPr>
        <p:spPr>
          <a:xfrm>
            <a:off x="11223724" y="5267325"/>
            <a:ext cx="5836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strength</a:t>
            </a:r>
            <a:endParaRPr lang="en-US" sz="1125" dirty="0"/>
          </a:p>
        </p:txBody>
      </p:sp>
      <p:sp>
        <p:nvSpPr>
          <p:cNvPr id="77" name="Text 75"/>
          <p:cNvSpPr/>
          <p:nvPr/>
        </p:nvSpPr>
        <p:spPr>
          <a:xfrm>
            <a:off x="16818322" y="5272088"/>
            <a:ext cx="1387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0566499" y="5705475"/>
            <a:ext cx="6530727" cy="523875"/>
          </a:xfrm>
          <a:prstGeom prst="roundRect">
            <a:avLst>
              <a:gd name="adj" fmla="val 10909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0709374" y="5791200"/>
            <a:ext cx="3886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礻</a:t>
            </a:r>
            <a:endParaRPr lang="en-US" sz="1950" dirty="0"/>
          </a:p>
        </p:txBody>
      </p:sp>
      <p:sp>
        <p:nvSpPr>
          <p:cNvPr id="80" name="Text 78"/>
          <p:cNvSpPr/>
          <p:nvPr/>
        </p:nvSpPr>
        <p:spPr>
          <a:xfrm>
            <a:off x="11223724" y="5867400"/>
            <a:ext cx="3579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ritual</a:t>
            </a:r>
            <a:endParaRPr lang="en-US" sz="1125" dirty="0"/>
          </a:p>
        </p:txBody>
      </p:sp>
      <p:sp>
        <p:nvSpPr>
          <p:cNvPr id="81" name="Text 79"/>
          <p:cNvSpPr/>
          <p:nvPr/>
        </p:nvSpPr>
        <p:spPr>
          <a:xfrm>
            <a:off x="16818322" y="5872163"/>
            <a:ext cx="1387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0566499" y="6343650"/>
            <a:ext cx="6530727" cy="476250"/>
          </a:xfrm>
          <a:prstGeom prst="roundRect">
            <a:avLst>
              <a:gd name="adj" fmla="val 24000"/>
            </a:avLst>
          </a:prstGeom>
          <a:solidFill>
            <a:srgbClr val="C2564A">
              <a:alpha val="10000"/>
            </a:srgbClr>
          </a:solidFill>
          <a:ln w="19050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10756999" y="6477000"/>
            <a:ext cx="62727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 check: "Write the radical that means </a:t>
            </a:r>
            <a:r>
              <a:rPr lang="en-US" sz="1200" b="1" i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'fire'</a:t>
            </a: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 — cold call to confirm.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952500" y="7210425"/>
            <a:ext cx="16383000" cy="523875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Shape 83"/>
          <p:cNvSpPr/>
          <p:nvPr/>
        </p:nvSpPr>
        <p:spPr>
          <a:xfrm>
            <a:off x="976313" y="7210425"/>
            <a:ext cx="0" cy="523875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209675" y="7343775"/>
            <a:ext cx="162346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这是"颜色"这一课的最后一节课。今天我们把学过的东西全部串起来，准备好进入下一课：</a:t>
            </a:r>
            <a:r>
              <a:rPr lang="en-US" sz="13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穿着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350" dirty="0"/>
          </a:p>
        </p:txBody>
      </p:sp>
      <p:sp>
        <p:nvSpPr>
          <p:cNvPr id="87" name="Shape 8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196108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519958"/>
            <a:ext cx="1593342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491508"/>
            <a:ext cx="15621000" cy="1319213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491508"/>
            <a:ext cx="0" cy="1319212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6875" y="3682008"/>
            <a:ext cx="153019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66875" y="3929658"/>
            <a:ext cx="15301913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18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bring together </a:t>
            </a:r>
            <a:r>
              <a:rPr lang="en-US" sz="18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everything</a:t>
            </a:r>
            <a:r>
              <a:rPr lang="en-US" sz="187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this lesson — vocabulary, questions, radicals, and colour mixing — through spoken review before moving to the next topic.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333500" y="5115520"/>
            <a:ext cx="15621000" cy="1314450"/>
          </a:xfrm>
          <a:prstGeom prst="roundRect">
            <a:avLst>
              <a:gd name="adj" fmla="val 869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31554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315545"/>
            <a:ext cx="64661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and write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11 colour words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plus 颜色 and 喜欢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3125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1A1A1A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62200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81275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E8B923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00350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2E5FA3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019425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C23B2E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38500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E88EA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57575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D9762E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76650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7A4E9E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95725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8A5A34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14800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4C8A4A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33875" y="5715595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9A9A94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143125" y="5887045"/>
            <a:ext cx="64661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能说、写十一个颜色词、"颜色"和"喜欢"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33500" y="6582370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571625" y="678239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2143125" y="6782395"/>
            <a:ext cx="130104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hold a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spoken exchange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combining questions, preferences, and colour+noun descriptions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能进行完整的颜色对话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33500" y="7546181"/>
            <a:ext cx="15621000" cy="811411"/>
          </a:xfrm>
          <a:prstGeom prst="roundRect">
            <a:avLst>
              <a:gd name="adj" fmla="val 140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71625" y="7746206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2143125" y="7746206"/>
            <a:ext cx="104001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read the </a:t>
            </a:r>
            <a:r>
              <a:rPr lang="en-US" sz="18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unit's reading passage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answer comprehension questions 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能读懂课文并回答问题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38499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Common Errors + Dialogue Model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858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— NO NEW VOCABULARY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716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改错老师 · Correct the Teacher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2085975"/>
            <a:ext cx="8451800" cy="3524250"/>
          </a:xfrm>
          <a:prstGeom prst="roundRect">
            <a:avLst>
              <a:gd name="adj" fmla="val 540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286000"/>
            <a:ext cx="81350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THE MISTAKE IN EACH SENTENCE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90625" y="2590800"/>
            <a:ext cx="7975550" cy="561975"/>
          </a:xfrm>
          <a:prstGeom prst="roundRect">
            <a:avLst>
              <a:gd name="adj" fmla="val 20339"/>
            </a:avLst>
          </a:prstGeom>
          <a:solidFill>
            <a:srgbClr val="FBF9F4"/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71600" y="271938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91704" y="2771775"/>
            <a:ext cx="657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828800" y="2714625"/>
            <a:ext cx="16322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我喜欢的黑色。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13750" y="276225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90625" y="3248025"/>
            <a:ext cx="7975550" cy="561975"/>
          </a:xfrm>
          <a:prstGeom prst="roundRect">
            <a:avLst>
              <a:gd name="adj" fmla="val 20339"/>
            </a:avLst>
          </a:prstGeom>
          <a:solidFill>
            <a:srgbClr val="FBF9F4"/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71600" y="33766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78756" y="3429000"/>
            <a:ext cx="922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828800" y="3371850"/>
            <a:ext cx="18653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什么颜色你喜欢？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13750" y="341947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90625" y="3905250"/>
            <a:ext cx="7975550" cy="561975"/>
          </a:xfrm>
          <a:prstGeom prst="roundRect">
            <a:avLst>
              <a:gd name="adj" fmla="val 20339"/>
            </a:avLst>
          </a:prstGeom>
          <a:solidFill>
            <a:srgbClr val="FBF9F4"/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71600" y="403383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78310" y="4086225"/>
            <a:ext cx="930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828800" y="4029075"/>
            <a:ext cx="13990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火车黑色的。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13750" y="40767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90625" y="4562475"/>
            <a:ext cx="7975550" cy="561975"/>
          </a:xfrm>
          <a:prstGeom prst="roundRect">
            <a:avLst>
              <a:gd name="adj" fmla="val 20339"/>
            </a:avLst>
          </a:prstGeom>
          <a:solidFill>
            <a:srgbClr val="FBF9F4"/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71600" y="46910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477863" y="4743450"/>
            <a:ext cx="941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828800" y="4686300"/>
            <a:ext cx="13990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我喜欢粉色。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813750" y="4733925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❓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90625" y="5219700"/>
            <a:ext cx="81350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each sentence — cold call students to spot what's wrong before revealing the fix.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51950" y="2085975"/>
            <a:ext cx="7683550" cy="3190429"/>
          </a:xfrm>
          <a:prstGeom prst="roundRect">
            <a:avLst>
              <a:gd name="adj" fmla="val 597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890075" y="2286000"/>
            <a:ext cx="73514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DIALOGUE MODEL — WORKED EXAMPLE, TEACHER READS ALOUD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90075" y="2590800"/>
            <a:ext cx="7207300" cy="2009329"/>
          </a:xfrm>
          <a:prstGeom prst="roundRect">
            <a:avLst>
              <a:gd name="adj" fmla="val 5688"/>
            </a:avLst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080575" y="2819400"/>
            <a:ext cx="194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0366325" y="2743200"/>
            <a:ext cx="275054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你喜欢什么颜色？ </a:t>
            </a:r>
            <a:r>
              <a:rPr lang="en-US" sz="82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what-colour Q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10080575" y="3175546"/>
            <a:ext cx="194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0366325" y="3099346"/>
            <a:ext cx="2448306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我喜欢蓝色和绿色。你呢？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0080575" y="3531691"/>
            <a:ext cx="194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0366325" y="3455491"/>
            <a:ext cx="3060383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我喜欢黑色和白色，不喜欢紫色。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10080575" y="3887837"/>
            <a:ext cx="194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0366325" y="3811637"/>
            <a:ext cx="506299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我也不喜欢紫色。 </a:t>
            </a:r>
            <a:r>
              <a:rPr lang="en-US" sz="82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用"也"</a:t>
            </a:r>
            <a:r>
              <a:rPr lang="en-US" sz="1575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你喜欢黑色的汽车吗？ </a:t>
            </a:r>
            <a:r>
              <a:rPr lang="en-US" sz="82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yes/no Q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0080575" y="4243983"/>
            <a:ext cx="194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0366325" y="4167783"/>
            <a:ext cx="612077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喜欢！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9890075" y="4695379"/>
            <a:ext cx="73514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pattern from the unit appears here: question, preference, colour+noun (黑色的汽车), and 也 for agreement.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2963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Correct the Teacher —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The Four Fixes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57425"/>
            <a:ext cx="16383000" cy="981075"/>
          </a:xfrm>
          <a:prstGeom prst="roundRect">
            <a:avLst>
              <a:gd name="adj" fmla="val 1941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566988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32905" y="2628900"/>
            <a:ext cx="787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762125" y="2419350"/>
            <a:ext cx="2040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我喜欢的黑色。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952875" y="2462213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71975" y="2419350"/>
            <a:ext cx="17487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我喜欢黑色。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762125" y="2876550"/>
            <a:ext cx="156419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喜欢 is a verb that takes the colour directly as its object — no 的 needed.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52500" y="3371850"/>
            <a:ext cx="16383000" cy="981075"/>
          </a:xfrm>
          <a:prstGeom prst="roundRect">
            <a:avLst>
              <a:gd name="adj" fmla="val 1941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90625" y="3681413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17278" y="3743325"/>
            <a:ext cx="1106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762125" y="3533775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什么颜色你喜欢？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4238625" y="357663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57725" y="3533775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你喜欢什么颜色？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762125" y="3990975"/>
            <a:ext cx="156419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word order — subject 你 comes first, then 喜欢什么颜色.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52500" y="4486275"/>
            <a:ext cx="16383000" cy="981075"/>
          </a:xfrm>
          <a:prstGeom prst="roundRect">
            <a:avLst>
              <a:gd name="adj" fmla="val 1941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90625" y="4795838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16980" y="4857750"/>
            <a:ext cx="1114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762125" y="4648200"/>
            <a:ext cx="17487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火车黑色的。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3667125" y="4691063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86225" y="4648200"/>
            <a:ext cx="17487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黑色的火车。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762125" y="5105400"/>
            <a:ext cx="156419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structure is X色的Y — colour, then 的, then the noun.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52500" y="5600700"/>
            <a:ext cx="16383000" cy="981075"/>
          </a:xfrm>
          <a:prstGeom prst="roundRect">
            <a:avLst>
              <a:gd name="adj" fmla="val 1941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90625" y="5910263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316385" y="5972175"/>
            <a:ext cx="1126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762125" y="5762625"/>
            <a:ext cx="17487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我喜欢粉色。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3667125" y="58054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086225" y="5762625"/>
            <a:ext cx="2040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我喜欢粉红色。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762125" y="6219825"/>
            <a:ext cx="156419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粉色 alone is acceptable colloquially, but this textbook's term for "pink" is the full form 粉红色.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2662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57425"/>
            <a:ext cx="5334000" cy="2359223"/>
          </a:xfrm>
          <a:prstGeom prst="roundRect">
            <a:avLst>
              <a:gd name="adj" fmla="val 11305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One Full Sentence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90625" y="3838575"/>
            <a:ext cx="4954905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"Tia, say one full colour preference sentence."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7000" y="2257425"/>
            <a:ext cx="5334000" cy="2359223"/>
          </a:xfrm>
          <a:prstGeom prst="roundRect">
            <a:avLst>
              <a:gd name="adj" fmla="val 11305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Mixing Equation from Memory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15125" y="3838575"/>
            <a:ext cx="4954905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one colour-mixing equation from memory."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001500" y="2257425"/>
            <a:ext cx="5334000" cy="2359223"/>
          </a:xfrm>
          <a:prstGeom prst="roundRect">
            <a:avLst>
              <a:gd name="adj" fmla="val 11305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 = "Colour"?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39625" y="3838575"/>
            <a:ext cx="495490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颜色 means 'colour' (the general word)."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4807148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4930973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these three checks sample cold call, written recall, and instant gesture check across the whole unit before moving into paired practice.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95525"/>
            <a:ext cx="16383000" cy="1743075"/>
          </a:xfrm>
          <a:prstGeom prst="roundRect">
            <a:avLst>
              <a:gd name="adj" fmla="val 109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287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91692" y="260032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6425" y="253365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say one full colour preference sentence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76425" y="2867025"/>
            <a:ext cx="6730157" cy="933450"/>
          </a:xfrm>
          <a:prstGeom prst="roundRect">
            <a:avLst>
              <a:gd name="adj" fmla="val 12245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05025" y="3019425"/>
            <a:ext cx="639841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e.g. 我喜欢蓝色和绿色。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105025" y="3448050"/>
            <a:ext cx="63984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Any grammatically complete 我(不)喜欢____ sentence using a real colour word is accepted.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52500" y="4229100"/>
            <a:ext cx="16383000" cy="1743075"/>
          </a:xfrm>
          <a:prstGeom prst="roundRect">
            <a:avLst>
              <a:gd name="adj" fmla="val 109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28725" y="44672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72642" y="4533900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76425" y="4467225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write one colour-mixing equation from memory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876425" y="4800600"/>
            <a:ext cx="6296769" cy="933450"/>
          </a:xfrm>
          <a:prstGeom prst="roundRect">
            <a:avLst>
              <a:gd name="adj" fmla="val 12245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05025" y="4953000"/>
            <a:ext cx="59563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e.g. 红色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+黄色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=橙色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105025" y="5381625"/>
            <a:ext cx="59563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Any correct X色+Y色=Z色 equation from Lesson 5 is accepted (e.g. 白色+黑色=灰色).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52500" y="616267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28725" y="64008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72046" y="6467475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876425" y="640080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 — 颜色的意思是"colour"，对不对？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876425" y="6734175"/>
            <a:ext cx="4649837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05025" y="6886575"/>
            <a:ext cx="42764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对！颜色 = colour (the general word)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30541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 → You Do · 20–30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477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20–30 MIN · ACTIVITY 1 — FULL COMBINED DIALOGUE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3350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综合对话 · Build &amp; Perform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1981200"/>
            <a:ext cx="4010025" cy="457200"/>
          </a:xfrm>
          <a:prstGeom prst="roundRect">
            <a:avLst>
              <a:gd name="adj" fmla="val 25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375" y="20859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91220" y="2124075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38275" y="2123182"/>
            <a:ext cx="17255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"what colour" question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76825" y="1981200"/>
            <a:ext cx="4010025" cy="457200"/>
          </a:xfrm>
          <a:prstGeom prst="roundRect">
            <a:avLst>
              <a:gd name="adj" fmla="val 25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19700" y="20859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04234" y="2124075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562600" y="2123182"/>
            <a:ext cx="12560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yes/no question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01150" y="1981200"/>
            <a:ext cx="4010025" cy="457200"/>
          </a:xfrm>
          <a:prstGeom prst="roundRect">
            <a:avLst>
              <a:gd name="adj" fmla="val 25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44025" y="20859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428262" y="2124075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9686925" y="2123182"/>
            <a:ext cx="18562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≥1 colour+noun description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325475" y="1981200"/>
            <a:ext cx="4010025" cy="457200"/>
          </a:xfrm>
          <a:prstGeom prst="roundRect">
            <a:avLst>
              <a:gd name="adj" fmla="val 25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468350" y="20859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552140" y="2124075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3811250" y="2123182"/>
            <a:ext cx="8003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≥1 use of 也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2500" y="2590800"/>
            <a:ext cx="16383000" cy="690563"/>
          </a:xfrm>
          <a:prstGeom prst="roundRect">
            <a:avLst>
              <a:gd name="adj" fmla="val 16552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43000" y="2705100"/>
            <a:ext cx="163220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ONCE MORE WITH A VOLUNTEER — POINT OUT EACH OF THE 4 ELEMENTS AS IT OCCURS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" y="2924175"/>
            <a:ext cx="163220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</a:t>
            </a:r>
            <a:r>
              <a:rPr lang="en-US" sz="1275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你喜欢什么颜色？</a:t>
            </a:r>
            <a:r>
              <a:rPr lang="en-US" sz="1275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B:</a:t>
            </a:r>
            <a:r>
              <a:rPr lang="en-US" sz="1275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我喜欢蓝色和绿色。你呢？</a:t>
            </a:r>
            <a:r>
              <a:rPr lang="en-US" sz="1275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</a:t>
            </a:r>
            <a:r>
              <a:rPr lang="en-US" sz="1275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我喜欢黑色和白色，不喜欢紫色。</a:t>
            </a:r>
            <a:r>
              <a:rPr lang="en-US" sz="1275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B:</a:t>
            </a:r>
            <a:r>
              <a:rPr lang="en-US" sz="1275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我也不喜欢紫色。你喜欢黑色的汽车吗？</a:t>
            </a:r>
            <a:r>
              <a:rPr lang="en-US" sz="1275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</a:t>
            </a:r>
            <a:r>
              <a:rPr lang="en-US" sz="1275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喜欢！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952500" y="3414713"/>
            <a:ext cx="16383000" cy="676275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976313" y="3414713"/>
            <a:ext cx="0" cy="676275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9675" y="3529013"/>
            <a:ext cx="162346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IN PAIRS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09675" y="3748087"/>
            <a:ext cx="162346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your own version with all 4 required elements (can write key phrases on a whiteboard as a memory aid). Rehearse, then perform for another pair.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speaks both roles.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2500" y="4395788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04900" y="4510088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104900" y="4700588"/>
            <a:ext cx="51555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Checklist card listing the 4 required elements with a sentence frame for each.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6464201" y="4395788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16601" y="4510088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616601" y="4700588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5th element: a colour-mixing statement worked in naturally — e.g. 我喜欢橙色，因为红色加黄色是橙色。(因为 = "because")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1976050" y="4395788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2128450" y="4510088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2128450" y="4700588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speaks both roles across the paired performance. Circulate, listening for the 4 elements.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35845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Reading Comprehension · 30–38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477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30–38 MIN · ACTIVITY 2 — WORKBOOK EX.23, P.145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3350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阅读理解 · 王黑白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1971675"/>
            <a:ext cx="16383000" cy="1560016"/>
          </a:xfrm>
          <a:prstGeom prst="roundRect">
            <a:avLst>
              <a:gd name="adj" fmla="val 12211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19200" y="2162175"/>
            <a:ext cx="161665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EX.23, P.145 — CHORAL READ ONCE AS A CLASS, THEN ANSWER QUESTIONS BY COLD CALL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19200" y="2400300"/>
            <a:ext cx="16166592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157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叫王黑白。我是北京人。我家有三口人：爸爸、妈妈和我。我爸爸是老师。他每天开车上班。他喜欢黑色和白色，所以他给我起名黑白。我妈妈是秘书，她每天坐地铁上班。她喜欢蓝色和棕色。我今年十五岁，上十年级。我喜欢灰色和紫色。我们一家人现在住在上海。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219200" y="3155454"/>
            <a:ext cx="1616659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Gloss: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老师 teacher · 秘书 secretary · 开车 to drive · 坐地铁 to take the subway · 起名 to name (someone) · 年级 grade · 上海 Shanghai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52500" y="3665041"/>
            <a:ext cx="8096250" cy="517178"/>
          </a:xfrm>
          <a:prstGeom prst="roundRect">
            <a:avLst>
              <a:gd name="adj" fmla="val 1105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85850" y="374124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74254" y="3774579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09700" y="3746004"/>
            <a:ext cx="1337855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王黑白今年多大了？</a:t>
            </a: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王黑白's age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239250" y="3665041"/>
            <a:ext cx="8096250" cy="517178"/>
          </a:xfrm>
          <a:prstGeom prst="roundRect">
            <a:avLst>
              <a:gd name="adj" fmla="val 1105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72600" y="374124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450586" y="3774579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96450" y="3746004"/>
            <a:ext cx="1337855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他爸爸做什么工作？</a:t>
            </a: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Dad's job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2500" y="4258419"/>
            <a:ext cx="8096250" cy="517178"/>
          </a:xfrm>
          <a:prstGeom prst="roundRect">
            <a:avLst>
              <a:gd name="adj" fmla="val 1105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85850" y="433461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63538" y="4367957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09700" y="4339382"/>
            <a:ext cx="1486623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他爸爸每天怎么上班？</a:t>
            </a: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Dad's commute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9239250" y="4258419"/>
            <a:ext cx="8096250" cy="517178"/>
          </a:xfrm>
          <a:prstGeom prst="roundRect">
            <a:avLst>
              <a:gd name="adj" fmla="val 1105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372600" y="433461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449842" y="4367957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96450" y="4339382"/>
            <a:ext cx="1040621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他妈妈工作吗？</a:t>
            </a: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Does mum work?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52500" y="4851797"/>
            <a:ext cx="8096250" cy="517178"/>
          </a:xfrm>
          <a:prstGeom prst="roundRect">
            <a:avLst>
              <a:gd name="adj" fmla="val 1105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85850" y="492799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63687" y="4961334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09700" y="4932759"/>
            <a:ext cx="1486623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他爸爸喜欢什么颜色？</a:t>
            </a: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Dad's favourite colours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239250" y="4851797"/>
            <a:ext cx="8096250" cy="517178"/>
          </a:xfrm>
          <a:prstGeom prst="roundRect">
            <a:avLst>
              <a:gd name="adj" fmla="val 1105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372600" y="492799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449842" y="4961334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96450" y="4932759"/>
            <a:ext cx="1486623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他妈妈喜欢什么颜色？</a:t>
            </a: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Mum's favourite colours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52500" y="5445175"/>
            <a:ext cx="8096250" cy="517178"/>
          </a:xfrm>
          <a:prstGeom prst="roundRect">
            <a:avLst>
              <a:gd name="adj" fmla="val 1105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85850" y="55213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166366" y="5554712"/>
            <a:ext cx="6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409700" y="5526137"/>
            <a:ext cx="1595619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王黑白也喜欢黑色吗？</a:t>
            </a: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Does 王黑白 also like black?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9239250" y="5445175"/>
            <a:ext cx="8096250" cy="517178"/>
          </a:xfrm>
          <a:prstGeom prst="roundRect">
            <a:avLst>
              <a:gd name="adj" fmla="val 11050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372600" y="55213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449991" y="5554712"/>
            <a:ext cx="75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96450" y="5526137"/>
            <a:ext cx="1783857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他们一家人现在住在哪儿？</a:t>
            </a: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the family lives now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22916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Reading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68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5255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王黑白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2066925"/>
            <a:ext cx="8096250" cy="550515"/>
          </a:xfrm>
          <a:prstGeom prst="roundRect">
            <a:avLst>
              <a:gd name="adj" fmla="val 10381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375" y="21621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83779" y="2195513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9225" y="2162175"/>
            <a:ext cx="1165860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王黑白今年多大了？</a:t>
            </a: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十五岁，上十年级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239250" y="2066925"/>
            <a:ext cx="8096250" cy="550515"/>
          </a:xfrm>
          <a:prstGeom prst="roundRect">
            <a:avLst>
              <a:gd name="adj" fmla="val 10381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382125" y="21621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460111" y="2195513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05975" y="2162175"/>
            <a:ext cx="1071437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他爸爸做什么工作？</a:t>
            </a: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老师 (teacher)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52500" y="2712690"/>
            <a:ext cx="8096250" cy="550515"/>
          </a:xfrm>
          <a:prstGeom prst="roundRect">
            <a:avLst>
              <a:gd name="adj" fmla="val 10381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95375" y="280794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73063" y="2841278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9225" y="2807940"/>
            <a:ext cx="1190452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他爸爸每天怎么上班？</a:t>
            </a: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开车 (drives)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239250" y="2712690"/>
            <a:ext cx="8096250" cy="550515"/>
          </a:xfrm>
          <a:prstGeom prst="roundRect">
            <a:avLst>
              <a:gd name="adj" fmla="val 10381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82125" y="280794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459367" y="2841278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05975" y="2807940"/>
            <a:ext cx="1817406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他妈妈工作吗？</a:t>
            </a: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工作——她是秘书 (secretary)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952500" y="3358455"/>
            <a:ext cx="8096250" cy="550515"/>
          </a:xfrm>
          <a:prstGeom prst="roundRect">
            <a:avLst>
              <a:gd name="adj" fmla="val 10381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95375" y="34537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73212" y="3487043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9225" y="3453705"/>
            <a:ext cx="1190452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他爸爸喜欢什么颜色？</a:t>
            </a: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黑色和白色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239250" y="3358455"/>
            <a:ext cx="8096250" cy="550515"/>
          </a:xfrm>
          <a:prstGeom prst="roundRect">
            <a:avLst>
              <a:gd name="adj" fmla="val 10381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382125" y="345370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459367" y="3487043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05975" y="3453705"/>
            <a:ext cx="1190452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他妈妈喜欢什么颜色？</a:t>
            </a: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蓝色和棕色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52500" y="4004221"/>
            <a:ext cx="8096250" cy="550515"/>
          </a:xfrm>
          <a:prstGeom prst="roundRect">
            <a:avLst>
              <a:gd name="adj" fmla="val 10381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95375" y="409947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75891" y="4132808"/>
            <a:ext cx="6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19225" y="4099471"/>
            <a:ext cx="2768918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王黑白也喜欢黑色吗？</a:t>
            </a: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文中没提到——他自己喜欢的是灰色和紫色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239250" y="4004221"/>
            <a:ext cx="8096250" cy="550515"/>
          </a:xfrm>
          <a:prstGeom prst="roundRect">
            <a:avLst>
              <a:gd name="adj" fmla="val 10381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382125" y="409947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459516" y="4132808"/>
            <a:ext cx="75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05975" y="4099471"/>
            <a:ext cx="1428482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他们一家人现在住在哪儿？</a:t>
            </a: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上海 (Shanghai)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3677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Cumulative Bingo + Quickfire · 38–43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68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38–43 MIN · FINAL GAME — HIGH-ENERGY CONSOLIDATION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5255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大宾果 · Cumulative Bingo + Quickfire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2066925"/>
            <a:ext cx="8630394" cy="2290763"/>
          </a:xfrm>
          <a:prstGeom prst="roundRect">
            <a:avLst>
              <a:gd name="adj" fmla="val 831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266950"/>
            <a:ext cx="83172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CUMULATIVE BINGO — 13 ITEMS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90625" y="2571750"/>
            <a:ext cx="733425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47775" y="26289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14475" y="2633663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990725" y="2571750"/>
            <a:ext cx="733425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47875" y="26289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14575" y="2633663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2790825" y="2571750"/>
            <a:ext cx="733425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47975" y="26289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14675" y="2633663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3590925" y="2571750"/>
            <a:ext cx="733425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48075" y="26289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14775" y="2633663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391025" y="2571750"/>
            <a:ext cx="733425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48175" y="26289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14875" y="2633663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191125" y="2571750"/>
            <a:ext cx="876300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48275" y="26289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14975" y="2633663"/>
            <a:ext cx="437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6134100" y="2571750"/>
            <a:ext cx="733425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1250" y="26289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57950" y="2633663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6934200" y="2571750"/>
            <a:ext cx="733425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91350" y="26289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58050" y="2633663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7734300" y="2571750"/>
            <a:ext cx="733425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791450" y="26289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58150" y="2633663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8534400" y="2571750"/>
            <a:ext cx="733425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591550" y="26289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858250" y="2633663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190625" y="2962275"/>
            <a:ext cx="733425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47775" y="301942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514475" y="3024188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990725" y="2962275"/>
            <a:ext cx="810667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047875" y="3028950"/>
            <a:ext cx="286792" cy="190500"/>
          </a:xfrm>
          <a:prstGeom prst="roundRect">
            <a:avLst>
              <a:gd name="adj" fmla="val 4995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124075" y="3048000"/>
            <a:ext cx="137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+2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2391817" y="3024188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2868067" y="2962275"/>
            <a:ext cx="810667" cy="323850"/>
          </a:xfrm>
          <a:prstGeom prst="roundRect">
            <a:avLst>
              <a:gd name="adj" fmla="val 2938235"/>
            </a:avLst>
          </a:prstGeom>
          <a:solidFill>
            <a:srgbClr val="FBF9F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925217" y="3028950"/>
            <a:ext cx="286792" cy="190500"/>
          </a:xfrm>
          <a:prstGeom prst="roundRect">
            <a:avLst>
              <a:gd name="adj" fmla="val 49950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001417" y="3048000"/>
            <a:ext cx="137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+2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3269159" y="3024188"/>
            <a:ext cx="291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190625" y="3400425"/>
            <a:ext cx="831722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Draw a grid on a mini whiteboard; write the 13 items (汉字 only) in any order.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1190625" y="3671888"/>
            <a:ext cx="831722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calls out items; cross off as each is called.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1190625" y="3943350"/>
            <a:ext cx="831722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First to cross off a full line shouts "Bingo!" and reads the winning line aloud.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9830544" y="2066925"/>
            <a:ext cx="7504807" cy="2066925"/>
          </a:xfrm>
          <a:prstGeom prst="roundRect">
            <a:avLst>
              <a:gd name="adj" fmla="val 921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0068669" y="2266950"/>
            <a:ext cx="71691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QUICKFIRE QUIZ — 60 SECONDS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068669" y="2571750"/>
            <a:ext cx="7028557" cy="762000"/>
          </a:xfrm>
          <a:prstGeom prst="roundRect">
            <a:avLst>
              <a:gd name="adj" fmla="val 15000"/>
            </a:avLst>
          </a:prstGeom>
          <a:solidFill>
            <a:srgbClr val="C2564A">
              <a:alpha val="10000"/>
            </a:srgbClr>
          </a:solidFill>
          <a:ln w="19050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0278219" y="2724150"/>
            <a:ext cx="67416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Immediately after Bingo: teacher fires colour/vocab questions at random students —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hands up.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068669" y="3448050"/>
            <a:ext cx="71691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Full-unit vocabulary recall under time pressure — the last consolidation push before assessment.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0068669" y="3719512"/>
            <a:ext cx="71691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mini whiteboards only.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952500" y="4548188"/>
            <a:ext cx="8115300" cy="619125"/>
          </a:xfrm>
          <a:prstGeom prst="roundRect">
            <a:avLst>
              <a:gd name="adj" fmla="val 18462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104900" y="4662488"/>
            <a:ext cx="7966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1104900" y="4852988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Winners read their line with pinyin support if needed.</a:t>
            </a:r>
            <a:endParaRPr lang="en-US" sz="1125" dirty="0"/>
          </a:p>
        </p:txBody>
      </p:sp>
      <p:sp>
        <p:nvSpPr>
          <p:cNvPr id="64" name="Text 62"/>
          <p:cNvSpPr/>
          <p:nvPr/>
        </p:nvSpPr>
        <p:spPr>
          <a:xfrm>
            <a:off x="9220200" y="4548188"/>
            <a:ext cx="8115300" cy="619125"/>
          </a:xfrm>
          <a:prstGeom prst="roundRect">
            <a:avLst>
              <a:gd name="adj" fmla="val 18462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9372600" y="4662488"/>
            <a:ext cx="7966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9372600" y="4852988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Quickfire questions for confident students include full sentence production, not just single words.</a:t>
            </a:r>
            <a:endParaRPr lang="en-US" sz="1125" dirty="0"/>
          </a:p>
        </p:txBody>
      </p:sp>
      <p:sp>
        <p:nvSpPr>
          <p:cNvPr id="67" name="Shape 6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151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REVIEW &amp;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4465" y="280988"/>
            <a:ext cx="32264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Whole-Unit Wrap-Up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3063329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349079"/>
            <a:ext cx="1632204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The Whole Unit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43000" y="4111079"/>
            <a:ext cx="7877175" cy="2769691"/>
          </a:xfrm>
          <a:prstGeom prst="roundRect">
            <a:avLst>
              <a:gd name="adj" fmla="val 96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81125" y="4453979"/>
            <a:ext cx="7548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THE WHOLE UNIT'S SUCCESS CRITERIA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81125" y="4768304"/>
            <a:ext cx="75489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"过去八节课，我们学了什么？"</a:t>
            </a: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brief whole-class recap (English OK). Rate yourself 👍 / 😐 / 👎 for each: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81125" y="5050185"/>
            <a:ext cx="7400925" cy="350490"/>
          </a:xfrm>
          <a:prstGeom prst="roundRect">
            <a:avLst>
              <a:gd name="adj" fmla="val 16306"/>
            </a:avLst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95425" y="512638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24025" y="512638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52625" y="512638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57425" y="5132487"/>
            <a:ext cx="231289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colours (all 11 + 颜色/喜欢)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81125" y="5476875"/>
            <a:ext cx="7400925" cy="350490"/>
          </a:xfrm>
          <a:prstGeom prst="roundRect">
            <a:avLst>
              <a:gd name="adj" fmla="val 16306"/>
            </a:avLst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95425" y="555307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24025" y="555307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52625" y="555307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57425" y="5559177"/>
            <a:ext cx="299753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&amp; answer colour preference questions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381125" y="5903565"/>
            <a:ext cx="7400925" cy="350490"/>
          </a:xfrm>
          <a:prstGeom prst="roundRect">
            <a:avLst>
              <a:gd name="adj" fmla="val 16306"/>
            </a:avLst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95425" y="597976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24025" y="597976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52625" y="597976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57425" y="5985867"/>
            <a:ext cx="249111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coloured objects (X色的Y)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381125" y="6330255"/>
            <a:ext cx="7400925" cy="350490"/>
          </a:xfrm>
          <a:prstGeom prst="roundRect">
            <a:avLst>
              <a:gd name="adj" fmla="val 16306"/>
            </a:avLst>
          </a:prstGeom>
          <a:solidFill>
            <a:srgbClr val="FB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495425" y="640645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24025" y="640645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952625" y="6406455"/>
            <a:ext cx="1943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57425" y="6412557"/>
            <a:ext cx="188222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Mix colours (X色+Y色=Z色)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9267825" y="4111079"/>
            <a:ext cx="7877175" cy="2769691"/>
          </a:xfrm>
          <a:prstGeom prst="roundRect">
            <a:avLst>
              <a:gd name="adj" fmla="val 96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505950" y="4453979"/>
            <a:ext cx="7548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9505950" y="4768304"/>
            <a:ext cx="7400925" cy="1043880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9529763" y="4768304"/>
            <a:ext cx="0" cy="1043880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25025" y="4901654"/>
            <a:ext cx="71506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SENTENCE ON MINI WHITEBOARD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9725025" y="5130254"/>
            <a:ext cx="7150608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Use at least two things from this unit in one sentence.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9725025" y="5459760"/>
            <a:ext cx="700980" cy="219075"/>
          </a:xfrm>
          <a:prstGeom prst="roundRect">
            <a:avLst>
              <a:gd name="adj" fmla="val 4343478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839325" y="5488335"/>
            <a:ext cx="481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colour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02205" y="5459760"/>
            <a:ext cx="2036862" cy="219075"/>
          </a:xfrm>
          <a:prstGeom prst="roundRect">
            <a:avLst>
              <a:gd name="adj" fmla="val 4343478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616505" y="5488335"/>
            <a:ext cx="18444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喜欢, 的, or a mixing equation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505950" y="5907435"/>
            <a:ext cx="75489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doubles as informal assessment prep. Teacher circulates and scans whiteboards for correct character use.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143000" y="7033171"/>
            <a:ext cx="16002000" cy="457200"/>
          </a:xfrm>
          <a:prstGeom prst="rect">
            <a:avLst/>
          </a:prstGeom>
          <a:solidFill>
            <a:srgbClr val="2E4B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166813" y="7033171"/>
            <a:ext cx="0" cy="457200"/>
          </a:xfrm>
          <a:prstGeom prst="line">
            <a:avLst/>
          </a:prstGeom>
          <a:noFill/>
          <a:ln w="47625">
            <a:solidFill>
              <a:srgbClr val="2E4B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00175" y="7147471"/>
            <a:ext cx="1584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"下一课，我们要学新单元：穿着——怎么用中文说衣服！"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0" y="2982218"/>
            <a:ext cx="62179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13 COMPLETE · Y7 UNIT 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35040" y="3448943"/>
            <a:ext cx="62179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035040" y="4439543"/>
            <a:ext cx="6217920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颜色课程，圆满结束！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286351" y="5552033"/>
            <a:ext cx="2346871" cy="1057275"/>
          </a:xfrm>
          <a:prstGeom prst="roundRect">
            <a:avLst>
              <a:gd name="adj" fmla="val 18018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22356" y="5752058"/>
            <a:ext cx="16748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13 · DONE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622356" y="5980658"/>
            <a:ext cx="16748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 Colours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96112" y="5813971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47622" y="5552033"/>
            <a:ext cx="2453878" cy="1057275"/>
          </a:xfrm>
          <a:prstGeom prst="roundRect">
            <a:avLst>
              <a:gd name="adj" fmla="val 18018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82557" y="5752058"/>
            <a:ext cx="17840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14 · NEXT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9882557" y="5980658"/>
            <a:ext cx="17840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穿着 Clothing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6990308"/>
            <a:ext cx="62179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56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"下一课，我们要学新单元：穿着——怎么用中文说衣服！"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2026-07-28T09:10:24Z</dcterms:created>
  <dcterms:modified xsi:type="dcterms:W3CDTF">2026-07-28T09:10:24Z</dcterms:modified>
</cp:coreProperties>
</file>