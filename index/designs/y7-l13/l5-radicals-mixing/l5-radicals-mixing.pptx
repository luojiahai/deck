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57150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混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5099621" y="2865090"/>
            <a:ext cx="8088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Y7 UNIT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99621" y="3360390"/>
            <a:ext cx="808860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50"/>
              </a:lnSpc>
              <a:buNone/>
            </a:pPr>
            <a:r>
              <a:rPr lang="en-US" sz="675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🤒🔥🤲🏹💪🙏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5099621" y="4983361"/>
            <a:ext cx="808860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spcBef>
                <a:spcPts val="6030"/>
              </a:spcBef>
              <a:spcAft>
                <a:spcPts val="600"/>
              </a:spcAft>
              <a:buNone/>
            </a:pPr>
            <a:r>
              <a:rPr lang="en-US" sz="90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偏旁部首</a:t>
            </a:r>
            <a:r>
              <a:rPr lang="en-US" sz="90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r>
              <a:rPr lang="en-US" sz="90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调色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099621" y="6202561"/>
            <a:ext cx="80886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Radicals + Mixing Colours (X色+Y色=Z色)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430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47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颜色+的+名词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2295525"/>
            <a:ext cx="7924800" cy="2186880"/>
          </a:xfrm>
          <a:prstGeom prst="roundRect">
            <a:avLst>
              <a:gd name="adj" fmla="val 871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LESSON 4'S PATTERN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2876550"/>
            <a:ext cx="1771650" cy="762000"/>
          </a:xfrm>
          <a:prstGeom prst="roundRect">
            <a:avLst>
              <a:gd name="adj" fmla="val 15000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95425" y="3124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76425" y="300990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黑色的火车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76425" y="331470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black train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28975" y="2876550"/>
            <a:ext cx="1771650" cy="762000"/>
          </a:xfrm>
          <a:prstGeom prst="roundRect">
            <a:avLst>
              <a:gd name="adj" fmla="val 15000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00425" y="3124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81425" y="3009900"/>
            <a:ext cx="10687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绿色的飞机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781425" y="3314700"/>
            <a:ext cx="10687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green plane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23975" y="3771900"/>
            <a:ext cx="7519797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Last lesson we combined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 + 的 + 名词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the 7 transport words to describe vehicles by colour, e.g. the two examples above.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15450" y="2295525"/>
            <a:ext cx="7924800" cy="2952750"/>
          </a:xfrm>
          <a:prstGeom prst="roundRect">
            <a:avLst>
              <a:gd name="adj" fmla="val 645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591675" y="2533650"/>
            <a:ext cx="75197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B · WHITEBOARD QUIZ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91675" y="2876550"/>
            <a:ext cx="7372350" cy="438150"/>
          </a:xfrm>
          <a:prstGeom prst="roundRect">
            <a:avLst>
              <a:gd name="adj" fmla="val 2608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763125" y="2990850"/>
            <a:ext cx="7170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Teacher says an English colour + vehicle combo (e.g. "the green plane").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91675" y="3409950"/>
            <a:ext cx="7372350" cy="438150"/>
          </a:xfrm>
          <a:prstGeom prst="roundRect">
            <a:avLst>
              <a:gd name="adj" fmla="val 2608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763125" y="3524250"/>
            <a:ext cx="7170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the Chinese translation on mini whiteboards.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91675" y="3943350"/>
            <a:ext cx="7372350" cy="438150"/>
          </a:xfrm>
          <a:prstGeom prst="roundRect">
            <a:avLst>
              <a:gd name="adj" fmla="val 2608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763125" y="4057650"/>
            <a:ext cx="7170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4 colour + vehicle combos, one at a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91675" y="4476750"/>
            <a:ext cx="7372350" cy="438150"/>
          </a:xfrm>
          <a:prstGeom prst="roundRect">
            <a:avLst>
              <a:gd name="adj" fmla="val 26087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763125" y="4591050"/>
            <a:ext cx="71700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Cold call students to confirm the correct answer after each item.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7750" y="5457825"/>
            <a:ext cx="16192500" cy="576263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1071563" y="5457825"/>
            <a:ext cx="0" cy="576262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3975" y="561022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上节课我们把颜色和东西放在一起说。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今天我们学新的偏旁部首，还要学一个有趣的问题——颜色可以"混合"吗？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3555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18110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TODAY'S GOALS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85900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学习目标 · Learning Intention &amp; Success Criteria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2371725"/>
            <a:ext cx="16002000" cy="1066800"/>
          </a:xfrm>
          <a:prstGeom prst="roundRect">
            <a:avLst>
              <a:gd name="adj" fmla="val 17857"/>
            </a:avLst>
          </a:prstGeom>
          <a:solidFill>
            <a:srgbClr val="B8402E">
              <a:alpha val="10000"/>
            </a:srgbClr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7800" y="2600325"/>
            <a:ext cx="157002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47800" y="2867025"/>
            <a:ext cx="157002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</a:t>
            </a:r>
            <a:r>
              <a:rPr lang="en-US" sz="18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six new radicals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how to describe </a:t>
            </a:r>
            <a:r>
              <a:rPr lang="en-US" sz="18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mixing two colours</a:t>
            </a:r>
            <a:r>
              <a:rPr lang="en-US" sz="18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make a new one.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743325"/>
            <a:ext cx="163220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143000" y="4076700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1125" y="427672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952625" y="4276725"/>
            <a:ext cx="63694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name and recognise the six new radicals: 疒, 火, 爫, 弓, 力, 礻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52625" y="4619625"/>
            <a:ext cx="636942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能认六个新偏旁部首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5229225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81125" y="542925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952625" y="5429250"/>
            <a:ext cx="58904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complete a colour-mixing sentence using X色+Y色=Z色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52625" y="5772150"/>
            <a:ext cx="58904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能完成颜色混合句子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6381750"/>
            <a:ext cx="16002000" cy="1000125"/>
          </a:xfrm>
          <a:prstGeom prst="roundRect">
            <a:avLst>
              <a:gd name="adj" fmla="val 1142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81125" y="6581775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840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952625" y="6581775"/>
            <a:ext cx="46232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 can write all 11 core colour characters correctly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52625" y="6924675"/>
            <a:ext cx="462321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能正确写出十一个颜色汉字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28669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Radicals (p.99, Ex.5) · 10–14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10–14 MIN · I DO · NEW RADICALS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90650"/>
            <a:ext cx="1671066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六个新偏旁部首 · Six New Radicals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952500" y="2124075"/>
            <a:ext cx="5359301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45286" y="228600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疒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047875" y="2314575"/>
            <a:ext cx="11487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Disease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2047875" y="2600325"/>
            <a:ext cx="11487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病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(illness)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64201" y="2124075"/>
            <a:ext cx="5359450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56987" y="228600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559576" y="2314575"/>
            <a:ext cx="12243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559576" y="2600325"/>
            <a:ext cx="12243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炒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(stir-fry)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976050" y="2124075"/>
            <a:ext cx="5359450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168836" y="228600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爫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3071425" y="2314575"/>
            <a:ext cx="9846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Claw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3071425" y="2600325"/>
            <a:ext cx="9846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爱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(love)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2500" y="3209925"/>
            <a:ext cx="5359301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5286" y="337185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2047875" y="3400425"/>
            <a:ext cx="16440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Bow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2047875" y="3686175"/>
            <a:ext cx="1644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(spring/shoot)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64201" y="3209925"/>
            <a:ext cx="5359450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56987" y="337185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7559576" y="3400425"/>
            <a:ext cx="9613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Strength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7559576" y="3686175"/>
            <a:ext cx="961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(add)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976050" y="3209925"/>
            <a:ext cx="5359450" cy="933450"/>
          </a:xfrm>
          <a:prstGeom prst="roundRect">
            <a:avLst>
              <a:gd name="adj" fmla="val 2040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2168836" y="3371850"/>
            <a:ext cx="738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13071425" y="3400425"/>
            <a:ext cx="13531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Ritual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3071425" y="3686175"/>
            <a:ext cx="13531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</a:t>
            </a:r>
            <a:r>
              <a:rPr lang="en-US" sz="15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视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(view/see)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52500" y="4314825"/>
            <a:ext cx="16383000" cy="723900"/>
          </a:xfrm>
          <a:prstGeom prst="roundRect">
            <a:avLst>
              <a:gd name="adj" fmla="val 15789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238250" y="448627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657350" y="4486275"/>
            <a:ext cx="95550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Notice 病 (illness) has 疒 — the "disease" radical wraps around the character, like a sick person lying down.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52500" y="5153025"/>
            <a:ext cx="16383000" cy="723900"/>
          </a:xfrm>
          <a:prstGeom prst="roundRect">
            <a:avLst>
              <a:gd name="adj" fmla="val 15789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238250" y="532447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👆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657350" y="5324475"/>
            <a:ext cx="78434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力 (strength) appears in 加 (add) — "you need strength to add things up!"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3311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Colour Mixing (p.102, Ex.8) · 14–17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12395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14–17 MIN · I DO · KEY SENTENCE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1409700"/>
            <a:ext cx="165163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颜色混合 · Colour Mixing Pattern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7257306" y="2162175"/>
            <a:ext cx="3773239" cy="876300"/>
          </a:xfrm>
          <a:prstGeom prst="roundRect">
            <a:avLst>
              <a:gd name="adj" fmla="val 13043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57356" y="2333625"/>
            <a:ext cx="3032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X色 </a:t>
            </a:r>
            <a:r>
              <a:rPr lang="en-US" sz="21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30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Y色 </a:t>
            </a:r>
            <a:r>
              <a:rPr lang="en-US" sz="21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30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Z色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3267075"/>
            <a:ext cx="16192500" cy="1019175"/>
          </a:xfrm>
          <a:prstGeom prst="roundRect">
            <a:avLst>
              <a:gd name="adj" fmla="val 1869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23975" y="3681413"/>
            <a:ext cx="16482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WORKED EXAMPLE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30451" y="3429000"/>
            <a:ext cx="4472434" cy="695325"/>
          </a:xfrm>
          <a:prstGeom prst="roundRect">
            <a:avLst>
              <a:gd name="adj" fmla="val 16438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16201" y="3562350"/>
            <a:ext cx="39789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黄色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橙色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4438650"/>
            <a:ext cx="16192500" cy="1019175"/>
          </a:xfrm>
          <a:prstGeom prst="roundRect">
            <a:avLst>
              <a:gd name="adj" fmla="val 18692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23975" y="4852988"/>
            <a:ext cx="16730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WORKED EXAMPLE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710" y="4600575"/>
            <a:ext cx="4472434" cy="695325"/>
          </a:xfrm>
          <a:prstGeom prst="roundRect">
            <a:avLst>
              <a:gd name="adj" fmla="val 16438"/>
            </a:avLst>
          </a:prstGeom>
          <a:solidFill>
            <a:srgbClr val="E9E2D2"/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40460" y="4733925"/>
            <a:ext cx="397895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白色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黑色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=</a:t>
            </a:r>
            <a:r>
              <a:rPr lang="en-US" sz="24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灰色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47750" y="5648325"/>
            <a:ext cx="16192500" cy="538163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071563" y="5648325"/>
            <a:ext cx="0" cy="538163"/>
          </a:xfrm>
          <a:prstGeom prst="line">
            <a:avLst/>
          </a:prstGeom>
          <a:noFill/>
          <a:ln w="47625">
            <a:solidFill>
              <a:srgbClr val="C256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3975" y="5781675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课堂互动 ·</a:t>
            </a:r>
            <a:r>
              <a:rPr lang="en-US" sz="14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如果你把所有颜色都混在一起呢？("What if you mix ALL the colours together?") — teacher pauses for reaction before moving on.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047750" y="6357938"/>
            <a:ext cx="16192500" cy="876300"/>
          </a:xfrm>
          <a:prstGeom prst="roundRect">
            <a:avLst>
              <a:gd name="adj" fmla="val 13043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33500" y="6529388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🌤️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752600" y="6529388"/>
            <a:ext cx="787486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word: 天蓝色 (tiānlánsè) — "sky blue"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752600" y="6853238"/>
            <a:ext cx="78748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 extension word from the textbook's answer key — not core vocabulary, but worth introducing briefly.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26552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17–20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B8402E">
              <a:alpha val="10000"/>
            </a:srgbClr>
          </a:solidFill>
          <a:ln w="9525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Is 疒 the Fire Radical?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90625" y="3838575"/>
            <a:ext cx="4954905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says: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疒 is the fire radical."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Every student shows a thumbs-up or thumbs-down.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"Strength"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15125" y="3838575"/>
            <a:ext cx="4954905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the radical that means 'strength'."</a:t>
            </a: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endParaRPr lang="en-US" sz="1275" dirty="0"/>
          </a:p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Students write their answer on mini whiteboards and hold up on three.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2257425"/>
            <a:ext cx="5334000" cy="2861072"/>
          </a:xfrm>
          <a:prstGeom prst="roundRect">
            <a:avLst>
              <a:gd name="adj" fmla="val 9322"/>
            </a:avLst>
          </a:prstGeom>
          <a:solidFill>
            <a:srgbClr val="2E4B7A">
              <a:alpha val="10000"/>
            </a:srgbClr>
          </a:solidFill>
          <a:ln w="9525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E4B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26098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3086100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3390900"/>
            <a:ext cx="4954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Mix a Colour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239625" y="3838575"/>
            <a:ext cx="495490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"Zoe, what colour do you get from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红色+黄色</a:t>
            </a:r>
            <a:r>
              <a:rPr lang="en-US" sz="12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?"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5308997"/>
            <a:ext cx="16383000" cy="476250"/>
          </a:xfrm>
          <a:prstGeom prst="roundRect">
            <a:avLst>
              <a:gd name="adj" fmla="val 24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5432822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the cold call, be ready to bring in a second student if the first hesitates.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49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40970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229552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28725" y="25336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91692" y="2600325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6425" y="25336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 — is 疒 the fire radical?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876425" y="286702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05025" y="3057525"/>
            <a:ext cx="2686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01801" y="3019425"/>
            <a:ext cx="305097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不对！疒 = disease, 火 = fire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2500" y="395287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28725" y="41910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72642" y="4257675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76425" y="419100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write the radical that means "strength"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76425" y="452437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05025" y="4714875"/>
            <a:ext cx="2686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01801" y="46767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52500" y="5610225"/>
            <a:ext cx="16383000" cy="1466850"/>
          </a:xfrm>
          <a:prstGeom prst="roundRect">
            <a:avLst>
              <a:gd name="adj" fmla="val 12987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28725" y="58483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72046" y="5915025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876425" y="5848350"/>
            <a:ext cx="1548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— 红色+黄色 = what colour?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76425" y="6181725"/>
            <a:ext cx="15182850" cy="657225"/>
          </a:xfrm>
          <a:prstGeom prst="roundRect">
            <a:avLst>
              <a:gd name="adj" fmla="val 17391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05025" y="6372225"/>
            <a:ext cx="26869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01801" y="63674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D976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920901" y="633412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橙色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22700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· 20–27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4775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20–27 MIN · WE DO (WORKBOOK EX.1 &amp; EX.9, PP.134, 138)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3350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活动一 · 偏旁部首抄写 + 配对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1971675"/>
            <a:ext cx="8058150" cy="5314950"/>
          </a:xfrm>
          <a:prstGeom prst="roundRect">
            <a:avLst>
              <a:gd name="adj" fmla="val 5018"/>
            </a:avLst>
          </a:prstGeom>
          <a:solidFill>
            <a:srgbClr val="F3EEE4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38250" y="1857375"/>
            <a:ext cx="1652588" cy="266700"/>
          </a:xfrm>
          <a:prstGeom prst="roundRect">
            <a:avLst>
              <a:gd name="adj" fmla="val 3567857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09700" y="1895475"/>
            <a:ext cx="13358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Copying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192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3716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8669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193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5146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670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爫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1623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147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8100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624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4457700" y="2333625"/>
            <a:ext cx="552450" cy="542925"/>
          </a:xfrm>
          <a:prstGeom prst="roundRect">
            <a:avLst>
              <a:gd name="adj" fmla="val 21053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10100" y="2428875"/>
            <a:ext cx="2526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219200" y="29908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315045" y="30289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562100" y="3009900"/>
            <a:ext cx="7325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the stroke order for each radical; students trace, then copy each one </a:t>
            </a:r>
            <a:r>
              <a:rPr lang="en-US" sz="1200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times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their exercise books.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19200" y="35623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03734" y="36004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1562100" y="3581400"/>
            <a:ext cx="45966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complete the matching task on the right independently.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19200" y="4038600"/>
            <a:ext cx="368617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371600" y="4152900"/>
            <a:ext cx="3449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1371600" y="4343400"/>
            <a:ext cx="34490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Keep the radical-meaning table from the previous slide projected throughout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057775" y="4038600"/>
            <a:ext cx="368617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10175" y="4152900"/>
            <a:ext cx="34490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5210175" y="4343400"/>
            <a:ext cx="34490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Find one additional character from any previous unit containing each radical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277350" y="1971675"/>
            <a:ext cx="8058150" cy="5314950"/>
          </a:xfrm>
          <a:prstGeom prst="roundRect">
            <a:avLst>
              <a:gd name="adj" fmla="val 5018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534525" y="2190750"/>
            <a:ext cx="7694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MATCH EACH RADICAL TO ITS CHARACTER (WORKBOOK EX.9)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534525" y="25146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736455" y="26098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疒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9534525" y="32004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736455" y="32956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火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9534525" y="38862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736455" y="39814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爫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9534525" y="45720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736455" y="46672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弓</a:t>
            </a:r>
            <a:endParaRPr lang="en-US" sz="2250" dirty="0"/>
          </a:p>
        </p:txBody>
      </p:sp>
      <p:sp>
        <p:nvSpPr>
          <p:cNvPr id="46" name="Text 44"/>
          <p:cNvSpPr/>
          <p:nvPr/>
        </p:nvSpPr>
        <p:spPr>
          <a:xfrm>
            <a:off x="9534525" y="52578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736455" y="53530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力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9534525" y="59436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736455" y="60388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礻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5897225" y="25146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6099155" y="26098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</a:t>
            </a:r>
            <a:endParaRPr lang="en-US" sz="2250" dirty="0"/>
          </a:p>
        </p:txBody>
      </p:sp>
      <p:sp>
        <p:nvSpPr>
          <p:cNvPr id="52" name="Text 50"/>
          <p:cNvSpPr/>
          <p:nvPr/>
        </p:nvSpPr>
        <p:spPr>
          <a:xfrm>
            <a:off x="15897225" y="32004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6099155" y="32956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</a:t>
            </a:r>
            <a:endParaRPr lang="en-US" sz="2250" dirty="0"/>
          </a:p>
        </p:txBody>
      </p:sp>
      <p:sp>
        <p:nvSpPr>
          <p:cNvPr id="54" name="Text 52"/>
          <p:cNvSpPr/>
          <p:nvPr/>
        </p:nvSpPr>
        <p:spPr>
          <a:xfrm>
            <a:off x="15897225" y="38862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6099155" y="39814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病</a:t>
            </a:r>
            <a:endParaRPr lang="en-US" sz="2250" dirty="0"/>
          </a:p>
        </p:txBody>
      </p:sp>
      <p:sp>
        <p:nvSpPr>
          <p:cNvPr id="56" name="Text 54"/>
          <p:cNvSpPr/>
          <p:nvPr/>
        </p:nvSpPr>
        <p:spPr>
          <a:xfrm>
            <a:off x="15897225" y="45720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6099155" y="46672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</a:t>
            </a:r>
            <a:endParaRPr lang="en-US" sz="2250" dirty="0"/>
          </a:p>
        </p:txBody>
      </p:sp>
      <p:sp>
        <p:nvSpPr>
          <p:cNvPr id="58" name="Text 56"/>
          <p:cNvSpPr/>
          <p:nvPr/>
        </p:nvSpPr>
        <p:spPr>
          <a:xfrm>
            <a:off x="15897225" y="52578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6099155" y="53530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endParaRPr lang="en-US" sz="2250" dirty="0"/>
          </a:p>
        </p:txBody>
      </p:sp>
      <p:sp>
        <p:nvSpPr>
          <p:cNvPr id="60" name="Text 58"/>
          <p:cNvSpPr/>
          <p:nvPr/>
        </p:nvSpPr>
        <p:spPr>
          <a:xfrm>
            <a:off x="15897225" y="5943600"/>
            <a:ext cx="1181100" cy="590550"/>
          </a:xfrm>
          <a:prstGeom prst="roundRect">
            <a:avLst>
              <a:gd name="adj" fmla="val 19355"/>
            </a:avLst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6099155" y="6038850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视</a:t>
            </a:r>
            <a:endParaRPr lang="en-US" sz="2250" dirty="0"/>
          </a:p>
        </p:txBody>
      </p:sp>
      <p:sp>
        <p:nvSpPr>
          <p:cNvPr id="62" name="Text 60"/>
          <p:cNvSpPr/>
          <p:nvPr/>
        </p:nvSpPr>
        <p:spPr>
          <a:xfrm>
            <a:off x="9534525" y="6667500"/>
            <a:ext cx="76946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character list is shuffled — draw a line from each radical to the character that contains it. Teacher circulates to check.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23443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· 27–37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09650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27–37 MIN · YOU DO (TEXTBOOK EX.8, P.102 &amp; WORKBOOK EX.17, P.142)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266825"/>
            <a:ext cx="167106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活动二 · 颜色混合练习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18097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19335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08752" y="19050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65952" y="19335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1702" y="19050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55001" y="19050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12201" y="19335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97951" y="19050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998393" y="19050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2500" y="23431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52525" y="24669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08752" y="24384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65952" y="24669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51702" y="24384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55001" y="24384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12201" y="24669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797951" y="24384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98393" y="24384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52500" y="28765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52525" y="30003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08752" y="29718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565952" y="30003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51702" y="29718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55001" y="29718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512201" y="30003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797951" y="29718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998393" y="29718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52500" y="34099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152525" y="35337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08752" y="35052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565952" y="35337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851702" y="35052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55001" y="35052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512201" y="35337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797951" y="35052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998393" y="35052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52500" y="39433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152525" y="40671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08752" y="40386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65952" y="4067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851702" y="40386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055001" y="40386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512201" y="40671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797951" y="40386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998393" y="40386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52500" y="44767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152525" y="46005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08752" y="45720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8565952" y="46005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851702" y="45720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055001" y="45720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9512201" y="46005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9797951" y="45720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9998393" y="45720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52500" y="5010150"/>
            <a:ext cx="9534525" cy="457200"/>
          </a:xfrm>
          <a:prstGeom prst="roundRect">
            <a:avLst>
              <a:gd name="adj" fmla="val 25000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1152525" y="5133975"/>
            <a:ext cx="1943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162502" y="51054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619702" y="51339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905452" y="51054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108752" y="51054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8565952" y="51339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851702" y="51054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9055001" y="5105400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500" dirty="0"/>
          </a:p>
        </p:txBody>
      </p:sp>
      <p:sp>
        <p:nvSpPr>
          <p:cNvPr id="72" name="Text 70"/>
          <p:cNvSpPr/>
          <p:nvPr/>
        </p:nvSpPr>
        <p:spPr>
          <a:xfrm>
            <a:off x="9512201" y="5133975"/>
            <a:ext cx="209550" cy="209550"/>
          </a:xfrm>
          <a:prstGeom prst="roundRect">
            <a:avLst>
              <a:gd name="adj" fmla="val 436364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9797951" y="5105400"/>
            <a:ext cx="1296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9998393" y="5105400"/>
            <a:ext cx="2914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564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10734675" y="1809750"/>
            <a:ext cx="6600825" cy="947737"/>
          </a:xfrm>
          <a:prstGeom prst="roundRect">
            <a:avLst>
              <a:gd name="adj" fmla="val 20101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0915650" y="1952625"/>
            <a:ext cx="63636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75" dirty="0"/>
          </a:p>
        </p:txBody>
      </p:sp>
      <p:sp>
        <p:nvSpPr>
          <p:cNvPr id="77" name="Text 75"/>
          <p:cNvSpPr/>
          <p:nvPr/>
        </p:nvSpPr>
        <p:spPr>
          <a:xfrm>
            <a:off x="10915650" y="2200275"/>
            <a:ext cx="636365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answer to all </a:t>
            </a:r>
            <a:r>
              <a:rPr lang="en-US" sz="1088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equations</a:t>
            </a:r>
            <a:r>
              <a:rPr lang="en-US" sz="108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characters. For 2–3 of them, also mix the actual crayon colours in a small box to check your answer visually.</a:t>
            </a:r>
            <a:endParaRPr lang="en-US" sz="1088" dirty="0"/>
          </a:p>
        </p:txBody>
      </p:sp>
      <p:sp>
        <p:nvSpPr>
          <p:cNvPr id="78" name="Text 76"/>
          <p:cNvSpPr/>
          <p:nvPr/>
        </p:nvSpPr>
        <p:spPr>
          <a:xfrm>
            <a:off x="10734675" y="2871788"/>
            <a:ext cx="6600825" cy="1162050"/>
          </a:xfrm>
          <a:prstGeom prst="roundRect">
            <a:avLst>
              <a:gd name="adj" fmla="val 16393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0915650" y="3014663"/>
            <a:ext cx="63636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975" dirty="0"/>
          </a:p>
        </p:txBody>
      </p:sp>
      <p:sp>
        <p:nvSpPr>
          <p:cNvPr id="80" name="Text 78"/>
          <p:cNvSpPr/>
          <p:nvPr/>
        </p:nvSpPr>
        <p:spPr>
          <a:xfrm>
            <a:off x="10915650" y="3262313"/>
            <a:ext cx="918865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11039475" y="3309938"/>
            <a:ext cx="684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 hóngsè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1891665" y="3262313"/>
            <a:ext cx="986879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2015490" y="3309938"/>
            <a:ext cx="7540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 huángsè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2935694" y="3262313"/>
            <a:ext cx="823020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13059519" y="3309938"/>
            <a:ext cx="5868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 lánsè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13815864" y="3262313"/>
            <a:ext cx="821234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3939689" y="3309938"/>
            <a:ext cx="585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 báisè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14694247" y="3262313"/>
            <a:ext cx="814388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4818072" y="3309938"/>
            <a:ext cx="5780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 hēisè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5565785" y="3262313"/>
            <a:ext cx="741164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5689610" y="3309938"/>
            <a:ext cx="5033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 zǐsè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10915650" y="3605213"/>
            <a:ext cx="825996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11039475" y="3652838"/>
            <a:ext cx="589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 huīsè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11798796" y="3605213"/>
            <a:ext cx="754261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11922621" y="3652838"/>
            <a:ext cx="5167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 lǜsè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12610207" y="3605213"/>
            <a:ext cx="902940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12734032" y="3652838"/>
            <a:ext cx="6683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 zōngsè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13570297" y="3605213"/>
            <a:ext cx="1224855" cy="285750"/>
          </a:xfrm>
          <a:prstGeom prst="roundRect">
            <a:avLst>
              <a:gd name="adj" fmla="val 40000"/>
            </a:avLst>
          </a:prstGeom>
          <a:solidFill>
            <a:srgbClr val="E9E2D2"/>
          </a:solidFill>
          <a:ln w="9525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13694122" y="3652838"/>
            <a:ext cx="99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 fěnhóngsè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10734675" y="4148137"/>
            <a:ext cx="6600825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10887075" y="4262438"/>
            <a:ext cx="64219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102" name="Text 100"/>
          <p:cNvSpPr/>
          <p:nvPr/>
        </p:nvSpPr>
        <p:spPr>
          <a:xfrm>
            <a:off x="10887075" y="4452938"/>
            <a:ext cx="64219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Invent one additional mixing equation of your own and write it in characters (doesn't need to be scientifically accurate!)</a:t>
            </a:r>
            <a:endParaRPr lang="en-US" sz="1125" dirty="0"/>
          </a:p>
        </p:txBody>
      </p:sp>
      <p:sp>
        <p:nvSpPr>
          <p:cNvPr id="103" name="Shape 10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19412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 2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颜色混合练习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383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21812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274403" y="21526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779228" y="2181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093553" y="21526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319177" y="21526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5824002" y="2181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138327" y="21526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363950" y="21526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868775" y="2181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9A9A9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52500" y="26479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90625" y="27908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4274403" y="2762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4779228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093553" y="27622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5319177" y="2762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824002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138327" y="27622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6363950" y="2762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绿色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868775" y="2790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4C8A4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2500" y="32575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90625" y="34004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064853" y="33718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4569678" y="34004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884003" y="33718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5109627" y="33718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614452" y="34004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5928777" y="33718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6154400" y="3371850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6868775" y="34004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6FA8D6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52500" y="38671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190625" y="40100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4274403" y="3981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4779228" y="40100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5093553" y="39814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5319177" y="3981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5824002" y="40100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6138327" y="39814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6363950" y="39814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棕色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6868775" y="40100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8A5A34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952500" y="44767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90625" y="46196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275" dirty="0"/>
          </a:p>
        </p:txBody>
      </p:sp>
      <p:sp>
        <p:nvSpPr>
          <p:cNvPr id="51" name="Text 49"/>
          <p:cNvSpPr/>
          <p:nvPr/>
        </p:nvSpPr>
        <p:spPr>
          <a:xfrm>
            <a:off x="14274403" y="45910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4779228" y="46196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5093553" y="45910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5319177" y="45910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5824002" y="46196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6138327" y="45910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6363950" y="45910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紫色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6868775" y="46196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7A4E9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52500" y="50863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190625" y="52292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275" dirty="0"/>
          </a:p>
        </p:txBody>
      </p:sp>
      <p:sp>
        <p:nvSpPr>
          <p:cNvPr id="61" name="Text 59"/>
          <p:cNvSpPr/>
          <p:nvPr/>
        </p:nvSpPr>
        <p:spPr>
          <a:xfrm>
            <a:off x="14064853" y="52006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4569678" y="5229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FFFFF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4884003" y="52006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5109627" y="52006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5614452" y="5229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5928777" y="52006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67" name="Text 65"/>
          <p:cNvSpPr/>
          <p:nvPr/>
        </p:nvSpPr>
        <p:spPr>
          <a:xfrm>
            <a:off x="16154400" y="5200650"/>
            <a:ext cx="64122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粉红色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6868775" y="52292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8EA0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952500" y="5695950"/>
            <a:ext cx="16383000" cy="514350"/>
          </a:xfrm>
          <a:prstGeom prst="roundRect">
            <a:avLst>
              <a:gd name="adj" fmla="val 22222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1190625" y="5838825"/>
            <a:ext cx="194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7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13229630" y="5810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</a:t>
            </a:r>
            <a:endParaRPr lang="en-US" sz="1650" dirty="0"/>
          </a:p>
        </p:txBody>
      </p:sp>
      <p:sp>
        <p:nvSpPr>
          <p:cNvPr id="72" name="Text 70"/>
          <p:cNvSpPr/>
          <p:nvPr/>
        </p:nvSpPr>
        <p:spPr>
          <a:xfrm>
            <a:off x="13734455" y="5838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C23B2E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4048780" y="58102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74" name="Text 72"/>
          <p:cNvSpPr/>
          <p:nvPr/>
        </p:nvSpPr>
        <p:spPr>
          <a:xfrm>
            <a:off x="14274403" y="5810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黄色</a:t>
            </a:r>
            <a:endParaRPr lang="en-US" sz="1650" dirty="0"/>
          </a:p>
        </p:txBody>
      </p:sp>
      <p:sp>
        <p:nvSpPr>
          <p:cNvPr id="75" name="Text 73"/>
          <p:cNvSpPr/>
          <p:nvPr/>
        </p:nvSpPr>
        <p:spPr>
          <a:xfrm>
            <a:off x="14779228" y="5838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8B92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15093553" y="58102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5319177" y="5810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1650" dirty="0"/>
          </a:p>
        </p:txBody>
      </p:sp>
      <p:sp>
        <p:nvSpPr>
          <p:cNvPr id="78" name="Text 76"/>
          <p:cNvSpPr/>
          <p:nvPr/>
        </p:nvSpPr>
        <p:spPr>
          <a:xfrm>
            <a:off x="15824002" y="5838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2E5FA3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6138327" y="5810250"/>
            <a:ext cx="1426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1650" dirty="0"/>
          </a:p>
        </p:txBody>
      </p:sp>
      <p:sp>
        <p:nvSpPr>
          <p:cNvPr id="80" name="Text 78"/>
          <p:cNvSpPr/>
          <p:nvPr/>
        </p:nvSpPr>
        <p:spPr>
          <a:xfrm>
            <a:off x="16363950" y="5810250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886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黑色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6868775" y="583882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1A1A"/>
          </a:solidFill>
          <a:ln w="19050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28102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Consolidation · Activity 3 · 37–43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37–43 MIN · CONSOLIDATION WRITING (WORKBOOK EX.6, P.137)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活动三 · 汉字笔画数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20097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74144" y="21717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</a:t>
            </a:r>
            <a:endParaRPr lang="en-US" sz="4350" dirty="0"/>
          </a:p>
        </p:txBody>
      </p:sp>
      <p:sp>
        <p:nvSpPr>
          <p:cNvPr id="11" name="Text 9"/>
          <p:cNvSpPr/>
          <p:nvPr/>
        </p:nvSpPr>
        <p:spPr>
          <a:xfrm>
            <a:off x="2588419" y="28003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56059" y="28670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1588" y="20097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03231" y="21717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6717506" y="28003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5146" y="28670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10675" y="20097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32319" y="21717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</a:t>
            </a:r>
            <a:endParaRPr lang="en-US" sz="4350" dirty="0"/>
          </a:p>
        </p:txBody>
      </p:sp>
      <p:sp>
        <p:nvSpPr>
          <p:cNvPr id="19" name="Text 17"/>
          <p:cNvSpPr/>
          <p:nvPr/>
        </p:nvSpPr>
        <p:spPr>
          <a:xfrm>
            <a:off x="10846594" y="28003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14234" y="28670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339763" y="20097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061406" y="21717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</a:t>
            </a:r>
            <a:endParaRPr lang="en-US" sz="4350" dirty="0"/>
          </a:p>
        </p:txBody>
      </p:sp>
      <p:sp>
        <p:nvSpPr>
          <p:cNvPr id="23" name="Text 21"/>
          <p:cNvSpPr/>
          <p:nvPr/>
        </p:nvSpPr>
        <p:spPr>
          <a:xfrm>
            <a:off x="14975681" y="28003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143321" y="28670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2500" y="34956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74144" y="36576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</a:t>
            </a:r>
            <a:endParaRPr lang="en-US" sz="4350" dirty="0"/>
          </a:p>
        </p:txBody>
      </p:sp>
      <p:sp>
        <p:nvSpPr>
          <p:cNvPr id="27" name="Text 25"/>
          <p:cNvSpPr/>
          <p:nvPr/>
        </p:nvSpPr>
        <p:spPr>
          <a:xfrm>
            <a:off x="2588419" y="42862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56059" y="43529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81588" y="34956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03231" y="36576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</a:t>
            </a:r>
            <a:endParaRPr lang="en-US" sz="4350" dirty="0"/>
          </a:p>
        </p:txBody>
      </p:sp>
      <p:sp>
        <p:nvSpPr>
          <p:cNvPr id="31" name="Text 29"/>
          <p:cNvSpPr/>
          <p:nvPr/>
        </p:nvSpPr>
        <p:spPr>
          <a:xfrm>
            <a:off x="6717506" y="42862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85146" y="43529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10675" y="34956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932319" y="36576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</a:t>
            </a:r>
            <a:endParaRPr lang="en-US" sz="4350" dirty="0"/>
          </a:p>
        </p:txBody>
      </p:sp>
      <p:sp>
        <p:nvSpPr>
          <p:cNvPr id="35" name="Text 33"/>
          <p:cNvSpPr/>
          <p:nvPr/>
        </p:nvSpPr>
        <p:spPr>
          <a:xfrm>
            <a:off x="10846594" y="42862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014234" y="43529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339763" y="3495675"/>
            <a:ext cx="3995738" cy="1352550"/>
          </a:xfrm>
          <a:prstGeom prst="roundRect">
            <a:avLst>
              <a:gd name="adj" fmla="val 14085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61406" y="3657600"/>
            <a:ext cx="5634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4350" dirty="0"/>
          </a:p>
        </p:txBody>
      </p:sp>
      <p:sp>
        <p:nvSpPr>
          <p:cNvPr id="39" name="Text 37"/>
          <p:cNvSpPr/>
          <p:nvPr/>
        </p:nvSpPr>
        <p:spPr>
          <a:xfrm>
            <a:off x="14975681" y="4286250"/>
            <a:ext cx="723900" cy="400050"/>
          </a:xfrm>
          <a:prstGeom prst="roundRect">
            <a:avLst>
              <a:gd name="adj" fmla="val 14286"/>
            </a:avLst>
          </a:prstGeom>
          <a:solidFill>
            <a:srgbClr val="E9E2D2"/>
          </a:solidFill>
          <a:ln w="19050">
            <a:solidFill>
              <a:srgbClr val="D2C7A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143321" y="4352925"/>
            <a:ext cx="388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52500" y="5000625"/>
            <a:ext cx="80962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04900" y="5114925"/>
            <a:ext cx="7947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104900" y="5305425"/>
            <a:ext cx="79472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over a light-grey printed version of the trickier characters (喜, 蓝, 黑) before counting strokes independently.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9239250" y="5000625"/>
            <a:ext cx="8096250" cy="819150"/>
          </a:xfrm>
          <a:prstGeom prst="roundRect">
            <a:avLst>
              <a:gd name="adj" fmla="val 13953"/>
            </a:avLst>
          </a:prstGeom>
          <a:solidFill>
            <a:srgbClr val="F3EE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391650" y="5114925"/>
            <a:ext cx="7947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9391650" y="5305425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Order all 8 characters from fewest to most strokes.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952500" y="5953125"/>
            <a:ext cx="16383000" cy="723900"/>
          </a:xfrm>
          <a:prstGeom prst="roundRect">
            <a:avLst>
              <a:gd name="adj" fmla="val 15789"/>
            </a:avLst>
          </a:prstGeom>
          <a:solidFill>
            <a:srgbClr val="2E4B7A">
              <a:alpha val="10000"/>
            </a:srgbClr>
          </a:solidFill>
          <a:ln w="19050">
            <a:solidFill>
              <a:srgbClr val="2E4B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38250" y="6124575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1657350" y="6124575"/>
            <a:ext cx="1214103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E4B7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out and count the strokes for each character. Partner-check your counts against the projected answer key.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12343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3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68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1352550"/>
            <a:ext cx="167106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汉字笔画数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207645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8425" y="228600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粉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517577" y="2990850"/>
            <a:ext cx="851297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08077" y="3048000"/>
            <a:ext cx="4797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86350" y="207645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72275" y="228600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94438" y="2990850"/>
            <a:ext cx="765274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4938" y="3048000"/>
            <a:ext cx="391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220200" y="207645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06125" y="228600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黑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0786765" y="2990850"/>
            <a:ext cx="848320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977265" y="3048000"/>
            <a:ext cx="476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354050" y="207645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039975" y="228600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14937879" y="2990850"/>
            <a:ext cx="813643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128379" y="3048000"/>
            <a:ext cx="441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画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2500" y="373380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638425" y="394335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2560588" y="4648200"/>
            <a:ext cx="765274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751088" y="4705350"/>
            <a:ext cx="391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画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086350" y="373380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72275" y="394335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6695480" y="4648200"/>
            <a:ext cx="763191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85980" y="4705350"/>
            <a:ext cx="3898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20200" y="373380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906125" y="394335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</a:t>
            </a:r>
            <a:endParaRPr lang="en-US" sz="4800" dirty="0"/>
          </a:p>
        </p:txBody>
      </p:sp>
      <p:sp>
        <p:nvSpPr>
          <p:cNvPr id="35" name="Text 33"/>
          <p:cNvSpPr/>
          <p:nvPr/>
        </p:nvSpPr>
        <p:spPr>
          <a:xfrm>
            <a:off x="10786170" y="4648200"/>
            <a:ext cx="849362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76670" y="4705350"/>
            <a:ext cx="477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画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354050" y="3733800"/>
            <a:ext cx="3981450" cy="1504950"/>
          </a:xfrm>
          <a:prstGeom prst="roundRect">
            <a:avLst>
              <a:gd name="adj" fmla="val 12658"/>
            </a:avLst>
          </a:prstGeom>
          <a:solidFill>
            <a:srgbClr val="B8862E">
              <a:alpha val="12000"/>
            </a:srgbClr>
          </a:solidFill>
          <a:ln w="19050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039975" y="3943350"/>
            <a:ext cx="6217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喜</a:t>
            </a:r>
            <a:endParaRPr lang="en-US" sz="4800" dirty="0"/>
          </a:p>
        </p:txBody>
      </p:sp>
      <p:sp>
        <p:nvSpPr>
          <p:cNvPr id="39" name="Text 37"/>
          <p:cNvSpPr/>
          <p:nvPr/>
        </p:nvSpPr>
        <p:spPr>
          <a:xfrm>
            <a:off x="14920615" y="4648200"/>
            <a:ext cx="848320" cy="381000"/>
          </a:xfrm>
          <a:prstGeom prst="roundRect">
            <a:avLst>
              <a:gd name="adj" fmla="val 2497500"/>
            </a:avLst>
          </a:prstGeom>
          <a:solidFill>
            <a:srgbClr val="B886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111115" y="4705350"/>
            <a:ext cx="4766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画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1093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RADICALS + MIXING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20492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B84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2967038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3271838"/>
            <a:ext cx="1632204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43000" y="4119562"/>
            <a:ext cx="7867650" cy="2819400"/>
          </a:xfrm>
          <a:prstGeom prst="roundRect">
            <a:avLst>
              <a:gd name="adj" fmla="val 945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491038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833938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Self-assessment: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completely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almost · </a:t>
            </a:r>
            <a:r>
              <a:rPr lang="en-US" sz="975" b="1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not yet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0175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466850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52600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19275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5025" y="51482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71700" y="520734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3175" y="5193953"/>
            <a:ext cx="30986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 and recognise the six new radicals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00175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6850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52600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19275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5025" y="55578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71700" y="5616922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43175" y="5603528"/>
            <a:ext cx="41905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a colour-mixing sentence using X色+Y色=Z色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0175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66850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52600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B8862E">
              <a:alpha val="12000"/>
            </a:srgbClr>
          </a:solidFill>
          <a:ln w="9525">
            <a:solidFill>
              <a:srgbClr val="B886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19275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5025" y="59674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2564A">
              <a:alpha val="10000"/>
            </a:srgbClr>
          </a:solidFill>
          <a:ln w="9525">
            <a:solidFill>
              <a:srgbClr val="C256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171700" y="6026497"/>
            <a:ext cx="1748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3175" y="6013103"/>
            <a:ext cx="328095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all 11 core colour characters correctly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6386513"/>
            <a:ext cx="7353300" cy="333375"/>
          </a:xfrm>
          <a:prstGeom prst="roundRect">
            <a:avLst>
              <a:gd name="adj" fmla="val 34286"/>
            </a:avLst>
          </a:prstGeom>
          <a:solidFill>
            <a:srgbClr val="B886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6472238"/>
            <a:ext cx="72283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B886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38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read each criterion aloud — "今天我们做到了吗？"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277350" y="4119562"/>
            <a:ext cx="7867650" cy="2819400"/>
          </a:xfrm>
          <a:prstGeom prst="roundRect">
            <a:avLst>
              <a:gd name="adj" fmla="val 9459"/>
            </a:avLst>
          </a:prstGeom>
          <a:solidFill>
            <a:srgbClr val="F3EEE4"/>
          </a:solidFill>
          <a:ln w="9525">
            <a:solidFill>
              <a:srgbClr val="E4DCC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491038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(2 MIN)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833938"/>
            <a:ext cx="7353300" cy="815280"/>
          </a:xfrm>
          <a:prstGeom prst="rect">
            <a:avLst/>
          </a:prstGeom>
          <a:solidFill>
            <a:srgbClr val="E9E2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833938"/>
            <a:ext cx="0" cy="815280"/>
          </a:xfrm>
          <a:prstGeom prst="line">
            <a:avLst/>
          </a:prstGeom>
          <a:noFill/>
          <a:ln w="47625">
            <a:solidFill>
              <a:srgbClr val="2E7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967288"/>
            <a:ext cx="71020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9753600" y="5195888"/>
            <a:ext cx="71020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写一个新的颜色混合等式 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r>
              <a:rPr lang="en-US" sz="1800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=？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534525" y="5763518"/>
            <a:ext cx="750036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</a:t>
            </a: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colour-mixing equation from memory — </a:t>
            </a:r>
            <a:r>
              <a:rPr lang="en-US" sz="975" b="1" dirty="0">
                <a:solidFill>
                  <a:srgbClr val="C2564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</a:t>
            </a:r>
            <a:r>
              <a:rPr lang="en-US" sz="9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already used in class, e.g. 蓝色+白色=？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143000" y="7129463"/>
            <a:ext cx="16002000" cy="457200"/>
          </a:xfrm>
          <a:prstGeom prst="rect">
            <a:avLst/>
          </a:prstGeom>
          <a:solidFill>
            <a:srgbClr val="B8402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166813" y="7129463"/>
            <a:ext cx="0" cy="457200"/>
          </a:xfrm>
          <a:prstGeom prst="line">
            <a:avLst/>
          </a:prstGeom>
          <a:noFill/>
          <a:ln w="47625">
            <a:solidFill>
              <a:srgbClr val="B840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00175" y="7243763"/>
            <a:ext cx="15845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200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"下一课，我们要在班上做一个调查——看看有多少同学喜欢每一个颜色！"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C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2000" y="9958388"/>
            <a:ext cx="20880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5 Colours 颜色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14350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0"/>
              </a:lnSpc>
              <a:buNone/>
            </a:pPr>
            <a:r>
              <a:rPr lang="en-US" sz="36000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查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4407542" y="2280047"/>
            <a:ext cx="94729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COMPLETE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4407542" y="2699147"/>
            <a:ext cx="9472916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✅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407542" y="3842147"/>
            <a:ext cx="947291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50" b="1" dirty="0">
                <a:solidFill>
                  <a:srgbClr val="24201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今天学了 · What We Covered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4407542" y="4623197"/>
            <a:ext cx="947291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dirty="0">
                <a:solidFill>
                  <a:srgbClr val="948C7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new radicals (疒/火/爫/弓/力/礻) · X色+Y色=Z色 · 11 core colour characters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4500414" y="5394722"/>
            <a:ext cx="9287173" cy="2059781"/>
          </a:xfrm>
          <a:prstGeom prst="roundRect">
            <a:avLst>
              <a:gd name="adj" fmla="val 12948"/>
            </a:avLst>
          </a:prstGeom>
          <a:solidFill>
            <a:srgbClr val="F3EEE4"/>
          </a:solidFill>
          <a:ln w="19050">
            <a:solidFill>
              <a:srgbClr val="B840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93317" y="5718572"/>
            <a:ext cx="85013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 · NEXT LESSON (L6)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3317" y="6023372"/>
            <a:ext cx="8501366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下一课，我们要在班上做一个调查——看看有多少同学喜欢</a:t>
            </a:r>
            <a:r>
              <a:rPr lang="en-US" sz="1875" b="1" dirty="0">
                <a:solidFill>
                  <a:srgbClr val="24201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每一个颜色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！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a </a:t>
            </a:r>
            <a:endParaRPr lang="en-US" sz="1875" dirty="0"/>
          </a:p>
          <a:p>
            <a:pPr algn="ctr" indent="0" marL="0">
              <a:lnSpc>
                <a:spcPts val="2906"/>
              </a:lnSpc>
              <a:buNone/>
            </a:pPr>
            <a:r>
              <a:rPr lang="en-US" sz="1875" b="1" dirty="0">
                <a:solidFill>
                  <a:srgbClr val="B840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survey</a:t>
            </a:r>
            <a:r>
              <a:rPr lang="en-US" sz="1875" dirty="0">
                <a:solidFill>
                  <a:srgbClr val="5C564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find out how many students like each colour.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2026-07-28T09:11:49Z</dcterms:created>
  <dcterms:modified xsi:type="dcterms:W3CDTF">2026-07-28T09:11:49Z</dcterms:modified>
</cp:coreProperties>
</file>