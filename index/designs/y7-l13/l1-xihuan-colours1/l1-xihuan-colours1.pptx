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66700"/>
            <a:ext cx="1545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Y7 · L13 颜色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10793" y="257175"/>
            <a:ext cx="45450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Title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3430250" y="5181600"/>
            <a:ext cx="4274820" cy="419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0"/>
              </a:lnSpc>
              <a:buNone/>
            </a:pPr>
            <a:r>
              <a:rPr lang="en-US" sz="33000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</a:t>
            </a:r>
            <a:endParaRPr lang="en-US" sz="33000" dirty="0"/>
          </a:p>
        </p:txBody>
      </p:sp>
      <p:sp>
        <p:nvSpPr>
          <p:cNvPr id="8" name="Text 6"/>
          <p:cNvSpPr/>
          <p:nvPr/>
        </p:nvSpPr>
        <p:spPr>
          <a:xfrm>
            <a:off x="749808" y="2629346"/>
            <a:ext cx="16788384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1 OF 8 · Y7 UNIT 5 · 轻松学中文 1</a:t>
            </a:r>
            <a:endParaRPr lang="en-US" sz="1950" dirty="0"/>
          </a:p>
        </p:txBody>
      </p:sp>
      <p:pic>
        <p:nvPicPr>
          <p:cNvPr id="9" name="Image 0" descr="/var/folders/6c/210dcgxn4gz5sm71vld2cy1h0000gn/T/tmp.3MeIcQemFz/l1-xihuan-colours1/slides/01-title-art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95543" y="3172271"/>
            <a:ext cx="1496764" cy="142875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49808" y="5430589"/>
            <a:ext cx="16788384" cy="13125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35"/>
              </a:lnSpc>
              <a:spcBef>
                <a:spcPts val="6532"/>
              </a:spcBef>
              <a:spcAft>
                <a:spcPts val="900"/>
              </a:spcAft>
              <a:buNone/>
            </a:pPr>
            <a:r>
              <a:rPr lang="en-US" sz="975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喜欢</a:t>
            </a:r>
            <a:r>
              <a:rPr lang="en-US" sz="9750" b="1" dirty="0">
                <a:solidFill>
                  <a:srgbClr val="B03C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·</a:t>
            </a:r>
            <a:r>
              <a:rPr lang="en-US" sz="975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黑色</a:t>
            </a:r>
            <a:endParaRPr lang="en-US" sz="9750" dirty="0"/>
          </a:p>
        </p:txBody>
      </p:sp>
      <p:sp>
        <p:nvSpPr>
          <p:cNvPr id="11" name="Text 8"/>
          <p:cNvSpPr/>
          <p:nvPr/>
        </p:nvSpPr>
        <p:spPr>
          <a:xfrm>
            <a:off x="749808" y="6857405"/>
            <a:ext cx="16788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Like · Black · White · Yellow</a:t>
            </a:r>
            <a:endParaRPr lang="en-US" sz="2550" dirty="0"/>
          </a:p>
        </p:txBody>
      </p:sp>
      <p:sp>
        <p:nvSpPr>
          <p:cNvPr id="12" name="Text 9"/>
          <p:cNvSpPr/>
          <p:nvPr/>
        </p:nvSpPr>
        <p:spPr>
          <a:xfrm>
            <a:off x="6214015" y="7638455"/>
            <a:ext cx="173118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Year 7 Chinese</a:t>
            </a:r>
            <a:endParaRPr lang="en-US" sz="1650" dirty="0"/>
          </a:p>
        </p:txBody>
      </p:sp>
      <p:sp>
        <p:nvSpPr>
          <p:cNvPr id="13" name="Text 10"/>
          <p:cNvSpPr/>
          <p:nvPr/>
        </p:nvSpPr>
        <p:spPr>
          <a:xfrm>
            <a:off x="8463021" y="7638455"/>
            <a:ext cx="82900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50 分钟</a:t>
            </a:r>
            <a:endParaRPr lang="en-US" sz="1650" dirty="0"/>
          </a:p>
        </p:txBody>
      </p:sp>
      <p:sp>
        <p:nvSpPr>
          <p:cNvPr id="14" name="Text 11"/>
          <p:cNvSpPr/>
          <p:nvPr/>
        </p:nvSpPr>
        <p:spPr>
          <a:xfrm>
            <a:off x="9820207" y="7638455"/>
            <a:ext cx="6749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Mixed</a:t>
            </a:r>
            <a:endParaRPr lang="en-US" sz="1650" dirty="0"/>
          </a:p>
        </p:txBody>
      </p:sp>
      <p:sp>
        <p:nvSpPr>
          <p:cNvPr id="15" name="Text 12"/>
          <p:cNvSpPr/>
          <p:nvPr/>
        </p:nvSpPr>
        <p:spPr>
          <a:xfrm>
            <a:off x="11021184" y="7638455"/>
            <a:ext cx="104593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课本 p.96</a:t>
            </a:r>
            <a:endParaRPr lang="en-US" sz="1650" dirty="0"/>
          </a:p>
        </p:txBody>
      </p:sp>
      <p:sp>
        <p:nvSpPr>
          <p:cNvPr id="16" name="Shape 13"/>
          <p:cNvSpPr/>
          <p:nvPr/>
        </p:nvSpPr>
        <p:spPr>
          <a:xfrm>
            <a:off x="0" y="931068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62000" y="9463088"/>
            <a:ext cx="343397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1 of 8 · 喜欢 + 黑色 白色 黄色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14024967" y="9463088"/>
            <a:ext cx="357105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Book 1 · Unit 5 · 课本 p.96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66700"/>
            <a:ext cx="1545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Y7 · L13 颜色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10793" y="257175"/>
            <a:ext cx="142620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Review · 复习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749808" y="2724150"/>
            <a:ext cx="167883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上节课 — 你怎么上学？看到图就说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914400" y="3257550"/>
            <a:ext cx="3943350" cy="1514475"/>
          </a:xfrm>
          <a:prstGeom prst="roundRect">
            <a:avLst>
              <a:gd name="adj" fmla="val 12579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390775" y="3438525"/>
            <a:ext cx="1010412" cy="695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校车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2391966" y="4210050"/>
            <a:ext cx="100798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xiàochē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5086350" y="3257550"/>
            <a:ext cx="3943350" cy="1514475"/>
          </a:xfrm>
          <a:prstGeom prst="roundRect">
            <a:avLst>
              <a:gd name="adj" fmla="val 12579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562725" y="3438525"/>
            <a:ext cx="1010412" cy="695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火车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6591449" y="4210050"/>
            <a:ext cx="9516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huǒchē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9258300" y="3257550"/>
            <a:ext cx="3943350" cy="1514475"/>
          </a:xfrm>
          <a:prstGeom prst="roundRect">
            <a:avLst>
              <a:gd name="adj" fmla="val 12579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0734675" y="3438525"/>
            <a:ext cx="1010412" cy="695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汽车</a:t>
            </a:r>
            <a:endParaRPr lang="en-US" sz="3900" dirty="0"/>
          </a:p>
        </p:txBody>
      </p:sp>
      <p:sp>
        <p:nvSpPr>
          <p:cNvPr id="16" name="Text 14"/>
          <p:cNvSpPr/>
          <p:nvPr/>
        </p:nvSpPr>
        <p:spPr>
          <a:xfrm>
            <a:off x="10883057" y="4210050"/>
            <a:ext cx="70756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qìchē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3430250" y="3257550"/>
            <a:ext cx="3943350" cy="1514475"/>
          </a:xfrm>
          <a:prstGeom prst="roundRect">
            <a:avLst>
              <a:gd name="adj" fmla="val 12579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4658975" y="3438525"/>
            <a:ext cx="1515618" cy="695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出租车</a:t>
            </a:r>
            <a:endParaRPr lang="en-US" sz="3900" dirty="0"/>
          </a:p>
        </p:txBody>
      </p:sp>
      <p:sp>
        <p:nvSpPr>
          <p:cNvPr id="19" name="Text 17"/>
          <p:cNvSpPr/>
          <p:nvPr/>
        </p:nvSpPr>
        <p:spPr>
          <a:xfrm>
            <a:off x="14787860" y="4210050"/>
            <a:ext cx="12526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chūzūchē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914400" y="5000625"/>
            <a:ext cx="3943350" cy="1514475"/>
          </a:xfrm>
          <a:prstGeom prst="roundRect">
            <a:avLst>
              <a:gd name="adj" fmla="val 12579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390775" y="5181600"/>
            <a:ext cx="1010412" cy="695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地铁</a:t>
            </a:r>
            <a:endParaRPr lang="en-US" sz="3900" dirty="0"/>
          </a:p>
        </p:txBody>
      </p:sp>
      <p:sp>
        <p:nvSpPr>
          <p:cNvPr id="22" name="Text 20"/>
          <p:cNvSpPr/>
          <p:nvPr/>
        </p:nvSpPr>
        <p:spPr>
          <a:xfrm>
            <a:off x="2605683" y="5953125"/>
            <a:ext cx="57184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dìtiě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5086350" y="5000625"/>
            <a:ext cx="3943350" cy="1514475"/>
          </a:xfrm>
          <a:prstGeom prst="roundRect">
            <a:avLst>
              <a:gd name="adj" fmla="val 12579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562725" y="5181600"/>
            <a:ext cx="1010412" cy="695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电车</a:t>
            </a:r>
            <a:endParaRPr lang="en-US" sz="3900" dirty="0"/>
          </a:p>
        </p:txBody>
      </p:sp>
      <p:sp>
        <p:nvSpPr>
          <p:cNvPr id="25" name="Text 23"/>
          <p:cNvSpPr/>
          <p:nvPr/>
        </p:nvSpPr>
        <p:spPr>
          <a:xfrm>
            <a:off x="6557516" y="5953125"/>
            <a:ext cx="102088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diànchē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9258300" y="5000625"/>
            <a:ext cx="3943350" cy="1514475"/>
          </a:xfrm>
          <a:prstGeom prst="roundRect">
            <a:avLst>
              <a:gd name="adj" fmla="val 12579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10734675" y="5181600"/>
            <a:ext cx="1010412" cy="695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走路</a:t>
            </a:r>
            <a:endParaRPr lang="en-US" sz="3900" dirty="0"/>
          </a:p>
        </p:txBody>
      </p:sp>
      <p:sp>
        <p:nvSpPr>
          <p:cNvPr id="28" name="Text 26"/>
          <p:cNvSpPr/>
          <p:nvPr/>
        </p:nvSpPr>
        <p:spPr>
          <a:xfrm>
            <a:off x="10884545" y="5953125"/>
            <a:ext cx="70452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zǒulù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13430250" y="5000625"/>
            <a:ext cx="3943350" cy="1514475"/>
          </a:xfrm>
          <a:prstGeom prst="roundRect">
            <a:avLst>
              <a:gd name="adj" fmla="val 12579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4906625" y="5181600"/>
            <a:ext cx="1010412" cy="695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开车</a:t>
            </a:r>
            <a:endParaRPr lang="en-US" sz="3900" dirty="0"/>
          </a:p>
        </p:txBody>
      </p:sp>
      <p:sp>
        <p:nvSpPr>
          <p:cNvPr id="31" name="Text 29"/>
          <p:cNvSpPr/>
          <p:nvPr/>
        </p:nvSpPr>
        <p:spPr>
          <a:xfrm>
            <a:off x="14986843" y="5953125"/>
            <a:ext cx="84676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kāichē</a:t>
            </a:r>
            <a:endParaRPr lang="en-US" sz="2100" dirty="0"/>
          </a:p>
        </p:txBody>
      </p:sp>
      <p:sp>
        <p:nvSpPr>
          <p:cNvPr id="32" name="Text 30"/>
          <p:cNvSpPr/>
          <p:nvPr/>
        </p:nvSpPr>
        <p:spPr>
          <a:xfrm>
            <a:off x="4274344" y="7067550"/>
            <a:ext cx="4021154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 </a:t>
            </a:r>
            <a:r>
              <a:rPr lang="en-US" sz="24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+</a:t>
            </a:r>
            <a:r>
              <a:rPr lang="en-US" sz="33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坐 </a:t>
            </a:r>
            <a:r>
              <a:rPr lang="en-US" sz="24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+</a:t>
            </a:r>
            <a:r>
              <a:rPr lang="en-US" sz="33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</a:t>
            </a:r>
            <a:r>
              <a:rPr lang="en-US" sz="3300" b="1" dirty="0">
                <a:solidFill>
                  <a:srgbClr val="B03C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车</a:t>
            </a:r>
            <a:r>
              <a:rPr lang="en-US" sz="33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</a:t>
            </a:r>
            <a:r>
              <a:rPr lang="en-US" sz="24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+</a:t>
            </a:r>
            <a:r>
              <a:rPr lang="en-US" sz="33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 上学。</a:t>
            </a:r>
            <a:endParaRPr lang="en-US" sz="3300" dirty="0"/>
          </a:p>
        </p:txBody>
      </p:sp>
      <p:sp>
        <p:nvSpPr>
          <p:cNvPr id="33" name="Text 31"/>
          <p:cNvSpPr/>
          <p:nvPr/>
        </p:nvSpPr>
        <p:spPr>
          <a:xfrm>
            <a:off x="8826252" y="7097018"/>
            <a:ext cx="5640910" cy="53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我坐校车上学。　我爸爸开车上班。</a:t>
            </a:r>
            <a:endParaRPr lang="en-US" sz="2700" dirty="0"/>
          </a:p>
        </p:txBody>
      </p:sp>
      <p:sp>
        <p:nvSpPr>
          <p:cNvPr id="34" name="Shape 32"/>
          <p:cNvSpPr/>
          <p:nvPr/>
        </p:nvSpPr>
        <p:spPr>
          <a:xfrm>
            <a:off x="0" y="931068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62000" y="9463088"/>
            <a:ext cx="343397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1 of 8 · 喜欢 + 黑色 白色 黄色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14024967" y="9463088"/>
            <a:ext cx="357105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Book 1 · Unit 5 · 课本 p.96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66700"/>
            <a:ext cx="1545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Y7 · L13 颜色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10793" y="257175"/>
            <a:ext cx="74353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LI · SC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2602260"/>
            <a:ext cx="3627983" cy="381000"/>
          </a:xfrm>
          <a:prstGeom prst="roundRect">
            <a:avLst>
              <a:gd name="adj" fmla="val 2497500"/>
            </a:avLst>
          </a:prstGeom>
          <a:solidFill>
            <a:srgbClr val="2C4C7C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104900" y="2659410"/>
            <a:ext cx="331192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今天我们学 · Learning Intention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3154710"/>
            <a:ext cx="16788384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40"/>
              </a:lnSpc>
              <a:buNone/>
            </a:pPr>
            <a:r>
              <a:rPr lang="en-US" sz="42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我们学怎么说谁喜欢什么颜色。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14400" y="4080421"/>
            <a:ext cx="2825204" cy="381000"/>
          </a:xfrm>
          <a:prstGeom prst="roundRect">
            <a:avLst>
              <a:gd name="adj" fmla="val 2497500"/>
            </a:avLst>
          </a:prstGeom>
          <a:solidFill>
            <a:srgbClr val="2E7D6E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104900" y="4137571"/>
            <a:ext cx="24930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7D6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我会 · Success Criteria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4670971"/>
            <a:ext cx="16459200" cy="979140"/>
          </a:xfrm>
          <a:prstGeom prst="roundRect">
            <a:avLst>
              <a:gd name="adj" fmla="val 11674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190625" y="4909096"/>
            <a:ext cx="466344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3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1876425" y="4909096"/>
            <a:ext cx="7421883" cy="441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0"/>
              </a:lnSpc>
              <a:buNone/>
            </a:pPr>
            <a:r>
              <a:rPr lang="en-US" sz="24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我会说三个颜色</a:t>
            </a:r>
            <a:r>
              <a:rPr lang="en-US" sz="19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say three colours — 黑色、白色、黄色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14400" y="5821561"/>
            <a:ext cx="16459200" cy="979140"/>
          </a:xfrm>
          <a:prstGeom prst="roundRect">
            <a:avLst>
              <a:gd name="adj" fmla="val 11674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190625" y="6059686"/>
            <a:ext cx="466344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3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1876425" y="6059686"/>
            <a:ext cx="11278785" cy="441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0"/>
              </a:lnSpc>
              <a:buNone/>
            </a:pPr>
            <a:r>
              <a:rPr lang="en-US" sz="24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我会用「喜欢」说谁喜欢什么</a:t>
            </a:r>
            <a:r>
              <a:rPr lang="en-US" sz="19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use 喜欢 to say what someone likes — 我爸爸喜欢黑色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914400" y="6972151"/>
            <a:ext cx="16459200" cy="979140"/>
          </a:xfrm>
          <a:prstGeom prst="roundRect">
            <a:avLst>
              <a:gd name="adj" fmla="val 11674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190625" y="7210276"/>
            <a:ext cx="466344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3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3300" dirty="0"/>
          </a:p>
        </p:txBody>
      </p:sp>
      <p:sp>
        <p:nvSpPr>
          <p:cNvPr id="20" name="Text 18"/>
          <p:cNvSpPr/>
          <p:nvPr/>
        </p:nvSpPr>
        <p:spPr>
          <a:xfrm>
            <a:off x="1876425" y="7210276"/>
            <a:ext cx="9186005" cy="441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0"/>
              </a:lnSpc>
              <a:buNone/>
            </a:pPr>
            <a:r>
              <a:rPr lang="en-US" sz="24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我会写「喜」和「色」</a:t>
            </a:r>
            <a:r>
              <a:rPr lang="en-US" sz="19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can write 喜 and 色 with the correct stroke order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0" y="931068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2000" y="9463088"/>
            <a:ext cx="343397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1 of 8 · 喜欢 + 黑色 白色 黄色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4024967" y="9463088"/>
            <a:ext cx="357105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Book 1 · Unit 5 · 课本 p.96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66700"/>
            <a:ext cx="1545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Y7 · L13 颜色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10793" y="257175"/>
            <a:ext cx="201475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Do · 生词 · 第一组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1974503"/>
            <a:ext cx="7962900" cy="6604546"/>
          </a:xfrm>
          <a:prstGeom prst="roundRect">
            <a:avLst>
              <a:gd name="adj" fmla="val 4038"/>
            </a:avLst>
          </a:prstGeom>
          <a:solidFill>
            <a:srgbClr val="F2EFE7"/>
          </a:solidFill>
          <a:ln w="19050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8" name="Image 0" descr="/var/folders/6c/210dcgxn4gz5sm71vld2cy1h0000gn/T/tmp.3MeIcQemFz/l1-xihuan-colours1/slides/04-vocab-a1-art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48670" y="2374553"/>
            <a:ext cx="2494508" cy="238125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3676650" y="4927253"/>
            <a:ext cx="2487168" cy="1280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80"/>
              </a:lnSpc>
              <a:buNone/>
            </a:pPr>
            <a:r>
              <a:rPr lang="en-US" sz="96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喜欢</a:t>
            </a:r>
            <a:endParaRPr lang="en-US" sz="9600" dirty="0"/>
          </a:p>
        </p:txBody>
      </p:sp>
      <p:sp>
        <p:nvSpPr>
          <p:cNvPr id="10" name="Text 7"/>
          <p:cNvSpPr/>
          <p:nvPr/>
        </p:nvSpPr>
        <p:spPr>
          <a:xfrm>
            <a:off x="4184303" y="6378773"/>
            <a:ext cx="1451405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xǐhuan</a:t>
            </a:r>
            <a:endParaRPr lang="en-US" sz="3450" dirty="0"/>
          </a:p>
        </p:txBody>
      </p:sp>
      <p:sp>
        <p:nvSpPr>
          <p:cNvPr id="11" name="Text 8"/>
          <p:cNvSpPr/>
          <p:nvPr/>
        </p:nvSpPr>
        <p:spPr>
          <a:xfrm>
            <a:off x="4634657" y="7169348"/>
            <a:ext cx="5328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like</a:t>
            </a:r>
            <a:endParaRPr lang="en-US" sz="2550" dirty="0"/>
          </a:p>
        </p:txBody>
      </p:sp>
      <p:sp>
        <p:nvSpPr>
          <p:cNvPr id="12" name="Text 9"/>
          <p:cNvSpPr/>
          <p:nvPr/>
        </p:nvSpPr>
        <p:spPr>
          <a:xfrm>
            <a:off x="9410700" y="1974503"/>
            <a:ext cx="7962900" cy="6604546"/>
          </a:xfrm>
          <a:prstGeom prst="roundRect">
            <a:avLst>
              <a:gd name="adj" fmla="val 4038"/>
            </a:avLst>
          </a:prstGeom>
          <a:solidFill>
            <a:srgbClr val="F2EFE7"/>
          </a:solidFill>
          <a:ln w="19050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3" name="Image 1" descr="/var/folders/6c/210dcgxn4gz5sm71vld2cy1h0000gn/T/tmp.3MeIcQemFz/l1-xihuan-colours1/slides/04-vocab-a1-art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4970" y="2374553"/>
            <a:ext cx="2494508" cy="238125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172950" y="4927253"/>
            <a:ext cx="2487168" cy="1280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80"/>
              </a:lnSpc>
              <a:buNone/>
            </a:pPr>
            <a:r>
              <a:rPr lang="en-US" sz="96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黑色</a:t>
            </a:r>
            <a:endParaRPr lang="en-US" sz="9600" dirty="0"/>
          </a:p>
        </p:txBody>
      </p:sp>
      <p:sp>
        <p:nvSpPr>
          <p:cNvPr id="15" name="Text 11"/>
          <p:cNvSpPr/>
          <p:nvPr/>
        </p:nvSpPr>
        <p:spPr>
          <a:xfrm>
            <a:off x="12824520" y="6378773"/>
            <a:ext cx="1157966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hēisè</a:t>
            </a:r>
            <a:endParaRPr lang="en-US" sz="3450" dirty="0"/>
          </a:p>
        </p:txBody>
      </p:sp>
      <p:sp>
        <p:nvSpPr>
          <p:cNvPr id="16" name="Text 12"/>
          <p:cNvSpPr/>
          <p:nvPr/>
        </p:nvSpPr>
        <p:spPr>
          <a:xfrm>
            <a:off x="12986891" y="7169348"/>
            <a:ext cx="826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black</a:t>
            </a:r>
            <a:endParaRPr lang="en-US" sz="2550" dirty="0"/>
          </a:p>
        </p:txBody>
      </p:sp>
      <p:sp>
        <p:nvSpPr>
          <p:cNvPr id="17" name="Shape 13"/>
          <p:cNvSpPr/>
          <p:nvPr/>
        </p:nvSpPr>
        <p:spPr>
          <a:xfrm>
            <a:off x="10466040" y="7802761"/>
            <a:ext cx="5852071" cy="0"/>
          </a:xfrm>
          <a:prstGeom prst="line">
            <a:avLst/>
          </a:prstGeom>
          <a:noFill/>
          <a:ln w="9525">
            <a:solidFill>
              <a:srgbClr val="CFC4A9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407520" y="7864673"/>
            <a:ext cx="5969112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每个颜色都有 </a:t>
            </a:r>
            <a:r>
              <a:rPr lang="en-US" sz="1950" b="1" dirty="0">
                <a:solidFill>
                  <a:srgbClr val="5F70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色</a:t>
            </a:r>
            <a:r>
              <a:rPr lang="en-US" sz="19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— 黑 alone is not a colour word</a:t>
            </a:r>
            <a:endParaRPr lang="en-US" sz="1950" dirty="0"/>
          </a:p>
        </p:txBody>
      </p:sp>
      <p:sp>
        <p:nvSpPr>
          <p:cNvPr id="19" name="Shape 15"/>
          <p:cNvSpPr/>
          <p:nvPr/>
        </p:nvSpPr>
        <p:spPr>
          <a:xfrm>
            <a:off x="0" y="931068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62000" y="9463088"/>
            <a:ext cx="343397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1 of 8 · 喜欢 + 黑色 白色 黄色</a:t>
            </a:r>
            <a:endParaRPr lang="en-US" sz="1350" dirty="0"/>
          </a:p>
        </p:txBody>
      </p:sp>
      <p:sp>
        <p:nvSpPr>
          <p:cNvPr id="21" name="Text 17"/>
          <p:cNvSpPr/>
          <p:nvPr/>
        </p:nvSpPr>
        <p:spPr>
          <a:xfrm>
            <a:off x="14024967" y="9463088"/>
            <a:ext cx="357105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Book 1 · Unit 5 · 课本 p.96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66700"/>
            <a:ext cx="1545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Y7 · L13 颜色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10793" y="257175"/>
            <a:ext cx="201475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Do · 例句 · 第一组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2644229"/>
            <a:ext cx="1678838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wǒ xǐhuan wǒ de lǎoshī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914400" y="3101429"/>
            <a:ext cx="16788384" cy="643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70"/>
              </a:lnSpc>
              <a:buNone/>
            </a:pPr>
            <a:r>
              <a:rPr lang="en-US" sz="39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</a:t>
            </a:r>
            <a:r>
              <a:rPr lang="en-US" sz="3900" b="1" dirty="0">
                <a:solidFill>
                  <a:srgbClr val="B03C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喜欢</a:t>
            </a:r>
            <a:r>
              <a:rPr lang="en-US" sz="39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我的老师。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914400" y="3802410"/>
            <a:ext cx="1678838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like my teacher.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14400" y="4507260"/>
            <a:ext cx="1678838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wǒ bàba xǐhuan hēisè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914400" y="4964460"/>
            <a:ext cx="16788384" cy="643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70"/>
              </a:lnSpc>
              <a:buNone/>
            </a:pPr>
            <a:r>
              <a:rPr lang="en-US" sz="39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我爸爸</a:t>
            </a:r>
            <a:r>
              <a:rPr lang="en-US" sz="3900" b="1" dirty="0">
                <a:solidFill>
                  <a:srgbClr val="B03C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喜欢黑色</a:t>
            </a:r>
            <a:r>
              <a:rPr lang="en-US" sz="39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914400" y="5665440"/>
            <a:ext cx="1678838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My dad likes black.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14400" y="6370290"/>
            <a:ext cx="1678838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wǒ xǐhuan hēisè，wǒ māma bù xǐhuan hēisè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914400" y="6827490"/>
            <a:ext cx="16788384" cy="643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70"/>
              </a:lnSpc>
              <a:buNone/>
            </a:pPr>
            <a:r>
              <a:rPr lang="en-US" sz="39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</a:t>
            </a:r>
            <a:r>
              <a:rPr lang="en-US" sz="3900" b="1" dirty="0">
                <a:solidFill>
                  <a:srgbClr val="B03C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喜欢黑色</a:t>
            </a:r>
            <a:r>
              <a:rPr lang="en-US" sz="39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，我妈妈不</a:t>
            </a:r>
            <a:r>
              <a:rPr lang="en-US" sz="3900" b="1" dirty="0">
                <a:solidFill>
                  <a:srgbClr val="B03C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喜欢黑色</a:t>
            </a:r>
            <a:r>
              <a:rPr lang="en-US" sz="39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914400" y="7528471"/>
            <a:ext cx="1678838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like black, my mum doesn't.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0" y="931068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2000" y="9463088"/>
            <a:ext cx="343397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1 of 8 · 喜欢 + 黑色 白色 黄色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4024967" y="9463088"/>
            <a:ext cx="357105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Book 1 · Unit 5 · 课本 p.96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66700"/>
            <a:ext cx="1545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Y7 · L13 颜色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10793" y="257175"/>
            <a:ext cx="223137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Do · 写一句 · 第一组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3526185"/>
            <a:ext cx="16459200" cy="1241971"/>
          </a:xfrm>
          <a:prstGeom prst="rect">
            <a:avLst/>
          </a:prstGeom>
          <a:solidFill>
            <a:srgbClr val="E7E2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942975" y="3526185"/>
            <a:ext cx="0" cy="1241971"/>
          </a:xfrm>
          <a:prstGeom prst="line">
            <a:avLst/>
          </a:prstGeom>
          <a:noFill/>
          <a:ln w="57150">
            <a:solidFill>
              <a:srgbClr val="2C4C7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76350" y="3754785"/>
            <a:ext cx="16108299" cy="7847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en-US" sz="42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</a:t>
            </a:r>
            <a:r>
              <a:rPr lang="en-US" sz="42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1104900" y="5205264"/>
            <a:ext cx="5644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60 秒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039243" y="5072955"/>
            <a:ext cx="5640910" cy="53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在小白板上写一句。写完了举起来。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914400" y="5852071"/>
            <a:ext cx="16459200" cy="1175296"/>
          </a:xfrm>
          <a:prstGeom prst="roundRect">
            <a:avLst>
              <a:gd name="adj" fmla="val 9725"/>
            </a:avLst>
          </a:prstGeom>
          <a:solidFill>
            <a:srgbClr val="B0822C">
              <a:alpha val="12000"/>
            </a:srgbClr>
          </a:solidFill>
          <a:ln w="19050">
            <a:solidFill>
              <a:srgbClr val="B082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238250" y="6137821"/>
            <a:ext cx="47590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B082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更难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895326" y="6080671"/>
            <a:ext cx="6748933" cy="71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45"/>
              </a:lnSpc>
              <a:buNone/>
            </a:pPr>
            <a:r>
              <a:rPr lang="en-US" sz="21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写两个人，一句话 — </a:t>
            </a:r>
            <a:r>
              <a:rPr lang="en-US" sz="2100" b="1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我喜欢黑色，我爸爸不喜欢黑色。</a:t>
            </a:r>
            <a:r>
              <a:rPr lang="en-US" sz="180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Then add a third with 也: 我妈妈也喜欢黑色。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0" y="931068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" y="9463088"/>
            <a:ext cx="343397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1 of 8 · 喜欢 + 黑色 白色 黄色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4024967" y="9463088"/>
            <a:ext cx="357105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Book 1 · Unit 5 · 课本 p.96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66700"/>
            <a:ext cx="1545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Y7 · L13 颜色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10793" y="257175"/>
            <a:ext cx="201475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Do · 生词 · 第二组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2269778"/>
            <a:ext cx="7962900" cy="6013996"/>
          </a:xfrm>
          <a:prstGeom prst="roundRect">
            <a:avLst>
              <a:gd name="adj" fmla="val 4435"/>
            </a:avLst>
          </a:prstGeom>
          <a:solidFill>
            <a:srgbClr val="F2EFE7"/>
          </a:solidFill>
          <a:ln w="19050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8" name="Image 0" descr="/var/folders/6c/210dcgxn4gz5sm71vld2cy1h0000gn/T/tmp.3MeIcQemFz/l1-xihuan-colours1/slides/07-vocab-a2-art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48670" y="2669828"/>
            <a:ext cx="2494508" cy="238125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3676650" y="5222528"/>
            <a:ext cx="2487168" cy="1280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80"/>
              </a:lnSpc>
              <a:buNone/>
            </a:pPr>
            <a:r>
              <a:rPr lang="en-US" sz="96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白色</a:t>
            </a:r>
            <a:endParaRPr lang="en-US" sz="9600" dirty="0"/>
          </a:p>
        </p:txBody>
      </p:sp>
      <p:sp>
        <p:nvSpPr>
          <p:cNvPr id="10" name="Text 7"/>
          <p:cNvSpPr/>
          <p:nvPr/>
        </p:nvSpPr>
        <p:spPr>
          <a:xfrm>
            <a:off x="4322564" y="6674048"/>
            <a:ext cx="1169503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báisè</a:t>
            </a:r>
            <a:endParaRPr lang="en-US" sz="3450" dirty="0"/>
          </a:p>
        </p:txBody>
      </p:sp>
      <p:sp>
        <p:nvSpPr>
          <p:cNvPr id="11" name="Text 8"/>
          <p:cNvSpPr/>
          <p:nvPr/>
        </p:nvSpPr>
        <p:spPr>
          <a:xfrm>
            <a:off x="4487168" y="7464623"/>
            <a:ext cx="8337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white</a:t>
            </a:r>
            <a:endParaRPr lang="en-US" sz="2550" dirty="0"/>
          </a:p>
        </p:txBody>
      </p:sp>
      <p:sp>
        <p:nvSpPr>
          <p:cNvPr id="12" name="Text 9"/>
          <p:cNvSpPr/>
          <p:nvPr/>
        </p:nvSpPr>
        <p:spPr>
          <a:xfrm>
            <a:off x="9410700" y="2269778"/>
            <a:ext cx="7962900" cy="6013996"/>
          </a:xfrm>
          <a:prstGeom prst="roundRect">
            <a:avLst>
              <a:gd name="adj" fmla="val 4435"/>
            </a:avLst>
          </a:prstGeom>
          <a:solidFill>
            <a:srgbClr val="F2EFE7"/>
          </a:solidFill>
          <a:ln w="19050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13" name="Image 1" descr="/var/folders/6c/210dcgxn4gz5sm71vld2cy1h0000gn/T/tmp.3MeIcQemFz/l1-xihuan-colours1/slides/07-vocab-a2-art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4970" y="2669828"/>
            <a:ext cx="2494508" cy="238125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172950" y="5222528"/>
            <a:ext cx="2487168" cy="1280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80"/>
              </a:lnSpc>
              <a:buNone/>
            </a:pPr>
            <a:r>
              <a:rPr lang="en-US" sz="96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黄色</a:t>
            </a:r>
            <a:endParaRPr lang="en-US" sz="9600" dirty="0"/>
          </a:p>
        </p:txBody>
      </p:sp>
      <p:sp>
        <p:nvSpPr>
          <p:cNvPr id="15" name="Text 11"/>
          <p:cNvSpPr/>
          <p:nvPr/>
        </p:nvSpPr>
        <p:spPr>
          <a:xfrm>
            <a:off x="12489061" y="6674048"/>
            <a:ext cx="1842302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huángsè</a:t>
            </a:r>
            <a:endParaRPr lang="en-US" sz="3450" dirty="0"/>
          </a:p>
        </p:txBody>
      </p:sp>
      <p:sp>
        <p:nvSpPr>
          <p:cNvPr id="16" name="Text 12"/>
          <p:cNvSpPr/>
          <p:nvPr/>
        </p:nvSpPr>
        <p:spPr>
          <a:xfrm>
            <a:off x="12919621" y="7464623"/>
            <a:ext cx="963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yellow</a:t>
            </a:r>
            <a:endParaRPr lang="en-US" sz="2550" dirty="0"/>
          </a:p>
        </p:txBody>
      </p:sp>
      <p:sp>
        <p:nvSpPr>
          <p:cNvPr id="17" name="Shape 13"/>
          <p:cNvSpPr/>
          <p:nvPr/>
        </p:nvSpPr>
        <p:spPr>
          <a:xfrm>
            <a:off x="0" y="931068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62000" y="9463088"/>
            <a:ext cx="343397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1 of 8 · 喜欢 + 黑色 白色 黄色</a:t>
            </a:r>
            <a:endParaRPr lang="en-US" sz="1350" dirty="0"/>
          </a:p>
        </p:txBody>
      </p:sp>
      <p:sp>
        <p:nvSpPr>
          <p:cNvPr id="19" name="Text 15"/>
          <p:cNvSpPr/>
          <p:nvPr/>
        </p:nvSpPr>
        <p:spPr>
          <a:xfrm>
            <a:off x="14024967" y="9463088"/>
            <a:ext cx="357105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Book 1 · Unit 5 · 课本 p.96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66700"/>
            <a:ext cx="1545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Y7 · L13 颜色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10793" y="257175"/>
            <a:ext cx="201475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Do · 例句 · 第二组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2644229"/>
            <a:ext cx="1678838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wǒ jiějie xǐhuan báisè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914400" y="3101429"/>
            <a:ext cx="16788384" cy="643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70"/>
              </a:lnSpc>
              <a:buNone/>
            </a:pPr>
            <a:r>
              <a:rPr lang="en-US" sz="39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我姐姐喜欢</a:t>
            </a:r>
            <a:r>
              <a:rPr lang="en-US" sz="3900" b="1" dirty="0">
                <a:solidFill>
                  <a:srgbClr val="B03C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白色</a:t>
            </a:r>
            <a:r>
              <a:rPr lang="en-US" sz="39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914400" y="3802410"/>
            <a:ext cx="1678838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My older sister likes white.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14400" y="4507260"/>
            <a:ext cx="1678838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wǒ mèimei xǐhuan huángsè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914400" y="4964460"/>
            <a:ext cx="16788384" cy="643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70"/>
              </a:lnSpc>
              <a:buNone/>
            </a:pPr>
            <a:r>
              <a:rPr lang="en-US" sz="39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我妹妹喜欢</a:t>
            </a:r>
            <a:r>
              <a:rPr lang="en-US" sz="3900" b="1" dirty="0">
                <a:solidFill>
                  <a:srgbClr val="B03C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黄色</a:t>
            </a:r>
            <a:r>
              <a:rPr lang="en-US" sz="39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914400" y="5665440"/>
            <a:ext cx="1678838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My younger sister likes yellow.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14400" y="6370290"/>
            <a:ext cx="1678838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wǒ jiějie xǐhuan báisè，wǒ mèimei xǐhuan huángsè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914400" y="6827490"/>
            <a:ext cx="16788384" cy="643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70"/>
              </a:lnSpc>
              <a:buNone/>
            </a:pPr>
            <a:r>
              <a:rPr lang="en-US" sz="39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我姐姐喜欢</a:t>
            </a:r>
            <a:r>
              <a:rPr lang="en-US" sz="3900" b="1" dirty="0">
                <a:solidFill>
                  <a:srgbClr val="B03C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白色</a:t>
            </a:r>
            <a:r>
              <a:rPr lang="en-US" sz="39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，我妹妹喜欢</a:t>
            </a:r>
            <a:r>
              <a:rPr lang="en-US" sz="3900" b="1" dirty="0">
                <a:solidFill>
                  <a:srgbClr val="B03C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黄色</a:t>
            </a:r>
            <a:r>
              <a:rPr lang="en-US" sz="39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914400" y="7528471"/>
            <a:ext cx="1678838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My sister likes white, my little sister likes yellow.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0" y="931068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2000" y="9463088"/>
            <a:ext cx="343397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1 of 8 · 喜欢 + 黑色 白色 黄色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4024967" y="9463088"/>
            <a:ext cx="357105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Book 1 · Unit 5 · 课本 p.96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66700"/>
            <a:ext cx="1545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Y7 · L13 颜色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10793" y="257175"/>
            <a:ext cx="223137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Do · 写一句 · 第二组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3526185"/>
            <a:ext cx="16459200" cy="1241971"/>
          </a:xfrm>
          <a:prstGeom prst="rect">
            <a:avLst/>
          </a:prstGeom>
          <a:solidFill>
            <a:srgbClr val="E7E2D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942975" y="3526185"/>
            <a:ext cx="0" cy="1241971"/>
          </a:xfrm>
          <a:prstGeom prst="line">
            <a:avLst/>
          </a:prstGeom>
          <a:noFill/>
          <a:ln w="57150">
            <a:solidFill>
              <a:srgbClr val="2C4C7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76350" y="3754785"/>
            <a:ext cx="16108299" cy="7847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en-US" sz="42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</a:t>
            </a:r>
            <a:r>
              <a:rPr lang="en-US" sz="42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喜欢</a:t>
            </a:r>
            <a:r>
              <a:rPr lang="en-US" sz="42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1104900" y="5205264"/>
            <a:ext cx="5644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60 秒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039243" y="5072955"/>
            <a:ext cx="4417820" cy="53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在小白板上写一句。60 秒。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914400" y="5852071"/>
            <a:ext cx="16459200" cy="1175296"/>
          </a:xfrm>
          <a:prstGeom prst="roundRect">
            <a:avLst>
              <a:gd name="adj" fmla="val 9725"/>
            </a:avLst>
          </a:prstGeom>
          <a:solidFill>
            <a:srgbClr val="B0822C">
              <a:alpha val="12000"/>
            </a:srgbClr>
          </a:solidFill>
          <a:ln w="19050">
            <a:solidFill>
              <a:srgbClr val="B082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238250" y="6137821"/>
            <a:ext cx="47590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B082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更难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895326" y="6080671"/>
            <a:ext cx="11680915" cy="71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45"/>
              </a:lnSpc>
              <a:buNone/>
            </a:pPr>
            <a:r>
              <a:rPr lang="en-US" sz="21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写三个人，一句话，其中一个人用「不」 — </a:t>
            </a:r>
            <a:r>
              <a:rPr lang="en-US" sz="2100" b="1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我姐姐喜欢白色，我妹妹喜欢黄色，我不喜欢黄色。</a:t>
            </a:r>
            <a:r>
              <a:rPr lang="en-US" sz="180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Cover the board first — no word bank.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0" y="931068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2000" y="9463088"/>
            <a:ext cx="343397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1 of 8 · 喜欢 + 黑色 白色 黄色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4024967" y="9463088"/>
            <a:ext cx="357105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Book 1 · Unit 5 · 课本 p.96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66700"/>
            <a:ext cx="1545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Y7 · L13 颜色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10793" y="257175"/>
            <a:ext cx="154066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Do · 词汇总览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749808" y="3986213"/>
            <a:ext cx="167883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只有汉字和图 — 没有拼音，没有英文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914400" y="4519613"/>
            <a:ext cx="3943350" cy="2047875"/>
          </a:xfrm>
          <a:prstGeom prst="roundRect">
            <a:avLst>
              <a:gd name="adj" fmla="val 9302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9" name="Image 0" descr="/var/folders/6c/210dcgxn4gz5sm71vld2cy1h0000gn/T/tmp.3MeIcQemFz/l1-xihuan-colours1/slides/10-board-art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07146" y="4700588"/>
            <a:ext cx="957858" cy="9144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2390775" y="5691188"/>
            <a:ext cx="1010412" cy="695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喜欢</a:t>
            </a:r>
            <a:endParaRPr lang="en-US" sz="3900" dirty="0"/>
          </a:p>
        </p:txBody>
      </p:sp>
      <p:sp>
        <p:nvSpPr>
          <p:cNvPr id="11" name="Text 8"/>
          <p:cNvSpPr/>
          <p:nvPr/>
        </p:nvSpPr>
        <p:spPr>
          <a:xfrm>
            <a:off x="5086350" y="4519613"/>
            <a:ext cx="3943350" cy="2047875"/>
          </a:xfrm>
          <a:prstGeom prst="roundRect">
            <a:avLst>
              <a:gd name="adj" fmla="val 9302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6562725" y="5195888"/>
            <a:ext cx="1010412" cy="695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黑色</a:t>
            </a:r>
            <a:endParaRPr lang="en-US" sz="3900" dirty="0"/>
          </a:p>
        </p:txBody>
      </p:sp>
      <p:sp>
        <p:nvSpPr>
          <p:cNvPr id="13" name="Text 10"/>
          <p:cNvSpPr/>
          <p:nvPr/>
        </p:nvSpPr>
        <p:spPr>
          <a:xfrm>
            <a:off x="9258300" y="4519613"/>
            <a:ext cx="3943350" cy="2047875"/>
          </a:xfrm>
          <a:prstGeom prst="roundRect">
            <a:avLst>
              <a:gd name="adj" fmla="val 9302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10734675" y="5214938"/>
            <a:ext cx="1010412" cy="695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白色</a:t>
            </a:r>
            <a:endParaRPr lang="en-US" sz="3900" dirty="0"/>
          </a:p>
        </p:txBody>
      </p:sp>
      <p:sp>
        <p:nvSpPr>
          <p:cNvPr id="15" name="Text 12"/>
          <p:cNvSpPr/>
          <p:nvPr/>
        </p:nvSpPr>
        <p:spPr>
          <a:xfrm>
            <a:off x="13430250" y="4519613"/>
            <a:ext cx="3943350" cy="2047875"/>
          </a:xfrm>
          <a:prstGeom prst="roundRect">
            <a:avLst>
              <a:gd name="adj" fmla="val 9302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14906625" y="5195888"/>
            <a:ext cx="1010412" cy="695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黄色</a:t>
            </a:r>
            <a:endParaRPr lang="en-US" sz="3900" dirty="0"/>
          </a:p>
        </p:txBody>
      </p:sp>
      <p:sp>
        <p:nvSpPr>
          <p:cNvPr id="17" name="Shape 14"/>
          <p:cNvSpPr/>
          <p:nvPr/>
        </p:nvSpPr>
        <p:spPr>
          <a:xfrm>
            <a:off x="0" y="931068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62000" y="9463088"/>
            <a:ext cx="343397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1 of 8 · 喜欢 + 黑色 白色 黄色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14024967" y="9463088"/>
            <a:ext cx="357105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Book 1 · Unit 5 · 课本 p.96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66700"/>
            <a:ext cx="1545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Y7 · L13 颜色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10793" y="257175"/>
            <a:ext cx="110771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Do · 句型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723900" y="1044178"/>
            <a:ext cx="17177004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B03C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人</a:t>
            </a:r>
            <a:r>
              <a:rPr lang="en-US" sz="3300" b="1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r>
              <a:rPr lang="en-US" sz="24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+</a:t>
            </a:r>
            <a:r>
              <a:rPr lang="en-US" sz="3300" b="1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喜欢 </a:t>
            </a:r>
            <a:r>
              <a:rPr lang="en-US" sz="24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+</a:t>
            </a:r>
            <a:r>
              <a:rPr lang="en-US" sz="3300" b="1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r>
              <a:rPr lang="en-US" sz="3300" b="1" dirty="0">
                <a:solidFill>
                  <a:srgbClr val="B03C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颜色</a:t>
            </a:r>
            <a:r>
              <a:rPr lang="en-US" sz="3300" b="1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。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23900" y="2187178"/>
            <a:ext cx="1717700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wǒ xǐhuan hēisè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723900" y="2606278"/>
            <a:ext cx="17177004" cy="6042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58"/>
              </a:lnSpc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我喜欢黑色。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723900" y="3229570"/>
            <a:ext cx="1717700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like black.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723900" y="3762970"/>
            <a:ext cx="1717700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wǒ bàba xǐhuan báisè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723900" y="4182070"/>
            <a:ext cx="17177004" cy="6042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58"/>
              </a:lnSpc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我爸爸喜欢白色。</a:t>
            </a:r>
            <a:endParaRPr lang="en-US" sz="3900" dirty="0"/>
          </a:p>
        </p:txBody>
      </p:sp>
      <p:sp>
        <p:nvSpPr>
          <p:cNvPr id="13" name="Text 11"/>
          <p:cNvSpPr/>
          <p:nvPr/>
        </p:nvSpPr>
        <p:spPr>
          <a:xfrm>
            <a:off x="723900" y="4805363"/>
            <a:ext cx="1717700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My dad likes white.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723900" y="5338763"/>
            <a:ext cx="1717700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wǒ māma bù xǐhuan huángsè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723900" y="5757863"/>
            <a:ext cx="17177004" cy="6042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58"/>
              </a:lnSpc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我妈妈不喜欢黄色。</a:t>
            </a:r>
            <a:endParaRPr lang="en-US" sz="3900" dirty="0"/>
          </a:p>
        </p:txBody>
      </p:sp>
      <p:sp>
        <p:nvSpPr>
          <p:cNvPr id="16" name="Text 14"/>
          <p:cNvSpPr/>
          <p:nvPr/>
        </p:nvSpPr>
        <p:spPr>
          <a:xfrm>
            <a:off x="723900" y="6381155"/>
            <a:ext cx="1717700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My mum doesn't like yellow.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723900" y="6914555"/>
            <a:ext cx="1717700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wǒ gēge xǐhuan hēisè，wǒ jiějie xǐhuan báisè，wǒ bù xǐhuan báisè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723900" y="7333655"/>
            <a:ext cx="17177004" cy="6042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58"/>
              </a:lnSpc>
              <a:buNone/>
            </a:pPr>
            <a:r>
              <a:rPr lang="en-US" sz="39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我哥哥喜欢黑色，我姐姐喜欢白色，</a:t>
            </a:r>
            <a:r>
              <a:rPr lang="en-US" sz="3900" b="1" dirty="0">
                <a:solidFill>
                  <a:srgbClr val="B03C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我不喜欢白色</a:t>
            </a:r>
            <a:r>
              <a:rPr lang="en-US" sz="39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。</a:t>
            </a:r>
            <a:endParaRPr lang="en-US" sz="3900" dirty="0"/>
          </a:p>
        </p:txBody>
      </p:sp>
      <p:sp>
        <p:nvSpPr>
          <p:cNvPr id="19" name="Text 17"/>
          <p:cNvSpPr/>
          <p:nvPr/>
        </p:nvSpPr>
        <p:spPr>
          <a:xfrm>
            <a:off x="723900" y="7956947"/>
            <a:ext cx="1717700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My brother likes black, my sister likes white — I don't like white.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723900" y="8452247"/>
            <a:ext cx="16840200" cy="1057275"/>
          </a:xfrm>
          <a:prstGeom prst="roundRect">
            <a:avLst>
              <a:gd name="adj" fmla="val 10811"/>
            </a:avLst>
          </a:prstGeom>
          <a:solidFill>
            <a:srgbClr val="2C4C7C">
              <a:alpha val="10000"/>
            </a:srgbClr>
          </a:solidFill>
          <a:ln w="19050">
            <a:solidFill>
              <a:srgbClr val="2C4C7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009650" y="8623697"/>
            <a:ext cx="349758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1543050" y="8623697"/>
            <a:ext cx="6188166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「喜欢」的后面直接放颜色，中间什么都不要。</a:t>
            </a:r>
            <a:r>
              <a:rPr lang="en-US" sz="12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</a:t>
            </a:r>
            <a:r>
              <a:rPr lang="en-US" sz="180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✗ 我黑色喜欢 ✓ 我喜欢黑色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0" y="931068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2000" y="9463088"/>
            <a:ext cx="343397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1 of 8 · 喜欢 + 黑色 白色 黄色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14024967" y="9463088"/>
            <a:ext cx="357105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Book 1 · Unit 5 · 课本 p.96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66700"/>
            <a:ext cx="1545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Y7 · L13 颜色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10793" y="257175"/>
            <a:ext cx="110771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Do · 检查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2957959"/>
            <a:ext cx="446913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B03C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3150" dirty="0"/>
          </a:p>
        </p:txBody>
      </p:sp>
      <p:sp>
        <p:nvSpPr>
          <p:cNvPr id="8" name="Text 6"/>
          <p:cNvSpPr/>
          <p:nvPr/>
        </p:nvSpPr>
        <p:spPr>
          <a:xfrm>
            <a:off x="1562100" y="2957959"/>
            <a:ext cx="6587716" cy="441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0"/>
              </a:lnSpc>
              <a:buNone/>
            </a:pPr>
            <a:r>
              <a:rPr lang="en-US" sz="24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每个颜色后面都有一个字，是什么？会的举手。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3767584"/>
            <a:ext cx="446913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B03C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3150" dirty="0"/>
          </a:p>
        </p:txBody>
      </p:sp>
      <p:sp>
        <p:nvSpPr>
          <p:cNvPr id="10" name="Text 8"/>
          <p:cNvSpPr/>
          <p:nvPr/>
        </p:nvSpPr>
        <p:spPr>
          <a:xfrm>
            <a:off x="1562100" y="3767584"/>
            <a:ext cx="6572232" cy="441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0"/>
              </a:lnSpc>
              <a:buNone/>
            </a:pPr>
            <a:r>
              <a:rPr lang="en-US" sz="24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怎么说 </a:t>
            </a:r>
            <a:r>
              <a:rPr lang="en-US" sz="2400" b="1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my dad likes yellow</a:t>
            </a:r>
            <a:r>
              <a:rPr lang="en-US" sz="24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？写在小白板上。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14400" y="4577209"/>
            <a:ext cx="446913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B03C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3150" dirty="0"/>
          </a:p>
        </p:txBody>
      </p:sp>
      <p:sp>
        <p:nvSpPr>
          <p:cNvPr id="12" name="Text 10"/>
          <p:cNvSpPr/>
          <p:nvPr/>
        </p:nvSpPr>
        <p:spPr>
          <a:xfrm>
            <a:off x="1562100" y="4577209"/>
            <a:ext cx="4436947" cy="5799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68"/>
              </a:lnSpc>
              <a:buNone/>
            </a:pPr>
            <a:r>
              <a:rPr lang="en-US" sz="24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这句对不对？ </a:t>
            </a:r>
            <a:r>
              <a:rPr lang="en-US" sz="3150" b="1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我黑色喜欢。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914400" y="5500092"/>
            <a:ext cx="16459200" cy="971550"/>
          </a:xfrm>
          <a:prstGeom prst="roundRect">
            <a:avLst>
              <a:gd name="adj" fmla="val 11765"/>
            </a:avLst>
          </a:prstGeom>
          <a:solidFill>
            <a:srgbClr val="F2EFE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219200" y="5690592"/>
            <a:ext cx="2564892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B03C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我黑色喜欢。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4000500" y="5771555"/>
            <a:ext cx="31089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→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4572000" y="5690592"/>
            <a:ext cx="2564892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我喜欢黑色。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914400" y="6624042"/>
            <a:ext cx="16459200" cy="971550"/>
          </a:xfrm>
          <a:prstGeom prst="roundRect">
            <a:avLst>
              <a:gd name="adj" fmla="val 11765"/>
            </a:avLst>
          </a:prstGeom>
          <a:solidFill>
            <a:srgbClr val="F2EFE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219200" y="6814542"/>
            <a:ext cx="2992374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B03C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我妈妈喜欢黄。</a:t>
            </a:r>
            <a:endParaRPr lang="en-US" sz="3300" dirty="0"/>
          </a:p>
        </p:txBody>
      </p:sp>
      <p:sp>
        <p:nvSpPr>
          <p:cNvPr id="19" name="Text 17"/>
          <p:cNvSpPr/>
          <p:nvPr/>
        </p:nvSpPr>
        <p:spPr>
          <a:xfrm>
            <a:off x="4419600" y="6895505"/>
            <a:ext cx="31089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→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991100" y="6814542"/>
            <a:ext cx="3419856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我妈妈喜欢黄色。</a:t>
            </a:r>
            <a:endParaRPr lang="en-US" sz="3300" dirty="0"/>
          </a:p>
        </p:txBody>
      </p:sp>
      <p:sp>
        <p:nvSpPr>
          <p:cNvPr id="21" name="Shape 19"/>
          <p:cNvSpPr/>
          <p:nvPr/>
        </p:nvSpPr>
        <p:spPr>
          <a:xfrm>
            <a:off x="0" y="931068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2000" y="9463088"/>
            <a:ext cx="343397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1 of 8 · 喜欢 + 黑色 白色 黄色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4024967" y="9463088"/>
            <a:ext cx="357105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Book 1 · Unit 5 · 课本 p.96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66700"/>
            <a:ext cx="1545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Y7 · L13 颜色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10793" y="257175"/>
            <a:ext cx="132419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 Do · 课文一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2318445"/>
            <a:ext cx="1678838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CD T60 · 课本 p.96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2908995"/>
            <a:ext cx="1678838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wǒ bàba xǐhuan hēisè hé báisè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914400" y="3347145"/>
            <a:ext cx="16788384" cy="643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70"/>
              </a:lnSpc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我爸爸喜欢黑色和白色。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914400" y="4181475"/>
            <a:ext cx="16788384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wǒ māma xǐhuan huángsè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914400" y="4619625"/>
            <a:ext cx="16788384" cy="643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70"/>
              </a:lnSpc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我妈妈喜欢黄色。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914400" y="5473005"/>
            <a:ext cx="16459200" cy="2762250"/>
          </a:xfrm>
          <a:prstGeom prst="roundRect">
            <a:avLst>
              <a:gd name="adj" fmla="val 6897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247775" y="5730180"/>
            <a:ext cx="1532334" cy="381000"/>
          </a:xfrm>
          <a:prstGeom prst="roundRect">
            <a:avLst>
              <a:gd name="adj" fmla="val 2497500"/>
            </a:avLst>
          </a:prstGeom>
          <a:solidFill>
            <a:srgbClr val="B03C2C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438275" y="5787330"/>
            <a:ext cx="117436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03C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听 · 读 · 问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47775" y="6263580"/>
            <a:ext cx="15792450" cy="1600200"/>
          </a:xfrm>
          <a:prstGeom prst="rect">
            <a:avLst/>
          </a:prstGeom>
          <a:noFill/>
          <a:ln/>
        </p:spPr>
        <p:txBody>
          <a:bodyPr wrap="square" lIns="161925" tIns="0" rIns="0" bIns="0" rtlCol="0" anchor="t"/>
          <a:lstStyle/>
          <a:p>
            <a:pPr algn="l" marL="161925" indent="-161925">
              <a:lnSpc>
                <a:spcPts val="3600"/>
              </a:lnSpc>
              <a:spcAft>
                <a:spcPts val="900"/>
              </a:spcAft>
              <a:buSzPct val="100000"/>
              <a:buChar char="•"/>
            </a:pPr>
            <a:r>
              <a:rPr lang="en-US" sz="225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What colour does mum like?</a:t>
            </a:r>
            <a:endParaRPr lang="en-US" sz="2250" dirty="0"/>
          </a:p>
          <a:p>
            <a:pPr algn="l" marL="161925" indent="-161925">
              <a:lnSpc>
                <a:spcPts val="3600"/>
              </a:lnSpc>
              <a:spcAft>
                <a:spcPts val="900"/>
              </a:spcAft>
              <a:buSzPct val="100000"/>
              <a:buChar char="•"/>
            </a:pPr>
            <a:r>
              <a:rPr lang="en-US" sz="225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爸爸喜欢几个颜色？</a:t>
            </a:r>
            <a:endParaRPr lang="en-US" sz="2250" dirty="0"/>
          </a:p>
          <a:p>
            <a:pPr algn="l" marL="161925" indent="-161925">
              <a:lnSpc>
                <a:spcPts val="3600"/>
              </a:lnSpc>
              <a:spcAft>
                <a:spcPts val="900"/>
              </a:spcAft>
              <a:buSzPct val="100000"/>
              <a:buChar char="•"/>
            </a:pPr>
            <a:r>
              <a:rPr lang="en-US" sz="225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「和」以前学过 — 我家有三口人：爸爸、妈妈和我。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0" y="931068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2000" y="9463088"/>
            <a:ext cx="343397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1 of 8 · 喜欢 + 黑色 白色 黄色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4024967" y="9463088"/>
            <a:ext cx="357105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Book 1 · Unit 5 · 课本 p.96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66700"/>
            <a:ext cx="1545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Y7 · L13 颜色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10793" y="257175"/>
            <a:ext cx="251069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We Do · 活动一 (20–27)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2248049"/>
            <a:ext cx="1678838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F70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活动一 · 我家的颜色 · 7 分钟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2857649"/>
            <a:ext cx="466344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3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562100" y="2876699"/>
            <a:ext cx="9052569" cy="53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写四句话，一个人一句 — 真的家人或者自己编的都可以。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4400" y="3579614"/>
            <a:ext cx="466344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3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1562100" y="3598664"/>
            <a:ext cx="6698685" cy="53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四句话里，三个颜色都要用到，至少一次。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914400" y="4301579"/>
            <a:ext cx="466344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3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1562100" y="4320629"/>
            <a:ext cx="4230797" cy="53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其中一句一定要用「不」。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914400" y="5080695"/>
            <a:ext cx="16459200" cy="1859161"/>
          </a:xfrm>
          <a:prstGeom prst="roundRect">
            <a:avLst>
              <a:gd name="adj" fmla="val 10247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228725" y="5318820"/>
            <a:ext cx="16147161" cy="643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70"/>
              </a:lnSpc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我爸爸喜欢黑色。</a:t>
            </a:r>
            <a:endParaRPr lang="en-US" sz="3900" dirty="0"/>
          </a:p>
        </p:txBody>
      </p:sp>
      <p:sp>
        <p:nvSpPr>
          <p:cNvPr id="16" name="Text 14"/>
          <p:cNvSpPr/>
          <p:nvPr/>
        </p:nvSpPr>
        <p:spPr>
          <a:xfrm>
            <a:off x="1228725" y="6057900"/>
            <a:ext cx="16147161" cy="643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70"/>
              </a:lnSpc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我妈妈不喜欢白色。</a:t>
            </a:r>
            <a:endParaRPr lang="en-US" sz="3900" dirty="0"/>
          </a:p>
        </p:txBody>
      </p:sp>
      <p:sp>
        <p:nvSpPr>
          <p:cNvPr id="17" name="Text 15"/>
          <p:cNvSpPr/>
          <p:nvPr/>
        </p:nvSpPr>
        <p:spPr>
          <a:xfrm>
            <a:off x="914400" y="7130355"/>
            <a:ext cx="16459200" cy="1175296"/>
          </a:xfrm>
          <a:prstGeom prst="roundRect">
            <a:avLst>
              <a:gd name="adj" fmla="val 9725"/>
            </a:avLst>
          </a:prstGeom>
          <a:solidFill>
            <a:srgbClr val="B0822C">
              <a:alpha val="12000"/>
            </a:srgbClr>
          </a:solidFill>
          <a:ln w="19050">
            <a:solidFill>
              <a:srgbClr val="B082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238250" y="7416105"/>
            <a:ext cx="47590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B082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更难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895326" y="7358955"/>
            <a:ext cx="12207374" cy="71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45"/>
              </a:lnSpc>
              <a:buNone/>
            </a:pPr>
            <a:r>
              <a:rPr lang="en-US" sz="21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写成一段话，不要分开的四句 — </a:t>
            </a:r>
            <a:r>
              <a:rPr lang="en-US" sz="2100" b="1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我喜欢黑色，我爸爸也喜欢黑色，我妈妈不喜欢黑色，她喜欢黄色。</a:t>
            </a:r>
            <a:r>
              <a:rPr lang="en-US" sz="180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Then read it to the class with the board covered.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0" y="931068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2000" y="9463088"/>
            <a:ext cx="343397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1 of 8 · 喜欢 + 黑色 白色 黄色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4024967" y="9463088"/>
            <a:ext cx="357105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Book 1 · Unit 5 · 课本 p.96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66700"/>
            <a:ext cx="1545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Y7 · L13 颜色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10793" y="257175"/>
            <a:ext cx="258735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You Do · 活动二 (27–36)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3067050"/>
            <a:ext cx="1678838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F70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活动二 · 练习本 pp.135–136 · 9 分钟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3676650"/>
            <a:ext cx="466344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3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562100" y="3695700"/>
            <a:ext cx="7659761" cy="53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练习本 Ex.2 — 按笔顺抄写：喜 欢 黑 色 白 黄。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4400" y="4398615"/>
            <a:ext cx="466344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3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1562100" y="4417665"/>
            <a:ext cx="12211928" cy="53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练习本 Ex.3 第 1、3、4 格 — 用黑色、白色、黄色画一个小图，下面写汉字。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914400" y="4987230"/>
            <a:ext cx="16459200" cy="1133475"/>
          </a:xfrm>
          <a:prstGeom prst="roundRect">
            <a:avLst>
              <a:gd name="adj" fmla="val 10084"/>
            </a:avLst>
          </a:prstGeom>
          <a:solidFill>
            <a:srgbClr val="2E7D6E">
              <a:alpha val="10000"/>
            </a:srgbClr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238250" y="5196780"/>
            <a:ext cx="76661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!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1503908" y="5196780"/>
            <a:ext cx="6743468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2E7D6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「黑」下面的四点 </a:t>
            </a:r>
            <a:r>
              <a:rPr lang="en-US" sz="2250" b="1" dirty="0">
                <a:solidFill>
                  <a:srgbClr val="2E7D6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灬</a:t>
            </a:r>
            <a:r>
              <a:rPr lang="en-US" sz="2250" b="1" dirty="0">
                <a:solidFill>
                  <a:srgbClr val="2E7D6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 就是「火」，写扁了。</a:t>
            </a:r>
            <a:r>
              <a:rPr lang="en-US" sz="180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That radical comes back in Lesson 3 — 炒 has it on the left.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" y="6311205"/>
            <a:ext cx="16459200" cy="1175296"/>
          </a:xfrm>
          <a:prstGeom prst="roundRect">
            <a:avLst>
              <a:gd name="adj" fmla="val 9725"/>
            </a:avLst>
          </a:prstGeom>
          <a:solidFill>
            <a:srgbClr val="B0822C">
              <a:alpha val="12000"/>
            </a:srgbClr>
          </a:solidFill>
          <a:ln w="19050">
            <a:solidFill>
              <a:srgbClr val="B082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238250" y="6596955"/>
            <a:ext cx="47590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B082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更难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895326" y="6539805"/>
            <a:ext cx="9554132" cy="71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45"/>
              </a:lnSpc>
              <a:buNone/>
            </a:pPr>
            <a:r>
              <a:rPr lang="en-US" sz="21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每个字旁边默写拼音和声调，再写一个你已经学过、下面也有「灬」的字 — </a:t>
            </a:r>
            <a:r>
              <a:rPr lang="en-US" sz="2100" b="1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点</a:t>
            </a:r>
            <a:r>
              <a:rPr lang="en-US" sz="180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Say what 黑 and 点 have in common.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0" y="931068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2000" y="9463088"/>
            <a:ext cx="343397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1 of 8 · 喜欢 + 黑色 白色 黄色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4024967" y="9463088"/>
            <a:ext cx="357105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Book 1 · Unit 5 · 课本 p.96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66700"/>
            <a:ext cx="1545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Y7 · L13 颜色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10793" y="257175"/>
            <a:ext cx="243388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Game · 抢字卡 (36–43)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2248049"/>
            <a:ext cx="1678838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F7040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游戏 · 抢字卡 · 7 分钟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2857649"/>
            <a:ext cx="466344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3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562100" y="2876699"/>
            <a:ext cx="6698685" cy="53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两队，每队一个人上来。黑板上八张卡片。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4400" y="3579614"/>
            <a:ext cx="466344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3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1562100" y="3598664"/>
            <a:ext cx="4935929" cy="53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老师说中文，先拍到的得一分。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914400" y="4301579"/>
            <a:ext cx="466344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3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1562100" y="4320629"/>
            <a:ext cx="4583287" cy="531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5"/>
              </a:lnSpc>
              <a:buNone/>
            </a:pPr>
            <a:r>
              <a:rPr lang="en-US" sz="27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轮流上来，每个人都要玩到。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914400" y="5080695"/>
            <a:ext cx="16459200" cy="1859161"/>
          </a:xfrm>
          <a:prstGeom prst="roundRect">
            <a:avLst>
              <a:gd name="adj" fmla="val 10247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228725" y="5318820"/>
            <a:ext cx="16147161" cy="643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70"/>
              </a:lnSpc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喜欢　黑色　白色　黄色</a:t>
            </a:r>
            <a:endParaRPr lang="en-US" sz="3900" dirty="0"/>
          </a:p>
        </p:txBody>
      </p:sp>
      <p:sp>
        <p:nvSpPr>
          <p:cNvPr id="16" name="Text 14"/>
          <p:cNvSpPr/>
          <p:nvPr/>
        </p:nvSpPr>
        <p:spPr>
          <a:xfrm>
            <a:off x="1228725" y="6057900"/>
            <a:ext cx="16147161" cy="643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70"/>
              </a:lnSpc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校车　火车　地铁　走路</a:t>
            </a:r>
            <a:endParaRPr lang="en-US" sz="3900" dirty="0"/>
          </a:p>
        </p:txBody>
      </p:sp>
      <p:sp>
        <p:nvSpPr>
          <p:cNvPr id="17" name="Text 15"/>
          <p:cNvSpPr/>
          <p:nvPr/>
        </p:nvSpPr>
        <p:spPr>
          <a:xfrm>
            <a:off x="914400" y="7130355"/>
            <a:ext cx="16459200" cy="1175296"/>
          </a:xfrm>
          <a:prstGeom prst="roundRect">
            <a:avLst>
              <a:gd name="adj" fmla="val 9725"/>
            </a:avLst>
          </a:prstGeom>
          <a:solidFill>
            <a:srgbClr val="B0822C">
              <a:alpha val="12000"/>
            </a:srgbClr>
          </a:solidFill>
          <a:ln w="19050">
            <a:solidFill>
              <a:srgbClr val="B082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238250" y="7416105"/>
            <a:ext cx="47590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B082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更难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895326" y="7358955"/>
            <a:ext cx="13410274" cy="71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45"/>
              </a:lnSpc>
              <a:buNone/>
            </a:pPr>
            <a:r>
              <a:rPr lang="en-US" sz="21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老师说一整句 — </a:t>
            </a:r>
            <a:r>
              <a:rPr lang="en-US" sz="2100" b="1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我爸爸喜欢白色。</a:t>
            </a:r>
            <a:r>
              <a:rPr lang="en-US" sz="180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The player slaps only the colour. Then reverse it: teacher says the English, player must say the Chinese before slapping.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0" y="931068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2000" y="9463088"/>
            <a:ext cx="343397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1 of 8 · 喜欢 + 黑色 白色 黄色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4024967" y="9463088"/>
            <a:ext cx="357105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Book 1 · Unit 5 · 课本 p.96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66700"/>
            <a:ext cx="1545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Y7 · L13 颜色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10793" y="257175"/>
            <a:ext cx="76798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Plenary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2192685"/>
            <a:ext cx="16459200" cy="390525"/>
          </a:xfrm>
          <a:prstGeom prst="roundRect">
            <a:avLst>
              <a:gd name="adj" fmla="val 2436585"/>
            </a:avLst>
          </a:prstGeom>
          <a:solidFill>
            <a:srgbClr val="2E7D6E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104900" y="2249835"/>
            <a:ext cx="16399764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7D6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我做到了吗？ 👍 / 😐 / 👎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2773710"/>
            <a:ext cx="16459200" cy="979140"/>
          </a:xfrm>
          <a:prstGeom prst="roundRect">
            <a:avLst>
              <a:gd name="adj" fmla="val 11674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190625" y="3011835"/>
            <a:ext cx="466344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3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1876425" y="3011835"/>
            <a:ext cx="5019118" cy="441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0"/>
              </a:lnSpc>
              <a:buNone/>
            </a:pPr>
            <a:r>
              <a:rPr lang="en-US" sz="24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我会说三个颜色：黑色、白色、黄色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914400" y="3886200"/>
            <a:ext cx="16459200" cy="979140"/>
          </a:xfrm>
          <a:prstGeom prst="roundRect">
            <a:avLst>
              <a:gd name="adj" fmla="val 11674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190625" y="4124325"/>
            <a:ext cx="466344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3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1876425" y="4124325"/>
            <a:ext cx="4705490" cy="441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0"/>
              </a:lnSpc>
              <a:buNone/>
            </a:pPr>
            <a:r>
              <a:rPr lang="en-US" sz="24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我会用「喜欢」说谁喜欢什么颜色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14400" y="4998690"/>
            <a:ext cx="16459200" cy="979140"/>
          </a:xfrm>
          <a:prstGeom prst="roundRect">
            <a:avLst>
              <a:gd name="adj" fmla="val 11674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190625" y="5236815"/>
            <a:ext cx="466344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3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1876425" y="5236815"/>
            <a:ext cx="3137044" cy="441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0"/>
              </a:lnSpc>
              <a:buNone/>
            </a:pPr>
            <a:r>
              <a:rPr lang="en-US" sz="2400" dirty="0">
                <a:solidFill>
                  <a:srgbClr val="221F1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我会写「喜」和「色」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914400" y="6244530"/>
            <a:ext cx="16459200" cy="1133475"/>
          </a:xfrm>
          <a:prstGeom prst="roundRect">
            <a:avLst>
              <a:gd name="adj" fmla="val 10084"/>
            </a:avLst>
          </a:prstGeom>
          <a:solidFill>
            <a:srgbClr val="2E7D6E">
              <a:alpha val="10000"/>
            </a:srgbClr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238250" y="6454080"/>
            <a:ext cx="318790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✎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1741289" y="6454080"/>
            <a:ext cx="795244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2E7D6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出门条 · Translate into Chinese — </a:t>
            </a:r>
            <a:r>
              <a:rPr lang="en-US" sz="2250" b="1" dirty="0">
                <a:solidFill>
                  <a:srgbClr val="2E7D6E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My mum likes black.</a:t>
            </a:r>
            <a:r>
              <a:rPr lang="en-US" sz="180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写在小白板上，出门的时候给老师看。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14400" y="7530405"/>
            <a:ext cx="16459200" cy="830461"/>
          </a:xfrm>
          <a:prstGeom prst="roundRect">
            <a:avLst>
              <a:gd name="adj" fmla="val 13763"/>
            </a:avLst>
          </a:prstGeom>
          <a:solidFill>
            <a:srgbClr val="B0822C">
              <a:alpha val="12000"/>
            </a:srgbClr>
          </a:solidFill>
          <a:ln w="19050">
            <a:solidFill>
              <a:srgbClr val="B0822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238250" y="7739955"/>
            <a:ext cx="349758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700" b="1" dirty="0">
                <a:solidFill>
                  <a:srgbClr val="B082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→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1771650" y="7739955"/>
            <a:ext cx="9484301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B0822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下节课 · 三个新颜色，完整的课文一，还有把两个颜色连起来的那个字。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0" y="931068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2000" y="9463088"/>
            <a:ext cx="343397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1 of 8 · 喜欢 + 黑色 白色 黄色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14024967" y="9463088"/>
            <a:ext cx="357105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Book 1 · Unit 5 · 课本 p.96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2000" y="266700"/>
            <a:ext cx="1545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4C7C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Y7 · L13 颜色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10793" y="257175"/>
            <a:ext cx="80927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>
                <a:solidFill>
                  <a:srgbClr val="56514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Preview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8096250" y="2636639"/>
            <a:ext cx="213741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0"/>
              </a:lnSpc>
              <a:buNone/>
            </a:pPr>
            <a:r>
              <a:rPr lang="en-US" sz="16500" b="1" dirty="0">
                <a:solidFill>
                  <a:srgbClr val="2C4C7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和</a:t>
            </a:r>
            <a:endParaRPr lang="en-US" sz="16500" dirty="0"/>
          </a:p>
        </p:txBody>
      </p:sp>
      <p:sp>
        <p:nvSpPr>
          <p:cNvPr id="8" name="Text 6"/>
          <p:cNvSpPr/>
          <p:nvPr/>
        </p:nvSpPr>
        <p:spPr>
          <a:xfrm>
            <a:off x="2995464" y="4998839"/>
            <a:ext cx="12543014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40"/>
              </a:lnSpc>
              <a:buNone/>
            </a:pPr>
            <a:r>
              <a:rPr lang="en-US" sz="42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Next — three more colours, and how to join two of them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991225" y="5905500"/>
            <a:ext cx="6305550" cy="2011561"/>
          </a:xfrm>
          <a:prstGeom prst="roundRect">
            <a:avLst>
              <a:gd name="adj" fmla="val 9470"/>
            </a:avLst>
          </a:prstGeom>
          <a:solidFill>
            <a:srgbClr val="F2EFE7"/>
          </a:solidFill>
          <a:ln w="9525">
            <a:solidFill>
              <a:srgbClr val="E2DBC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419850" y="6200775"/>
            <a:ext cx="5557266" cy="643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70"/>
              </a:lnSpc>
              <a:buNone/>
            </a:pPr>
            <a:r>
              <a:rPr lang="en-US" sz="3900" b="1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蓝色　红色　粉红色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6419850" y="6977955"/>
            <a:ext cx="5557266" cy="6438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070"/>
              </a:lnSpc>
              <a:buNone/>
            </a:pPr>
            <a:r>
              <a:rPr lang="en-US" sz="39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我爸爸喜欢黑色</a:t>
            </a:r>
            <a:r>
              <a:rPr lang="en-US" sz="3900" b="1" dirty="0">
                <a:solidFill>
                  <a:srgbClr val="B03C2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和</a:t>
            </a:r>
            <a:r>
              <a:rPr lang="en-US" sz="3900" dirty="0">
                <a:solidFill>
                  <a:srgbClr val="221F1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白色。</a:t>
            </a:r>
            <a:endParaRPr lang="en-US" sz="3900" dirty="0"/>
          </a:p>
        </p:txBody>
      </p:sp>
      <p:sp>
        <p:nvSpPr>
          <p:cNvPr id="12" name="Shape 10"/>
          <p:cNvSpPr/>
          <p:nvPr/>
        </p:nvSpPr>
        <p:spPr>
          <a:xfrm>
            <a:off x="0" y="931068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2000" y="9463088"/>
            <a:ext cx="343397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Lesson 1 of 8 · 喜欢 + 黑色 白色 黄色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4024967" y="9463088"/>
            <a:ext cx="357105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8C857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轻松学中文 Book 1 · Unit 5 · 课本 p.96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2026-09-14T06:45:14Z</dcterms:created>
  <dcterms:modified xsi:type="dcterms:W3CDTF">2026-09-14T06:45:14Z</dcterms:modified>
</cp:coreProperties>
</file>