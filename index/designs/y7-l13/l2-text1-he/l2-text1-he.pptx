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4545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Title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430250" y="5181600"/>
            <a:ext cx="427482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</a:t>
            </a:r>
            <a:endParaRPr lang="en-US" sz="33000" dirty="0"/>
          </a:p>
        </p:txBody>
      </p:sp>
      <p:sp>
        <p:nvSpPr>
          <p:cNvPr id="8" name="Text 6"/>
          <p:cNvSpPr/>
          <p:nvPr/>
        </p:nvSpPr>
        <p:spPr>
          <a:xfrm>
            <a:off x="749808" y="2629346"/>
            <a:ext cx="1678838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Y7 UNIT 5 · 轻松学中文 1</a:t>
            </a:r>
            <a:endParaRPr lang="en-US" sz="1950" dirty="0"/>
          </a:p>
        </p:txBody>
      </p:sp>
      <p:pic>
        <p:nvPicPr>
          <p:cNvPr id="9" name="Image 0" descr="/var/folders/6c/210dcgxn4gz5sm71vld2cy1h0000gn/T/tmp.3MeIcQemFz/l2-text1-he/slides/01-title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543" y="3172271"/>
            <a:ext cx="1496764" cy="14287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" y="5430589"/>
            <a:ext cx="16788384" cy="1312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35"/>
              </a:lnSpc>
              <a:spcBef>
                <a:spcPts val="6532"/>
              </a:spcBef>
              <a:spcAft>
                <a:spcPts val="900"/>
              </a:spcAft>
              <a:buNone/>
            </a:pPr>
            <a:r>
              <a:rPr lang="en-US" sz="975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</a:t>
            </a:r>
            <a:r>
              <a:rPr lang="en-US" sz="97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975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红色</a:t>
            </a:r>
            <a:r>
              <a:rPr lang="en-US" sz="97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975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endParaRPr lang="en-US" sz="9750" dirty="0"/>
          </a:p>
        </p:txBody>
      </p:sp>
      <p:sp>
        <p:nvSpPr>
          <p:cNvPr id="11" name="Text 8"/>
          <p:cNvSpPr/>
          <p:nvPr/>
        </p:nvSpPr>
        <p:spPr>
          <a:xfrm>
            <a:off x="749808" y="6857405"/>
            <a:ext cx="16788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Blue · Red · Pink · and joining two colours</a:t>
            </a:r>
            <a:endParaRPr lang="en-US" sz="2550" dirty="0"/>
          </a:p>
        </p:txBody>
      </p:sp>
      <p:sp>
        <p:nvSpPr>
          <p:cNvPr id="12" name="Text 9"/>
          <p:cNvSpPr/>
          <p:nvPr/>
        </p:nvSpPr>
        <p:spPr>
          <a:xfrm>
            <a:off x="6214015" y="7638455"/>
            <a:ext cx="17311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7 Chinese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8463021" y="7638455"/>
            <a:ext cx="829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50 分钟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9820207" y="7638455"/>
            <a:ext cx="6749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Mixed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1021184" y="7638455"/>
            <a:ext cx="104593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课本 p.96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4262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Review · 复习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49808" y="2747963"/>
            <a:ext cx="167883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上节课 — 看到就说，不要看拼音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328136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" name="Image 0" descr="/var/folders/6c/210dcgxn4gz5sm71vld2cy1h0000gn/T/tmp.3MeIcQemFz/l2-text1-he/slides/02-review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7146" y="3462338"/>
            <a:ext cx="957858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390775" y="445293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endParaRPr lang="en-US" sz="3900" dirty="0"/>
          </a:p>
        </p:txBody>
      </p:sp>
      <p:sp>
        <p:nvSpPr>
          <p:cNvPr id="11" name="Text 8"/>
          <p:cNvSpPr/>
          <p:nvPr/>
        </p:nvSpPr>
        <p:spPr>
          <a:xfrm>
            <a:off x="5086350" y="328136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562725" y="395763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</a:t>
            </a:r>
            <a:endParaRPr lang="en-US" sz="3900" dirty="0"/>
          </a:p>
        </p:txBody>
      </p:sp>
      <p:sp>
        <p:nvSpPr>
          <p:cNvPr id="13" name="Text 10"/>
          <p:cNvSpPr/>
          <p:nvPr/>
        </p:nvSpPr>
        <p:spPr>
          <a:xfrm>
            <a:off x="9258300" y="328136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10734675" y="3976687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endParaRPr lang="en-US" sz="3900" dirty="0"/>
          </a:p>
        </p:txBody>
      </p:sp>
      <p:sp>
        <p:nvSpPr>
          <p:cNvPr id="15" name="Text 12"/>
          <p:cNvSpPr/>
          <p:nvPr/>
        </p:nvSpPr>
        <p:spPr>
          <a:xfrm>
            <a:off x="13430250" y="328136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4906625" y="395763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黄色</a:t>
            </a:r>
            <a:endParaRPr lang="en-US" sz="3900" dirty="0"/>
          </a:p>
        </p:txBody>
      </p:sp>
      <p:sp>
        <p:nvSpPr>
          <p:cNvPr id="17" name="Text 14"/>
          <p:cNvSpPr/>
          <p:nvPr/>
        </p:nvSpPr>
        <p:spPr>
          <a:xfrm>
            <a:off x="914400" y="5710238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1219200" y="5900738"/>
            <a:ext cx="25648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我白色喜欢。</a:t>
            </a:r>
            <a:endParaRPr lang="en-US" sz="3300" dirty="0"/>
          </a:p>
        </p:txBody>
      </p:sp>
      <p:sp>
        <p:nvSpPr>
          <p:cNvPr id="19" name="Text 16"/>
          <p:cNvSpPr/>
          <p:nvPr/>
        </p:nvSpPr>
        <p:spPr>
          <a:xfrm>
            <a:off x="4000500" y="5981700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4572000" y="5900738"/>
            <a:ext cx="25648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我喜欢白色。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914400" y="6834188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1219200" y="7024688"/>
            <a:ext cx="299237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我妈妈喜欢黄。</a:t>
            </a:r>
            <a:endParaRPr lang="en-US" sz="3300" dirty="0"/>
          </a:p>
        </p:txBody>
      </p:sp>
      <p:sp>
        <p:nvSpPr>
          <p:cNvPr id="23" name="Text 20"/>
          <p:cNvSpPr/>
          <p:nvPr/>
        </p:nvSpPr>
        <p:spPr>
          <a:xfrm>
            <a:off x="4419600" y="7105650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4991100" y="7024688"/>
            <a:ext cx="341985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我妈妈喜欢黄色。</a:t>
            </a:r>
            <a:endParaRPr lang="en-US" sz="3300" dirty="0"/>
          </a:p>
        </p:txBody>
      </p:sp>
      <p:sp>
        <p:nvSpPr>
          <p:cNvPr id="25" name="Shape 22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7435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 · SC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602260"/>
            <a:ext cx="3627983" cy="381000"/>
          </a:xfrm>
          <a:prstGeom prst="roundRect">
            <a:avLst>
              <a:gd name="adj" fmla="val 2497500"/>
            </a:avLst>
          </a:prstGeom>
          <a:solidFill>
            <a:srgbClr val="2C4C7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04900" y="2659410"/>
            <a:ext cx="33119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今天我们学 · Learning Intention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154710"/>
            <a:ext cx="16788384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2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我们学怎么说一个人喜欢两个颜色。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4080421"/>
            <a:ext cx="2825204" cy="381000"/>
          </a:xfrm>
          <a:prstGeom prst="roundRect">
            <a:avLst>
              <a:gd name="adj" fmla="val 2497500"/>
            </a:avLst>
          </a:prstGeom>
          <a:solidFill>
            <a:srgbClr val="2E7D6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4900" y="4137571"/>
            <a:ext cx="2493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 · Success Criteria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670971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90625" y="490909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876425" y="4909096"/>
            <a:ext cx="8689149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我会再说三个颜色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three more colours — 蓝色、红色、粉红色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5821561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0625" y="605968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876425" y="6059686"/>
            <a:ext cx="10909899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我会用「和」把两个颜色连起来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join two colours with 和 — 我爸爸喜欢黑色和白色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6972151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90625" y="721027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876425" y="7210276"/>
            <a:ext cx="10814111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我看得懂课文一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understand Text 1 and say which colour each family member likes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生词 · 第一组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269778"/>
            <a:ext cx="7962900" cy="6013996"/>
          </a:xfrm>
          <a:prstGeom prst="roundRect">
            <a:avLst>
              <a:gd name="adj" fmla="val 4435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var/folders/6c/210dcgxn4gz5sm71vld2cy1h0000gn/T/tmp.3MeIcQemFz/l2-text1-he/slides/04-vocab-a1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8670" y="2669828"/>
            <a:ext cx="2494508" cy="2381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76650" y="5222528"/>
            <a:ext cx="2487168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</a:t>
            </a:r>
            <a:endParaRPr lang="en-US" sz="9600" dirty="0"/>
          </a:p>
        </p:txBody>
      </p:sp>
      <p:sp>
        <p:nvSpPr>
          <p:cNvPr id="10" name="Text 7"/>
          <p:cNvSpPr/>
          <p:nvPr/>
        </p:nvSpPr>
        <p:spPr>
          <a:xfrm>
            <a:off x="4331940" y="6674048"/>
            <a:ext cx="115037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lánsè</a:t>
            </a:r>
            <a:endParaRPr lang="en-US" sz="3450" dirty="0"/>
          </a:p>
        </p:txBody>
      </p:sp>
      <p:sp>
        <p:nvSpPr>
          <p:cNvPr id="11" name="Text 8"/>
          <p:cNvSpPr/>
          <p:nvPr/>
        </p:nvSpPr>
        <p:spPr>
          <a:xfrm>
            <a:off x="4576465" y="7464623"/>
            <a:ext cx="6515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blue</a:t>
            </a:r>
            <a:endParaRPr lang="en-US" sz="2550" dirty="0"/>
          </a:p>
        </p:txBody>
      </p:sp>
      <p:sp>
        <p:nvSpPr>
          <p:cNvPr id="12" name="Text 9"/>
          <p:cNvSpPr/>
          <p:nvPr/>
        </p:nvSpPr>
        <p:spPr>
          <a:xfrm>
            <a:off x="9410700" y="2269778"/>
            <a:ext cx="7962900" cy="6013996"/>
          </a:xfrm>
          <a:prstGeom prst="roundRect">
            <a:avLst>
              <a:gd name="adj" fmla="val 4435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3MeIcQemFz/l2-text1-he/slides/04-vocab-a1-art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970" y="2669828"/>
            <a:ext cx="2494508" cy="2381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172950" y="5222528"/>
            <a:ext cx="2487168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红色</a:t>
            </a:r>
            <a:endParaRPr lang="en-US" sz="9600" dirty="0"/>
          </a:p>
        </p:txBody>
      </p:sp>
      <p:sp>
        <p:nvSpPr>
          <p:cNvPr id="15" name="Text 11"/>
          <p:cNvSpPr/>
          <p:nvPr/>
        </p:nvSpPr>
        <p:spPr>
          <a:xfrm>
            <a:off x="12609016" y="6674048"/>
            <a:ext cx="1597593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hóngsè</a:t>
            </a:r>
            <a:endParaRPr lang="en-US" sz="3450" dirty="0"/>
          </a:p>
        </p:txBody>
      </p:sp>
      <p:sp>
        <p:nvSpPr>
          <p:cNvPr id="16" name="Text 12"/>
          <p:cNvSpPr/>
          <p:nvPr/>
        </p:nvSpPr>
        <p:spPr>
          <a:xfrm>
            <a:off x="13143905" y="7464623"/>
            <a:ext cx="5062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red</a:t>
            </a:r>
            <a:endParaRPr lang="en-US" sz="2550" dirty="0"/>
          </a:p>
        </p:txBody>
      </p:sp>
      <p:sp>
        <p:nvSpPr>
          <p:cNvPr id="17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例句 · 第一组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644229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gēge xǐhuan lánsè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14400" y="3101429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14400" y="380241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older brother likes blue.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450726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jiějie xǐhuan hóngsè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14400" y="496446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我姐姐喜欢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红色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14400" y="566544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older sister likes red.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637029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lánsè，wǒ bù xǐhuan hóngsè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682749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，我不喜欢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红色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14400" y="7528471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blue, I don't like red.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2313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写一句 · 第一组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526185"/>
            <a:ext cx="16459200" cy="1241971"/>
          </a:xfrm>
          <a:prstGeom prst="rect">
            <a:avLst/>
          </a:prstGeom>
          <a:solidFill>
            <a:srgbClr val="E7E2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942975" y="3526185"/>
            <a:ext cx="0" cy="1241971"/>
          </a:xfrm>
          <a:prstGeom prst="line">
            <a:avLst/>
          </a:prstGeom>
          <a:noFill/>
          <a:ln w="57150">
            <a:solidFill>
              <a:srgbClr val="2C4C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76350" y="3754785"/>
            <a:ext cx="16108299" cy="78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，我不喜欢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04900" y="5205264"/>
            <a:ext cx="5644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 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039243" y="5072955"/>
            <a:ext cx="4417820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在小白板上写一句。60 秒。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852071"/>
            <a:ext cx="16459200" cy="1175296"/>
          </a:xfrm>
          <a:prstGeom prst="roundRect">
            <a:avLst>
              <a:gd name="adj" fmla="val 972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38250" y="6137821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895326" y="6080671"/>
            <a:ext cx="9476408" cy="71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写两个人，意见不一样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我哥哥喜欢蓝色，我妈妈不喜欢蓝色，她喜欢红色。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 board — cover it first.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生词 · 第二组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1938337"/>
            <a:ext cx="7962900" cy="6677025"/>
          </a:xfrm>
          <a:prstGeom prst="roundRect">
            <a:avLst>
              <a:gd name="adj" fmla="val 3994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var/folders/6c/210dcgxn4gz5sm71vld2cy1h0000gn/T/tmp.3MeIcQemFz/l2-text1-he/slides/07-vocab-a2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8670" y="2338388"/>
            <a:ext cx="2494508" cy="2381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67100" y="4891088"/>
            <a:ext cx="29146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粉红色</a:t>
            </a:r>
            <a:endParaRPr lang="en-US" sz="7500" dirty="0"/>
          </a:p>
        </p:txBody>
      </p:sp>
      <p:sp>
        <p:nvSpPr>
          <p:cNvPr id="10" name="Text 7"/>
          <p:cNvSpPr/>
          <p:nvPr/>
        </p:nvSpPr>
        <p:spPr>
          <a:xfrm>
            <a:off x="3766691" y="6062663"/>
            <a:ext cx="23034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fěnhóngsè</a:t>
            </a:r>
            <a:endParaRPr lang="en-US" sz="3450" dirty="0"/>
          </a:p>
        </p:txBody>
      </p:sp>
      <p:sp>
        <p:nvSpPr>
          <p:cNvPr id="11" name="Text 8"/>
          <p:cNvSpPr/>
          <p:nvPr/>
        </p:nvSpPr>
        <p:spPr>
          <a:xfrm>
            <a:off x="4577060" y="6853238"/>
            <a:ext cx="65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pink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1969740" y="7486650"/>
            <a:ext cx="5852071" cy="0"/>
          </a:xfrm>
          <a:prstGeom prst="line">
            <a:avLst/>
          </a:prstGeom>
          <a:noFill/>
          <a:ln w="9525">
            <a:solidFill>
              <a:srgbClr val="CFC4A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911220" y="7548563"/>
            <a:ext cx="5969112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粉</a:t>
            </a:r>
            <a:r>
              <a:rPr lang="en-US" sz="19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= powder + 红色 — powder-red. 只有「粉」是新字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9410700" y="1938337"/>
            <a:ext cx="7962900" cy="6677025"/>
          </a:xfrm>
          <a:prstGeom prst="roundRect">
            <a:avLst>
              <a:gd name="adj" fmla="val 3994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12782550" y="4891088"/>
            <a:ext cx="1243584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endParaRPr lang="en-US" sz="9600" dirty="0"/>
          </a:p>
        </p:txBody>
      </p:sp>
      <p:sp>
        <p:nvSpPr>
          <p:cNvPr id="16" name="Text 13"/>
          <p:cNvSpPr/>
          <p:nvPr/>
        </p:nvSpPr>
        <p:spPr>
          <a:xfrm>
            <a:off x="13134975" y="6342608"/>
            <a:ext cx="52448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hé</a:t>
            </a:r>
            <a:endParaRPr lang="en-US" sz="3450" dirty="0"/>
          </a:p>
        </p:txBody>
      </p:sp>
      <p:sp>
        <p:nvSpPr>
          <p:cNvPr id="17" name="Text 14"/>
          <p:cNvSpPr/>
          <p:nvPr/>
        </p:nvSpPr>
        <p:spPr>
          <a:xfrm>
            <a:off x="13111758" y="7133183"/>
            <a:ext cx="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and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例句 · 第二组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644229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fěnhóngsè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14400" y="3101429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粉红色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14400" y="380241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pink.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450726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māma xǐhuan hóngsè hé fěnhóngsè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14400" y="496446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我妈妈喜欢红色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和粉红色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14400" y="566544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mum likes red and pink.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637029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bàba xǐhuan hēisè hé báisè，wǒ xǐhuan fěnhóngsè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682749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白色，我喜欢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粉红色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14400" y="7528471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dad likes black and white, I like pink.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2313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写一句 · 第二组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691979"/>
            <a:ext cx="16459200" cy="1241971"/>
          </a:xfrm>
          <a:prstGeom prst="rect">
            <a:avLst/>
          </a:prstGeom>
          <a:solidFill>
            <a:srgbClr val="E7E2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942975" y="3691979"/>
            <a:ext cx="0" cy="1241971"/>
          </a:xfrm>
          <a:prstGeom prst="line">
            <a:avLst/>
          </a:prstGeom>
          <a:noFill/>
          <a:ln w="57150">
            <a:solidFill>
              <a:srgbClr val="2C4C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76350" y="3920579"/>
            <a:ext cx="16108299" cy="78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04900" y="5371058"/>
            <a:ext cx="5644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 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039243" y="5238750"/>
            <a:ext cx="4417820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在小白板上写一句。60 秒。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6017865"/>
            <a:ext cx="16459200" cy="843855"/>
          </a:xfrm>
          <a:prstGeom prst="roundRect">
            <a:avLst>
              <a:gd name="adj" fmla="val 1354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38250" y="6303615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895326" y="6246465"/>
            <a:ext cx="141611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一句话，三个人，四个颜色，「和」用两次，再加一个「也」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我爸爸喜欢黑色和白色，我哥哥也喜欢蓝色和红色。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10771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认字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49808" y="4224338"/>
            <a:ext cx="167883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读出来 — 没有拼音，没有英文，没有颜色块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4757738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95450" y="54340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3695700" y="4757738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76750" y="545306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477000" y="4757738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258050" y="54340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黄色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258300" y="4757738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039350" y="54340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2039600" y="4757738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820650" y="5434013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红色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4820900" y="4757738"/>
            <a:ext cx="2552700" cy="1571625"/>
          </a:xfrm>
          <a:prstGeom prst="roundRect">
            <a:avLst>
              <a:gd name="adj" fmla="val 12121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554325" y="5434013"/>
            <a:ext cx="110756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粉红色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10771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句型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23900" y="1044178"/>
            <a:ext cx="17177004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人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喜欢 </a:t>
            </a:r>
            <a:r>
              <a:rPr lang="en-US" sz="24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3300" b="1" dirty="0">
                <a:solidFill>
                  <a:srgbClr val="B03C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X色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和 </a:t>
            </a:r>
            <a:r>
              <a:rPr lang="en-US" sz="24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3300" b="1" dirty="0">
                <a:solidFill>
                  <a:srgbClr val="B03C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Y色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23900" y="2187178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hóngsè hé lánsè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" y="2606278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我喜欢红色和蓝色。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23900" y="3229570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red and blue.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23900" y="3762970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māma xǐhuan huángsè hé fěnhóngsè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" y="4182070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我妈妈喜欢黄色和粉红色。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23900" y="4805363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mum likes yellow and pink.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23900" y="5338763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gēge bù xǐhuan hēisè hé báisè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" y="5757863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我哥哥不喜欢黑色和白色。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723900" y="6381155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brother doesn't like black and white.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723900" y="6914555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bàba xǐhuan hēisè hé báisè，wǒ māma xǐhuan huángsè，wǒ xǐhuan fěnhóngsè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" y="7333655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我爸爸喜欢黑色和白色，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我妈妈喜欢黄色，我喜欢粉红色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723900" y="7956947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Three people, one sentence — only the first needs 和.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23900" y="8452247"/>
            <a:ext cx="16840200" cy="1057275"/>
          </a:xfrm>
          <a:prstGeom prst="roundRect">
            <a:avLst>
              <a:gd name="adj" fmla="val 10811"/>
            </a:avLst>
          </a:prstGeom>
          <a:solidFill>
            <a:srgbClr val="2C4C7C">
              <a:alpha val="10000"/>
            </a:srgbClr>
          </a:solidFill>
          <a:ln w="19050">
            <a:solidFill>
              <a:srgbClr val="2C4C7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09650" y="8623697"/>
            <a:ext cx="34975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543050" y="8623697"/>
            <a:ext cx="658938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「和」连两个东西，放在中间，不放在最后。</a:t>
            </a:r>
            <a:r>
              <a:rPr lang="en-US" sz="12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✗ 我喜欢红色蓝色 ✗ 我喜欢红色蓝色和 ✓ 我喜欢红色和蓝色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10771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检查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519934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562100" y="3519934"/>
            <a:ext cx="5646527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「和」可以连几个东西？用手指给我看。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329559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1562100" y="4329559"/>
            <a:ext cx="6322210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怎么说 </a:t>
            </a:r>
            <a:r>
              <a:rPr lang="en-US" sz="24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red and blue</a:t>
            </a: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？写在小白板上。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39184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1562100" y="5139184"/>
            <a:ext cx="5566678" cy="579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这句少了什么？ </a:t>
            </a:r>
            <a:r>
              <a:rPr lang="en-US" sz="315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我喜欢红色蓝色。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6062067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19200" y="6252567"/>
            <a:ext cx="341985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我喜欢红色蓝色。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4838700" y="6333530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10200" y="6252567"/>
            <a:ext cx="384733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我喜欢红色和蓝色。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3241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课文一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23900" y="1080195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CD T60 · 课本 p.96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23900" y="1670745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bàba xǐhuan hēisè hé báisè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" y="2108895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我爸爸喜欢黑色和白色。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23900" y="2903637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māma xǐhuan huángsè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723900" y="3341787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我妈妈喜欢黄色。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723900" y="4136529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gēge xǐhuan lánsè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723900" y="4574679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我哥哥喜欢蓝色。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723900" y="5369421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jiějie xǐhuan hóngsè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" y="5807571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我姐姐喜欢红色。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723900" y="6602313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fěnhóngsè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723900" y="7040463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我喜欢粉红色。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723900" y="7854255"/>
            <a:ext cx="16840200" cy="16192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57275" y="8111430"/>
            <a:ext cx="1532334" cy="381000"/>
          </a:xfrm>
          <a:prstGeom prst="roundRect">
            <a:avLst>
              <a:gd name="adj" fmla="val 2497500"/>
            </a:avLst>
          </a:prstGeom>
          <a:solidFill>
            <a:srgbClr val="B03C2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47775" y="8168580"/>
            <a:ext cx="11743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3C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 · 读 · 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57275" y="8644830"/>
            <a:ext cx="16173450" cy="457200"/>
          </a:xfrm>
          <a:prstGeom prst="rect">
            <a:avLst/>
          </a:prstGeom>
          <a:noFill/>
          <a:ln/>
        </p:spPr>
        <p:txBody>
          <a:bodyPr wrap="square" lIns="161925" tIns="0" rIns="0" bIns="0" rtlCol="0" anchor="t"/>
          <a:lstStyle/>
          <a:p>
            <a:pPr algn="l" marL="161925" indent="-161925">
              <a:lnSpc>
                <a:spcPts val="3600"/>
              </a:lnSpc>
              <a:spcAft>
                <a:spcPts val="900"/>
              </a:spcAft>
              <a:buSzPct val="100000"/>
              <a:buChar char="•"/>
            </a:pPr>
            <a:r>
              <a:rPr lang="en-US" sz="225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谁喜欢红色？ 爸爸喜欢几个颜色？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5106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 Do · 活动一 (20–27)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054721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五个人，六个颜色 · 7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664321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2683371"/>
            <a:ext cx="4230797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写五句话，一个家人一句。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338628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3405336"/>
            <a:ext cx="9757550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六个颜色都要用到 — 五句话装六个颜色，所以有人要拿两个。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4108252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562100" y="4127302"/>
            <a:ext cx="3525664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至少两句要用「和」。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4887367"/>
            <a:ext cx="16459200" cy="1859161"/>
          </a:xfrm>
          <a:prstGeom prst="roundRect">
            <a:avLst>
              <a:gd name="adj" fmla="val 10247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28725" y="5125492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我爸爸喜欢黑色和白色。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228725" y="5864572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我妈妈喜欢黄色。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14400" y="6937028"/>
            <a:ext cx="16459200" cy="1561951"/>
          </a:xfrm>
          <a:prstGeom prst="roundRect">
            <a:avLst>
              <a:gd name="adj" fmla="val 7318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38250" y="7222778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895326" y="7165628"/>
            <a:ext cx="15457512" cy="1104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写成一段话，不是五句 — 用「也」和一个「不」，最后写你自己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我爸爸喜欢黑色和白色，我哥哥也喜欢黑色，我妈妈不喜欢黑色，她喜欢黄色和粉红色，我喜欢蓝色和红色。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Deliver it to the class with the board covered.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5873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You Do · 活动二 (27–32)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652838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课本 p.98 Ex.4 · CD T62 · 5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262438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4281488"/>
            <a:ext cx="6960549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听两遍，把六个家人和 A–F 的颜色连起来。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4984403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5003453"/>
            <a:ext cx="4935929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全班一起对答案，一题一举手。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725418"/>
            <a:ext cx="16459200" cy="1175296"/>
          </a:xfrm>
          <a:prstGeom prst="roundRect">
            <a:avLst>
              <a:gd name="adj" fmla="val 972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38250" y="6011168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895326" y="5954018"/>
            <a:ext cx="9160502" cy="71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合上书，把听到的默写成完整的句子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爸爸喜欢…… 妈妈喜欢……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 invent two more items in the same style for the teacher to read to the class.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59783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You Do · 活动三 (32–36)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232845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练习本 pp.135–136 · 4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84244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3861495"/>
            <a:ext cx="9417356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练习本 Ex.2 — 按笔顺抄写：蓝 红 粉。课文一的字就全了。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4564410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4583460"/>
            <a:ext cx="10520824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练习本 Ex.3 第 2、5、6 格 — 红色、蓝色、粉红色，画图写汉字。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153025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2E7D6E">
              <a:alpha val="10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38250" y="5362575"/>
            <a:ext cx="76661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!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503908" y="5362575"/>
            <a:ext cx="7567615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「蓝」上面是 </a:t>
            </a: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艹</a:t>
            </a: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（草）— 蓝色本来是植物染的。十三笔。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「红」快得多 — 左边 纟, silk.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6477000"/>
            <a:ext cx="16459200" cy="843855"/>
          </a:xfrm>
          <a:prstGeom prst="roundRect">
            <a:avLst>
              <a:gd name="adj" fmla="val 1354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8250" y="6762750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895326" y="6705600"/>
            <a:ext cx="12519333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不画图，改做练习本 p.138 Ex.8 — 四个格子，每格两三个颜色，下面写一整句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我喜欢黑色和白色。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43388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Game · 传声筒 (36–43)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1819424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传声筒 · 7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429024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2448074"/>
            <a:ext cx="8461441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一排五六个人。老师悄悄告诉第一个人，一个传一个。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3150989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3170039"/>
            <a:ext cx="740381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最后一个人大声说出来。三轮，一轮比一轮长。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3930104"/>
            <a:ext cx="16459200" cy="2598241"/>
          </a:xfrm>
          <a:prstGeom prst="roundRect">
            <a:avLst>
              <a:gd name="adj" fmla="val 733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28725" y="4168229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粉红色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28725" y="4907310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蓝色和红色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28725" y="5646390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我姐姐喜欢粉红色。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914400" y="6566446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2E7D6E">
              <a:alpha val="10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38250" y="6775996"/>
            <a:ext cx="76661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!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03908" y="6775996"/>
            <a:ext cx="838614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难点是三个音的「粉红色」fěn-hóng-sè，还有 蓝/红 的声调。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That is where the chain usually breaks.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7890421"/>
            <a:ext cx="16459200" cy="843855"/>
          </a:xfrm>
          <a:prstGeom prst="roundRect">
            <a:avLst>
              <a:gd name="adj" fmla="val 1354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38250" y="8176171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895326" y="8119021"/>
            <a:ext cx="10447047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让说得好的同学自己编一句带「和」的话开头，最后一个人不说出来，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上黑板写汉字。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7679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Plenary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192685"/>
            <a:ext cx="16459200" cy="390525"/>
          </a:xfrm>
          <a:prstGeom prst="roundRect">
            <a:avLst>
              <a:gd name="adj" fmla="val 2436585"/>
            </a:avLst>
          </a:prstGeom>
          <a:solidFill>
            <a:srgbClr val="2E7D6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04900" y="2249835"/>
            <a:ext cx="1639976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我做到了吗？ 👍 / 😐 / 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77371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90625" y="301183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876425" y="3011835"/>
            <a:ext cx="3764453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我会说蓝色、红色、粉红色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388620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90625" y="412432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876425" y="4124325"/>
            <a:ext cx="3450672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我会用「和」连两个颜色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499869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0625" y="523681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876425" y="5236815"/>
            <a:ext cx="2196007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我看得懂课文一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6244530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2E7D6E">
              <a:alpha val="10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38250" y="6454080"/>
            <a:ext cx="31879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✎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741289" y="6454080"/>
            <a:ext cx="1031740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Translate into Chinese — </a:t>
            </a: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older brother likes blue and pink.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写在小白板上。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7530405"/>
            <a:ext cx="16459200" cy="830461"/>
          </a:xfrm>
          <a:prstGeom prst="roundRect">
            <a:avLst>
              <a:gd name="adj" fmla="val 13763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38250" y="7739955"/>
            <a:ext cx="34975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B082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771650" y="7739955"/>
            <a:ext cx="99794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 · 颜色放到东西前面 — 黑色的火车、黄色的校车。中间有一个小字。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80927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Preview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096250" y="2636639"/>
            <a:ext cx="213741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endParaRPr lang="en-US" sz="16500" dirty="0"/>
          </a:p>
        </p:txBody>
      </p:sp>
      <p:sp>
        <p:nvSpPr>
          <p:cNvPr id="8" name="Text 6"/>
          <p:cNvSpPr/>
          <p:nvPr/>
        </p:nvSpPr>
        <p:spPr>
          <a:xfrm>
            <a:off x="4454575" y="4998839"/>
            <a:ext cx="9566428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2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Next — putting a colour in front of a thing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991225" y="5905500"/>
            <a:ext cx="6305550" cy="2011561"/>
          </a:xfrm>
          <a:prstGeom prst="roundRect">
            <a:avLst>
              <a:gd name="adj" fmla="val 94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19850" y="6200775"/>
            <a:ext cx="5557266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 黄色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419850" y="6977955"/>
            <a:ext cx="5557266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少了「的」就错了。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9463088"/>
            <a:ext cx="3468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8 · 蓝色 红色 粉红色 + 和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2026-09-14T06:46:05Z</dcterms:created>
  <dcterms:modified xsi:type="dcterms:W3CDTF">2026-09-14T06:46:05Z</dcterms:modified>
</cp:coreProperties>
</file>