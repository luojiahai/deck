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4545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Title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430250" y="5181600"/>
            <a:ext cx="427482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</a:t>
            </a:r>
            <a:endParaRPr lang="en-US" sz="33000" dirty="0"/>
          </a:p>
        </p:txBody>
      </p:sp>
      <p:sp>
        <p:nvSpPr>
          <p:cNvPr id="8" name="Text 6"/>
          <p:cNvSpPr/>
          <p:nvPr/>
        </p:nvSpPr>
        <p:spPr>
          <a:xfrm>
            <a:off x="749808" y="2629346"/>
            <a:ext cx="1678838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Y7 UNIT 5 · 轻松学中文 1</a:t>
            </a:r>
            <a:endParaRPr lang="en-US" sz="1950" dirty="0"/>
          </a:p>
        </p:txBody>
      </p:sp>
      <p:pic>
        <p:nvPicPr>
          <p:cNvPr id="9" name="Image 0" descr="/var/folders/6c/210dcgxn4gz5sm71vld2cy1h0000gn/T/tmp.3MeIcQemFz/l8-revision/slides/01-title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543" y="3172271"/>
            <a:ext cx="1496764" cy="14287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" y="5430589"/>
            <a:ext cx="16788384" cy="1312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35"/>
              </a:lnSpc>
              <a:spcBef>
                <a:spcPts val="6532"/>
              </a:spcBef>
              <a:spcAft>
                <a:spcPts val="900"/>
              </a:spcAft>
              <a:buNone/>
            </a:pPr>
            <a:r>
              <a:rPr lang="en-US" sz="975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</a:t>
            </a:r>
            <a:endParaRPr lang="en-US" sz="9750" dirty="0"/>
          </a:p>
        </p:txBody>
      </p:sp>
      <p:sp>
        <p:nvSpPr>
          <p:cNvPr id="11" name="Text 8"/>
          <p:cNvSpPr/>
          <p:nvPr/>
        </p:nvSpPr>
        <p:spPr>
          <a:xfrm>
            <a:off x="749808" y="6857405"/>
            <a:ext cx="16788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Revision — everything from Lesson 13, all at once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5932432" y="7638455"/>
            <a:ext cx="17311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7 Chinese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181438" y="7638455"/>
            <a:ext cx="829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 分钟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9538624" y="7638455"/>
            <a:ext cx="6749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Mixed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0733968" y="7638455"/>
            <a:ext cx="16205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课本 p.96–103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4262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Review · 复习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49808" y="2614613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只有汉字 — 两遍，第二遍打乱顺序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95450" y="38242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36957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76750" y="384333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4770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58050" y="38242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2583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039350" y="38242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20396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820650" y="38242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4820900" y="3148013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554325" y="3824288"/>
            <a:ext cx="110756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9144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95450" y="56245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橙色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36957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76750" y="56245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紫色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64770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258050" y="56245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棕色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92583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039350" y="56245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绿色</a:t>
            </a:r>
            <a:endParaRPr lang="en-US" sz="3900" dirty="0"/>
          </a:p>
        </p:txBody>
      </p:sp>
      <p:sp>
        <p:nvSpPr>
          <p:cNvPr id="28" name="Text 26"/>
          <p:cNvSpPr/>
          <p:nvPr/>
        </p:nvSpPr>
        <p:spPr>
          <a:xfrm>
            <a:off x="120396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2820650" y="56245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灰色</a:t>
            </a:r>
            <a:endParaRPr lang="en-US" sz="3900" dirty="0"/>
          </a:p>
        </p:txBody>
      </p:sp>
      <p:sp>
        <p:nvSpPr>
          <p:cNvPr id="30" name="Text 28"/>
          <p:cNvSpPr/>
          <p:nvPr/>
        </p:nvSpPr>
        <p:spPr>
          <a:xfrm>
            <a:off x="14820900" y="4948238"/>
            <a:ext cx="2552700" cy="1552575"/>
          </a:xfrm>
          <a:prstGeom prst="roundRect">
            <a:avLst>
              <a:gd name="adj" fmla="val 122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5554325" y="5624513"/>
            <a:ext cx="110756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天蓝色</a:t>
            </a:r>
            <a:endParaRPr lang="en-US" sz="2850" dirty="0"/>
          </a:p>
        </p:txBody>
      </p:sp>
      <p:sp>
        <p:nvSpPr>
          <p:cNvPr id="32" name="Text 30"/>
          <p:cNvSpPr/>
          <p:nvPr/>
        </p:nvSpPr>
        <p:spPr>
          <a:xfrm>
            <a:off x="914400" y="6805613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238250" y="7015163"/>
            <a:ext cx="30786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B082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▶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1730573" y="7015163"/>
            <a:ext cx="12074241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课本 p.102 Ex.9 — 老师说英文的东西，两队抢答中文颜色。</a:t>
            </a:r>
            <a:r>
              <a:rPr lang="en-US" sz="12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lemon · the sky · an elephant · a school bus · grass · a taxi — some have two right answers, both score.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435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 · SC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084189"/>
            <a:ext cx="3627983" cy="381000"/>
          </a:xfrm>
          <a:prstGeom prst="roundRect">
            <a:avLst>
              <a:gd name="adj" fmla="val 2497500"/>
            </a:avLst>
          </a:prstGeom>
          <a:solidFill>
            <a:srgbClr val="2C4C7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2141339"/>
            <a:ext cx="33119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今天我们学 · Learning Intention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636639"/>
            <a:ext cx="16788384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我们把第十三课学的东西一起用一遍。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3562350"/>
            <a:ext cx="2825204" cy="381000"/>
          </a:xfrm>
          <a:prstGeom prst="roundRect">
            <a:avLst>
              <a:gd name="adj" fmla="val 2497500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4900" y="3619500"/>
            <a:ext cx="2493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 · Success Criteria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15290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439102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4391025"/>
            <a:ext cx="9345248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我会说十二个颜色，不看拼音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all twelve colours without pinyin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526539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550351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5503515"/>
            <a:ext cx="8268194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我会问两种问句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ask both 你喜欢什么颜色？and 你喜欢X色吗？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637788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90625" y="661600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876425" y="6616005"/>
            <a:ext cx="9654475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我会用「颜色 + 的 + 东西」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describe something with 颜色 + 的 + noun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749037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90625" y="772849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876425" y="7728496"/>
            <a:ext cx="10432474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我会找部首，也会改语序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find the radical in a character and repair word order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7046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测验形式 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291929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 1 种 · 分类 — 单元测验第 1 部分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90152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3920579"/>
            <a:ext cx="576827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三个标题：颜色 · 车 · 每天做的事。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462349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4642545"/>
            <a:ext cx="564091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老师做前两个，剩下的全班一起说。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402610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28725" y="5640735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橙色　出租车　起床　灰色　地铁　睡觉　紫色　校车　吃饭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28725" y="6379815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橙色 → 颜色　　出租车 → 车</a:t>
            </a:r>
            <a:endParaRPr lang="en-US" sz="39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7457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测验形式 2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291929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 2 种 · 部首和意思 — 单元测验第 2、3 部分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90152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3920579"/>
            <a:ext cx="6346043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每个字找出部首，再说部首是什么意思。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462349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4642545"/>
            <a:ext cx="669868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老师做第一个，「爱」和「病」全班一起。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402610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28725" y="5640735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　·　爱　·　病　·　视　·　炒　·　加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28725" y="6379815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 → 弓 → bow</a:t>
            </a:r>
            <a:endParaRPr lang="en-US" sz="39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7457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测验形式 3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362325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 3 种 · 改语序 — 单元测验第 4、8 部分。这三个错，这一单元一路上都出现过。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3895725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219200" y="4086225"/>
            <a:ext cx="341985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什么颜色你喜欢？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4838700" y="4167188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10200" y="4086225"/>
            <a:ext cx="341985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你喜欢什么颜色？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14400" y="5057775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19200" y="5248275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我不喜欢也。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4000500" y="5329238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0" y="5248275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我也不喜欢。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14400" y="6219825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19200" y="6410325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火车黑色的。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4000500" y="6491288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0" y="6410325"/>
            <a:ext cx="213741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黑色的火车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7457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测验形式 4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23900" y="1629966"/>
            <a:ext cx="17177004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中文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↔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英文 — 单元测验第 7、10 部分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900" y="2772966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hēisè de chūzūchē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" y="3192066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黑色的出租车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23900" y="3815358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 a black taxi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3900" y="4348758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hóngsè hé lǜsè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" y="4767858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我喜欢红色和绿色。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5391150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← I like red and green colours.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23900" y="5924550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měitiān zǒulù shàngxué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" y="6343650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我每天走路上学。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723900" y="6966942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← I walk to school every day.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23900" y="7500342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bàba měitiān kāichē shàngbān，tā xǐhuan báisè de qìchē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" y="7919442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爸爸每天开车上班，他喜欢白色的汽车。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723900" y="8542734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Colour, 的, and the whole Unit 4 frame in one sentence.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检查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106192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562100" y="3106192"/>
            <a:ext cx="4391861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十二个里面，哪一个</a:t>
            </a:r>
            <a:r>
              <a:rPr lang="en-US" sz="24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不是</a:t>
            </a: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颜色？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915817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562100" y="3915817"/>
            <a:ext cx="7427652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两种问句 — 一个开放的，一个「吗」的。两个都写。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4725442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1562100" y="4725442"/>
            <a:ext cx="5661100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这句对不对？ </a:t>
            </a:r>
            <a:r>
              <a:rPr lang="en-US" sz="315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我喜欢红色出租车。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5553075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1562100" y="5553075"/>
            <a:ext cx="7856955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315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我喜欢黑色的火车。</a:t>
            </a: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里面有几个「的」？在哪里？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6475958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19200" y="6666458"/>
            <a:ext cx="384733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我喜欢红色出租车。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5257800" y="6747421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829300" y="6666458"/>
            <a:ext cx="427482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我喜欢红色的出租车。</a:t>
            </a:r>
            <a:endParaRPr lang="en-US" sz="3300" dirty="0"/>
          </a:p>
        </p:txBody>
      </p:sp>
      <p:sp>
        <p:nvSpPr>
          <p:cNvPr id="19" name="Shape 17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106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Do · 活动一 (20–27)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829842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练习本 p.145 Ex.23 · 7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439442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458492"/>
            <a:ext cx="4230797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一起读一遍，再齐读一遍。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161407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180457"/>
            <a:ext cx="775630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八个问题两个人一组口头答完，其中四个写下来。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3940522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28725" y="4178647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我爸爸喜欢黑色和白色，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所以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他给我起名黑白。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28725" y="4917728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我妈妈每天坐地铁上班。她喜欢蓝色和棕色。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14400" y="5837783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8250" y="6047333"/>
            <a:ext cx="76661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!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503908" y="6047333"/>
            <a:ext cx="982449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全文在练习本 p.145 — 「所以」「给我起名」只要看得懂，不用教。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Recycles name, city, family, jobs, transport and time from Units 1–4, all hung on colour.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7161758"/>
            <a:ext cx="16459200" cy="1561951"/>
          </a:xfrm>
          <a:prstGeom prst="roundRect">
            <a:avLst>
              <a:gd name="adj" fmla="val 7318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38250" y="7447508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895326" y="7390358"/>
            <a:ext cx="15457512" cy="1104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自己写一段「王黑白」— 名字、城市、家人、一个家长的工作和怎么上班、每个人喜欢的颜色。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至少五句，至少三个颜色，至少一个「的」短语。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Board covered.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873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Do · 活动二 (27–35)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76897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练习本 p.140 / 144 / 143 / 139 · 8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378571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397621"/>
            <a:ext cx="894372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Ex.13 — 用给的词造句。就是单元测验第 4 部分的形式。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10053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119586"/>
            <a:ext cx="1303379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Ex.22 — 四句翻译成中文。只有第一句是颜色，后面三句是四单元 — 这是故意的。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3822502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562100" y="3841552"/>
            <a:ext cx="13079644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Ex.18 — 填空的自我介绍：年龄、年级、五口人、父母的工作、每个人喜欢的颜色。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4544467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62100" y="4563517"/>
            <a:ext cx="11951583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Ex.11 — 八个问题，全是一到四单元，一个颜色都没有。颜色就搭在这上面。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5323582"/>
            <a:ext cx="16459200" cy="1763911"/>
          </a:xfrm>
          <a:prstGeom prst="roundRect">
            <a:avLst>
              <a:gd name="adj" fmla="val 1080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8725" y="5561707"/>
            <a:ext cx="16147161" cy="1287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喜欢/我妹妹　·　红色/不喜欢　·　每天/校车　·　怎么/你爸爸　·　十点/睡觉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914400" y="7277993"/>
            <a:ext cx="16459200" cy="1506736"/>
          </a:xfrm>
          <a:prstGeom prst="roundRect">
            <a:avLst>
              <a:gd name="adj" fmla="val 7586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38250" y="7563743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895326" y="7506593"/>
            <a:ext cx="15457512" cy="104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先做练习本 p.140 Ex.12 — 用「几」自己写六个问题，挑两个问全班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他几岁？ 你几点起床？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 write Ex.18 from scratch about yourself instead of filling in the blanks: every family member gets two colours with 和, and one sentence uses 的 with something from Unit 4.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65051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Game · 找一个人 (35–43)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083296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找一个人 · 8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69289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711946"/>
            <a:ext cx="9166726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每人一张表，每一格找一个</a:t>
            </a:r>
            <a:r>
              <a:rPr lang="en-US" sz="27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不同</a:t>
            </a: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的同学，问到了就写名字。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414861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433911"/>
            <a:ext cx="517441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只能用中文问 — 用英文问不算。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4193977"/>
            <a:ext cx="16459200" cy="3242072"/>
          </a:xfrm>
          <a:prstGeom prst="roundRect">
            <a:avLst>
              <a:gd name="adj" fmla="val 5876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28725" y="4432102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……喜欢紫色 · ……</a:t>
            </a: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喜欢灰色 · ……的爸爸喜欢黑色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28725" y="5171182"/>
            <a:ext cx="16147161" cy="1287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……坐黄色的校车　·　……喜欢天蓝色　·　……跟你喜欢一样的颜色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28725" y="6554093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你喜欢紫色吗？　你爸爸喜欢什么颜色？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14400" y="7626548"/>
            <a:ext cx="16459200" cy="843855"/>
          </a:xfrm>
          <a:prstGeom prst="roundRect">
            <a:avLst>
              <a:gd name="adj" fmla="val 1354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38250" y="7912298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895326" y="7855148"/>
            <a:ext cx="13920945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每个名字后面还要写一个追问的答案，不能只打勾。最后用「也」向全班报告两条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她喜欢紫色，我也喜欢紫色。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679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Plenary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636514"/>
            <a:ext cx="16459200" cy="390525"/>
          </a:xfrm>
          <a:prstGeom prst="roundRect">
            <a:avLst>
              <a:gd name="adj" fmla="val 2436585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1693664"/>
            <a:ext cx="163997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我做到了吗？ 👍 / 😐 / 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217539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90625" y="2455664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876425" y="2455664"/>
            <a:ext cx="4078081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我会说十二个颜色，不看拼音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3330029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3568154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3568154"/>
            <a:ext cx="2196007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我会问两种问句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444252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468064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4680645"/>
            <a:ext cx="3937814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我会用「颜色 + 的 + 东西」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555501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90625" y="579313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876425" y="5793135"/>
            <a:ext cx="3450672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我会找部首，也会改语序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6800850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38250" y="7010400"/>
            <a:ext cx="31879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✎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741289" y="7010400"/>
            <a:ext cx="1459161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Two items — one sentence using a colour, 的 and a noun; then any radical with its meaning.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这一次看的是整个第十三课，不只是今天。四条里，全班想再练哪一条？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8086725"/>
            <a:ext cx="16459200" cy="830461"/>
          </a:xfrm>
          <a:prstGeom prst="roundRect">
            <a:avLst>
              <a:gd name="adj" fmla="val 13763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238250" y="8296275"/>
            <a:ext cx="34975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B082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771650" y="8296275"/>
            <a:ext cx="1292632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 · 第十四课 — 衣服。一样的「的」，后面换成衬衫和裙子。你已经知道它们是什么部首了。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80927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Preview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096250" y="2636639"/>
            <a:ext cx="213741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衤</a:t>
            </a:r>
            <a:endParaRPr lang="en-US" sz="16500" dirty="0"/>
          </a:p>
        </p:txBody>
      </p:sp>
      <p:sp>
        <p:nvSpPr>
          <p:cNvPr id="8" name="Text 6"/>
          <p:cNvSpPr/>
          <p:nvPr/>
        </p:nvSpPr>
        <p:spPr>
          <a:xfrm>
            <a:off x="6157168" y="4998839"/>
            <a:ext cx="609313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Next — Lesson 14, clothing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886200" y="5905500"/>
            <a:ext cx="10515600" cy="2011561"/>
          </a:xfrm>
          <a:prstGeom prst="roundRect">
            <a:avLst>
              <a:gd name="adj" fmla="val 94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14825" y="6200775"/>
            <a:ext cx="9851517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衬衫　牛仔裤　裙子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314825" y="6977955"/>
            <a:ext cx="9851517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衬衫 — 一样的句型，一样的「的」。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9463088"/>
            <a:ext cx="19309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8 of 8 · 复习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3559879" y="9463088"/>
            <a:ext cx="40454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p.96–103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2026-09-14T06:50:06Z</dcterms:created>
  <dcterms:modified xsi:type="dcterms:W3CDTF">2026-09-14T06:50:06Z</dcterms:modified>
</cp:coreProperties>
</file>