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0" y="5715000"/>
            <a:ext cx="408051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色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5137876" y="2578894"/>
            <a:ext cx="801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6 OF 8 · Y7 UNIT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137876" y="3074194"/>
            <a:ext cx="8012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📊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5137876" y="4983956"/>
            <a:ext cx="8012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0"/>
              </a:lnSpc>
              <a:spcBef>
                <a:spcPts val="7538"/>
              </a:spcBef>
              <a:spcAft>
                <a:spcPts val="600"/>
              </a:spcAft>
              <a:buNone/>
            </a:pPr>
            <a:r>
              <a:rPr lang="en-US" sz="112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颜色</a:t>
            </a:r>
            <a:r>
              <a:rPr lang="en-US" sz="1125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112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调查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5137876" y="6488906"/>
            <a:ext cx="80121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 Survey &amp; Reporting Results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0281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SURVEY &amp; REPORT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140869" y="280988"/>
            <a:ext cx="13014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47750" y="1143000"/>
            <a:ext cx="16516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750" y="1447800"/>
            <a:ext cx="1651635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Colour-Mixing &amp; Recall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47750" y="2295525"/>
            <a:ext cx="7371904" cy="4091880"/>
          </a:xfrm>
          <a:prstGeom prst="roundRect">
            <a:avLst>
              <a:gd name="adj" fmla="val 465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23975" y="2533650"/>
            <a:ext cx="69558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A · L5 COLOUR-MIXING RECAP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3975" y="2876550"/>
            <a:ext cx="7276654" cy="581025"/>
          </a:xfrm>
          <a:prstGeom prst="roundRect">
            <a:avLst>
              <a:gd name="adj" fmla="val 19672"/>
            </a:avLst>
          </a:prstGeom>
          <a:solidFill>
            <a:srgbClr val="E9E2D2"/>
          </a:solidFill>
          <a:ln w="19050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552575" y="2990850"/>
            <a:ext cx="257415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红色 + 黄色 =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23975" y="3571875"/>
            <a:ext cx="7276654" cy="581025"/>
          </a:xfrm>
          <a:prstGeom prst="roundRect">
            <a:avLst>
              <a:gd name="adj" fmla="val 19672"/>
            </a:avLst>
          </a:prstGeom>
          <a:solidFill>
            <a:srgbClr val="E9E2D2"/>
          </a:solidFill>
          <a:ln w="19050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552575" y="3686175"/>
            <a:ext cx="257415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蓝色 + 黄色 =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23975" y="4267200"/>
            <a:ext cx="7276654" cy="581025"/>
          </a:xfrm>
          <a:prstGeom prst="roundRect">
            <a:avLst>
              <a:gd name="adj" fmla="val 19672"/>
            </a:avLst>
          </a:prstGeom>
          <a:solidFill>
            <a:srgbClr val="E9E2D2"/>
          </a:solidFill>
          <a:ln w="19050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52575" y="4381500"/>
            <a:ext cx="257415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红色 + 蓝色 =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23975" y="4962525"/>
            <a:ext cx="7276654" cy="581025"/>
          </a:xfrm>
          <a:prstGeom prst="roundRect">
            <a:avLst>
              <a:gd name="adj" fmla="val 19672"/>
            </a:avLst>
          </a:prstGeom>
          <a:solidFill>
            <a:srgbClr val="E9E2D2"/>
          </a:solidFill>
          <a:ln w="19050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552575" y="5076825"/>
            <a:ext cx="257415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红色 + 白色 =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23975" y="5676900"/>
            <a:ext cx="6955843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 quiz — teacher gives these </a:t>
            </a: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colour-mixing prompts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one at a time; students write the answer in characters. Cold call to check.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62554" y="2295525"/>
            <a:ext cx="8477548" cy="4253805"/>
          </a:xfrm>
          <a:prstGeom prst="roundRect">
            <a:avLst>
              <a:gd name="adj" fmla="val 4478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038779" y="2533650"/>
            <a:ext cx="8083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B · ALL 11 COLOURS — QUICK RECALL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38779" y="2876550"/>
            <a:ext cx="3919686" cy="400050"/>
          </a:xfrm>
          <a:prstGeom prst="roundRect">
            <a:avLst>
              <a:gd name="adj" fmla="val 237857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114979" y="2952750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457879" y="2971800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黑色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044190" y="2876550"/>
            <a:ext cx="3919686" cy="400050"/>
          </a:xfrm>
          <a:prstGeom prst="roundRect">
            <a:avLst>
              <a:gd name="adj" fmla="val 237857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3120390" y="2952750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FFFFFF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3463290" y="2971800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白色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38779" y="3362325"/>
            <a:ext cx="3919686" cy="400050"/>
          </a:xfrm>
          <a:prstGeom prst="roundRect">
            <a:avLst>
              <a:gd name="adj" fmla="val 237857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114979" y="343852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457879" y="3457575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黄色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044190" y="3362325"/>
            <a:ext cx="3919686" cy="400050"/>
          </a:xfrm>
          <a:prstGeom prst="roundRect">
            <a:avLst>
              <a:gd name="adj" fmla="val 237857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3120390" y="343852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3463290" y="3457575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蓝色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38779" y="3848100"/>
            <a:ext cx="3919686" cy="400050"/>
          </a:xfrm>
          <a:prstGeom prst="roundRect">
            <a:avLst>
              <a:gd name="adj" fmla="val 237857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114979" y="3924300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457879" y="3943350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红色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3044190" y="3848100"/>
            <a:ext cx="3919686" cy="400050"/>
          </a:xfrm>
          <a:prstGeom prst="roundRect">
            <a:avLst>
              <a:gd name="adj" fmla="val 237857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3120390" y="3924300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3463290" y="3943350"/>
            <a:ext cx="4757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粉红色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038779" y="4333875"/>
            <a:ext cx="3919686" cy="400050"/>
          </a:xfrm>
          <a:prstGeom prst="roundRect">
            <a:avLst>
              <a:gd name="adj" fmla="val 237857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9114979" y="441007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D976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9457879" y="4429125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橙色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3044190" y="4333875"/>
            <a:ext cx="3919686" cy="400050"/>
          </a:xfrm>
          <a:prstGeom prst="roundRect">
            <a:avLst>
              <a:gd name="adj" fmla="val 237857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3120390" y="441007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7A4E9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3463290" y="4429125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紫色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038779" y="4819650"/>
            <a:ext cx="3919686" cy="400050"/>
          </a:xfrm>
          <a:prstGeom prst="roundRect">
            <a:avLst>
              <a:gd name="adj" fmla="val 237857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9114979" y="4895850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8A5A3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9457879" y="4914900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棕色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3044190" y="4819650"/>
            <a:ext cx="3919686" cy="400050"/>
          </a:xfrm>
          <a:prstGeom prst="roundRect">
            <a:avLst>
              <a:gd name="adj" fmla="val 237857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3120390" y="4895850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4C8A4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3463290" y="4914900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绿色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038779" y="5305425"/>
            <a:ext cx="3919686" cy="400050"/>
          </a:xfrm>
          <a:prstGeom prst="roundRect">
            <a:avLst>
              <a:gd name="adj" fmla="val 237857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9114979" y="538162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9A9A9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9457879" y="5400675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灰色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038779" y="5838825"/>
            <a:ext cx="808360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Quick-fire cold call round the room: point at each colour, students name it aloud in Chinese before we move on to today's survey.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47750" y="6758880"/>
            <a:ext cx="16192500" cy="576263"/>
          </a:xfrm>
          <a:prstGeom prst="rect">
            <a:avLst/>
          </a:prstGeom>
          <a:solidFill>
            <a:srgbClr val="B8402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1071563" y="6758880"/>
            <a:ext cx="0" cy="576263"/>
          </a:xfrm>
          <a:prstGeom prst="line">
            <a:avLst/>
          </a:prstGeom>
          <a:noFill/>
          <a:ln w="47625">
            <a:solidFill>
              <a:srgbClr val="B8402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323975" y="6911280"/>
            <a:ext cx="1600142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上节课我们学会了怎么把颜色混在一起。今天我们要做一个</a:t>
            </a:r>
            <a:r>
              <a:rPr lang="en-US" sz="142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调查</a:t>
            </a:r>
            <a:r>
              <a:rPr lang="en-US" sz="14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——问全班同学喜欢什么颜色，然后把结果告诉大家。</a:t>
            </a:r>
            <a:endParaRPr lang="en-US" sz="1425" dirty="0"/>
          </a:p>
        </p:txBody>
      </p:sp>
      <p:sp>
        <p:nvSpPr>
          <p:cNvPr id="59" name="Shape 5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0281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SURVEY &amp; REPORT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140869" y="280988"/>
            <a:ext cx="2159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· 8–10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2522934"/>
            <a:ext cx="159334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2846784"/>
            <a:ext cx="1593342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333500" y="3885009"/>
            <a:ext cx="15621000" cy="1025723"/>
          </a:xfrm>
          <a:prstGeom prst="rect">
            <a:avLst/>
          </a:prstGeom>
          <a:solidFill>
            <a:srgbClr val="B8402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357313" y="3885009"/>
            <a:ext cx="0" cy="1025723"/>
          </a:xfrm>
          <a:prstGeom prst="line">
            <a:avLst/>
          </a:prstGeom>
          <a:noFill/>
          <a:ln w="47625">
            <a:solidFill>
              <a:srgbClr val="B84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5925" y="4094559"/>
            <a:ext cx="152630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685925" y="4342209"/>
            <a:ext cx="15263051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8"/>
              </a:lnSpc>
              <a:buNone/>
            </a:pPr>
            <a:r>
              <a:rPr lang="en-US" sz="19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r>
              <a:rPr lang="en-US" sz="19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survey classmates about their favourite colours</a:t>
            </a:r>
            <a:r>
              <a:rPr lang="en-US" sz="19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9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report the results using numbers</a:t>
            </a:r>
            <a:r>
              <a:rPr lang="en-US" sz="19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33500" y="5253633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571625" y="5453658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43125" y="5453658"/>
            <a:ext cx="87369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ask </a:t>
            </a:r>
            <a:r>
              <a:rPr lang="en-US" sz="18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 yes/no colour questions</a:t>
            </a: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a survey </a:t>
            </a: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能问十一个"你喜欢……吗？"的调查问题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33500" y="6236494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571625" y="6436519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2143125" y="6436519"/>
            <a:ext cx="51675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8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tally responses correctly</a:t>
            </a: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能正确记录调查结果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33500" y="7219355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71625" y="7419380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2143125" y="7419380"/>
            <a:ext cx="741672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8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report results using "几个人喜欢……"</a:t>
            </a: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能用"几个人喜欢……"报告结果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0281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SURVEY &amp; REPORT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140869" y="280988"/>
            <a:ext cx="41558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Survey Questions &amp; Reporting Pattern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8585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(P.101, EXERCISE 7)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371600"/>
            <a:ext cx="167106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调查问题 &amp; 报告句型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52500" y="2057400"/>
            <a:ext cx="83998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SURVEY QUESTIONS RECAP — ALL 11 COLOURS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952500" y="2352675"/>
            <a:ext cx="4269879" cy="400050"/>
          </a:xfrm>
          <a:prstGeom prst="roundRect">
            <a:avLst>
              <a:gd name="adj" fmla="val 237857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28700" y="242887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71600" y="2447925"/>
            <a:ext cx="12822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1) 你喜欢黑色吗？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36654" y="2352675"/>
            <a:ext cx="4270028" cy="400050"/>
          </a:xfrm>
          <a:prstGeom prst="roundRect">
            <a:avLst>
              <a:gd name="adj" fmla="val 237857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12854" y="242887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FFFFFF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55754" y="2447925"/>
            <a:ext cx="13131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2) 你喜欢白色吗？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2500" y="2828925"/>
            <a:ext cx="4269879" cy="400050"/>
          </a:xfrm>
          <a:prstGeom prst="roundRect">
            <a:avLst>
              <a:gd name="adj" fmla="val 237857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28700" y="290512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71600" y="2924175"/>
            <a:ext cx="13126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3) 你喜欢黄色吗？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36654" y="2828925"/>
            <a:ext cx="4270028" cy="400050"/>
          </a:xfrm>
          <a:prstGeom prst="roundRect">
            <a:avLst>
              <a:gd name="adj" fmla="val 237857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12854" y="290512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55754" y="2924175"/>
            <a:ext cx="13134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4) 你喜欢蓝色吗？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2500" y="3305175"/>
            <a:ext cx="4269879" cy="400050"/>
          </a:xfrm>
          <a:prstGeom prst="roundRect">
            <a:avLst>
              <a:gd name="adj" fmla="val 237857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28700" y="338137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371600" y="3400425"/>
            <a:ext cx="13131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5) 你喜欢红色吗？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36654" y="3305175"/>
            <a:ext cx="4270028" cy="400050"/>
          </a:xfrm>
          <a:prstGeom prst="roundRect">
            <a:avLst>
              <a:gd name="adj" fmla="val 237857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12854" y="338137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55754" y="3400425"/>
            <a:ext cx="14726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6) 你喜欢粉红色吗？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2500" y="3781425"/>
            <a:ext cx="4269879" cy="400050"/>
          </a:xfrm>
          <a:prstGeom prst="roundRect">
            <a:avLst>
              <a:gd name="adj" fmla="val 237857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28700" y="385762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D976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371600" y="3876675"/>
            <a:ext cx="13061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7) 你喜欢橙色吗？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36654" y="3781425"/>
            <a:ext cx="4270028" cy="400050"/>
          </a:xfrm>
          <a:prstGeom prst="roundRect">
            <a:avLst>
              <a:gd name="adj" fmla="val 237857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212854" y="385762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7A4E9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555754" y="3876675"/>
            <a:ext cx="13135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8) 你喜欢紫色吗？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52500" y="4257675"/>
            <a:ext cx="4269879" cy="400050"/>
          </a:xfrm>
          <a:prstGeom prst="roundRect">
            <a:avLst>
              <a:gd name="adj" fmla="val 237857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28700" y="433387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8A5A3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371600" y="4352925"/>
            <a:ext cx="13141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9) 你喜欢棕色吗？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36654" y="4257675"/>
            <a:ext cx="4270028" cy="400050"/>
          </a:xfrm>
          <a:prstGeom prst="roundRect">
            <a:avLst>
              <a:gd name="adj" fmla="val 237857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212854" y="433387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4C8A4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555754" y="4352925"/>
            <a:ext cx="13767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10) 你喜欢绿色吗？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2500" y="4733925"/>
            <a:ext cx="4269879" cy="400050"/>
          </a:xfrm>
          <a:prstGeom prst="roundRect">
            <a:avLst>
              <a:gd name="adj" fmla="val 237857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028700" y="481012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9A9A9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371600" y="4829175"/>
            <a:ext cx="13468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11) 你喜欢灰色吗？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92407" y="2057400"/>
            <a:ext cx="79999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SENTENCE PATTERN · REPORTING RESULTS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9492407" y="2409825"/>
            <a:ext cx="7843093" cy="647700"/>
          </a:xfrm>
          <a:prstGeom prst="rect">
            <a:avLst/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9516219" y="2409825"/>
            <a:ext cx="0" cy="647700"/>
          </a:xfrm>
          <a:prstGeom prst="line">
            <a:avLst/>
          </a:prstGeom>
          <a:noFill/>
          <a:ln w="47625">
            <a:solidFill>
              <a:srgbClr val="B840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49582" y="2543175"/>
            <a:ext cx="7523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个人喜欢</a:t>
            </a:r>
            <a:r>
              <a:rPr lang="en-US" sz="21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9492407" y="3190875"/>
            <a:ext cx="7843093" cy="1162050"/>
          </a:xfrm>
          <a:prstGeom prst="roundRect">
            <a:avLst>
              <a:gd name="adj" fmla="val 16393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9711482" y="3352800"/>
            <a:ext cx="75530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TEXTBOOK WORKED EXAMPLE (P.101)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9711482" y="3600450"/>
            <a:ext cx="75530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五个人喜欢黑色。……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9711482" y="4000500"/>
            <a:ext cx="75530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 and reads aloud, then class repeats together.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492407" y="4486275"/>
            <a:ext cx="7843093" cy="872430"/>
          </a:xfrm>
          <a:prstGeom prst="roundRect">
            <a:avLst>
              <a:gd name="adj" fmla="val 13101"/>
            </a:avLst>
          </a:prstGeom>
          <a:solidFill>
            <a:srgbClr val="2E4B7A">
              <a:alpha val="10000"/>
            </a:srgbClr>
          </a:solidFill>
          <a:ln w="19050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9721007" y="4638675"/>
            <a:ext cx="75336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MODELLED MOCK RESULT SET</a:t>
            </a:r>
            <a:endParaRPr lang="en-US" sz="975" dirty="0"/>
          </a:p>
        </p:txBody>
      </p:sp>
      <p:sp>
        <p:nvSpPr>
          <p:cNvPr id="53" name="Text 51"/>
          <p:cNvSpPr/>
          <p:nvPr/>
        </p:nvSpPr>
        <p:spPr>
          <a:xfrm>
            <a:off x="9721007" y="4886325"/>
            <a:ext cx="753361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5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十个人喜欢红色，八个人喜欢蓝色，两个人喜欢灰色。</a:t>
            </a:r>
            <a:endParaRPr lang="en-US" sz="1575" dirty="0"/>
          </a:p>
        </p:txBody>
      </p:sp>
      <p:sp>
        <p:nvSpPr>
          <p:cNvPr id="54" name="Text 52"/>
          <p:cNvSpPr/>
          <p:nvPr/>
        </p:nvSpPr>
        <p:spPr>
          <a:xfrm>
            <a:off x="9492407" y="5492055"/>
            <a:ext cx="79999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order:</a:t>
            </a: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number comes first, then </a:t>
            </a:r>
            <a:r>
              <a:rPr lang="en-US" sz="10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个人喜欢</a:t>
            </a: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then the colour.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0281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SURVEY &amp; REPORT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140869" y="280988"/>
            <a:ext cx="26623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FOR UNDERSTANDING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52500" y="2257425"/>
            <a:ext cx="5334000" cy="2861072"/>
          </a:xfrm>
          <a:prstGeom prst="roundRect">
            <a:avLst>
              <a:gd name="adj" fmla="val 9322"/>
            </a:avLst>
          </a:prstGeom>
          <a:solidFill>
            <a:srgbClr val="2E4B7A">
              <a:alpha val="10000"/>
            </a:srgbClr>
          </a:solidFill>
          <a:ln w="9525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90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2E4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55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90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GESTURE CHECK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1906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几个人喜欢红色？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90625" y="3838575"/>
            <a:ext cx="4954905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asks: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"Thumbs up if 几个人喜欢红色？ means 'how many people like red?'"</a:t>
            </a: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Every student shows a thumbs-up or thumbs-down.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6477000" y="2257425"/>
            <a:ext cx="5334000" cy="2861072"/>
          </a:xfrm>
          <a:prstGeom prst="roundRect">
            <a:avLst>
              <a:gd name="adj" fmla="val 9322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151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798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151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7151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Write: "Three people like green."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15125" y="3838575"/>
            <a:ext cx="495490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write the Chinese report sentence on their mini whiteboards and hold up on three: "一、二、三，举起来！"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2001500" y="2257425"/>
            <a:ext cx="5334000" cy="2861072"/>
          </a:xfrm>
          <a:prstGeom prst="roundRect">
            <a:avLst>
              <a:gd name="adj" fmla="val 9322"/>
            </a:avLst>
          </a:prstGeom>
          <a:solidFill>
            <a:srgbClr val="C2564A">
              <a:alpha val="10000"/>
            </a:srgbClr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239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C256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404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239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22396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Report: 6 people like yellow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239625" y="3838575"/>
            <a:ext cx="495490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asks: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"Ryan, how would you report that 6 people like yellow?"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952500" y="5308997"/>
            <a:ext cx="16383000" cy="476250"/>
          </a:xfrm>
          <a:prstGeom prst="roundRect">
            <a:avLst>
              <a:gd name="adj" fmla="val 24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90625" y="5432822"/>
            <a:ext cx="16224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keep the sentence frame (____个人喜欢____。) projected throughout all three checks so every student can construct a full sentence.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0281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SURVEY &amp; REPORT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140869" y="280988"/>
            <a:ext cx="16249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CFU Checkpoints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52500" y="2295525"/>
            <a:ext cx="16383000" cy="1390650"/>
          </a:xfrm>
          <a:prstGeom prst="roundRect">
            <a:avLst>
              <a:gd name="adj" fmla="val 1369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28725" y="25146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91692" y="2581275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876425" y="2514600"/>
            <a:ext cx="1548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Gesture Check — 几个人喜欢红色？ means "how many people like red?"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876425" y="2847975"/>
            <a:ext cx="6097637" cy="619125"/>
          </a:xfrm>
          <a:prstGeom prst="roundRect">
            <a:avLst>
              <a:gd name="adj" fmla="val 18462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105025" y="3000375"/>
            <a:ext cx="575324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👍</a:t>
            </a:r>
            <a:r>
              <a:rPr lang="en-US" sz="18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对！几个人喜欢红色？ = "How many people like red?"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2500" y="3857625"/>
            <a:ext cx="16383000" cy="1390650"/>
          </a:xfrm>
          <a:prstGeom prst="roundRect">
            <a:avLst>
              <a:gd name="adj" fmla="val 1369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28725" y="40767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72642" y="4143375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876425" y="4076700"/>
            <a:ext cx="1548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— Write: "Three people like green."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876425" y="4410075"/>
            <a:ext cx="2667000" cy="619125"/>
          </a:xfrm>
          <a:prstGeom prst="roundRect">
            <a:avLst>
              <a:gd name="adj" fmla="val 18462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105025" y="4562475"/>
            <a:ext cx="225399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8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三个人喜欢绿色。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2500" y="5419725"/>
            <a:ext cx="16383000" cy="1390650"/>
          </a:xfrm>
          <a:prstGeom prst="roundRect">
            <a:avLst>
              <a:gd name="adj" fmla="val 1369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28725" y="56388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372046" y="5705475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876425" y="5638800"/>
            <a:ext cx="1548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— Ryan, how would you report that 6 people like yellow?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876425" y="5972175"/>
            <a:ext cx="2667000" cy="619125"/>
          </a:xfrm>
          <a:prstGeom prst="roundRect">
            <a:avLst>
              <a:gd name="adj" fmla="val 18462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105025" y="6124575"/>
            <a:ext cx="225399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8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六个人喜欢黄色。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0281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SURVEY &amp; REPORT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140869" y="280988"/>
            <a:ext cx="22772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· 20–25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62038"/>
            <a:ext cx="1153120" cy="314325"/>
          </a:xfrm>
          <a:prstGeom prst="roundRect">
            <a:avLst>
              <a:gd name="adj" fmla="val 3027273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119188"/>
            <a:ext cx="787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258020" y="1047750"/>
            <a:ext cx="926157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38995" y="1114425"/>
            <a:ext cx="5754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336578" y="1062038"/>
            <a:ext cx="2082403" cy="314325"/>
          </a:xfrm>
          <a:prstGeom prst="roundRect">
            <a:avLst>
              <a:gd name="adj" fmla="val 3027273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08028" y="1119188"/>
            <a:ext cx="17742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Show of Hands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1466850"/>
            <a:ext cx="167106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活动一 · 示范调查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52500" y="2124075"/>
            <a:ext cx="8769846" cy="3324225"/>
          </a:xfrm>
          <a:prstGeom prst="roundRect">
            <a:avLst>
              <a:gd name="adj" fmla="val 5731"/>
            </a:avLst>
          </a:prstGeom>
          <a:solidFill>
            <a:srgbClr val="F3EEE4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19200" y="23717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24570" y="2419350"/>
            <a:ext cx="570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619250" y="2390775"/>
            <a:ext cx="762226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 the whole class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of the 11 questions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as a show-of-hands poll (黑色, 紫色, 绿色).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219200" y="27432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313259" y="2790825"/>
            <a:ext cx="800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619250" y="2762250"/>
            <a:ext cx="537449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</a:t>
            </a: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volunteer tallies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the board as hands go up for each question.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219200" y="31146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12962" y="3162300"/>
            <a:ext cx="806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619250" y="3133725"/>
            <a:ext cx="548075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</a:t>
            </a: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models reporting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result using the full sentence pattern.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219200" y="348615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312515" y="3533775"/>
            <a:ext cx="815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619250" y="3505200"/>
            <a:ext cx="799312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Quick, high-energy warm-up to the full activity — establishes the tally + report format before students do it in pairs/small groups.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1219200" y="4219575"/>
            <a:ext cx="2643783" cy="1019175"/>
          </a:xfrm>
          <a:prstGeom prst="roundRect">
            <a:avLst>
              <a:gd name="adj" fmla="val 11215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371600" y="4333875"/>
            <a:ext cx="23857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1371600" y="4524375"/>
            <a:ext cx="238576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the report sentence frame (____个人喜欢____。) projected throughout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4015383" y="4219575"/>
            <a:ext cx="2643932" cy="1019175"/>
          </a:xfrm>
          <a:prstGeom prst="roundRect">
            <a:avLst>
              <a:gd name="adj" fmla="val 11215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167783" y="4333875"/>
            <a:ext cx="23859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167783" y="4524375"/>
            <a:ext cx="238591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Volunteer tallier also calculates and reports the most popular colour of the 3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6811714" y="4219575"/>
            <a:ext cx="2643783" cy="1019175"/>
          </a:xfrm>
          <a:prstGeom prst="roundRect">
            <a:avLst>
              <a:gd name="adj" fmla="val 11215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964114" y="4333875"/>
            <a:ext cx="23857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6964114" y="4524375"/>
            <a:ext cx="238576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votes with a hand-raise for all 3 questions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10027146" y="2124075"/>
            <a:ext cx="74545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POLL QUESTIONS ASKED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027146" y="2486025"/>
            <a:ext cx="7575054" cy="457200"/>
          </a:xfrm>
          <a:prstGeom prst="roundRect">
            <a:avLst>
              <a:gd name="adj" fmla="val 208125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0112871" y="2571750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0493871" y="2590800"/>
            <a:ext cx="131675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你喜欢黑色吗？</a:t>
            </a:r>
            <a:endParaRPr lang="en-US" sz="1425" dirty="0"/>
          </a:p>
        </p:txBody>
      </p:sp>
      <p:sp>
        <p:nvSpPr>
          <p:cNvPr id="40" name="Text 38"/>
          <p:cNvSpPr/>
          <p:nvPr/>
        </p:nvSpPr>
        <p:spPr>
          <a:xfrm>
            <a:off x="10027146" y="3038475"/>
            <a:ext cx="7575054" cy="457200"/>
          </a:xfrm>
          <a:prstGeom prst="roundRect">
            <a:avLst>
              <a:gd name="adj" fmla="val 208125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0112871" y="3124200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7A4E9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0493871" y="3143250"/>
            <a:ext cx="131675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你喜欢紫色吗？</a:t>
            </a:r>
            <a:endParaRPr lang="en-US" sz="1425" dirty="0"/>
          </a:p>
        </p:txBody>
      </p:sp>
      <p:sp>
        <p:nvSpPr>
          <p:cNvPr id="43" name="Text 41"/>
          <p:cNvSpPr/>
          <p:nvPr/>
        </p:nvSpPr>
        <p:spPr>
          <a:xfrm>
            <a:off x="10027146" y="3590925"/>
            <a:ext cx="7575054" cy="457200"/>
          </a:xfrm>
          <a:prstGeom prst="roundRect">
            <a:avLst>
              <a:gd name="adj" fmla="val 208125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0112871" y="3676650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4C8A4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0493871" y="3695700"/>
            <a:ext cx="131675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你喜欢绿色吗？</a:t>
            </a:r>
            <a:endParaRPr lang="en-US" sz="1425" dirty="0"/>
          </a:p>
        </p:txBody>
      </p:sp>
      <p:sp>
        <p:nvSpPr>
          <p:cNvPr id="46" name="Text 44"/>
          <p:cNvSpPr/>
          <p:nvPr/>
        </p:nvSpPr>
        <p:spPr>
          <a:xfrm>
            <a:off x="10027146" y="4238625"/>
            <a:ext cx="7308354" cy="819150"/>
          </a:xfrm>
          <a:prstGeom prst="roundRect">
            <a:avLst>
              <a:gd name="adj" fmla="val 13953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0236696" y="4391025"/>
            <a:ext cx="70270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10236696" y="4619625"/>
            <a:ext cx="70270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十二个人喜欢黑色。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0281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SURVEY &amp; REPORT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140869" y="280988"/>
            <a:ext cx="2358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· 25–38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287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25–38 MIN · YOU DO (EX.7, P.101)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314450"/>
            <a:ext cx="167106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活动二 · Find Someone Who — Full Survey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52500" y="1952625"/>
            <a:ext cx="8599884" cy="3955256"/>
          </a:xfrm>
          <a:prstGeom prst="roundRect">
            <a:avLst>
              <a:gd name="adj" fmla="val 6743"/>
            </a:avLst>
          </a:prstGeom>
          <a:solidFill>
            <a:srgbClr val="F3EEE4"/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38250" y="1838325"/>
            <a:ext cx="2191941" cy="266700"/>
          </a:xfrm>
          <a:prstGeom prst="roundRect">
            <a:avLst>
              <a:gd name="adj" fmla="val 3567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09700" y="1876425"/>
            <a:ext cx="18860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Mingle Survey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00150" y="22193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88554" y="2252663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24000" y="2228850"/>
            <a:ext cx="793634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stand, move around the room, and ask </a:t>
            </a:r>
            <a:r>
              <a:rPr lang="en-US" sz="112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11 yes/no questions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</a:t>
            </a:r>
            <a:r>
              <a:rPr lang="en-US" sz="112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6–8 classmates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marking Yes/No tallies with 正-character tally marks.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200150" y="27432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78136" y="2776538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24000" y="2752725"/>
            <a:ext cx="504234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Clear </a:t>
            </a:r>
            <a:r>
              <a:rPr lang="en-US" sz="112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10-minute time limit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a </a:t>
            </a:r>
            <a:r>
              <a:rPr lang="en-US" sz="112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minimum of 6 classmates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survey.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200150" y="30575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77838" y="3090863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24000" y="3067050"/>
            <a:ext cx="527035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Return to seats; in pairs, students </a:t>
            </a:r>
            <a:r>
              <a:rPr lang="en-US" sz="112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total their tallies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2–3 colours each.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200150" y="3514725"/>
            <a:ext cx="2599879" cy="1219200"/>
          </a:xfrm>
          <a:prstGeom prst="roundRect">
            <a:avLst>
              <a:gd name="adj" fmla="val 9375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52550" y="3629025"/>
            <a:ext cx="23409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1352550" y="3819525"/>
            <a:ext cx="23409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Partially-filled example tally sheet as a model; allow English clarification if confused about a question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3952429" y="3514725"/>
            <a:ext cx="2599879" cy="1219200"/>
          </a:xfrm>
          <a:prstGeom prst="roundRect">
            <a:avLst>
              <a:gd name="adj" fmla="val 9375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104829" y="3629025"/>
            <a:ext cx="23409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104829" y="3819525"/>
            <a:ext cx="23409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Also ask an open 你喜欢什么颜色？(non yes/no) to 2 classmates and record the free-text answer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6704707" y="3514725"/>
            <a:ext cx="2600027" cy="1219200"/>
          </a:xfrm>
          <a:prstGeom prst="roundRect">
            <a:avLst>
              <a:gd name="adj" fmla="val 9375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857107" y="3629025"/>
            <a:ext cx="23411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6857107" y="3819525"/>
            <a:ext cx="234113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students are up, moving, and asking — the lesson's primary speaking OTR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9857184" y="1952625"/>
            <a:ext cx="7478167" cy="3955256"/>
          </a:xfrm>
          <a:prstGeom prst="roundRect">
            <a:avLst>
              <a:gd name="adj" fmla="val 6743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0076259" y="2133600"/>
            <a:ext cx="71808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TALLY SHEET (正-CHARACTER MARKS)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076259" y="5534025"/>
            <a:ext cx="7180817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</a:t>
            </a:r>
            <a:r>
              <a:rPr lang="en-US" sz="1013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5 tally marks — each stroke of 正 counts one more response as students ask around the room.</a:t>
            </a:r>
            <a:endParaRPr lang="en-US" sz="1013" dirty="0"/>
          </a:p>
        </p:txBody>
      </p:sp>
      <p:sp>
        <p:nvSpPr>
          <p:cNvPr id="33" name="Shape 3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0281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SURVEY &amp; REPORT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140869" y="280988"/>
            <a:ext cx="34014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Class Results Countdown · 38–43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62038"/>
            <a:ext cx="840879" cy="314325"/>
          </a:xfrm>
          <a:prstGeom prst="roundRect">
            <a:avLst>
              <a:gd name="adj" fmla="val 3027273"/>
            </a:avLst>
          </a:prstGeom>
          <a:solidFill>
            <a:srgbClr val="C256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119188"/>
            <a:ext cx="469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945779" y="1047750"/>
            <a:ext cx="926157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26754" y="1114425"/>
            <a:ext cx="5754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024336" y="1062038"/>
            <a:ext cx="2210395" cy="314325"/>
          </a:xfrm>
          <a:prstGeom prst="roundRect">
            <a:avLst>
              <a:gd name="adj" fmla="val 3027273"/>
            </a:avLst>
          </a:prstGeom>
          <a:solidFill>
            <a:srgbClr val="C2564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95786" y="1119188"/>
            <a:ext cx="19048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 Class · Fast Recall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1466850"/>
            <a:ext cx="167106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调查结果 Countdown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52500" y="2038350"/>
            <a:ext cx="167106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Fast retrieval and production of the reporting sentence pattern under time pressure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52500" y="2447925"/>
            <a:ext cx="4248150" cy="2524125"/>
          </a:xfrm>
          <a:prstGeom prst="roundRect">
            <a:avLst>
              <a:gd name="adj" fmla="val 7547"/>
            </a:avLst>
          </a:prstGeom>
          <a:noFill/>
          <a:ln w="2857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81075" y="2476500"/>
            <a:ext cx="4191000" cy="390525"/>
          </a:xfrm>
          <a:prstGeom prst="rect">
            <a:avLst/>
          </a:prstGeom>
          <a:solidFill>
            <a:srgbClr val="C256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39165" y="2552700"/>
            <a:ext cx="42748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SAMPLE ROUND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81075" y="2867025"/>
            <a:ext cx="4191000" cy="2076450"/>
          </a:xfrm>
          <a:prstGeom prst="rect">
            <a:avLst/>
          </a:prstGeom>
          <a:solidFill>
            <a:srgbClr val="FBF9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90625" y="3057525"/>
            <a:ext cx="38473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OUT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90625" y="3257550"/>
            <a:ext cx="38473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粉红色！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1190625" y="3695700"/>
            <a:ext cx="38473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WINNING FULL-SENTENCE ANSWER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90625" y="3895725"/>
            <a:ext cx="38473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C256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十个人喜欢粉红色！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1190625" y="4333875"/>
            <a:ext cx="3771900" cy="419100"/>
          </a:xfrm>
          <a:prstGeom prst="roundRect">
            <a:avLst>
              <a:gd name="adj" fmla="val 27273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343025" y="4443413"/>
            <a:ext cx="14661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Running score board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4593580" y="4410075"/>
            <a:ext cx="2208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256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+1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67350" y="2447925"/>
            <a:ext cx="11868150" cy="1771650"/>
          </a:xfrm>
          <a:prstGeom prst="roundRect">
            <a:avLst>
              <a:gd name="adj" fmla="val 10753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686425" y="2762250"/>
            <a:ext cx="1165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86425" y="3067050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000750" y="3067050"/>
            <a:ext cx="46544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out each of the </a:t>
            </a:r>
            <a:r>
              <a:rPr lang="en-US" sz="135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 colours</a:t>
            </a: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one at a time.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686425" y="3419475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000750" y="3419475"/>
            <a:ext cx="1127817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 each colour, students who tallied data for it race to be first to shout out their total using the </a:t>
            </a:r>
            <a:r>
              <a:rPr lang="en-US" sz="135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sentence</a:t>
            </a: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 "十个人喜欢粉红色！"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686425" y="3771900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000750" y="3771900"/>
            <a:ext cx="97662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</a:t>
            </a:r>
            <a:r>
              <a:rPr lang="en-US" sz="135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full-sentence</a:t>
            </a:r>
            <a:r>
              <a:rPr lang="en-US" sz="13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answer for each colour "wins" that round; teacher tracks a running score on the board.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467350" y="4352925"/>
            <a:ext cx="11868150" cy="704850"/>
          </a:xfrm>
          <a:prstGeom prst="roundRect">
            <a:avLst>
              <a:gd name="adj" fmla="val 16216"/>
            </a:avLst>
          </a:prstGeom>
          <a:solidFill>
            <a:srgbClr val="C2564A">
              <a:alpha val="10000"/>
            </a:srgbClr>
          </a:solidFill>
          <a:ln w="19050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657850" y="4567238"/>
            <a:ext cx="2137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🗂️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000750" y="4486275"/>
            <a:ext cx="27959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 Needed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6000750" y="4733925"/>
            <a:ext cx="27959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Nothing beyond students' own tally sheets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67350" y="5286375"/>
            <a:ext cx="5876925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619750" y="5400675"/>
            <a:ext cx="56835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5619750" y="5591175"/>
            <a:ext cx="568356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(____个人喜欢____。) remains projected for students who need it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11458575" y="5286375"/>
            <a:ext cx="5876925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1610975" y="5400675"/>
            <a:ext cx="56835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11610975" y="5591175"/>
            <a:ext cx="568356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Winning students must also say which colour was least popular overall from their own data</a:t>
            </a:r>
            <a:endParaRPr lang="en-US" sz="1125" dirty="0"/>
          </a:p>
        </p:txBody>
      </p:sp>
      <p:sp>
        <p:nvSpPr>
          <p:cNvPr id="44" name="Shape 4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0281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SURVEY &amp; REPORT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140869" y="280988"/>
            <a:ext cx="1505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2967038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3271838"/>
            <a:ext cx="1632204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43000" y="4119562"/>
            <a:ext cx="7867650" cy="2819400"/>
          </a:xfrm>
          <a:prstGeom prst="roundRect">
            <a:avLst>
              <a:gd name="adj" fmla="val 945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00175" y="4491038"/>
            <a:ext cx="75003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00175" y="4833938"/>
            <a:ext cx="75003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00"/>
              </a:spcAft>
              <a:buNone/>
            </a:pP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👍/😐/👎 against each criterion — "Did we achieve this today?"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533525" y="514826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00200" y="5207347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85950" y="514826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952625" y="5207347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38375" y="514826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564A">
              <a:alpha val="10000"/>
            </a:srgbClr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305050" y="5207347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76525" y="5193953"/>
            <a:ext cx="286106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11 yes/no colour survey questions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33525" y="555783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600200" y="5616922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885950" y="555783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952625" y="5616922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38375" y="555783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564A">
              <a:alpha val="10000"/>
            </a:srgbClr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305050" y="5616922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76525" y="5603528"/>
            <a:ext cx="188086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Tally responses correctly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33525" y="596741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600200" y="6026497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885950" y="596741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952625" y="6026497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238375" y="596741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564A">
              <a:alpha val="10000"/>
            </a:srgbClr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305050" y="6026497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76525" y="6013103"/>
            <a:ext cx="282296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Report results using "几个人喜欢……"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00175" y="6386513"/>
            <a:ext cx="7353300" cy="333375"/>
          </a:xfrm>
          <a:prstGeom prst="roundRect">
            <a:avLst>
              <a:gd name="adj" fmla="val 34286"/>
            </a:avLst>
          </a:prstGeom>
          <a:solidFill>
            <a:srgbClr val="B886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533525" y="6472238"/>
            <a:ext cx="72283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938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read each criterion aloud together — "今天我们做到了吗？"</a:t>
            </a:r>
            <a:endParaRPr lang="en-US" sz="938" dirty="0"/>
          </a:p>
        </p:txBody>
      </p:sp>
      <p:sp>
        <p:nvSpPr>
          <p:cNvPr id="35" name="Text 33"/>
          <p:cNvSpPr/>
          <p:nvPr/>
        </p:nvSpPr>
        <p:spPr>
          <a:xfrm>
            <a:off x="9277350" y="4119562"/>
            <a:ext cx="7867650" cy="2819400"/>
          </a:xfrm>
          <a:prstGeom prst="roundRect">
            <a:avLst>
              <a:gd name="adj" fmla="val 945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534525" y="4491038"/>
            <a:ext cx="75003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 (2 MIN)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534525" y="4833938"/>
            <a:ext cx="7353300" cy="788640"/>
          </a:xfrm>
          <a:prstGeom prst="rect">
            <a:avLst/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9558338" y="4833938"/>
            <a:ext cx="0" cy="788640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53600" y="4967288"/>
            <a:ext cx="71020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WRITE ONE REPORT SENTENCE ON MINI WHITEBOARD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9753600" y="5195888"/>
            <a:ext cx="710203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个人喜欢</a:t>
            </a:r>
            <a:r>
              <a:rPr lang="en-US" sz="16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9534525" y="5736878"/>
            <a:ext cx="7500366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Must include: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9534525" y="6208365"/>
            <a:ext cx="75003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Example: </a:t>
            </a:r>
            <a:r>
              <a:rPr lang="en-US" sz="97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七个人喜欢蓝色。</a:t>
            </a: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Teacher circulates and scans whiteboards for correct sentence structure.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1143000" y="7129463"/>
            <a:ext cx="16002000" cy="457200"/>
          </a:xfrm>
          <a:prstGeom prst="rect">
            <a:avLst/>
          </a:prstGeom>
          <a:solidFill>
            <a:srgbClr val="2E4B7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1166813" y="7129463"/>
            <a:ext cx="0" cy="457200"/>
          </a:xfrm>
          <a:prstGeom prst="line">
            <a:avLst/>
          </a:prstGeom>
          <a:noFill/>
          <a:ln w="47625">
            <a:solidFill>
              <a:srgbClr val="2E4B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00175" y="7243763"/>
            <a:ext cx="15845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Preview: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"下一课，我们要听录音选颜色，还要玩几个新游戏！"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143500"/>
            <a:ext cx="4663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0"/>
              </a:lnSpc>
              <a:buNone/>
            </a:pPr>
            <a:r>
              <a:rPr lang="en-US" sz="36000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调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4370198" y="2280047"/>
            <a:ext cx="95476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6 COMPLETE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4370198" y="2699147"/>
            <a:ext cx="9547604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4370198" y="3842147"/>
            <a:ext cx="954760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今天学了 · What We Covered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4370198" y="4623197"/>
            <a:ext cx="954760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 colour survey questions · Reporting pattern 几个人喜欢…… · Class survey + Countdown game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4463802" y="5394722"/>
            <a:ext cx="9360396" cy="2059781"/>
          </a:xfrm>
          <a:prstGeom prst="roundRect">
            <a:avLst>
              <a:gd name="adj" fmla="val 12948"/>
            </a:avLst>
          </a:prstGeom>
          <a:solidFill>
            <a:srgbClr val="F3EEE4"/>
          </a:solidFill>
          <a:ln w="19050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55973" y="5718572"/>
            <a:ext cx="85760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 · NEXT LESSON (L7)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55973" y="6023372"/>
            <a:ext cx="8576054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下一课，我们要</a:t>
            </a:r>
            <a:r>
              <a:rPr lang="en-US" sz="18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听录音选颜色</a:t>
            </a:r>
            <a:r>
              <a:rPr lang="en-US" sz="18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，还要玩几个新游戏！</a:t>
            </a: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Next lesson: we'll </a:t>
            </a: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r>
              <a:rPr lang="en-US" sz="187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to audio to choose colours</a:t>
            </a:r>
            <a:r>
              <a:rPr lang="en-US" sz="18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and play some new games!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2026-07-28T09:10:09Z</dcterms:created>
  <dcterms:modified xsi:type="dcterms:W3CDTF">2026-07-28T09:10:09Z</dcterms:modified>
</cp:coreProperties>
</file>