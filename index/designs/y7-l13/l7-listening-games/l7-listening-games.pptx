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57150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5743575" y="2658368"/>
            <a:ext cx="680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7 OF 8 · Y7 UNIT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43575" y="3153668"/>
            <a:ext cx="68008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🌈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5743575" y="4999583"/>
            <a:ext cx="68008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0"/>
              </a:lnSpc>
              <a:spcBef>
                <a:spcPts val="7035"/>
              </a:spcBef>
              <a:spcAft>
                <a:spcPts val="600"/>
              </a:spcAft>
              <a:buNone/>
            </a:pPr>
            <a:r>
              <a:rPr lang="en-US" sz="10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听力和游戏</a:t>
            </a:r>
            <a:endParaRPr lang="en-US" sz="10500" dirty="0"/>
          </a:p>
        </p:txBody>
      </p:sp>
      <p:sp>
        <p:nvSpPr>
          <p:cNvPr id="6" name="Text 4"/>
          <p:cNvSpPr/>
          <p:nvPr/>
        </p:nvSpPr>
        <p:spPr>
          <a:xfrm>
            <a:off x="5743575" y="6409283"/>
            <a:ext cx="6800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Listening Practice + Colour Games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41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LISTENING + GAMES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52490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1143000"/>
            <a:ext cx="1651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1447800"/>
            <a:ext cx="165163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Survey Reporting Recap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47750" y="2295525"/>
            <a:ext cx="7924800" cy="1967805"/>
          </a:xfrm>
          <a:prstGeom prst="roundRect">
            <a:avLst>
              <a:gd name="adj" fmla="val 968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23975" y="2533650"/>
            <a:ext cx="75197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PAIR RECALL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3975" y="2876550"/>
            <a:ext cx="7372350" cy="542925"/>
          </a:xfrm>
          <a:prstGeom prst="roundRect">
            <a:avLst>
              <a:gd name="adj" fmla="val 21053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23975" y="3552825"/>
            <a:ext cx="7519797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Tell your partner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real result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last lesson's survey, using the full sentence pattern above (e.g.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八个人喜欢蓝色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). Take turns — both partners share at least one result.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15450" y="2295525"/>
            <a:ext cx="7924800" cy="2503140"/>
          </a:xfrm>
          <a:prstGeom prst="roundRect">
            <a:avLst>
              <a:gd name="adj" fmla="val 761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591675" y="2533650"/>
            <a:ext cx="75197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COLD CALL CHECK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91675" y="2876550"/>
            <a:ext cx="3643313" cy="381000"/>
          </a:xfrm>
          <a:prstGeom prst="roundRect">
            <a:avLst>
              <a:gd name="adj" fmla="val 24975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667875" y="295275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991725" y="2967038"/>
            <a:ext cx="297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黑色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3320713" y="2876550"/>
            <a:ext cx="3643313" cy="381000"/>
          </a:xfrm>
          <a:prstGeom prst="roundRect">
            <a:avLst>
              <a:gd name="adj" fmla="val 24975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396913" y="295275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720763" y="2967038"/>
            <a:ext cx="297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白色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9591675" y="3343275"/>
            <a:ext cx="3643313" cy="381000"/>
          </a:xfrm>
          <a:prstGeom prst="roundRect">
            <a:avLst>
              <a:gd name="adj" fmla="val 24975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667875" y="341947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991725" y="3433763"/>
            <a:ext cx="297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黄色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3320713" y="3343275"/>
            <a:ext cx="3643313" cy="381000"/>
          </a:xfrm>
          <a:prstGeom prst="roundRect">
            <a:avLst>
              <a:gd name="adj" fmla="val 24975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396913" y="341947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3720763" y="3433763"/>
            <a:ext cx="297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9591675" y="3810000"/>
            <a:ext cx="3643313" cy="381000"/>
          </a:xfrm>
          <a:prstGeom prst="roundRect">
            <a:avLst>
              <a:gd name="adj" fmla="val 24975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667875" y="38862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991725" y="3900488"/>
            <a:ext cx="297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3320713" y="3810000"/>
            <a:ext cx="3643313" cy="381000"/>
          </a:xfrm>
          <a:prstGeom prst="roundRect">
            <a:avLst>
              <a:gd name="adj" fmla="val 24975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3396913" y="38862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3720763" y="3900488"/>
            <a:ext cx="297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绿色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9591675" y="4324350"/>
            <a:ext cx="7519797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pairs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share their result with the whole class, in full sentences.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47750" y="5008215"/>
            <a:ext cx="16192500" cy="576263"/>
          </a:xfrm>
          <a:prstGeom prst="rect">
            <a:avLst/>
          </a:prstGeom>
          <a:solidFill>
            <a:srgbClr val="B840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1071563" y="5008215"/>
            <a:ext cx="0" cy="576262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23975" y="5160615"/>
            <a:ext cx="1600142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上节课我们做了调查、报告了结果。今天我们要练习</a:t>
            </a:r>
            <a:r>
              <a:rPr lang="en-US" sz="142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听</a:t>
            </a:r>
            <a:r>
              <a:rPr lang="en-US" sz="14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颜色，还要玩几个好玩的游戏来复习所有颜色。</a:t>
            </a:r>
            <a:endParaRPr lang="en-US" sz="1425" dirty="0"/>
          </a:p>
        </p:txBody>
      </p:sp>
      <p:sp>
        <p:nvSpPr>
          <p:cNvPr id="37" name="Shape 3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41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LISTENING + GAMES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52490" y="280988"/>
            <a:ext cx="2159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· 8–10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522934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846784"/>
            <a:ext cx="1593342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333500" y="3885009"/>
            <a:ext cx="15621000" cy="1025723"/>
          </a:xfrm>
          <a:prstGeom prst="rect">
            <a:avLst/>
          </a:prstGeom>
          <a:solidFill>
            <a:srgbClr val="B840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3885009"/>
            <a:ext cx="0" cy="1025723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4094559"/>
            <a:ext cx="15263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85925" y="4342209"/>
            <a:ext cx="15263051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19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19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identify colours by listening</a:t>
            </a:r>
            <a:r>
              <a:rPr lang="en-US" sz="19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to </a:t>
            </a:r>
            <a:r>
              <a:rPr lang="en-US" sz="19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recall colour vocabulary quickly</a:t>
            </a:r>
            <a:r>
              <a:rPr lang="en-US" sz="19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through games.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33500" y="5253633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71625" y="5453658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43125" y="5453658"/>
            <a:ext cx="9079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8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to a short description and tick the correct colour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能听懂并选出正确的颜色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3500" y="6236494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71625" y="6436519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143125" y="6436519"/>
            <a:ext cx="84386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8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the colour of a real-world object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能用中文说出物品的颜色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3500" y="7219355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71625" y="7419380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143125" y="7419380"/>
            <a:ext cx="8434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8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recall and spell colour words under time pressure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能快速回忆并拼写颜色词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41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LISTENING + GAMES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52490" y="280988"/>
            <a:ext cx="32750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Modelled Listening + CFU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858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7160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听力示范 · Modelled Listening Example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52500" y="2057400"/>
            <a:ext cx="16383000" cy="1659136"/>
          </a:xfrm>
          <a:prstGeom prst="roundRect">
            <a:avLst>
              <a:gd name="adj" fmla="val 11482"/>
            </a:avLst>
          </a:prstGeom>
          <a:solidFill>
            <a:srgbClr val="F3EEE4"/>
          </a:solidFill>
          <a:ln w="9525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1933575"/>
            <a:ext cx="1496467" cy="247650"/>
          </a:xfrm>
          <a:prstGeom prst="roundRect">
            <a:avLst>
              <a:gd name="adj" fmla="val 3842308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62075" y="1971675"/>
            <a:ext cx="11766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Worked Example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209675" y="2238375"/>
            <a:ext cx="161860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小月喜欢红色，不喜欢黄色。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09675" y="2733675"/>
            <a:ext cx="161860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reads this sentence aloud </a:t>
            </a:r>
            <a:r>
              <a:rPr lang="en-US" sz="11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twice</a:t>
            </a:r>
            <a:r>
              <a:rPr lang="en-US" sz="112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at natural speed, to establish the listening task format before the independent activity.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209675" y="3048000"/>
            <a:ext cx="15868650" cy="487561"/>
          </a:xfrm>
          <a:prstGeom prst="roundRect">
            <a:avLst>
              <a:gd name="adj" fmla="val 23443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81125" y="3162300"/>
            <a:ext cx="15836265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thinks aloud to model the task: </a:t>
            </a:r>
            <a:r>
              <a:rPr lang="en-US" sz="12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"小月喜欢什么颜色？"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红色！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"不喜欢什么颜色？"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黄色！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952500" y="3887986"/>
            <a:ext cx="5359301" cy="1828800"/>
          </a:xfrm>
          <a:prstGeom prst="roundRect">
            <a:avLst>
              <a:gd name="adj" fmla="val 10417"/>
            </a:avLst>
          </a:prstGeom>
          <a:solidFill>
            <a:srgbClr val="2E4B7A">
              <a:alpha val="10000"/>
            </a:srgbClr>
          </a:solidFill>
          <a:ln w="9525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52525" y="4068961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88107" y="4135636"/>
            <a:ext cx="7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525" y="4507111"/>
            <a:ext cx="50584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AND WRITE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525" y="4764286"/>
            <a:ext cx="50584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Mini Whiteboards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152525" y="5107186"/>
            <a:ext cx="505843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</a:t>
            </a:r>
            <a:r>
              <a:rPr lang="en-US" sz="11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colour word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aloud (once, natural pace). Students write what they hear, hold up on three: "一、二、三，举起来！"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464201" y="3887986"/>
            <a:ext cx="5359450" cy="1828800"/>
          </a:xfrm>
          <a:prstGeom prst="roundRect">
            <a:avLst>
              <a:gd name="adj" fmla="val 10417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64226" y="4068961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99808" y="4135636"/>
            <a:ext cx="7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64226" y="4507111"/>
            <a:ext cx="50585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UP/DOWN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64226" y="4764286"/>
            <a:ext cx="50585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Readiness Check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6664226" y="5107186"/>
            <a:ext cx="50585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"Thumbs up if you're ready to listen to 6 people talk about their favourite colours."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1976050" y="3887986"/>
            <a:ext cx="5359450" cy="1828800"/>
          </a:xfrm>
          <a:prstGeom prst="roundRect">
            <a:avLst>
              <a:gd name="adj" fmla="val 10417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2176075" y="4068961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2311658" y="4135636"/>
            <a:ext cx="7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176075" y="4507111"/>
            <a:ext cx="50585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176075" y="4764286"/>
            <a:ext cx="50585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Explain the Task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2176075" y="5107186"/>
            <a:ext cx="505858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"Explain in one sentence what we're about to do."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41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LISTENING + GAMES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52490" y="280988"/>
            <a:ext cx="30541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 · Activity 1 · 20–32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1042988"/>
            <a:ext cx="1153120" cy="314325"/>
          </a:xfrm>
          <a:prstGeom prst="roundRect">
            <a:avLst>
              <a:gd name="adj" fmla="val 3027273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47750" y="1100138"/>
            <a:ext cx="787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162770" y="1028700"/>
            <a:ext cx="990154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43745" y="1095375"/>
            <a:ext cx="6407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12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305324" y="1042988"/>
            <a:ext cx="3078063" cy="314325"/>
          </a:xfrm>
          <a:prstGeom prst="roundRect">
            <a:avLst>
              <a:gd name="adj" fmla="val 3027273"/>
            </a:avLst>
          </a:prstGeom>
          <a:solidFill>
            <a:srgbClr val="B840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76774" y="1100138"/>
            <a:ext cx="27898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and Tick · Ex.10 p.103, CD T64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857250" y="1447800"/>
            <a:ext cx="1690497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听一听，勾一勾 · Listen and Tick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57250" y="1962150"/>
            <a:ext cx="169049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reads each person's sentence twice at natural pace. Tick the colour each person likes.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7250" y="2305050"/>
            <a:ext cx="5435501" cy="971550"/>
          </a:xfrm>
          <a:prstGeom prst="roundRect">
            <a:avLst>
              <a:gd name="adj" fmla="val 19608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19175" y="2447925"/>
            <a:ext cx="52138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大生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19175" y="2809875"/>
            <a:ext cx="757833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76325" y="28670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81125" y="28765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绿色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53208" y="2809875"/>
            <a:ext cx="757833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910358" y="28670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215158" y="28765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87241" y="2809875"/>
            <a:ext cx="757833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744391" y="28670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049191" y="28765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黄色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26101" y="2305050"/>
            <a:ext cx="5435650" cy="971550"/>
          </a:xfrm>
          <a:prstGeom prst="roundRect">
            <a:avLst>
              <a:gd name="adj" fmla="val 19608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88026" y="2447925"/>
            <a:ext cx="52140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小文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588026" y="2809875"/>
            <a:ext cx="757833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645176" y="28670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949976" y="28765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紫色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22059" y="2809875"/>
            <a:ext cx="757833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479209" y="28670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784009" y="28765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橙色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56091" y="2809875"/>
            <a:ext cx="757833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313241" y="28670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618041" y="28765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995100" y="2305050"/>
            <a:ext cx="5435650" cy="971550"/>
          </a:xfrm>
          <a:prstGeom prst="roundRect">
            <a:avLst>
              <a:gd name="adj" fmla="val 19608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2157025" y="2447925"/>
            <a:ext cx="52140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小月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2157025" y="2809875"/>
            <a:ext cx="757833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2214175" y="28670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2518975" y="28765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2991058" y="2809875"/>
            <a:ext cx="757833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3048208" y="28670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3353008" y="28765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黄色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3825091" y="2809875"/>
            <a:ext cx="757833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3882241" y="28670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4187041" y="28765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白色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57250" y="3409950"/>
            <a:ext cx="5435501" cy="971550"/>
          </a:xfrm>
          <a:prstGeom prst="roundRect">
            <a:avLst>
              <a:gd name="adj" fmla="val 19608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19175" y="3552825"/>
            <a:ext cx="52138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京京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019175" y="3914775"/>
            <a:ext cx="757833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076325" y="39719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381125" y="39814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853208" y="3914775"/>
            <a:ext cx="757833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910358" y="39719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2215158" y="39814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绿色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2687241" y="3914775"/>
            <a:ext cx="757833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744391" y="39719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3049191" y="39814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黑色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426101" y="3409950"/>
            <a:ext cx="5435650" cy="971550"/>
          </a:xfrm>
          <a:prstGeom prst="roundRect">
            <a:avLst>
              <a:gd name="adj" fmla="val 19608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588026" y="3552825"/>
            <a:ext cx="52140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王星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6588026" y="3914775"/>
            <a:ext cx="757833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645176" y="39719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949976" y="39814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黑色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422059" y="3914775"/>
            <a:ext cx="757833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479209" y="39719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7784009" y="39814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白色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8256091" y="3914775"/>
            <a:ext cx="757833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8313241" y="39719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9A9A9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8618041" y="39814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灰色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11995100" y="3409950"/>
            <a:ext cx="5435650" cy="971550"/>
          </a:xfrm>
          <a:prstGeom prst="roundRect">
            <a:avLst>
              <a:gd name="adj" fmla="val 19608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2157025" y="3552825"/>
            <a:ext cx="52140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王小明</a:t>
            </a:r>
            <a:endParaRPr lang="en-US" sz="1650" dirty="0"/>
          </a:p>
        </p:txBody>
      </p:sp>
      <p:sp>
        <p:nvSpPr>
          <p:cNvPr id="72" name="Text 70"/>
          <p:cNvSpPr/>
          <p:nvPr/>
        </p:nvSpPr>
        <p:spPr>
          <a:xfrm>
            <a:off x="12157025" y="3914775"/>
            <a:ext cx="757833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2214175" y="39719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8A5A3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2518975" y="39814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棕色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12991058" y="3914775"/>
            <a:ext cx="757833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3048208" y="39719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13353008" y="39814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橙色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3825091" y="3914775"/>
            <a:ext cx="893862" cy="323850"/>
          </a:xfrm>
          <a:prstGeom prst="roundRect">
            <a:avLst>
              <a:gd name="adj" fmla="val 293823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13882241" y="39719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14187041" y="3981450"/>
            <a:ext cx="4162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粉红色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857250" y="4552950"/>
            <a:ext cx="54228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1009650" y="4667250"/>
            <a:ext cx="52204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83" name="Text 81"/>
          <p:cNvSpPr/>
          <p:nvPr/>
        </p:nvSpPr>
        <p:spPr>
          <a:xfrm>
            <a:off x="1009650" y="4857750"/>
            <a:ext cx="52204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Slow down and repeat a third time for any item with visible confusion; keep the colour word list projected</a:t>
            </a:r>
            <a:endParaRPr lang="en-US" sz="1125" dirty="0"/>
          </a:p>
        </p:txBody>
      </p:sp>
      <p:sp>
        <p:nvSpPr>
          <p:cNvPr id="84" name="Text 82"/>
          <p:cNvSpPr/>
          <p:nvPr/>
        </p:nvSpPr>
        <p:spPr>
          <a:xfrm>
            <a:off x="6432500" y="4552950"/>
            <a:ext cx="54228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6584900" y="4667250"/>
            <a:ext cx="52204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86" name="Text 84"/>
          <p:cNvSpPr/>
          <p:nvPr/>
        </p:nvSpPr>
        <p:spPr>
          <a:xfrm>
            <a:off x="6584900" y="4857750"/>
            <a:ext cx="52204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marking, write the full sentence you heard from memory for 2 of the 6 people</a:t>
            </a:r>
            <a:endParaRPr lang="en-US" sz="1125" dirty="0"/>
          </a:p>
        </p:txBody>
      </p:sp>
      <p:sp>
        <p:nvSpPr>
          <p:cNvPr id="87" name="Text 85"/>
          <p:cNvSpPr/>
          <p:nvPr/>
        </p:nvSpPr>
        <p:spPr>
          <a:xfrm>
            <a:off x="12007751" y="4552950"/>
            <a:ext cx="54228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12160151" y="4667250"/>
            <a:ext cx="52204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89" name="Text 87"/>
          <p:cNvSpPr/>
          <p:nvPr/>
        </p:nvSpPr>
        <p:spPr>
          <a:xfrm>
            <a:off x="12160151" y="4857750"/>
            <a:ext cx="52204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listens and marks all 6 items independently</a:t>
            </a:r>
            <a:endParaRPr lang="en-US" sz="1125" dirty="0"/>
          </a:p>
        </p:txBody>
      </p:sp>
      <p:sp>
        <p:nvSpPr>
          <p:cNvPr id="90" name="Shape 8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41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LISTENING + GAMES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52490" y="280988"/>
            <a:ext cx="16281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1028700"/>
            <a:ext cx="169049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7250" y="1314450"/>
            <a:ext cx="1690497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Listen and Tick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57250" y="1971675"/>
            <a:ext cx="5435501" cy="1238250"/>
          </a:xfrm>
          <a:prstGeom prst="roundRect">
            <a:avLst>
              <a:gd name="adj" fmla="val 15385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19175" y="2114550"/>
            <a:ext cx="52138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大生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19175" y="2457450"/>
            <a:ext cx="52138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"大生喜欢绿色。"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19175" y="2724150"/>
            <a:ext cx="926009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85850" y="27908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90650" y="2800350"/>
            <a:ext cx="4296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绿色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21384" y="2724150"/>
            <a:ext cx="757833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078534" y="27908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383334" y="28003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55416" y="2724150"/>
            <a:ext cx="757833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912566" y="27908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17366" y="28003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黄色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26101" y="1971675"/>
            <a:ext cx="5435650" cy="1238250"/>
          </a:xfrm>
          <a:prstGeom prst="roundRect">
            <a:avLst>
              <a:gd name="adj" fmla="val 15385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88026" y="2114550"/>
            <a:ext cx="52140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小文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588026" y="2457450"/>
            <a:ext cx="52140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"小文喜欢紫色，不喜欢橙色。"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8026" y="2724150"/>
            <a:ext cx="926009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54701" y="27908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959501" y="2800350"/>
            <a:ext cx="4296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紫色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90234" y="2724150"/>
            <a:ext cx="757833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47384" y="27908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952184" y="28003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橙色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24267" y="2724150"/>
            <a:ext cx="757833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481417" y="27908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786217" y="28003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995100" y="1971675"/>
            <a:ext cx="5435650" cy="1238250"/>
          </a:xfrm>
          <a:prstGeom prst="roundRect">
            <a:avLst>
              <a:gd name="adj" fmla="val 15385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2157025" y="2114550"/>
            <a:ext cx="52140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小月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2157025" y="2457450"/>
            <a:ext cx="52140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"小月喜欢红色，不喜欢黄色。"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2157025" y="2724150"/>
            <a:ext cx="926009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2223700" y="27908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2528500" y="2800350"/>
            <a:ext cx="4296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红色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3159234" y="2724150"/>
            <a:ext cx="757833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3216384" y="27908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3521184" y="28003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黄色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3993267" y="2724150"/>
            <a:ext cx="757833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4050417" y="27908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4355217" y="28003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白色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57250" y="3343275"/>
            <a:ext cx="5435501" cy="1238250"/>
          </a:xfrm>
          <a:prstGeom prst="roundRect">
            <a:avLst>
              <a:gd name="adj" fmla="val 15385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019175" y="3486150"/>
            <a:ext cx="52138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京京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019175" y="3829050"/>
            <a:ext cx="52138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"京京喜欢蓝色。"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19175" y="4095750"/>
            <a:ext cx="926009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85850" y="41624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390650" y="4171950"/>
            <a:ext cx="4296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蓝色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021384" y="4095750"/>
            <a:ext cx="757833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078534" y="41624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383334" y="41719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绿色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2855416" y="4095750"/>
            <a:ext cx="757833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2912566" y="41624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217366" y="41719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黑色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426101" y="3343275"/>
            <a:ext cx="5435650" cy="1238250"/>
          </a:xfrm>
          <a:prstGeom prst="roundRect">
            <a:avLst>
              <a:gd name="adj" fmla="val 15385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588026" y="3486150"/>
            <a:ext cx="52140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王星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6588026" y="3829050"/>
            <a:ext cx="52140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"王星喜欢黑色，不喜欢白色。"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588026" y="4095750"/>
            <a:ext cx="926009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654701" y="41624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959501" y="4171950"/>
            <a:ext cx="4296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黑色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590234" y="4095750"/>
            <a:ext cx="757833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647384" y="41624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952184" y="41719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白色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8424267" y="4095750"/>
            <a:ext cx="757833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8481417" y="41624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9A9A9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8786217" y="41719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灰色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11995100" y="3343275"/>
            <a:ext cx="5435650" cy="1238250"/>
          </a:xfrm>
          <a:prstGeom prst="roundRect">
            <a:avLst>
              <a:gd name="adj" fmla="val 15385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12157025" y="3486150"/>
            <a:ext cx="52140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王小明</a:t>
            </a:r>
            <a:endParaRPr lang="en-US" sz="1650" dirty="0"/>
          </a:p>
        </p:txBody>
      </p:sp>
      <p:sp>
        <p:nvSpPr>
          <p:cNvPr id="71" name="Text 69"/>
          <p:cNvSpPr/>
          <p:nvPr/>
        </p:nvSpPr>
        <p:spPr>
          <a:xfrm>
            <a:off x="12157025" y="3829050"/>
            <a:ext cx="52140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"王小明喜欢棕色。"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12157025" y="4095750"/>
            <a:ext cx="926009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2223700" y="41624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8A5A3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2528500" y="4171950"/>
            <a:ext cx="4296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棕色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13159234" y="4095750"/>
            <a:ext cx="757833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3216384" y="41624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13521184" y="4171950"/>
            <a:ext cx="27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橙色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3993267" y="4095750"/>
            <a:ext cx="893862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14050417" y="41624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14355217" y="4171950"/>
            <a:ext cx="4162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粉红色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41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LISTENING + GAMES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52490" y="280988"/>
            <a:ext cx="2358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32–42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2038"/>
            <a:ext cx="1179165" cy="314325"/>
          </a:xfrm>
          <a:prstGeom prst="roundRect">
            <a:avLst>
              <a:gd name="adj" fmla="val 3027273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119188"/>
            <a:ext cx="8141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284065" y="1047750"/>
            <a:ext cx="992237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65040" y="1114425"/>
            <a:ext cx="6428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10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428702" y="1062038"/>
            <a:ext cx="2274689" cy="314325"/>
          </a:xfrm>
          <a:prstGeom prst="roundRect">
            <a:avLst>
              <a:gd name="adj" fmla="val 3027273"/>
            </a:avLst>
          </a:prstGeom>
          <a:solidFill>
            <a:srgbClr val="2E4B7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00152" y="1119188"/>
            <a:ext cx="19704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Naming Game · Ex.9 p.102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1466850"/>
            <a:ext cx="167106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物品颜色 · Object → Colour Naming Game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52500" y="19812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an object in English; the student(s) chosen say its colour(s) in Chinese.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2500" y="2324100"/>
            <a:ext cx="16383000" cy="619125"/>
          </a:xfrm>
          <a:prstGeom prst="roundRect">
            <a:avLst>
              <a:gd name="adj" fmla="val 18462"/>
            </a:avLst>
          </a:prstGeom>
          <a:solidFill>
            <a:srgbClr val="2E4B7A">
              <a:alpha val="10000"/>
            </a:srgbClr>
          </a:solidFill>
          <a:ln w="9525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52525" y="2428875"/>
            <a:ext cx="163026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(TEXTBOOK'S OWN EXAMPLE)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525" y="2628900"/>
            <a:ext cx="163026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"panda"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Student 1 says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黑色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Student 2 says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2500" y="3076575"/>
            <a:ext cx="4024313" cy="476250"/>
          </a:xfrm>
          <a:prstGeom prst="roundRect">
            <a:avLst>
              <a:gd name="adj" fmla="val 24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57989" y="3200400"/>
            <a:ext cx="3813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banana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5072063" y="3076575"/>
            <a:ext cx="4024313" cy="476250"/>
          </a:xfrm>
          <a:prstGeom prst="roundRect">
            <a:avLst>
              <a:gd name="adj" fmla="val 24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77552" y="3200400"/>
            <a:ext cx="3813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grass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9191625" y="3076575"/>
            <a:ext cx="4024313" cy="476250"/>
          </a:xfrm>
          <a:prstGeom prst="roundRect">
            <a:avLst>
              <a:gd name="adj" fmla="val 24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297114" y="3200400"/>
            <a:ext cx="3813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fire truck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3311188" y="3076575"/>
            <a:ext cx="4024313" cy="476250"/>
          </a:xfrm>
          <a:prstGeom prst="roundRect">
            <a:avLst>
              <a:gd name="adj" fmla="val 24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416677" y="3200400"/>
            <a:ext cx="3813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sky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952500" y="3648075"/>
            <a:ext cx="4024313" cy="476250"/>
          </a:xfrm>
          <a:prstGeom prst="roundRect">
            <a:avLst>
              <a:gd name="adj" fmla="val 24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57989" y="3771900"/>
            <a:ext cx="3813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 orange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5072063" y="3648075"/>
            <a:ext cx="4024313" cy="476250"/>
          </a:xfrm>
          <a:prstGeom prst="roundRect">
            <a:avLst>
              <a:gd name="adj" fmla="val 24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177552" y="3771900"/>
            <a:ext cx="3813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snow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9191625" y="3648075"/>
            <a:ext cx="4024313" cy="476250"/>
          </a:xfrm>
          <a:prstGeom prst="roundRect">
            <a:avLst>
              <a:gd name="adj" fmla="val 24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297114" y="3771900"/>
            <a:ext cx="3813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strawberry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13311188" y="3648075"/>
            <a:ext cx="4024313" cy="476250"/>
          </a:xfrm>
          <a:prstGeom prst="roundRect">
            <a:avLst>
              <a:gd name="adj" fmla="val 24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3416677" y="3771900"/>
            <a:ext cx="3813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coal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952500" y="4219575"/>
            <a:ext cx="4024313" cy="476250"/>
          </a:xfrm>
          <a:prstGeom prst="roundRect">
            <a:avLst>
              <a:gd name="adj" fmla="val 24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57989" y="4343400"/>
            <a:ext cx="3813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lemon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5072063" y="4219575"/>
            <a:ext cx="4024313" cy="476250"/>
          </a:xfrm>
          <a:prstGeom prst="roundRect">
            <a:avLst>
              <a:gd name="adj" fmla="val 24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177552" y="4343400"/>
            <a:ext cx="3813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 eggplant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9191625" y="4219575"/>
            <a:ext cx="4024313" cy="476250"/>
          </a:xfrm>
          <a:prstGeom prst="roundRect">
            <a:avLst>
              <a:gd name="adj" fmla="val 24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297114" y="4343400"/>
            <a:ext cx="3813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chocolate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13311188" y="4219575"/>
            <a:ext cx="4024313" cy="476250"/>
          </a:xfrm>
          <a:prstGeom prst="roundRect">
            <a:avLst>
              <a:gd name="adj" fmla="val 24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3416677" y="4343400"/>
            <a:ext cx="3813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(teacher's choice)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952500" y="4829175"/>
            <a:ext cx="5359301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104900" y="4943475"/>
            <a:ext cx="5155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1104900" y="5133975"/>
            <a:ext cx="51555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Allow a partner "lifeline" — if stuck, the student may ask a neighbour quietly before answering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6464201" y="4829175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616601" y="4943475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6616601" y="5133975"/>
            <a:ext cx="51557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speakers must answer in a full sentence: 熊猫是黑色和白色的。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11976050" y="4829175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2128450" y="4943475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12128450" y="5133975"/>
            <a:ext cx="51557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around the room — most of the class gets at least one turn; keep pace brisk and energetic</a:t>
            </a:r>
            <a:endParaRPr lang="en-US" sz="1125" dirty="0"/>
          </a:p>
        </p:txBody>
      </p:sp>
      <p:sp>
        <p:nvSpPr>
          <p:cNvPr id="51" name="Shape 4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41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LISTENING + GAMES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52490" y="280988"/>
            <a:ext cx="25263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Teacher Answer Key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477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REFERENCE · 答案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33500"/>
            <a:ext cx="167106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Naming Game Answer Key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52500" y="1866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teacher reference only — do not project during the live oral game.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2228850"/>
            <a:ext cx="16383000" cy="409575"/>
          </a:xfrm>
          <a:prstGeom prst="roundRect">
            <a:avLst>
              <a:gd name="adj" fmla="val 27907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71575" y="2333625"/>
            <a:ext cx="16263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Panda and strawberry are two-colour answers; the rest are single-colour. Mix the calling order for pace and unpredictability.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952500" y="2790825"/>
            <a:ext cx="5384750" cy="533400"/>
          </a:xfrm>
          <a:prstGeom prst="roundRect">
            <a:avLst>
              <a:gd name="adj" fmla="val 2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14425" y="2952750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panda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17405" y="2914650"/>
            <a:ext cx="690860" cy="285750"/>
          </a:xfrm>
          <a:prstGeom prst="roundRect">
            <a:avLst>
              <a:gd name="adj" fmla="val 3330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65030" y="29622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50780" y="2971800"/>
            <a:ext cx="2577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黑色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484465" y="2914650"/>
            <a:ext cx="690860" cy="285750"/>
          </a:xfrm>
          <a:prstGeom prst="roundRect">
            <a:avLst>
              <a:gd name="adj" fmla="val 3330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32090" y="29622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17840" y="2971800"/>
            <a:ext cx="2577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白色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451550" y="2790825"/>
            <a:ext cx="5384750" cy="533400"/>
          </a:xfrm>
          <a:prstGeom prst="roundRect">
            <a:avLst>
              <a:gd name="adj" fmla="val 2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13475" y="2952750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banana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83516" y="2914650"/>
            <a:ext cx="690860" cy="285750"/>
          </a:xfrm>
          <a:prstGeom prst="roundRect">
            <a:avLst>
              <a:gd name="adj" fmla="val 3330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031141" y="29622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316891" y="2971800"/>
            <a:ext cx="2577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黄色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1950601" y="2790825"/>
            <a:ext cx="5384750" cy="533400"/>
          </a:xfrm>
          <a:prstGeom prst="roundRect">
            <a:avLst>
              <a:gd name="adj" fmla="val 2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112526" y="2952750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482566" y="2914650"/>
            <a:ext cx="690860" cy="285750"/>
          </a:xfrm>
          <a:prstGeom prst="roundRect">
            <a:avLst>
              <a:gd name="adj" fmla="val 3330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6530191" y="29622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6815941" y="2971800"/>
            <a:ext cx="2577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绿色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952500" y="3438525"/>
            <a:ext cx="5384750" cy="533400"/>
          </a:xfrm>
          <a:prstGeom prst="roundRect">
            <a:avLst>
              <a:gd name="adj" fmla="val 2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14425" y="3600450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fire truck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4465" y="3562350"/>
            <a:ext cx="690860" cy="285750"/>
          </a:xfrm>
          <a:prstGeom prst="roundRect">
            <a:avLst>
              <a:gd name="adj" fmla="val 3330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532090" y="36099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817840" y="3619500"/>
            <a:ext cx="2577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6451550" y="3438525"/>
            <a:ext cx="5384750" cy="533400"/>
          </a:xfrm>
          <a:prstGeom prst="roundRect">
            <a:avLst>
              <a:gd name="adj" fmla="val 2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613475" y="3600450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sky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83516" y="3562350"/>
            <a:ext cx="690860" cy="285750"/>
          </a:xfrm>
          <a:prstGeom prst="roundRect">
            <a:avLst>
              <a:gd name="adj" fmla="val 3330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1031141" y="36099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6FA8D6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1316891" y="3619500"/>
            <a:ext cx="2577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11950601" y="3438525"/>
            <a:ext cx="5384750" cy="533400"/>
          </a:xfrm>
          <a:prstGeom prst="roundRect">
            <a:avLst>
              <a:gd name="adj" fmla="val 2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2112526" y="3600450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 orange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6482566" y="3562350"/>
            <a:ext cx="690860" cy="285750"/>
          </a:xfrm>
          <a:prstGeom prst="roundRect">
            <a:avLst>
              <a:gd name="adj" fmla="val 3330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6530191" y="36099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6815941" y="3619500"/>
            <a:ext cx="2577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橙色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952500" y="4086225"/>
            <a:ext cx="5384750" cy="533400"/>
          </a:xfrm>
          <a:prstGeom prst="roundRect">
            <a:avLst>
              <a:gd name="adj" fmla="val 2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114425" y="4248150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snow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4465" y="4210050"/>
            <a:ext cx="690860" cy="285750"/>
          </a:xfrm>
          <a:prstGeom prst="roundRect">
            <a:avLst>
              <a:gd name="adj" fmla="val 3330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532090" y="42576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817840" y="4267200"/>
            <a:ext cx="2577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白色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6451550" y="4086225"/>
            <a:ext cx="5384750" cy="533400"/>
          </a:xfrm>
          <a:prstGeom prst="roundRect">
            <a:avLst>
              <a:gd name="adj" fmla="val 2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613475" y="4248150"/>
            <a:ext cx="9843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strawberry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216455" y="4210050"/>
            <a:ext cx="690860" cy="285750"/>
          </a:xfrm>
          <a:prstGeom prst="roundRect">
            <a:avLst>
              <a:gd name="adj" fmla="val 3330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0264080" y="42576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0549830" y="4267200"/>
            <a:ext cx="2577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</a:t>
            </a:r>
            <a:endParaRPr lang="en-US" sz="975" dirty="0"/>
          </a:p>
        </p:txBody>
      </p:sp>
      <p:sp>
        <p:nvSpPr>
          <p:cNvPr id="55" name="Text 53"/>
          <p:cNvSpPr/>
          <p:nvPr/>
        </p:nvSpPr>
        <p:spPr>
          <a:xfrm>
            <a:off x="10983516" y="4210050"/>
            <a:ext cx="690860" cy="285750"/>
          </a:xfrm>
          <a:prstGeom prst="roundRect">
            <a:avLst>
              <a:gd name="adj" fmla="val 3330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1031141" y="42576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1316891" y="4267200"/>
            <a:ext cx="2577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绿色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11950601" y="4086225"/>
            <a:ext cx="5384750" cy="533400"/>
          </a:xfrm>
          <a:prstGeom prst="roundRect">
            <a:avLst>
              <a:gd name="adj" fmla="val 2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2112526" y="4248150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coal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6482566" y="4210050"/>
            <a:ext cx="690860" cy="285750"/>
          </a:xfrm>
          <a:prstGeom prst="roundRect">
            <a:avLst>
              <a:gd name="adj" fmla="val 3330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6530191" y="42576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6815941" y="4267200"/>
            <a:ext cx="2577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黑色</a:t>
            </a:r>
            <a:endParaRPr lang="en-US" sz="975" dirty="0"/>
          </a:p>
        </p:txBody>
      </p:sp>
      <p:sp>
        <p:nvSpPr>
          <p:cNvPr id="63" name="Text 61"/>
          <p:cNvSpPr/>
          <p:nvPr/>
        </p:nvSpPr>
        <p:spPr>
          <a:xfrm>
            <a:off x="952500" y="4733925"/>
            <a:ext cx="5384750" cy="533400"/>
          </a:xfrm>
          <a:prstGeom prst="roundRect">
            <a:avLst>
              <a:gd name="adj" fmla="val 2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1114425" y="4895850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lemon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484465" y="4857750"/>
            <a:ext cx="690860" cy="285750"/>
          </a:xfrm>
          <a:prstGeom prst="roundRect">
            <a:avLst>
              <a:gd name="adj" fmla="val 3330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532090" y="49053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817840" y="4914900"/>
            <a:ext cx="2577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黄色</a:t>
            </a:r>
            <a:endParaRPr lang="en-US" sz="975" dirty="0"/>
          </a:p>
        </p:txBody>
      </p:sp>
      <p:sp>
        <p:nvSpPr>
          <p:cNvPr id="68" name="Text 66"/>
          <p:cNvSpPr/>
          <p:nvPr/>
        </p:nvSpPr>
        <p:spPr>
          <a:xfrm>
            <a:off x="6451550" y="4733925"/>
            <a:ext cx="5384750" cy="533400"/>
          </a:xfrm>
          <a:prstGeom prst="roundRect">
            <a:avLst>
              <a:gd name="adj" fmla="val 2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613475" y="4895850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 eggplant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10983516" y="4857750"/>
            <a:ext cx="690860" cy="285750"/>
          </a:xfrm>
          <a:prstGeom prst="roundRect">
            <a:avLst>
              <a:gd name="adj" fmla="val 3330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1031141" y="49053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11316891" y="4914900"/>
            <a:ext cx="2577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紫色</a:t>
            </a:r>
            <a:endParaRPr lang="en-US" sz="975" dirty="0"/>
          </a:p>
        </p:txBody>
      </p:sp>
      <p:sp>
        <p:nvSpPr>
          <p:cNvPr id="73" name="Text 71"/>
          <p:cNvSpPr/>
          <p:nvPr/>
        </p:nvSpPr>
        <p:spPr>
          <a:xfrm>
            <a:off x="11950601" y="4733925"/>
            <a:ext cx="5384750" cy="533400"/>
          </a:xfrm>
          <a:prstGeom prst="roundRect">
            <a:avLst>
              <a:gd name="adj" fmla="val 2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2112526" y="4895850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chocolate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16482566" y="4857750"/>
            <a:ext cx="690860" cy="285750"/>
          </a:xfrm>
          <a:prstGeom prst="roundRect">
            <a:avLst>
              <a:gd name="adj" fmla="val 3330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6530191" y="490537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8A5A3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16815941" y="4914900"/>
            <a:ext cx="2577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棕色</a:t>
            </a:r>
            <a:endParaRPr lang="en-US" sz="975" dirty="0"/>
          </a:p>
        </p:txBody>
      </p:sp>
      <p:sp>
        <p:nvSpPr>
          <p:cNvPr id="78" name="Shape 7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41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LISTENING + GAMES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52490" y="280988"/>
            <a:ext cx="27409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Hangman 老师说 · 42–46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2038"/>
            <a:ext cx="840879" cy="314325"/>
          </a:xfrm>
          <a:prstGeom prst="roundRect">
            <a:avLst>
              <a:gd name="adj" fmla="val 3027273"/>
            </a:avLst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119188"/>
            <a:ext cx="469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945779" y="1047750"/>
            <a:ext cx="927348" cy="342900"/>
          </a:xfrm>
          <a:prstGeom prst="roundRect">
            <a:avLst>
              <a:gd name="adj" fmla="val 277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26754" y="1114425"/>
            <a:ext cx="5767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4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025527" y="1062038"/>
            <a:ext cx="2189857" cy="314325"/>
          </a:xfrm>
          <a:prstGeom prst="roundRect">
            <a:avLst>
              <a:gd name="adj" fmla="val 3027273"/>
            </a:avLst>
          </a:prstGeom>
          <a:solidFill>
            <a:srgbClr val="C2564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96977" y="1119188"/>
            <a:ext cx="18838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 Class · Ex.11 p.103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146685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猜字游戏 · Hangman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52500" y="2009775"/>
            <a:ext cx="16710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brisk pinyin-spelling and vocabulary-retrieval game to close out today's colour practice.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952500" y="2390775"/>
            <a:ext cx="8610154" cy="3871913"/>
          </a:xfrm>
          <a:prstGeom prst="roundRect">
            <a:avLst>
              <a:gd name="adj" fmla="val 492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2724150"/>
            <a:ext cx="82965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90625" y="30480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95995" y="3095625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590675" y="3067050"/>
            <a:ext cx="7888531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student comes to the board and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silently chooses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 colour word or phrase from the unit (e.g. 紫色, 我喜欢, 颜色).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1190625" y="36671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84684" y="3714750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590675" y="3686175"/>
            <a:ext cx="6808137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They draw </a:t>
            </a:r>
            <a:r>
              <a:rPr lang="en-US" sz="127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dashes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each pinyin syllable on the board (e.g. h_o_n_g / s_e for 红色).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1190625" y="40481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84387" y="4095750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590675" y="4067175"/>
            <a:ext cx="7888531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members take turns guessing letters; correct letters are filled in,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incorrect ones add a line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the hangman drawing.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1190625" y="46672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283940" y="4714875"/>
            <a:ext cx="81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590675" y="4686300"/>
            <a:ext cx="589988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ends when the word is guessed or the hangman figure is complete.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9848404" y="2390775"/>
            <a:ext cx="7486948" cy="1038225"/>
          </a:xfrm>
          <a:prstGeom prst="roundRect">
            <a:avLst>
              <a:gd name="adj" fmla="val 11009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0019854" y="2524125"/>
            <a:ext cx="7286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BOARD EXAMPLE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19854" y="2762250"/>
            <a:ext cx="72869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h _ o _ n _ g  /  s _ e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019854" y="3105150"/>
            <a:ext cx="72869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Syllable dashes for 红色 (hóng sè) — filled in as letters are guessed correctly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848404" y="3562350"/>
            <a:ext cx="7486948" cy="681038"/>
          </a:xfrm>
          <a:prstGeom prst="roundRect">
            <a:avLst>
              <a:gd name="adj" fmla="val 16783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029379" y="3686175"/>
            <a:ext cx="72674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THIS PRACTISES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29379" y="3905250"/>
            <a:ext cx="726749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Spelling/pinyin recall and vocabulary retrieval under gentle time pressure.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9848404" y="4376738"/>
            <a:ext cx="7486948" cy="704850"/>
          </a:xfrm>
          <a:prstGeom prst="roundRect">
            <a:avLst>
              <a:gd name="adj" fmla="val 16216"/>
            </a:avLst>
          </a:prstGeom>
          <a:solidFill>
            <a:srgbClr val="C2564A">
              <a:alpha val="10000"/>
            </a:srgbClr>
          </a:solidFill>
          <a:ln w="19050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0038904" y="4591050"/>
            <a:ext cx="2137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🖊️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381804" y="4510088"/>
            <a:ext cx="1735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10381804" y="4757738"/>
            <a:ext cx="17351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Whiteboard/projector only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848404" y="5443538"/>
            <a:ext cx="3667274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000804" y="5557838"/>
            <a:ext cx="34297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10000804" y="5748338"/>
            <a:ext cx="34297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Restrict word choices to single colour words (not phrases) for early rounds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13668077" y="5443538"/>
            <a:ext cx="3667274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3820477" y="5557838"/>
            <a:ext cx="34297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13820477" y="5748338"/>
            <a:ext cx="34297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Once guessed, the class must use the word in a full sentence together, chorally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419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LISTENING + GAMES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52490" y="280988"/>
            <a:ext cx="2554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(Compressed) · 46–50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38250" y="2940844"/>
            <a:ext cx="161277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46–50 MIN · 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8250" y="3245644"/>
            <a:ext cx="1612773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Quick Wrap-Up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238250" y="3940969"/>
            <a:ext cx="15811500" cy="285750"/>
          </a:xfrm>
          <a:prstGeom prst="roundRect">
            <a:avLst>
              <a:gd name="adj" fmla="val 3330000"/>
            </a:avLst>
          </a:prstGeom>
          <a:solidFill>
            <a:srgbClr val="C2564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90650" y="3988594"/>
            <a:ext cx="158168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Compressed to 4 min — keep it brisk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38250" y="4436269"/>
            <a:ext cx="15811500" cy="2528888"/>
          </a:xfrm>
          <a:prstGeom prst="roundRect">
            <a:avLst>
              <a:gd name="adj" fmla="val 1054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52575" y="4693444"/>
            <a:ext cx="4933950" cy="1009650"/>
          </a:xfrm>
          <a:prstGeom prst="roundRect">
            <a:avLst>
              <a:gd name="adj" fmla="val 11321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43075" y="4845844"/>
            <a:ext cx="46440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SC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743075" y="5093494"/>
            <a:ext cx="46440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read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of all 3 success criteria; whole-class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up/down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check on each.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7025" y="4693444"/>
            <a:ext cx="4933950" cy="1009650"/>
          </a:xfrm>
          <a:prstGeom prst="roundRect">
            <a:avLst>
              <a:gd name="adj" fmla="val 11321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67525" y="4845844"/>
            <a:ext cx="46440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SELF-ASSESSMENT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867525" y="5093494"/>
            <a:ext cx="46440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quick round — hold up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1, 2, or 3 fingers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overall confidence today.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01475" y="4693444"/>
            <a:ext cx="4933950" cy="1009650"/>
          </a:xfrm>
          <a:prstGeom prst="roundRect">
            <a:avLst>
              <a:gd name="adj" fmla="val 11321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991975" y="4845844"/>
            <a:ext cx="46440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TIMING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1991975" y="5093494"/>
            <a:ext cx="46440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 check + confidence round: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min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Exit ticket: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min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2575" y="5893594"/>
            <a:ext cx="15182850" cy="814388"/>
          </a:xfrm>
          <a:prstGeom prst="rect">
            <a:avLst/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576388" y="5893594"/>
            <a:ext cx="0" cy="814388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09750" y="6045994"/>
            <a:ext cx="15010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(MINI WHITEBOARDS, 1 MIN)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09750" y="6284119"/>
            <a:ext cx="1501044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colour of </a:t>
            </a:r>
            <a:r>
              <a:rPr lang="en-US" sz="14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object the teacher names on the spot</a:t>
            </a:r>
            <a:r>
              <a:rPr lang="en-US" sz="14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238250" y="7155656"/>
            <a:ext cx="15811500" cy="457200"/>
          </a:xfrm>
          <a:prstGeom prst="rect">
            <a:avLst/>
          </a:prstGeom>
          <a:solidFill>
            <a:srgbClr val="B840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262063" y="7155656"/>
            <a:ext cx="0" cy="457200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5425" y="7269956"/>
            <a:ext cx="156516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"下一课是这个单元的总复习——我们会玩最后的大游戏，准备好迎接下一课：穿着（衣服）！"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14350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0"/>
              </a:lnSpc>
              <a:buNone/>
            </a:pPr>
            <a:r>
              <a:rPr lang="en-US" sz="36000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戏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2343150" y="2109788"/>
            <a:ext cx="1360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7 COMPLETE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2343150" y="2528888"/>
            <a:ext cx="13601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2343150" y="3671888"/>
            <a:ext cx="136017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343150" y="4424363"/>
            <a:ext cx="136017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and Tick (6 people) · Object → Colour Naming Game (12 objects) · Hangman 老师说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2476500" y="5195888"/>
            <a:ext cx="13335000" cy="2428875"/>
          </a:xfrm>
          <a:prstGeom prst="roundRect">
            <a:avLst>
              <a:gd name="adj" fmla="val 10980"/>
            </a:avLst>
          </a:prstGeom>
          <a:solidFill>
            <a:srgbClr val="F3EEE4"/>
          </a:solidFill>
          <a:ln w="19050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28925" y="5519738"/>
            <a:ext cx="1263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(L8)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28925" y="5824538"/>
            <a:ext cx="1263015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下一课是这个单元的总复习——我们会玩最后的大游戏，准备好迎接下一课：</a:t>
            </a:r>
            <a:r>
              <a:rPr lang="en-US" sz="18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穿着（衣服）</a:t>
            </a: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！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 is this unit's big review — we'll play the final big game, and get ready for the next topic: 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Clothing 穿着</a:t>
            </a: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2026-07-28T09:10:16Z</dcterms:created>
  <dcterms:modified xsi:type="dcterms:W3CDTF">2026-07-28T09:10:16Z</dcterms:modified>
</cp:coreProperties>
</file>