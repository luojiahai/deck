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772025" y="2321719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OF 8 · Y7 UNIT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72025" y="2817019"/>
            <a:ext cx="87439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🎨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772025" y="4726781"/>
            <a:ext cx="8743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spcBef>
                <a:spcPts val="7538"/>
              </a:spcBef>
              <a:spcAft>
                <a:spcPts val="600"/>
              </a:spcAft>
              <a:buNone/>
            </a:pPr>
            <a:r>
              <a:rPr lang="en-US" sz="112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核心颜色</a:t>
            </a:r>
            <a:r>
              <a:rPr lang="en-US" sz="1125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12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4772025" y="6231731"/>
            <a:ext cx="87439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Colours 1 (黑白黄蓝红粉) + Text 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7953375" y="6860381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72475" y="6860381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791575" y="6860381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210675" y="6860381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629775" y="6860381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048875" y="6860381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01912" y="7755731"/>
            <a:ext cx="12742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92268" y="7841456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2485" y="7755731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35863" y="7841456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589301" y="7755731"/>
            <a:ext cx="13527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Vocab + Writing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57371" y="7841456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402577" y="7755731"/>
            <a:ext cx="21923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1 · Unit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87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COLOURS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02756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1430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1447800"/>
            <a:ext cx="165163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Transport Recall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47750" y="2295525"/>
            <a:ext cx="7924800" cy="1971675"/>
          </a:xfrm>
          <a:prstGeom prst="roundRect">
            <a:avLst>
              <a:gd name="adj" fmla="val 966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23975" y="2533650"/>
            <a:ext cx="751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L12 TRANSPORT WORDS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3975" y="2876550"/>
            <a:ext cx="650825" cy="561975"/>
          </a:xfrm>
          <a:prstGeom prst="roundRect">
            <a:avLst>
              <a:gd name="adj" fmla="val 10169"/>
            </a:avLst>
          </a:prstGeom>
          <a:solidFill>
            <a:srgbClr val="2E4B7A">
              <a:alpha val="10000"/>
            </a:srgbClr>
          </a:solidFill>
          <a:ln w="9525">
            <a:solidFill>
              <a:srgbClr val="6482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68338" y="29622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校车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466850" y="3219450"/>
            <a:ext cx="3723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xiàochē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051000" y="2876550"/>
            <a:ext cx="647700" cy="561975"/>
          </a:xfrm>
          <a:prstGeom prst="roundRect">
            <a:avLst>
              <a:gd name="adj" fmla="val 10169"/>
            </a:avLst>
          </a:prstGeom>
          <a:solidFill>
            <a:srgbClr val="2E4B7A">
              <a:alpha val="10000"/>
            </a:srgbClr>
          </a:solidFill>
          <a:ln w="9525">
            <a:solidFill>
              <a:srgbClr val="6482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93875" y="29622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2247900" y="3219450"/>
            <a:ext cx="2588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zǒulù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74900" y="2876550"/>
            <a:ext cx="647700" cy="561975"/>
          </a:xfrm>
          <a:prstGeom prst="roundRect">
            <a:avLst>
              <a:gd name="adj" fmla="val 10169"/>
            </a:avLst>
          </a:prstGeom>
          <a:solidFill>
            <a:srgbClr val="2E4B7A">
              <a:alpha val="10000"/>
            </a:srgbClr>
          </a:solidFill>
          <a:ln w="9525">
            <a:solidFill>
              <a:srgbClr val="6482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17775" y="29622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开车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2945755" y="3219450"/>
            <a:ext cx="3121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kāichē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98800" y="2876550"/>
            <a:ext cx="1251347" cy="561975"/>
          </a:xfrm>
          <a:prstGeom prst="roundRect">
            <a:avLst>
              <a:gd name="adj" fmla="val 10169"/>
            </a:avLst>
          </a:prstGeom>
          <a:solidFill>
            <a:srgbClr val="2E4B7A">
              <a:alpha val="10000"/>
            </a:srgbClr>
          </a:solidFill>
          <a:ln w="9525">
            <a:solidFill>
              <a:srgbClr val="6482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72036" y="2962275"/>
            <a:ext cx="9229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坐公共汽车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3641675" y="3219450"/>
            <a:ext cx="984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zuò gōnggòng qìchē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26347" y="2876550"/>
            <a:ext cx="828675" cy="561975"/>
          </a:xfrm>
          <a:prstGeom prst="roundRect">
            <a:avLst>
              <a:gd name="adj" fmla="val 10169"/>
            </a:avLst>
          </a:prstGeom>
          <a:solidFill>
            <a:srgbClr val="2E4B7A">
              <a:alpha val="10000"/>
            </a:srgbClr>
          </a:solidFill>
          <a:ln w="9525">
            <a:solidFill>
              <a:srgbClr val="6482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69222" y="296227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坐地铁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5036493" y="3219450"/>
            <a:ext cx="416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zuò dìtiě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323975" y="3571875"/>
            <a:ext cx="7519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5 transport pictures one at a time, each with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"怎么上学？"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underneath. Students write the Chinese on mini whiteboards and hold up on three.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15450" y="2295525"/>
            <a:ext cx="7924800" cy="2514600"/>
          </a:xfrm>
          <a:prstGeom prst="roundRect">
            <a:avLst>
              <a:gd name="adj" fmla="val 757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591675" y="2533650"/>
            <a:ext cx="751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COLD CALL CHECK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91675" y="2876550"/>
            <a:ext cx="7372350" cy="514350"/>
          </a:xfrm>
          <a:prstGeom prst="roundRect">
            <a:avLst>
              <a:gd name="adj" fmla="val 22222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763125" y="2990850"/>
            <a:ext cx="71700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上学。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591675" y="3505200"/>
            <a:ext cx="7519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one student per picture to say the full sentence aloud, e.g.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我坐校车上学。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Class echoes chorally.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91675" y="4076700"/>
            <a:ext cx="75197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THIS WEEK'S CONNECTION AHEAD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591675" y="4343400"/>
            <a:ext cx="7519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Colours will later combine with these same transport words, e.g.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黑色的出租车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("a black taxi").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47750" y="5019675"/>
            <a:ext cx="16192500" cy="576263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071563" y="5019675"/>
            <a:ext cx="0" cy="576262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23975" y="5172075"/>
            <a:ext cx="1600142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上节课我们学了交通工具——怎么上学、怎么上班。今天我们开始一个新单元：</a:t>
            </a:r>
            <a:r>
              <a:rPr lang="en-US" sz="14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颜色</a:t>
            </a:r>
            <a:r>
              <a:rPr lang="en-US" sz="14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。以后我们会把颜色和交通工具放在一起说，比如</a:t>
            </a:r>
            <a:r>
              <a:rPr lang="en-US" sz="14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"黑色的出租车"</a:t>
            </a:r>
            <a:r>
              <a:rPr lang="en-US" sz="14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87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COLOURS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02756" y="280988"/>
            <a:ext cx="2159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261890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585740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333500" y="3623965"/>
            <a:ext cx="15621000" cy="1025723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3623965"/>
            <a:ext cx="0" cy="1025723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3833515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4081165"/>
            <a:ext cx="15263051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name </a:t>
            </a:r>
            <a:r>
              <a:rPr lang="en-US" sz="19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six core colours</a:t>
            </a: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and say what colour someone likes using </a:t>
            </a:r>
            <a:r>
              <a:rPr lang="en-US" sz="19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喜欢</a:t>
            </a: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33500" y="4992588"/>
            <a:ext cx="15621000" cy="1333500"/>
          </a:xfrm>
          <a:prstGeom prst="roundRect">
            <a:avLst>
              <a:gd name="adj" fmla="val 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71625" y="5192613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43125" y="5192613"/>
            <a:ext cx="75279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six colours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Chinese: 黑色, 白色, 黄色, 蓝色, 红色, 粉红色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43125" y="559266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1A1A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90775" y="559266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38425" y="559266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B923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86075" y="559266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2E5FA3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33725" y="559266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23B2E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81375" y="559266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8EA0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43125" y="5783163"/>
            <a:ext cx="75279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能说六个颜色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33500" y="6497538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571625" y="6697563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2143125" y="6697563"/>
            <a:ext cx="78278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"I/someone likes ___ colour"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喜欢 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能用"喜欢"说出喜欢的颜色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33500" y="7480399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71625" y="7680424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2143125" y="7680424"/>
            <a:ext cx="87318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read the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1 sentences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my family's favourite colours 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能读懂课文一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87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COLOURS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02756" y="280988"/>
            <a:ext cx="2570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858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NEW VOCABULARY (TEXT 1, P.96)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7160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 · New Vocabulary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52500" y="208597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5375" y="2233613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57325" y="2209800"/>
            <a:ext cx="7049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xǐ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57325" y="2419350"/>
            <a:ext cx="7049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happy; like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72063" y="208597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14938" y="2286000"/>
            <a:ext cx="4771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欢(歡)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797004" y="2209800"/>
            <a:ext cx="3925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huān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97004" y="2419350"/>
            <a:ext cx="3925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happy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91625" y="208597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334500" y="2233613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944100" y="2209800"/>
            <a:ext cx="4355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xǐhuan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944100" y="2419350"/>
            <a:ext cx="4355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like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311188" y="208597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454063" y="2233613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816013" y="2209800"/>
            <a:ext cx="348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hēi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816013" y="2419350"/>
            <a:ext cx="348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black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52500" y="282892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95375" y="2976563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457325" y="2952750"/>
            <a:ext cx="4088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57325" y="3162300"/>
            <a:ext cx="4088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colour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2063" y="282892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14938" y="30194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95938" y="2976563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6205538" y="2952750"/>
            <a:ext cx="348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hēisè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05538" y="3162300"/>
            <a:ext cx="348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black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91625" y="282892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334500" y="2976563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696450" y="2952750"/>
            <a:ext cx="3511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bái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696450" y="3162300"/>
            <a:ext cx="3511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3311188" y="282892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3454063" y="30194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3835063" y="2976563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4444663" y="2952750"/>
            <a:ext cx="3511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báisè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4444663" y="3162300"/>
            <a:ext cx="3511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52500" y="357187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95375" y="3719512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457325" y="3695700"/>
            <a:ext cx="4063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huáng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457325" y="3905250"/>
            <a:ext cx="4063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yellow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72063" y="357187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214938" y="37623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595938" y="3719512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6205538" y="3695700"/>
            <a:ext cx="5518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huángsè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05538" y="3905250"/>
            <a:ext cx="5518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yellow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191625" y="357187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334500" y="3771900"/>
            <a:ext cx="4771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蓝(藍)</a:t>
            </a:r>
            <a:endParaRPr lang="en-US" sz="1425" dirty="0"/>
          </a:p>
        </p:txBody>
      </p:sp>
      <p:sp>
        <p:nvSpPr>
          <p:cNvPr id="54" name="Text 52"/>
          <p:cNvSpPr/>
          <p:nvPr/>
        </p:nvSpPr>
        <p:spPr>
          <a:xfrm>
            <a:off x="9916567" y="3695700"/>
            <a:ext cx="2746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lán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916567" y="3905250"/>
            <a:ext cx="2746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blue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3311188" y="357187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3454063" y="37623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3835063" y="3719512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14444663" y="3695700"/>
            <a:ext cx="3426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lánsè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4444663" y="3905250"/>
            <a:ext cx="3426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blue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52500" y="431482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095375" y="4514850"/>
            <a:ext cx="4771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红(紅)</a:t>
            </a:r>
            <a:endParaRPr lang="en-US" sz="1425" dirty="0"/>
          </a:p>
        </p:txBody>
      </p:sp>
      <p:sp>
        <p:nvSpPr>
          <p:cNvPr id="63" name="Text 61"/>
          <p:cNvSpPr/>
          <p:nvPr/>
        </p:nvSpPr>
        <p:spPr>
          <a:xfrm>
            <a:off x="1677442" y="4438650"/>
            <a:ext cx="3289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hóng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677442" y="4648200"/>
            <a:ext cx="3289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072063" y="431482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214938" y="45053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595938" y="4462463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950" dirty="0"/>
          </a:p>
        </p:txBody>
      </p:sp>
      <p:sp>
        <p:nvSpPr>
          <p:cNvPr id="68" name="Text 66"/>
          <p:cNvSpPr/>
          <p:nvPr/>
        </p:nvSpPr>
        <p:spPr>
          <a:xfrm>
            <a:off x="6205538" y="4438650"/>
            <a:ext cx="4780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hóngsè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205538" y="4648200"/>
            <a:ext cx="4780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9191625" y="431482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9334500" y="4462463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</a:t>
            </a:r>
            <a:endParaRPr lang="en-US" sz="1950" dirty="0"/>
          </a:p>
        </p:txBody>
      </p:sp>
      <p:sp>
        <p:nvSpPr>
          <p:cNvPr id="72" name="Text 70"/>
          <p:cNvSpPr/>
          <p:nvPr/>
        </p:nvSpPr>
        <p:spPr>
          <a:xfrm>
            <a:off x="9696450" y="4438650"/>
            <a:ext cx="844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fěn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9696450" y="4648200"/>
            <a:ext cx="844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powder; pink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3311188" y="4314825"/>
            <a:ext cx="4024313" cy="647700"/>
          </a:xfrm>
          <a:prstGeom prst="roundRect">
            <a:avLst>
              <a:gd name="adj" fmla="val 29412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3454063" y="45053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3835063" y="4514850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14492288" y="4438650"/>
            <a:ext cx="6887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fěnhóngsè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4492288" y="4648200"/>
            <a:ext cx="6887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pink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952500" y="5114925"/>
            <a:ext cx="9184481" cy="909638"/>
          </a:xfrm>
          <a:prstGeom prst="roundRect">
            <a:avLst>
              <a:gd name="adj" fmla="val 12565"/>
            </a:avLst>
          </a:prstGeom>
          <a:solidFill>
            <a:srgbClr val="2E4B7A">
              <a:alpha val="10000"/>
            </a:srgbClr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1162050" y="5248275"/>
            <a:ext cx="894068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Point out: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25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色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(colour) attaches to every colour word — 黑, 白, 黄, 蓝, 红 are never used alone to mean "the colour X"; you always need 色 (黑色, not 黑). Pink is </a:t>
            </a:r>
            <a:r>
              <a:rPr lang="en-US" sz="1125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粉红色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(powder-red), not just 粉色, in this textbook.</a:t>
            </a:r>
            <a:endParaRPr lang="en-US" sz="1125" dirty="0"/>
          </a:p>
        </p:txBody>
      </p:sp>
      <p:sp>
        <p:nvSpPr>
          <p:cNvPr id="81" name="Text 79"/>
          <p:cNvSpPr/>
          <p:nvPr/>
        </p:nvSpPr>
        <p:spPr>
          <a:xfrm>
            <a:off x="10270331" y="5114925"/>
            <a:ext cx="7065169" cy="909638"/>
          </a:xfrm>
          <a:prstGeom prst="roundRect">
            <a:avLst>
              <a:gd name="adj" fmla="val 12565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10479881" y="5248275"/>
            <a:ext cx="677899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Also today: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brief pinyin warm-up (p.97 Ex.2, CD T61) — a 2-minute tone-marking drill recycling known vocabulary (fàndiàn, jīngcháng, xuésheng, piàoliang) to keep tone discrimination active.</a:t>
            </a:r>
            <a:endParaRPr lang="en-US" sz="1125" dirty="0"/>
          </a:p>
        </p:txBody>
      </p:sp>
      <p:sp>
        <p:nvSpPr>
          <p:cNvPr id="83" name="Shape 8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87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COLOURS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02756" y="280988"/>
            <a:ext cx="18407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1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1047750"/>
            <a:ext cx="16904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TEXT PRESENTATION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57250" y="1304925"/>
            <a:ext cx="169049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课文一 · 我喜欢的颜色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57250" y="2157413"/>
            <a:ext cx="10412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PATTERN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011412" y="1895475"/>
            <a:ext cx="3453705" cy="695325"/>
          </a:xfrm>
          <a:prstGeom prst="roundRect">
            <a:avLst>
              <a:gd name="adj" fmla="val 16438"/>
            </a:avLst>
          </a:prstGeom>
          <a:solidFill>
            <a:srgbClr val="E9E2D2"/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97162" y="2028825"/>
            <a:ext cx="2939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我(的X)喜欢</a:t>
            </a:r>
            <a:r>
              <a:rPr lang="en-US" sz="18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</a:t>
            </a: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颜色。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57250" y="2686050"/>
            <a:ext cx="1309836" cy="342900"/>
          </a:xfrm>
          <a:prstGeom prst="roundRect">
            <a:avLst>
              <a:gd name="adj" fmla="val 3333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00125" y="2752725"/>
            <a:ext cx="10445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r>
              <a:rPr lang="en-US" sz="12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我喜欢黑色。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62336" y="2686050"/>
            <a:ext cx="2071836" cy="342900"/>
          </a:xfrm>
          <a:prstGeom prst="roundRect">
            <a:avLst>
              <a:gd name="adj" fmla="val 3333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05211" y="2752725"/>
            <a:ext cx="18218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r>
              <a:rPr lang="en-US" sz="12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我爸爸喜欢黑色和白色。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29423" y="2686050"/>
            <a:ext cx="3520827" cy="342900"/>
          </a:xfrm>
          <a:prstGeom prst="roundRect">
            <a:avLst>
              <a:gd name="adj" fmla="val 33333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298" y="2752725"/>
            <a:ext cx="32997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r>
              <a:rPr lang="en-US" sz="12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我喜欢粉红色的大象！(silly — wait for reaction)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7250" y="3162300"/>
            <a:ext cx="16573500" cy="2633514"/>
          </a:xfrm>
          <a:prstGeom prst="roundRect">
            <a:avLst>
              <a:gd name="adj" fmla="val 10127"/>
            </a:avLst>
          </a:prstGeom>
          <a:solidFill>
            <a:srgbClr val="F3EEE4"/>
          </a:solidFill>
          <a:ln w="19050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62050" y="3333750"/>
            <a:ext cx="1846362" cy="295275"/>
          </a:xfrm>
          <a:prstGeom prst="roundRect">
            <a:avLst>
              <a:gd name="adj" fmla="val 322258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04925" y="3381375"/>
            <a:ext cx="15918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🎵 CD Track 60 · p.96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141762" y="3367088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5C56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课文一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162050" y="3705225"/>
            <a:ext cx="16283178" cy="191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</a:t>
            </a:r>
            <a:r>
              <a:rPr lang="en-US" sz="195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</a:t>
            </a: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黑色和白色。</a:t>
            </a:r>
            <a:endParaRPr lang="en-US" sz="1950" dirty="0"/>
          </a:p>
          <a:p>
            <a:pPr algn="l" indent="0" marL="0">
              <a:lnSpc>
                <a:spcPts val="3023"/>
              </a:lnSpc>
              <a:buNone/>
            </a:pP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我妈妈喜欢黄色。</a:t>
            </a:r>
            <a:endParaRPr lang="en-US" sz="1950" dirty="0"/>
          </a:p>
          <a:p>
            <a:pPr algn="l" indent="0" marL="0">
              <a:lnSpc>
                <a:spcPts val="3023"/>
              </a:lnSpc>
              <a:buNone/>
            </a:pP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我哥哥喜欢蓝色。</a:t>
            </a:r>
            <a:endParaRPr lang="en-US" sz="1950" dirty="0"/>
          </a:p>
          <a:p>
            <a:pPr algn="l" indent="0" marL="0">
              <a:lnSpc>
                <a:spcPts val="3023"/>
              </a:lnSpc>
              <a:buNone/>
            </a:pP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我姐姐喜欢红色。</a:t>
            </a:r>
            <a:endParaRPr lang="en-US" sz="1950" dirty="0"/>
          </a:p>
          <a:p>
            <a:pPr algn="l" indent="0" marL="0">
              <a:lnSpc>
                <a:spcPts val="3023"/>
              </a:lnSpc>
              <a:buNone/>
            </a:pP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我喜欢粉红色。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57250" y="5948214"/>
            <a:ext cx="5422850" cy="1343025"/>
          </a:xfrm>
          <a:prstGeom prst="roundRect">
            <a:avLst>
              <a:gd name="adj" fmla="val 14184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38225" y="6091089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48804" y="6133951"/>
            <a:ext cx="657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038225" y="6453039"/>
            <a:ext cx="516211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爸爸喜欢什么颜色？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38225" y="6748314"/>
            <a:ext cx="5162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colour(s) does dad like? (English answer OK for Y7)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038225" y="6976914"/>
            <a:ext cx="5162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 on next slide →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6432500" y="5948214"/>
            <a:ext cx="5422850" cy="1343025"/>
          </a:xfrm>
          <a:prstGeom prst="roundRect">
            <a:avLst>
              <a:gd name="adj" fmla="val 14184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613475" y="6091089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711107" y="6133951"/>
            <a:ext cx="922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6613475" y="6453039"/>
            <a:ext cx="516211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谁喜欢红色？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613475" y="6748314"/>
            <a:ext cx="5162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 likes red?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6613475" y="6976914"/>
            <a:ext cx="5162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 on next slide →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2007751" y="5948214"/>
            <a:ext cx="5422850" cy="1343025"/>
          </a:xfrm>
          <a:prstGeom prst="roundRect">
            <a:avLst>
              <a:gd name="adj" fmla="val 14184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2188726" y="6091089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2285911" y="6133951"/>
            <a:ext cx="930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12188726" y="6453039"/>
            <a:ext cx="516211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我喜欢什么颜色？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2188726" y="6748314"/>
            <a:ext cx="5162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colour does "I" like?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12188726" y="6976914"/>
            <a:ext cx="5162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 on next slide →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87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COLOURS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02756" y="280988"/>
            <a:ext cx="17459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1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749004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3072854"/>
            <a:ext cx="1593342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Text 1 Comprehension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4044404"/>
            <a:ext cx="15621000" cy="1043880"/>
          </a:xfrm>
          <a:prstGeom prst="roundRect">
            <a:avLst>
              <a:gd name="adj" fmla="val 1824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9725" y="4244429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72692" y="4311104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219325" y="4244429"/>
            <a:ext cx="147481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爸爸喜欢什么颜色？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2219325" y="461397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43175" y="461397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67025" y="4568279"/>
            <a:ext cx="28683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黑色和白色 (black and white)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3500" y="5278785"/>
            <a:ext cx="15621000" cy="1291530"/>
          </a:xfrm>
          <a:prstGeom prst="roundRect">
            <a:avLst>
              <a:gd name="adj" fmla="val 1475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09725" y="547881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53642" y="5545485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219325" y="5478810"/>
            <a:ext cx="147481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谁喜欢红色？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2219325" y="58483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43175" y="5802660"/>
            <a:ext cx="16989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姐姐 (older sister)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219325" y="6160740"/>
            <a:ext cx="147481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爸爸=black/white, 妈妈=yellow, 哥哥=blue, 姐姐=red, 我=pink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33500" y="6760815"/>
            <a:ext cx="15621000" cy="1043880"/>
          </a:xfrm>
          <a:prstGeom prst="roundRect">
            <a:avLst>
              <a:gd name="adj" fmla="val 1824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609725" y="696084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753046" y="7027515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2219325" y="6960840"/>
            <a:ext cx="147481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我喜欢什么颜色？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2219325" y="733038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543175" y="7284690"/>
            <a:ext cx="13184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 (pink)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87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COLOURS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02756" y="280988"/>
            <a:ext cx="2662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57425"/>
            <a:ext cx="5334000" cy="3067645"/>
          </a:xfrm>
          <a:prstGeom prst="roundRect">
            <a:avLst>
              <a:gd name="adj" fmla="val 8694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55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90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90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 = "Yellow"?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90625" y="3838575"/>
            <a:ext cx="495490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"黄色的意思是'yellow'。"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"对不对？" Thumbs up if 黄色 means yellow. Every student shows a thumbs-up or thumbs-down.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477000" y="2257425"/>
            <a:ext cx="5334000" cy="3067645"/>
          </a:xfrm>
          <a:prstGeom prst="roundRect">
            <a:avLst>
              <a:gd name="adj" fmla="val 8694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51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798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151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7151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"Blue"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15125" y="3838575"/>
            <a:ext cx="495490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the Chinese for 'blue'."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Students write the answer and hold it up on three: "一、二、三，举起来！"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001500" y="2257425"/>
            <a:ext cx="5334000" cy="3067645"/>
          </a:xfrm>
          <a:prstGeom prst="roundRect">
            <a:avLst>
              <a:gd name="adj" fmla="val 8694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39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04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39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239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Rapid Translation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239625" y="3838575"/>
            <a:ext cx="4954905" cy="1210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 individual students, in order: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"Jamie，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'I like black'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用中文怎么说？"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"Priya，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'red'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怎么说？"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952500" y="5515570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90625" y="5639395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on checks 1 and 2. For cold call, pre-identify students who need a stretch and give them a second colour after their first correct answer.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87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COLOURS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02756" y="280988"/>
            <a:ext cx="16249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95525"/>
            <a:ext cx="16383000" cy="1466850"/>
          </a:xfrm>
          <a:prstGeom prst="roundRect">
            <a:avLst>
              <a:gd name="adj" fmla="val 129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287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91692" y="260032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876425" y="253365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 — 黄色的意思是"yellow"，对不对？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76425" y="2867025"/>
            <a:ext cx="15182850" cy="657225"/>
          </a:xfrm>
          <a:prstGeom prst="roundRect">
            <a:avLst>
              <a:gd name="adj" fmla="val 17391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05025" y="3071813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86025" y="3019425"/>
            <a:ext cx="22324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</a:t>
            </a: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对！黄色 = yellow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" y="3952875"/>
            <a:ext cx="16383000" cy="1466850"/>
          </a:xfrm>
          <a:prstGeom prst="roundRect">
            <a:avLst>
              <a:gd name="adj" fmla="val 129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28725" y="41910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72642" y="4257675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876425" y="419100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Write the Chinese for "blue"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876425" y="4524375"/>
            <a:ext cx="15182850" cy="657225"/>
          </a:xfrm>
          <a:prstGeom prst="roundRect">
            <a:avLst>
              <a:gd name="adj" fmla="val 17391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05025" y="4729163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486025" y="4676775"/>
            <a:ext cx="133603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蓝色 </a:t>
            </a:r>
            <a:r>
              <a:rPr lang="en-US" sz="1200" dirty="0">
                <a:solidFill>
                  <a:srgbClr val="5C56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(lánsè)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2500" y="5610225"/>
            <a:ext cx="16383000" cy="1743075"/>
          </a:xfrm>
          <a:prstGeom prst="roundRect">
            <a:avLst>
              <a:gd name="adj" fmla="val 109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28725" y="58483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72046" y="5915025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876425" y="584835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— "I like black" / "red" 怎么说？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876425" y="6181725"/>
            <a:ext cx="15182850" cy="657225"/>
          </a:xfrm>
          <a:prstGeom prst="roundRect">
            <a:avLst>
              <a:gd name="adj" fmla="val 17391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105025" y="6386513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486025" y="6386513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867025" y="6334125"/>
            <a:ext cx="2676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我喜欢黑色。 · 红色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876425" y="6915150"/>
            <a:ext cx="15486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like black" = 我喜欢黑色。  |  "red" = 红色 (hóngsè)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87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COLOURS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02756" y="280988"/>
            <a:ext cx="2277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20–28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1153120" cy="314325"/>
          </a:xfrm>
          <a:prstGeom prst="roundRect">
            <a:avLst>
              <a:gd name="adj" fmla="val 3027273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19188"/>
            <a:ext cx="78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58020" y="1047750"/>
            <a:ext cx="927199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38995" y="1114425"/>
            <a:ext cx="5765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337620" y="1062038"/>
            <a:ext cx="2103388" cy="314325"/>
          </a:xfrm>
          <a:prstGeom prst="roundRect">
            <a:avLst>
              <a:gd name="adj" fmla="val 3027273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9070" y="1119188"/>
            <a:ext cx="17956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Exercise Books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14668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生字抄写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52500" y="2124075"/>
            <a:ext cx="8769846" cy="3152775"/>
          </a:xfrm>
          <a:prstGeom prst="roundRect">
            <a:avLst>
              <a:gd name="adj" fmla="val 6042"/>
            </a:avLst>
          </a:prstGeom>
          <a:solidFill>
            <a:srgbClr val="F3EEE4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19200" y="23717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24570" y="2419350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619250" y="2390775"/>
            <a:ext cx="799312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each new character with its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stroke-order animation/sequence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喜, 欢, 黑, 色, 白, 黄, 蓝, 红, 粉 (modelled on workbook Ex.2 — Copy the new words of Text 1).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219200" y="29813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13259" y="3028950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619250" y="3000375"/>
            <a:ext cx="781004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</a:t>
            </a: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trace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then </a:t>
            </a: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copy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each character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times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their exercise books, following stroke order.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19200" y="33528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12962" y="3400425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619250" y="3371850"/>
            <a:ext cx="769816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circulates, checking stroke order on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喜 and 黑 in particular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both have many strokes.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219200" y="3848100"/>
            <a:ext cx="2643783" cy="1219200"/>
          </a:xfrm>
          <a:prstGeom prst="roundRect">
            <a:avLst>
              <a:gd name="adj" fmla="val 937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71600" y="3962400"/>
            <a:ext cx="2385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371600" y="4152900"/>
            <a:ext cx="238576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Provide a dotted/traceable version for the first repetition of each character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4015383" y="3848100"/>
            <a:ext cx="2643932" cy="1219200"/>
          </a:xfrm>
          <a:prstGeom prst="roundRect">
            <a:avLst>
              <a:gd name="adj" fmla="val 937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167783" y="3962400"/>
            <a:ext cx="23859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167783" y="4152900"/>
            <a:ext cx="238591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speakers also write the pinyin with correct tone marks next to each character, unprompted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6811714" y="3848100"/>
            <a:ext cx="2643783" cy="1219200"/>
          </a:xfrm>
          <a:prstGeom prst="roundRect">
            <a:avLst>
              <a:gd name="adj" fmla="val 937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64114" y="3962400"/>
            <a:ext cx="2385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6964114" y="4152900"/>
            <a:ext cx="238576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writes all 9 characters; teacher scans books during circulation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0027146" y="2124075"/>
            <a:ext cx="7454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CHARACTERS TO COPY (FROM TEXT 1)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027146" y="2447925"/>
            <a:ext cx="2385268" cy="638175"/>
          </a:xfrm>
          <a:prstGeom prst="roundRect">
            <a:avLst>
              <a:gd name="adj" fmla="val 17910"/>
            </a:avLst>
          </a:prstGeom>
          <a:solidFill>
            <a:srgbClr val="E9E2D2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110164" y="2543175"/>
            <a:ext cx="22192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0110164" y="2838450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happy; like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2488614" y="2447925"/>
            <a:ext cx="2385268" cy="638175"/>
          </a:xfrm>
          <a:prstGeom prst="roundRect">
            <a:avLst>
              <a:gd name="adj" fmla="val 17910"/>
            </a:avLst>
          </a:prstGeom>
          <a:solidFill>
            <a:srgbClr val="E9E2D2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2571632" y="2543175"/>
            <a:ext cx="22192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欢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2571632" y="2838450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happy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14950083" y="2447925"/>
            <a:ext cx="2385268" cy="638175"/>
          </a:xfrm>
          <a:prstGeom prst="roundRect">
            <a:avLst>
              <a:gd name="adj" fmla="val 17910"/>
            </a:avLst>
          </a:prstGeom>
          <a:solidFill>
            <a:srgbClr val="E9E2D2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5033101" y="2543175"/>
            <a:ext cx="22192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5033101" y="2838450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black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10027146" y="3162300"/>
            <a:ext cx="2385268" cy="638175"/>
          </a:xfrm>
          <a:prstGeom prst="roundRect">
            <a:avLst>
              <a:gd name="adj" fmla="val 17910"/>
            </a:avLst>
          </a:prstGeom>
          <a:solidFill>
            <a:srgbClr val="E9E2D2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110164" y="3257550"/>
            <a:ext cx="22192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0110164" y="3552825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colour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2488614" y="3162300"/>
            <a:ext cx="2385268" cy="638175"/>
          </a:xfrm>
          <a:prstGeom prst="roundRect">
            <a:avLst>
              <a:gd name="adj" fmla="val 17910"/>
            </a:avLst>
          </a:prstGeom>
          <a:solidFill>
            <a:srgbClr val="E9E2D2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2571632" y="3257550"/>
            <a:ext cx="22192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2571632" y="3552825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4950083" y="3162300"/>
            <a:ext cx="2385268" cy="638175"/>
          </a:xfrm>
          <a:prstGeom prst="roundRect">
            <a:avLst>
              <a:gd name="adj" fmla="val 17910"/>
            </a:avLst>
          </a:prstGeom>
          <a:solidFill>
            <a:srgbClr val="E9E2D2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5033101" y="3257550"/>
            <a:ext cx="22192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5033101" y="3552825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yellow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10027146" y="3876675"/>
            <a:ext cx="2385268" cy="638175"/>
          </a:xfrm>
          <a:prstGeom prst="roundRect">
            <a:avLst>
              <a:gd name="adj" fmla="val 17910"/>
            </a:avLst>
          </a:prstGeom>
          <a:solidFill>
            <a:srgbClr val="E9E2D2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0110164" y="3971925"/>
            <a:ext cx="22192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0110164" y="4267200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blue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12488614" y="3876675"/>
            <a:ext cx="2385268" cy="638175"/>
          </a:xfrm>
          <a:prstGeom prst="roundRect">
            <a:avLst>
              <a:gd name="adj" fmla="val 17910"/>
            </a:avLst>
          </a:prstGeom>
          <a:solidFill>
            <a:srgbClr val="E9E2D2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2571632" y="3971925"/>
            <a:ext cx="22192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2571632" y="4267200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14950083" y="3876675"/>
            <a:ext cx="2385268" cy="638175"/>
          </a:xfrm>
          <a:prstGeom prst="roundRect">
            <a:avLst>
              <a:gd name="adj" fmla="val 17910"/>
            </a:avLst>
          </a:prstGeom>
          <a:solidFill>
            <a:srgbClr val="E9E2D2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5033101" y="3971925"/>
            <a:ext cx="22192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5033101" y="4267200"/>
            <a:ext cx="2219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powder; pink</a:t>
            </a:r>
            <a:endParaRPr lang="en-US" sz="825" dirty="0"/>
          </a:p>
        </p:txBody>
      </p:sp>
      <p:sp>
        <p:nvSpPr>
          <p:cNvPr id="61" name="Shape 5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87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COLOURS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02756" y="280988"/>
            <a:ext cx="2358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28–36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287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28–36 MIN · YOU DO (WORKBOOK EX.3, P.136)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144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画颜色 Draw-the-Colour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" y="1952625"/>
            <a:ext cx="8421886" cy="5277445"/>
          </a:xfrm>
          <a:prstGeom prst="roundRect">
            <a:avLst>
              <a:gd name="adj" fmla="val 5054"/>
            </a:avLst>
          </a:prstGeom>
          <a:solidFill>
            <a:srgbClr val="F3EEE4"/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38250" y="1838325"/>
            <a:ext cx="2123926" cy="266700"/>
          </a:xfrm>
          <a:prstGeom prst="roundRect">
            <a:avLst>
              <a:gd name="adj" fmla="val 3567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09700" y="1876425"/>
            <a:ext cx="18166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Draw + Label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19200" y="21812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07604" y="2214563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43050" y="2200275"/>
            <a:ext cx="7715929" cy="400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088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six colour labels one at a time as a model. Students draw a small picture in each of </a:t>
            </a:r>
            <a:r>
              <a:rPr lang="en-US" sz="1088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six boxes</a:t>
            </a:r>
            <a:r>
              <a:rPr lang="en-US" sz="1088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according to the colour labelled underneath.</a:t>
            </a:r>
            <a:endParaRPr lang="en-US" sz="1088" dirty="0"/>
          </a:p>
        </p:txBody>
      </p:sp>
      <p:sp>
        <p:nvSpPr>
          <p:cNvPr id="15" name="Text 13"/>
          <p:cNvSpPr/>
          <p:nvPr/>
        </p:nvSpPr>
        <p:spPr>
          <a:xfrm>
            <a:off x="1219200" y="268634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97186" y="2719685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43050" y="2705398"/>
            <a:ext cx="7715929" cy="400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088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Draw quickly — a ball, a flower, etc. — </a:t>
            </a:r>
            <a:r>
              <a:rPr lang="en-US" sz="1088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speed matters more than art</a:t>
            </a:r>
            <a:r>
              <a:rPr lang="en-US" sz="1088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Label each drawing with the colour word in characters.</a:t>
            </a:r>
            <a:endParaRPr lang="en-US" sz="1088" dirty="0"/>
          </a:p>
        </p:txBody>
      </p:sp>
      <p:sp>
        <p:nvSpPr>
          <p:cNvPr id="18" name="Text 16"/>
          <p:cNvSpPr/>
          <p:nvPr/>
        </p:nvSpPr>
        <p:spPr>
          <a:xfrm>
            <a:off x="1219200" y="319147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96888" y="3224808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43050" y="3210520"/>
            <a:ext cx="4786402" cy="20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088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Partner-check:</a:t>
            </a:r>
            <a:r>
              <a:rPr lang="en-US" sz="1088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swap books, read partner's characters aloud to them.</a:t>
            </a:r>
            <a:endParaRPr lang="en-US" sz="1088" dirty="0"/>
          </a:p>
        </p:txBody>
      </p:sp>
      <p:sp>
        <p:nvSpPr>
          <p:cNvPr id="21" name="Text 19"/>
          <p:cNvSpPr/>
          <p:nvPr/>
        </p:nvSpPr>
        <p:spPr>
          <a:xfrm>
            <a:off x="1219200" y="3572470"/>
            <a:ext cx="2565946" cy="1162050"/>
          </a:xfrm>
          <a:prstGeom prst="roundRect">
            <a:avLst>
              <a:gd name="adj" fmla="val 9836"/>
            </a:avLst>
          </a:prstGeom>
          <a:solidFill>
            <a:srgbClr val="FBF9F4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33500" y="3724870"/>
            <a:ext cx="2356396" cy="552450"/>
          </a:xfrm>
          <a:prstGeom prst="roundRect">
            <a:avLst>
              <a:gd name="adj" fmla="val 10345"/>
            </a:avLst>
          </a:prstGeom>
          <a:noFill/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197298" y="436304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79810" y="435352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3880396" y="3572470"/>
            <a:ext cx="2565946" cy="1162050"/>
          </a:xfrm>
          <a:prstGeom prst="roundRect">
            <a:avLst>
              <a:gd name="adj" fmla="val 9836"/>
            </a:avLst>
          </a:prstGeom>
          <a:solidFill>
            <a:srgbClr val="FBF9F4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994696" y="3724870"/>
            <a:ext cx="2356396" cy="552450"/>
          </a:xfrm>
          <a:prstGeom prst="roundRect">
            <a:avLst>
              <a:gd name="adj" fmla="val 10345"/>
            </a:avLst>
          </a:prstGeom>
          <a:noFill/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58494" y="436304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41006" y="435352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6541591" y="3572470"/>
            <a:ext cx="2566095" cy="1162050"/>
          </a:xfrm>
          <a:prstGeom prst="roundRect">
            <a:avLst>
              <a:gd name="adj" fmla="val 9836"/>
            </a:avLst>
          </a:prstGeom>
          <a:solidFill>
            <a:srgbClr val="FBF9F4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655891" y="3724870"/>
            <a:ext cx="2356545" cy="552450"/>
          </a:xfrm>
          <a:prstGeom prst="roundRect">
            <a:avLst>
              <a:gd name="adj" fmla="val 10345"/>
            </a:avLst>
          </a:prstGeom>
          <a:noFill/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19839" y="436304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802350" y="435352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1219200" y="4829770"/>
            <a:ext cx="2565946" cy="1162050"/>
          </a:xfrm>
          <a:prstGeom prst="roundRect">
            <a:avLst>
              <a:gd name="adj" fmla="val 9836"/>
            </a:avLst>
          </a:prstGeom>
          <a:solidFill>
            <a:srgbClr val="FBF9F4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333500" y="4982170"/>
            <a:ext cx="2356396" cy="552450"/>
          </a:xfrm>
          <a:prstGeom prst="roundRect">
            <a:avLst>
              <a:gd name="adj" fmla="val 10345"/>
            </a:avLst>
          </a:prstGeom>
          <a:noFill/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197298" y="562034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479810" y="561082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3880396" y="4829770"/>
            <a:ext cx="2565946" cy="1162050"/>
          </a:xfrm>
          <a:prstGeom prst="roundRect">
            <a:avLst>
              <a:gd name="adj" fmla="val 9836"/>
            </a:avLst>
          </a:prstGeom>
          <a:solidFill>
            <a:srgbClr val="FBF9F4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994696" y="4982170"/>
            <a:ext cx="2356396" cy="552450"/>
          </a:xfrm>
          <a:prstGeom prst="roundRect">
            <a:avLst>
              <a:gd name="adj" fmla="val 10345"/>
            </a:avLst>
          </a:prstGeom>
          <a:noFill/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58494" y="562034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41006" y="561082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6541591" y="4829770"/>
            <a:ext cx="2566095" cy="1162050"/>
          </a:xfrm>
          <a:prstGeom prst="roundRect">
            <a:avLst>
              <a:gd name="adj" fmla="val 9836"/>
            </a:avLst>
          </a:prstGeom>
          <a:solidFill>
            <a:srgbClr val="FBF9F4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55891" y="4982170"/>
            <a:ext cx="2356545" cy="552450"/>
          </a:xfrm>
          <a:prstGeom prst="roundRect">
            <a:avLst>
              <a:gd name="adj" fmla="val 10345"/>
            </a:avLst>
          </a:prstGeom>
          <a:noFill/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438876" y="562034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719768" y="5610820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1219200" y="6220420"/>
            <a:ext cx="3868043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371600" y="6334720"/>
            <a:ext cx="3634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1371600" y="6525220"/>
            <a:ext cx="363450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of all six colours (with pinyin) projected throughout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5239643" y="6220420"/>
            <a:ext cx="3868043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392043" y="6334720"/>
            <a:ext cx="3634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5392043" y="6525220"/>
            <a:ext cx="363450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add one extra sentence per drawing, e.g. 这是红色的苹果。("This is a red apple.")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9679186" y="1952625"/>
            <a:ext cx="7656314" cy="3905250"/>
          </a:xfrm>
          <a:prstGeom prst="roundRect">
            <a:avLst>
              <a:gd name="adj" fmla="val 68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9898261" y="2133600"/>
            <a:ext cx="73625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词库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898261" y="2438400"/>
            <a:ext cx="7218164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9983986" y="25241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0384036" y="2571750"/>
            <a:ext cx="7597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 </a:t>
            </a: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hēisè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898261" y="2990850"/>
            <a:ext cx="7218164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9983986" y="30765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0384036" y="3124200"/>
            <a:ext cx="7641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 </a:t>
            </a: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báisè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898261" y="3543300"/>
            <a:ext cx="7218164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9983986" y="36290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0384036" y="3676650"/>
            <a:ext cx="9918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 </a:t>
            </a: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huángsè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898261" y="4095750"/>
            <a:ext cx="7218164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9983986" y="41814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10384036" y="4229100"/>
            <a:ext cx="7567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 </a:t>
            </a: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lánsè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9898261" y="4648200"/>
            <a:ext cx="7218164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9983986" y="47339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0384036" y="4781550"/>
            <a:ext cx="901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 </a:t>
            </a: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hóngsè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9898261" y="5200650"/>
            <a:ext cx="7218164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9983986" y="52863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10384036" y="5334000"/>
            <a:ext cx="12977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粉红色 </a:t>
            </a: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fěnhóngsè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9679186" y="5991225"/>
            <a:ext cx="7656314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9888736" y="6162675"/>
            <a:ext cx="73819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 EXAMPLE SENTENCE</a:t>
            </a:r>
            <a:endParaRPr lang="en-US" sz="975" dirty="0"/>
          </a:p>
        </p:txBody>
      </p:sp>
      <p:sp>
        <p:nvSpPr>
          <p:cNvPr id="73" name="Text 71"/>
          <p:cNvSpPr/>
          <p:nvPr/>
        </p:nvSpPr>
        <p:spPr>
          <a:xfrm>
            <a:off x="9888736" y="6410325"/>
            <a:ext cx="738195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</a:t>
            </a:r>
            <a:r>
              <a:rPr lang="en-US" sz="142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r>
              <a:rPr lang="en-US" sz="1425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的苹果。</a:t>
            </a:r>
            <a:endParaRPr lang="en-US" sz="1425" dirty="0"/>
          </a:p>
        </p:txBody>
      </p:sp>
      <p:sp>
        <p:nvSpPr>
          <p:cNvPr id="74" name="Text 72"/>
          <p:cNvSpPr/>
          <p:nvPr/>
        </p:nvSpPr>
        <p:spPr>
          <a:xfrm>
            <a:off x="9888736" y="6738938"/>
            <a:ext cx="738195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"This is a red apple."</a:t>
            </a:r>
            <a:endParaRPr lang="en-US" sz="1125" dirty="0"/>
          </a:p>
        </p:txBody>
      </p:sp>
      <p:sp>
        <p:nvSpPr>
          <p:cNvPr id="75" name="Shape 7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87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COLOURS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02756" y="280988"/>
            <a:ext cx="25043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Colour Bingo · 36–43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840879" cy="314325"/>
          </a:xfrm>
          <a:prstGeom prst="roundRect">
            <a:avLst>
              <a:gd name="adj" fmla="val 3027273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19188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945779" y="1047750"/>
            <a:ext cx="919311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26754" y="1114425"/>
            <a:ext cx="5685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017490" y="1062038"/>
            <a:ext cx="2471440" cy="314325"/>
          </a:xfrm>
          <a:prstGeom prst="roundRect">
            <a:avLst>
              <a:gd name="adj" fmla="val 3027273"/>
            </a:avLst>
          </a:prstGeom>
          <a:solidFill>
            <a:srgbClr val="C2564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88940" y="1119188"/>
            <a:ext cx="21711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· Individual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146685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 Bingo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52500" y="2038350"/>
            <a:ext cx="167106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Rapid English → 汉字 recall for all six new colour words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52500" y="2447925"/>
            <a:ext cx="4438650" cy="3000375"/>
          </a:xfrm>
          <a:prstGeom prst="roundRect">
            <a:avLst>
              <a:gd name="adj" fmla="val 6349"/>
            </a:avLst>
          </a:prstGeom>
          <a:noFill/>
          <a:ln w="2857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81075" y="2476500"/>
            <a:ext cx="4381500" cy="390525"/>
          </a:xfrm>
          <a:prstGeom prst="rect">
            <a:avLst/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7260" y="2552700"/>
            <a:ext cx="4469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SAMPLE 2 × 3 BINGO GRID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1075" y="2867025"/>
            <a:ext cx="1460450" cy="1276350"/>
          </a:xfrm>
          <a:prstGeom prst="rect">
            <a:avLst/>
          </a:prstGeom>
          <a:solidFill>
            <a:srgbClr val="FBF9F4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96926" y="32194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97485" y="35052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2C7A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2441525" y="2867025"/>
            <a:ext cx="1460450" cy="1276350"/>
          </a:xfrm>
          <a:prstGeom prst="rect">
            <a:avLst/>
          </a:prstGeom>
          <a:solidFill>
            <a:srgbClr val="FBF9F4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057376" y="32194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957935" y="35052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3901976" y="2867025"/>
            <a:ext cx="1460450" cy="1276350"/>
          </a:xfrm>
          <a:prstGeom prst="rect">
            <a:avLst/>
          </a:prstGeom>
          <a:solidFill>
            <a:srgbClr val="FBF9F4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17827" y="32194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18386" y="35052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2C7A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81075" y="4143375"/>
            <a:ext cx="1460450" cy="1276350"/>
          </a:xfrm>
          <a:prstGeom prst="rect">
            <a:avLst/>
          </a:prstGeom>
          <a:solidFill>
            <a:srgbClr val="FBF9F4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96926" y="44958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497485" y="47815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2441525" y="4143375"/>
            <a:ext cx="1460450" cy="1276350"/>
          </a:xfrm>
          <a:prstGeom prst="rect">
            <a:avLst/>
          </a:prstGeom>
          <a:solidFill>
            <a:srgbClr val="FBF9F4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57376" y="44958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57935" y="47815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2C7A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3901976" y="4143375"/>
            <a:ext cx="1460450" cy="1276350"/>
          </a:xfrm>
          <a:prstGeom prst="rect">
            <a:avLst/>
          </a:prstGeom>
          <a:solidFill>
            <a:srgbClr val="FBF9F4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517827" y="44958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11515" y="4781550"/>
            <a:ext cx="6412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5657850" y="2447925"/>
            <a:ext cx="11677650" cy="1771650"/>
          </a:xfrm>
          <a:prstGeom prst="roundRect">
            <a:avLst>
              <a:gd name="adj" fmla="val 1075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876925" y="2762250"/>
            <a:ext cx="114642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76925" y="306705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191250" y="3067050"/>
            <a:ext cx="82795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draw a </a:t>
            </a:r>
            <a:r>
              <a:rPr lang="en-US" sz="13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2×3 grid</a:t>
            </a: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a mini whiteboard and write the </a:t>
            </a:r>
            <a:r>
              <a:rPr lang="en-US" sz="13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six colours</a:t>
            </a: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(汉字 only) in any order.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876925" y="341947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191250" y="3419475"/>
            <a:ext cx="821627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the </a:t>
            </a:r>
            <a:r>
              <a:rPr lang="en-US" sz="13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colour names</a:t>
            </a: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one at a time; students cross off the matching 汉字.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876925" y="377190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191250" y="3771900"/>
            <a:ext cx="84518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student to cross off </a:t>
            </a:r>
            <a:r>
              <a:rPr lang="en-US" sz="13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six</a:t>
            </a: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shouts "Bingo!" and reads all six back aloud in Chinese to confirm.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657850" y="4352925"/>
            <a:ext cx="11677650" cy="704850"/>
          </a:xfrm>
          <a:prstGeom prst="roundRect">
            <a:avLst>
              <a:gd name="adj" fmla="val 16216"/>
            </a:avLst>
          </a:prstGeom>
          <a:solidFill>
            <a:srgbClr val="C2564A">
              <a:alpha val="10000"/>
            </a:srgbClr>
          </a:solidFill>
          <a:ln w="19050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848350" y="4567238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🗂️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191250" y="4486275"/>
            <a:ext cx="2788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6191250" y="4733925"/>
            <a:ext cx="27883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only — already on desks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57850" y="5286375"/>
            <a:ext cx="5781675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810250" y="5400675"/>
            <a:ext cx="55864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5810250" y="5591175"/>
            <a:ext cx="5586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Allow students to keep the vocabulary table projected while drawing their grid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11553825" y="5286375"/>
            <a:ext cx="5781675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1706225" y="5400675"/>
            <a:ext cx="55864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11706225" y="5591175"/>
            <a:ext cx="55864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Winners must say a full sentence for one colour in their line: "黑色——我爸爸喜欢黑色。"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87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COLOURS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02756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2736949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041749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3000" y="3889474"/>
            <a:ext cx="7867650" cy="3279428"/>
          </a:xfrm>
          <a:prstGeom prst="roundRect">
            <a:avLst>
              <a:gd name="adj" fmla="val 813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00175" y="4260949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00175" y="4603849"/>
            <a:ext cx="75003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00"/>
              </a:spcAft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r>
              <a:rPr lang="en-US" sz="975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r>
              <a:rPr lang="en-US" sz="975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r>
              <a:rPr lang="en-US" sz="975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533525" y="488959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45146" y="4948684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85950" y="488959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97422" y="4948684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38375" y="488959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63093" y="4948684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76525" y="4935289"/>
            <a:ext cx="46365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six colours in Chinese: 黑色, 白色, 黄色, 蓝色, 红色, 粉红色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33525" y="529917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645146" y="5358259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85950" y="529917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997422" y="5358259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38375" y="529917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363093" y="5358259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76525" y="5344864"/>
            <a:ext cx="330448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"I/someone likes ___ colour" using 喜欢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33525" y="570874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645146" y="5767834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885950" y="570874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997422" y="5767834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38375" y="570874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363093" y="5767834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76525" y="5754439"/>
            <a:ext cx="47006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the Text 1 sentences about my family's favourite colours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00175" y="6127849"/>
            <a:ext cx="7353300" cy="333375"/>
          </a:xfrm>
          <a:prstGeom prst="roundRect">
            <a:avLst>
              <a:gd name="adj" fmla="val 34286"/>
            </a:avLst>
          </a:prstGeom>
          <a:solidFill>
            <a:srgbClr val="B886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33525" y="6213574"/>
            <a:ext cx="7228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38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reads the first criterion; a student volunteer reads the other two — "今天我们做到了吗？"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9277350" y="3889474"/>
            <a:ext cx="7867650" cy="3279428"/>
          </a:xfrm>
          <a:prstGeom prst="roundRect">
            <a:avLst>
              <a:gd name="adj" fmla="val 813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34525" y="4260949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(2 MIN)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34525" y="4603849"/>
            <a:ext cx="7353300" cy="788640"/>
          </a:xfrm>
          <a:prstGeom prst="rect">
            <a:avLst/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558338" y="4603849"/>
            <a:ext cx="0" cy="788640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53600" y="4737199"/>
            <a:ext cx="71020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ONE COMPLETE SENTENCE ON MINI WHITEBOARD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9753600" y="4965799"/>
            <a:ext cx="710203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534525" y="5506789"/>
            <a:ext cx="750036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9534525" y="5768727"/>
            <a:ext cx="1730871" cy="209550"/>
          </a:xfrm>
          <a:prstGeom prst="roundRect">
            <a:avLst>
              <a:gd name="adj" fmla="val 4540909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648825" y="5787777"/>
            <a:ext cx="15323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of today's six colours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41596" y="5768727"/>
            <a:ext cx="1320254" cy="209550"/>
          </a:xfrm>
          <a:prstGeom prst="roundRect">
            <a:avLst>
              <a:gd name="adj" fmla="val 4540909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1455896" y="5787777"/>
            <a:ext cx="11134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use of 喜欢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2738050" y="5768727"/>
            <a:ext cx="1322636" cy="209550"/>
          </a:xfrm>
          <a:prstGeom prst="roundRect">
            <a:avLst>
              <a:gd name="adj" fmla="val 4540909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2852350" y="5787777"/>
            <a:ext cx="11159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sentence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534525" y="5978277"/>
            <a:ext cx="75003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scans mini whiteboards for correct characters.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9534525" y="6473577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9620250" y="65593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0020300" y="6606927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569327" y="6473577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0655052" y="65593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1055102" y="6606927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1604129" y="6473577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1689854" y="65593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2089904" y="6606927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2638931" y="6473577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2724656" y="65593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3124706" y="6606927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3673733" y="6473577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3759458" y="65593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4159508" y="6606927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4708535" y="6473577"/>
            <a:ext cx="1133177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4794260" y="65593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5194310" y="6606927"/>
            <a:ext cx="4757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粉红色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143000" y="7359402"/>
            <a:ext cx="16002000" cy="457200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1166813" y="7359402"/>
            <a:ext cx="0" cy="457200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400175" y="7473702"/>
            <a:ext cx="1584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"下一课，我们要学怎么问别人：'你喜欢什么颜色？'"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14350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5063035" y="2032397"/>
            <a:ext cx="81619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COMPLETE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5063035" y="2451497"/>
            <a:ext cx="8161931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5063035" y="3594497"/>
            <a:ext cx="816193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5063035" y="4375547"/>
            <a:ext cx="816193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Six core colours · 喜欢 to say likes · Text 1 (家人喜欢的颜色)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7943850" y="484227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62950" y="484227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782050" y="484227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201150" y="484227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620250" y="484227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039350" y="484227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3054" y="5642372"/>
            <a:ext cx="8001893" cy="2059781"/>
          </a:xfrm>
          <a:prstGeom prst="roundRect">
            <a:avLst>
              <a:gd name="adj" fmla="val 12948"/>
            </a:avLst>
          </a:prstGeom>
          <a:solidFill>
            <a:srgbClr val="F3EEE4"/>
          </a:solidFill>
          <a:ln w="19050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48810" y="5966222"/>
            <a:ext cx="71903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(L2)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48810" y="6271022"/>
            <a:ext cx="7190381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下一课，我们要学怎么问别人：</a:t>
            </a:r>
            <a:r>
              <a:rPr lang="en-US" sz="18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"你喜欢什么颜色？"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lesson: how to ask someone else 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"What colour do you like?"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5792824" y="8045053"/>
            <a:ext cx="9425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16638" y="8130778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34783" y="8045053"/>
            <a:ext cx="10664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 5 · 颜色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81256" y="8130778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598743" y="8045053"/>
            <a:ext cx="11335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of 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911655" y="8130778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116800" y="8045053"/>
            <a:ext cx="23924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1 · p.96–97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2026-07-28T09:09:31Z</dcterms:created>
  <dcterms:modified xsi:type="dcterms:W3CDTF">2026-07-28T09:09:31Z</dcterms:modified>
</cp:coreProperties>
</file>