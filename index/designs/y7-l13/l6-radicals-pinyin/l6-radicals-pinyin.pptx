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4545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33000" dirty="0"/>
          </a:p>
        </p:txBody>
      </p:sp>
      <p:sp>
        <p:nvSpPr>
          <p:cNvPr id="8" name="Text 6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Y7 UNIT 5 · 轻松学中文 1</a:t>
            </a:r>
            <a:endParaRPr lang="en-US" sz="1950" dirty="0"/>
          </a:p>
        </p:txBody>
      </p:sp>
      <p:pic>
        <p:nvPicPr>
          <p:cNvPr id="9" name="Image 0" descr="/var/folders/6c/210dcgxn4gz5sm71vld2cy1h0000gn/T/tmp.3MeIcQemFz/l6-radicals-pinyin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543" y="3172271"/>
            <a:ext cx="1496764" cy="1428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r>
              <a:rPr lang="en-US" sz="9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r>
              <a:rPr lang="en-US" sz="9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9750" dirty="0"/>
          </a:p>
        </p:txBody>
      </p:sp>
      <p:sp>
        <p:nvSpPr>
          <p:cNvPr id="11" name="Text 8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Radicals · Strokes · Tone marks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000595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249601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606787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803495" y="7638455"/>
            <a:ext cx="14814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p.97, 99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4262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267652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全部十一个，只有汉字 — 两遍，第二遍快一点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20992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95450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695700" y="320992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6750" y="39052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477000" y="320992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58050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258300" y="320992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39350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039600" y="320992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20650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4820900" y="320992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554325" y="3886200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14400" y="501015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95450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3695700" y="501015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76750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6477000" y="501015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58050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9258300" y="501015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39350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12039600" y="501015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820650" y="56864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914400" y="6905625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19200" y="7096125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我不喜欢也。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4000500" y="717708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72000" y="7096125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我也不喜欢。</a:t>
            </a:r>
            <a:endParaRPr lang="en-US" sz="3300" dirty="0"/>
          </a:p>
        </p:txBody>
      </p:sp>
      <p:sp>
        <p:nvSpPr>
          <p:cNvPr id="34" name="Shape 32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43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 · SC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02260"/>
            <a:ext cx="3627983" cy="381000"/>
          </a:xfrm>
          <a:prstGeom prst="roundRect">
            <a:avLst>
              <a:gd name="adj" fmla="val 2497500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659410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710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我们学怎么看出一个字里的部首，还有听到词写出声调。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080421"/>
            <a:ext cx="2825204" cy="381000"/>
          </a:xfrm>
          <a:prstGeom prst="roundRect">
            <a:avLst>
              <a:gd name="adj" fmla="val 24975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4137571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7097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90909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909096"/>
            <a:ext cx="1215743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 弓、力、礻，每个都能说一个字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弓, 力 and 礻 and name a character for each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215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0596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059686"/>
            <a:ext cx="1333862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我会找出一个字的部首，还知道它是什么意思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find the radical in a character and say what it means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721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2102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210276"/>
            <a:ext cx="1219583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我听到一个词，会写拼音和声调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hear a word and write its pinyin with the correct tone mark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4038600"/>
            <a:ext cx="5334000" cy="1943100"/>
          </a:xfrm>
          <a:prstGeom prst="roundRect">
            <a:avLst>
              <a:gd name="adj" fmla="val 9804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3750" y="4219575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3313807" y="4991100"/>
            <a:ext cx="5457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55938" y="5448300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弹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77000" y="4038600"/>
            <a:ext cx="5334000" cy="1943100"/>
          </a:xfrm>
          <a:prstGeom prst="roundRect">
            <a:avLst>
              <a:gd name="adj" fmla="val 9804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96350" y="4219575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8606879" y="4991100"/>
            <a:ext cx="10955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18538" y="5448300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039600" y="4038600"/>
            <a:ext cx="5334000" cy="1943100"/>
          </a:xfrm>
          <a:prstGeom prst="roundRect">
            <a:avLst>
              <a:gd name="adj" fmla="val 9804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458950" y="4219575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4376202" y="4991100"/>
            <a:ext cx="673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ritual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581138" y="5448300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视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9808" y="622935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加上第三课的 疒、火、爫，课本 p.99 的六个部首就全了。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9078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 · 礻/衤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13120" y="2988022"/>
            <a:ext cx="213741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5913120" y="5178772"/>
            <a:ext cx="213741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一点 · ritual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913120" y="5710238"/>
            <a:ext cx="213741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视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8852154" y="2988022"/>
            <a:ext cx="3536442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衤</a:t>
            </a:r>
            <a:endParaRPr lang="en-US" sz="16500" dirty="0"/>
          </a:p>
        </p:txBody>
      </p:sp>
      <p:sp>
        <p:nvSpPr>
          <p:cNvPr id="11" name="Text 9"/>
          <p:cNvSpPr/>
          <p:nvPr/>
        </p:nvSpPr>
        <p:spPr>
          <a:xfrm>
            <a:off x="8852154" y="5178772"/>
            <a:ext cx="3536442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两点 · clothing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852154" y="5710238"/>
            <a:ext cx="3536442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　衫　裤　裙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3573810" y="6735068"/>
            <a:ext cx="11140380" cy="830461"/>
          </a:xfrm>
          <a:prstGeom prst="roundRect">
            <a:avLst>
              <a:gd name="adj" fmla="val 13763"/>
            </a:avLst>
          </a:prstGeom>
          <a:solidFill>
            <a:srgbClr val="B03C2C">
              <a:alpha val="10000"/>
            </a:srgbClr>
          </a:solidFill>
          <a:ln w="19050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96908" y="6944618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061048" y="6944618"/>
            <a:ext cx="104315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下一课(第十四课)每一件衣服的字都有「衤」。多一点就错了 — 现在先看清楚。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3241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找部首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629966"/>
            <a:ext cx="17177004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上面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下面 — 按这个顺序找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772966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chǎo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3192066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 → 火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815358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fire, on the left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434875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ài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76785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 → 爫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539115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claw, on top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92455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hēi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634365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 → 灬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966942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fire underneath — you wrote this one in Lesson 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7500342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jiā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919442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 → 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8542734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the RIGHT — the awkward one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781425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3781425"/>
            <a:ext cx="501911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「炒」的部首在哪一边？指给我看。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591050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4591050"/>
            <a:ext cx="523210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礻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衤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，哪个有两点？是什么意思？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400675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5400675"/>
            <a:ext cx="564652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写一个你已经学过、下面有「灬」的字。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210300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562100" y="6210300"/>
            <a:ext cx="501911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光看部首，猜猜「病」是什么意思？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211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(20–28)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452711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课本 p.97 Ex.2 (CD T61) + 练习本 p.137 · 8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62311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081361"/>
            <a:ext cx="6698685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九个词，听一遍写一遍，三个一组对答案。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2784277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2803327"/>
            <a:ext cx="672343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Ex.6 — 数笔画：粉 色 黑 黄 红 白 蓝 喜。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3506242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3525292"/>
            <a:ext cx="11647366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Ex.4 — 看拼音写汉字再数笔画。都是一到四单元的字，应该很快。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4228207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562100" y="4247257"/>
            <a:ext cx="720434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Ex.21 — 在十六个格子里圈出颜色词。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5007322"/>
            <a:ext cx="16459200" cy="1859161"/>
          </a:xfrm>
          <a:prstGeom prst="roundRect">
            <a:avLst>
              <a:gd name="adj" fmla="val 1024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725" y="5245447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fàndiàn · jīngcháng · shòushāng · xuésheng · shítou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228725" y="5984528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jiǎngbēi · jīnyú · yúncai · piàoliang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14400" y="6904583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38250" y="7114133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503908" y="7114133"/>
            <a:ext cx="8746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「学生」和「石头」有轻声 — 不要乱加声调符号，轻声没有符号。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7925544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38250" y="821129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895326" y="8154144"/>
            <a:ext cx="10084689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默写这一课的三个词，不看黑板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fěnhóngsè yánsè lǜsè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ü in lǜsè is the target. Then dictate two of your own to a partner and mark their work.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978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(28–36)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345085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练习本 p.134 / 138 / 137 / 144 · 8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5468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2973735"/>
            <a:ext cx="4878851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Ex.1 — 按笔顺抄 弓、力、礻。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67665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695700"/>
            <a:ext cx="719948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Ex.9 第 4–6 题 — 写出 弹、加、视 的部首。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3986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417665"/>
            <a:ext cx="1178171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Ex.5 — 十二个部首，每个找一个字：目 纟 灬 艹 士 米 钅 冫 ⻊ 王 亻 方。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12058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562100" y="5139630"/>
            <a:ext cx="1077615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Ex.20 — 改错句，六句，全是语序。第 6 题就是上节课说过的那个。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5709196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5918746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503908" y="5918746"/>
            <a:ext cx="958115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Ex.5 和 Ex.20 就是单元测验的第 3 部分和第 8 部分，一模一样的形式。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什么颜色你喜欢？ → 你喜欢什么颜色？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7033171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38250" y="73189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895326" y="7261771"/>
            <a:ext cx="9615157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 Ex.5 的时候，能填颜色字的就填颜色字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纟→红 或 绿 米→粉 灬→黑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explain one of them aloud — 红 has 纟 because 纟 is silk, and silk was dyed red.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6730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加油题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7849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p.137 Ex.7 · 做完的人做这个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8097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607147"/>
            <a:ext cx="740381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写一个一笔的字，再写两笔的，一直写到九笔。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4310063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4329113"/>
            <a:ext cx="387815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书上最后一个是「美」。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089178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28725" y="5327303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 → ？ → ？ → ？ → ？ → ？ → ？ → ？ → 美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14400" y="6399758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685508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95326" y="6628358"/>
            <a:ext cx="7076679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没有上限，也没有词库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最后三格是真的难。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standing extension for anyone who lands early, in any lesson.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650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接力写字 (36–43)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1758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接力写字 · 7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2718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246239"/>
            <a:ext cx="458328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两队，每队排一列在黑板前。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9491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968204"/>
            <a:ext cx="1152045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老师出一个短语 — 第一个人写第一个字，跑回来，第二个人写第二个字。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67112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690170"/>
            <a:ext cx="775630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写对得一分；笔顺也对、「的」没丢，再得一分。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450235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5688360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喜欢黑色　·　粉红色的校车　·　紫色和棕色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676081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04656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6989415"/>
            <a:ext cx="12159252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短语只给拼音，或者只给英文，队伍自己写出汉字。最后一轮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下面还要写一行拼音，声调对才算分。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tone marks are worth the point, not the characters.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67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92685"/>
            <a:ext cx="16459200" cy="390525"/>
          </a:xfrm>
          <a:prstGeom prst="roundRect">
            <a:avLst>
              <a:gd name="adj" fmla="val 2436585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249835"/>
            <a:ext cx="163997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7371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0118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76425" y="3011835"/>
            <a:ext cx="543916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 弓、力、礻，每个都能说一个字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1243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124325"/>
            <a:ext cx="564652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我会找出一个字的部首，还知道它的意思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99869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2368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236815"/>
            <a:ext cx="313704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我听到一个词会写声调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24453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8250" y="6454080"/>
            <a:ext cx="31879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741289" y="6454080"/>
            <a:ext cx="1396102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Two items — write the radical of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视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what it means; then any character that uses 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火</a:t>
            </a: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写在小白板上。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7530405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773995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771650" y="7739955"/>
            <a:ext cx="132209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全班调查 — 问所有人喜欢什么颜色，数出来，再报告。还有两个颜色混在一起会变成什么。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8092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0750" y="2636639"/>
            <a:ext cx="641223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五个人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4350990" y="4998839"/>
            <a:ext cx="977758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Next — the class survey, and mixing colours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629150" y="5905500"/>
            <a:ext cx="9029700" cy="2011561"/>
          </a:xfrm>
          <a:prstGeom prst="roundRect">
            <a:avLst>
              <a:gd name="adj" fmla="val 94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57775" y="6200775"/>
            <a:ext cx="833589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你喜欢红色吗？ → 五个人喜欢黑色。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057775" y="6977955"/>
            <a:ext cx="833589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 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白色 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天蓝色。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9463088"/>
            <a:ext cx="317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部首 · 笔画 · 声调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671352" y="9463088"/>
            <a:ext cx="3931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p.97, 99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2026-09-14T06:48:51Z</dcterms:created>
  <dcterms:modified xsi:type="dcterms:W3CDTF">2026-09-14T06:48:51Z</dcterms:modified>
</cp:coreProperties>
</file>