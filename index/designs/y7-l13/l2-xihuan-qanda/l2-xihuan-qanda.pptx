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091940" y="2737991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91940" y="3233291"/>
            <a:ext cx="1010412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🔴🟡🔵⚫️⚪️🌸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91940" y="5015359"/>
            <a:ext cx="1010412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</a:t>
            </a:r>
            <a:r>
              <a:rPr lang="en-US" sz="97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091940" y="6329809"/>
            <a:ext cx="10104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Asking About Colour Preferences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1 Colours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2295525"/>
            <a:ext cx="8645128" cy="2540198"/>
          </a:xfrm>
          <a:prstGeom prst="roundRect">
            <a:avLst>
              <a:gd name="adj" fmla="val 749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2533650"/>
            <a:ext cx="82545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 · L1'S SIX COLOURS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2876550"/>
            <a:ext cx="1411486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09700" y="29622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09750" y="3009900"/>
            <a:ext cx="7596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 hēisè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49761" y="2876550"/>
            <a:ext cx="1415951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35486" y="29622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35536" y="3009900"/>
            <a:ext cx="7641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 báisè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0012" y="2876550"/>
            <a:ext cx="1639193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65737" y="29622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65787" y="3009900"/>
            <a:ext cx="9918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 huángsè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3505" y="2876550"/>
            <a:ext cx="1408658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9230" y="29622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19280" y="3009900"/>
            <a:ext cx="7567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 lánsè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56463" y="2876550"/>
            <a:ext cx="1550640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42188" y="29622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42238" y="3009900"/>
            <a:ext cx="9015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hóngsè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3975" y="3467100"/>
            <a:ext cx="193908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9700" y="3552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09750" y="3600450"/>
            <a:ext cx="12977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 fěnhóngsè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3975" y="4095750"/>
            <a:ext cx="825453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colour flashcard (Chinese side); class chorally says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+ English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of the six colours, rapid fire, no set order.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0035778" y="2295525"/>
            <a:ext cx="7204472" cy="2340173"/>
          </a:xfrm>
          <a:prstGeom prst="roundRect">
            <a:avLst>
              <a:gd name="adj" fmla="val 814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312003" y="2533650"/>
            <a:ext cx="6785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CHECK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12003" y="2876550"/>
            <a:ext cx="6652022" cy="866775"/>
          </a:xfrm>
          <a:prstGeom prst="roundRect">
            <a:avLst>
              <a:gd name="adj" fmla="val 1318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502503" y="3028950"/>
            <a:ext cx="639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 YOUR MINI WHITEBOARD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0502503" y="3276600"/>
            <a:ext cx="63964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"I like blue" — in Chinese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312003" y="3895725"/>
            <a:ext cx="678506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我喜欢蓝色。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Hold up on three: "一、二、三，举起来！" Cold call two students to read their sentence aloud.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047750" y="5045273"/>
            <a:ext cx="16192500" cy="5762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071563" y="5045273"/>
            <a:ext cx="0" cy="576262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3975" y="5197673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上节课我们学会了说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"我喜欢黑色"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。今天我们要学怎么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别人喜欢什么颜色。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22934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46784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885009"/>
            <a:ext cx="15621000" cy="1025723"/>
          </a:xfrm>
          <a:prstGeom prst="rect">
            <a:avLst/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885009"/>
            <a:ext cx="0" cy="1025723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094559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342209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ask and answer questions about colour preferences using </a:t>
            </a:r>
            <a:r>
              <a:rPr lang="en-US" sz="19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你喜欢什么颜色？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9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你喜欢……吗？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25363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45365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453658"/>
            <a:ext cx="61877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colour do you like?"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能问"你喜欢什么颜色？"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236494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643651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6436519"/>
            <a:ext cx="77701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yes/no colour question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it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能问、答"你喜欢……吗？"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7219355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741938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7419380"/>
            <a:ext cx="6519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also don't like ___"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也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能用"也"说"我也不喜欢"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30544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2 (P.100) — PATTERN ONLY, NO NEW COLOUR WORDS YET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362075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Key Sentence Patterns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76450"/>
            <a:ext cx="8620274" cy="3257550"/>
          </a:xfrm>
          <a:prstGeom prst="roundRect">
            <a:avLst>
              <a:gd name="adj" fmla="val 584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39474" y="2076450"/>
            <a:ext cx="76457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TEACHER READS, CLASS REPEATS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39474" y="2381250"/>
            <a:ext cx="7495877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20449" y="2528888"/>
            <a:ext cx="18289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你喜欢什么颜色？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70680" y="2528888"/>
            <a:ext cx="8466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757845" y="2505075"/>
            <a:ext cx="704850" cy="333375"/>
          </a:xfrm>
          <a:prstGeom prst="roundRect">
            <a:avLst>
              <a:gd name="adj" fmla="val 285428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795945" y="2586038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C23B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15020" y="2543175"/>
            <a:ext cx="349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19845" y="2528888"/>
            <a:ext cx="1943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39474" y="3057525"/>
            <a:ext cx="7495877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020449" y="3205163"/>
            <a:ext cx="8573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你喜欢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18180" y="3181350"/>
            <a:ext cx="704850" cy="333375"/>
          </a:xfrm>
          <a:prstGeom prst="roundRect">
            <a:avLst>
              <a:gd name="adj" fmla="val 285428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956280" y="326231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1A1A1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175355" y="3219450"/>
            <a:ext cx="349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80180" y="3205163"/>
            <a:ext cx="388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118330" y="3205163"/>
            <a:ext cx="1040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不喜欢。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839474" y="3733800"/>
            <a:ext cx="7495877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020449" y="3881438"/>
            <a:ext cx="10517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我不喜欢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08680" y="3857625"/>
            <a:ext cx="704850" cy="333375"/>
          </a:xfrm>
          <a:prstGeom prst="roundRect">
            <a:avLst>
              <a:gd name="adj" fmla="val 285428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146780" y="3938588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B92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365855" y="3895725"/>
            <a:ext cx="349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870680" y="3881438"/>
            <a:ext cx="1943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118330" y="3881438"/>
            <a:ext cx="1429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我也不喜欢。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39474" y="4410075"/>
            <a:ext cx="7495877" cy="790575"/>
          </a:xfrm>
          <a:prstGeom prst="roundRect">
            <a:avLst>
              <a:gd name="adj" fmla="val 14458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020449" y="4557713"/>
            <a:ext cx="8573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5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你喜欢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918180" y="4533900"/>
            <a:ext cx="876300" cy="333375"/>
          </a:xfrm>
          <a:prstGeom prst="roundRect">
            <a:avLst>
              <a:gd name="adj" fmla="val 285428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956280" y="461486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8EA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175355" y="4572000"/>
            <a:ext cx="5246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851630" y="4557713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的老师吗？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20449" y="4905375"/>
            <a:ext cx="7276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reaction: "Do you like pink teachers?"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3187898"/>
          </a:xfrm>
          <a:prstGeom prst="roundRect">
            <a:avLst>
              <a:gd name="adj" fmla="val 8366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the Question's Meaning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"你喜欢什么颜色？ 的意思是 'what colour do you like?'。"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"对不对？" Thumbs up if correct, thumbs down if not — every student responds.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3187898"/>
          </a:xfrm>
          <a:prstGeom prst="roundRect">
            <a:avLst>
              <a:gd name="adj" fmla="val 8366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Wrong With This Sentence?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sentence below. Ask the class: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"这句话有什么问题？"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6715125" y="4511873"/>
            <a:ext cx="4857750" cy="657225"/>
          </a:xfrm>
          <a:prstGeom prst="roundRect">
            <a:avLst>
              <a:gd name="adj" fmla="val 17391"/>
            </a:avLst>
          </a:prstGeom>
          <a:solidFill>
            <a:srgbClr val="FBF9F4"/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05625" y="4664273"/>
            <a:ext cx="45662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什么颜色你喜欢？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001500" y="2257425"/>
            <a:ext cx="5334000" cy="3187898"/>
          </a:xfrm>
          <a:prstGeom prst="roundRect">
            <a:avLst>
              <a:gd name="adj" fmla="val 8366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 About a Colour We Haven't Learned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39625" y="3838575"/>
            <a:ext cx="495490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question you'd ask to find out if someone likes green — even though we haven't learned 绿色 yet, just leave a blank for the colour word."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52500" y="5635823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90625" y="5759648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Give the class 20–30 seconds of silent think time before revealing answers on the next slide. Do not reveal the corrected word order yet.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381125"/>
          </a:xfrm>
          <a:prstGeom prst="roundRect">
            <a:avLst>
              <a:gd name="adj" fmla="val 1379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14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5812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14600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 — 你喜欢什么颜色？的意思是"what colour do you like?"，对不对？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876425" y="2838450"/>
            <a:ext cx="5782717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2990850"/>
            <a:ext cx="54320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对！你喜欢什么颜色？= "what colour do you like?"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38481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8725" y="40671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72642" y="413385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76425" y="406717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 — 什么颜色你喜欢？ 这句话有什么问题？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876425" y="4391025"/>
            <a:ext cx="6131272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05025" y="4543425"/>
            <a:ext cx="57875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Word order: 什么颜色 must come after 喜欢, not before.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6425" y="5010150"/>
            <a:ext cx="15182850" cy="619125"/>
          </a:xfrm>
          <a:prstGeom prst="roundRect">
            <a:avLst>
              <a:gd name="adj" fmla="val 18462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85975" y="5143500"/>
            <a:ext cx="20208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什么颜色你喜欢？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4257675" y="5176838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657725" y="5143500"/>
            <a:ext cx="20208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" y="6019800"/>
            <a:ext cx="16383000" cy="1657350"/>
          </a:xfrm>
          <a:prstGeom prst="roundRect">
            <a:avLst>
              <a:gd name="adj" fmla="val 1149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28725" y="62388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72046" y="630555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876425" y="623887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the question you'd ask to find out if someone likes green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876425" y="6562725"/>
            <a:ext cx="2449413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05025" y="6715125"/>
            <a:ext cx="2032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你喜欢____吗？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76425" y="725805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blank stands in for 绿色 (green) — a colour word we haven't learned yet. Any student who wrote 你喜欢____吗？ with the pattern correct earns full credit, even without the colour word.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22700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4775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114425"/>
            <a:ext cx="568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29732" y="1062038"/>
            <a:ext cx="2343150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1182" y="1119188"/>
            <a:ext cx="2040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Whole Class Chain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传话问答链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124075"/>
            <a:ext cx="8769846" cy="3324225"/>
          </a:xfrm>
          <a:prstGeom prst="roundRect">
            <a:avLst>
              <a:gd name="adj" fmla="val 5731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2371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4570" y="24193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2390775"/>
            <a:ext cx="646050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sits in a circle or row.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1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asks Student 2: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"你喜欢什么颜色？"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19200" y="2743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3259" y="2790825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2762250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2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answers with a Lesson-1 colour, then turns and asks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3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same question — the chain continues around the room.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19200" y="33528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2962" y="3400425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3371850"/>
            <a:ext cx="64403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first 2 exchanges with a volunteer before starting the chain.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19200" y="37242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2515" y="3771900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619250" y="3743325"/>
            <a:ext cx="521175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a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brisk pace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repeating the same colour twice in a row.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219200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1600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371600" y="4524375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 flashcards visible on desks for students who need a prompt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4015383" y="4219575"/>
            <a:ext cx="2643932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67783" y="4333875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167783" y="4524375"/>
            <a:ext cx="23859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comfortable, add 也: "我也喜欢红色。" (为什么？ follow-ups not yet taught)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811714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64114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964114" y="4524375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asks once and answers once as the chain passes through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0027146" y="2124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CHAIN EXCHANGE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27146" y="2447925"/>
            <a:ext cx="7308354" cy="1957388"/>
          </a:xfrm>
          <a:prstGeom prst="roundRect">
            <a:avLst>
              <a:gd name="adj" fmla="val 9732"/>
            </a:avLst>
          </a:prstGeom>
          <a:solidFill>
            <a:srgbClr val="E9E2D2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227171" y="2628900"/>
            <a:ext cx="70464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S1 →S2:</a:t>
            </a:r>
            <a:r>
              <a:rPr lang="en-US" sz="12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你喜欢什么颜色？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0227171" y="2967038"/>
            <a:ext cx="70464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S2:</a:t>
            </a:r>
            <a:r>
              <a:rPr lang="en-US" sz="12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我喜欢蓝色。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0227171" y="3305175"/>
            <a:ext cx="70464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S2 →S3:</a:t>
            </a:r>
            <a:r>
              <a:rPr lang="en-US" sz="12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你喜欢什么颜色？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0227171" y="3643313"/>
            <a:ext cx="70464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S3:</a:t>
            </a:r>
            <a:r>
              <a:rPr lang="en-US" sz="12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我喜欢黄色。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0227171" y="3981450"/>
            <a:ext cx="70464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i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…continues around the room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0027146" y="4538663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 WORD BANK (L1)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027146" y="4862513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112871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512921" y="4995863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080998" y="4862513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166723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1566773" y="4995863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134850" y="4862513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2220575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620625" y="4995863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188702" y="4862513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3274427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3674477" y="4995863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4242554" y="4862513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4328279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4728329" y="4995863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5296406" y="4862513"/>
            <a:ext cx="1133177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5382131" y="4948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5782181" y="4995863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2344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79165" cy="314325"/>
          </a:xfrm>
          <a:prstGeom prst="roundRect">
            <a:avLst>
              <a:gd name="adj" fmla="val 3027273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47750"/>
            <a:ext cx="992237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114425"/>
            <a:ext cx="642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8702" y="1062038"/>
            <a:ext cx="2200126" cy="314325"/>
          </a:xfrm>
          <a:prstGeom prst="roundRect">
            <a:avLst>
              <a:gd name="adj" fmla="val 3027273"/>
            </a:avLst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00152" y="1119188"/>
            <a:ext cx="18943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Mingling Survey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找人问问题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124075"/>
            <a:ext cx="8769846" cy="4181475"/>
          </a:xfrm>
          <a:prstGeom prst="roundRect">
            <a:avLst>
              <a:gd name="adj" fmla="val 4556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2371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4570" y="24193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2390775"/>
            <a:ext cx="74677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draw a simple tally sheet: the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colours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listed down the side, with Yes/No columns.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19200" y="2743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3259" y="2790825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2762250"/>
            <a:ext cx="499422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mingling format with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volunteers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first.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19200" y="31146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2962" y="3162300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3133725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stand and mingle. They ask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different classmates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"你喜欢黑色吗？"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rotating which colour they ask about each time — and tick Yes/No.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19200" y="37242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2515" y="3771900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619250" y="3743325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circulates, listening for correct question form. Sit down; quick show of hands: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"Who found someone who likes 红色?"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219200" y="4457700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1600" y="4572000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371600" y="4762500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card: 你喜欢____吗？ with colour word bank attached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4015383" y="4457700"/>
            <a:ext cx="2643932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67783" y="4572000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167783" y="4762500"/>
            <a:ext cx="23859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 4th question using 什么颜色 (open form) instead of yes/no, and note the answer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811714" y="4457700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64114" y="4572000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964114" y="4762500"/>
            <a:ext cx="23857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up and moving, each asks at least 3 questions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0027146" y="2124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27146" y="2447925"/>
            <a:ext cx="7308354" cy="581025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0050959" y="2447925"/>
            <a:ext cx="0" cy="581025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65271" y="2581275"/>
            <a:ext cx="70173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027146" y="3162300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TALLY SHEET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27146" y="3486150"/>
            <a:ext cx="7308354" cy="2819400"/>
          </a:xfrm>
          <a:prstGeom prst="roundRect">
            <a:avLst>
              <a:gd name="adj" fmla="val 675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036671" y="3495675"/>
            <a:ext cx="7289304" cy="352425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0036671" y="3843338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89071" y="3581400"/>
            <a:ext cx="2671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2808148" y="3581400"/>
            <a:ext cx="222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4990862" y="3581400"/>
            <a:ext cx="2226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10036671" y="4252913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89071" y="396240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1A1A1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436721" y="39338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2808148" y="3948112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正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4990862" y="3948112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10036671" y="4662488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89071" y="437197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FFFFFF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436721" y="43434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12808148" y="4357688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4990862" y="4357688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10036671" y="5072063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89071" y="478155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B92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436721" y="475297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275" dirty="0"/>
          </a:p>
        </p:txBody>
      </p:sp>
      <p:sp>
        <p:nvSpPr>
          <p:cNvPr id="60" name="Text 58"/>
          <p:cNvSpPr/>
          <p:nvPr/>
        </p:nvSpPr>
        <p:spPr>
          <a:xfrm>
            <a:off x="12808148" y="4767263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丨丨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0036671" y="5481638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89071" y="519112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2E5FA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436721" y="516255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275" dirty="0"/>
          </a:p>
        </p:txBody>
      </p:sp>
      <p:sp>
        <p:nvSpPr>
          <p:cNvPr id="64" name="Text 62"/>
          <p:cNvSpPr/>
          <p:nvPr/>
        </p:nvSpPr>
        <p:spPr>
          <a:xfrm>
            <a:off x="12808148" y="5176838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正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10036671" y="5891213"/>
            <a:ext cx="7289304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89071" y="560070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C23B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436721" y="55721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12808148" y="5586413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正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4990862" y="5586413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0189071" y="601027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8EA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0436721" y="598170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275" dirty="0"/>
          </a:p>
        </p:txBody>
      </p:sp>
      <p:sp>
        <p:nvSpPr>
          <p:cNvPr id="72" name="Text 70"/>
          <p:cNvSpPr/>
          <p:nvPr/>
        </p:nvSpPr>
        <p:spPr>
          <a:xfrm>
            <a:off x="12808148" y="5995988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14990862" y="5995988"/>
            <a:ext cx="2226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丨丨</a:t>
            </a:r>
            <a:endParaRPr lang="en-US" sz="1125" dirty="0"/>
          </a:p>
        </p:txBody>
      </p:sp>
      <p:sp>
        <p:nvSpPr>
          <p:cNvPr id="74" name="Shape 7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262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Slap the Board · 37–43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77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5825" y="1062038"/>
            <a:ext cx="2722959" cy="314325"/>
          </a:xfrm>
          <a:prstGeom prst="roundRect">
            <a:avLst>
              <a:gd name="adj" fmla="val 3027273"/>
            </a:avLst>
          </a:prstGeom>
          <a:solidFill>
            <a:srgbClr val="C2564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7275" y="1119188"/>
            <a:ext cx="2427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Pairs at the Board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拍板游戏 · Slap the Board (Question Version)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2500" y="20383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 listening + colour recognition under time pressure, triggered by a spoken question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2447925"/>
            <a:ext cx="4248150" cy="2962275"/>
          </a:xfrm>
          <a:prstGeom prst="roundRect">
            <a:avLst>
              <a:gd name="adj" fmla="val 6431"/>
            </a:avLst>
          </a:prstGeom>
          <a:noFill/>
          <a:ln w="2857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476500"/>
            <a:ext cx="4191000" cy="390525"/>
          </a:xfrm>
          <a:prstGeom prst="rect">
            <a:avLst/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9165" y="2552700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SIX COLOUR FLASHCARDS ON THE 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1075" y="2867025"/>
            <a:ext cx="1396901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17600" y="30622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89025" y="34432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36799" y="3767138"/>
            <a:ext cx="2911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hēisè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976" y="2867025"/>
            <a:ext cx="1397050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14501" y="30622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85926" y="34432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32063" y="3767138"/>
            <a:ext cx="2945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báisè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75025" y="2867025"/>
            <a:ext cx="1397050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11551" y="30622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82976" y="34432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45322" y="3767138"/>
            <a:ext cx="4655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1075" y="4124325"/>
            <a:ext cx="1396901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17600" y="43195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489025" y="47005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37841" y="5024438"/>
            <a:ext cx="2888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976" y="4124325"/>
            <a:ext cx="1397050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14501" y="43195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85926" y="470058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881461" y="5024438"/>
            <a:ext cx="3977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hóngsè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75025" y="4124325"/>
            <a:ext cx="1397050" cy="1257300"/>
          </a:xfrm>
          <a:prstGeom prst="rect">
            <a:avLst/>
          </a:prstGeom>
          <a:solidFill>
            <a:srgbClr val="FBF9F4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11551" y="4319588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187726" y="470058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191000" y="5024438"/>
            <a:ext cx="576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fěnhóngsè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67350" y="2447925"/>
            <a:ext cx="11868150" cy="1771650"/>
          </a:xfrm>
          <a:prstGeom prst="roundRect">
            <a:avLst>
              <a:gd name="adj" fmla="val 1075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86425" y="2762250"/>
            <a:ext cx="1165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86425" y="30670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000750" y="3067050"/>
            <a:ext cx="55826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colour flashcards spread on the board (or projected in a grid).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686425" y="3419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000750" y="3419475"/>
            <a:ext cx="101441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 stand at the board. Teacher asks a question aloud, e.g.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"谁喜欢蓝色？"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simply calls a colour in English.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686425" y="37719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000750" y="3771900"/>
            <a:ext cx="76535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students race to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matching card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the faster one stays up for the next round.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467350" y="4352925"/>
            <a:ext cx="11868150" cy="704850"/>
          </a:xfrm>
          <a:prstGeom prst="roundRect">
            <a:avLst>
              <a:gd name="adj" fmla="val 16216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57850" y="456723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000750" y="4486275"/>
            <a:ext cx="3829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6000750" y="4733925"/>
            <a:ext cx="38292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Printed colour flashcards or a projected grid; nothing else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67350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619750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5619750" y="5591175"/>
            <a:ext cx="56835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under each character on the flashcards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458575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1610975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1610975" y="5591175"/>
            <a:ext cx="56835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winner must answer a follow-up in a full sentence before the next round starts, e.g. "你喜欢蓝色吗？" → "喜欢，我喜欢蓝色。"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504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你喜欢什么颜色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27858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964656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269456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117181"/>
            <a:ext cx="7867650" cy="2824163"/>
          </a:xfrm>
          <a:prstGeom prst="roundRect">
            <a:avLst>
              <a:gd name="adj" fmla="val 944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488656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831556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aloud together — "今天我们做到了吗？" Traffic-light thumbs: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yes ·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almost · </a:t>
            </a:r>
            <a:r>
              <a:rPr lang="en-US" sz="9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not yet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0175" y="51458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62088" y="519826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752600" y="51458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14513" y="519826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105025" y="51458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66938" y="519826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2543175" y="5191571"/>
            <a:ext cx="41471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"what colour do you like?" (你喜欢什么颜色？)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00175" y="555545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2088" y="5607844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752600" y="555545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14513" y="5607844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105025" y="555545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66938" y="5607844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2543175" y="5601146"/>
            <a:ext cx="49523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 yes/no colour question and answer it (你喜欢……吗？)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0175" y="59650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62088" y="601741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752600" y="59650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14513" y="601741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2105025" y="59650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66938" y="6017419"/>
            <a:ext cx="184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2543175" y="6010721"/>
            <a:ext cx="29840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"I also don't like ___" using 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6384131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86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6469856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student volunteer reads the Success Criteria back before the thumbs go up.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4117181"/>
            <a:ext cx="7867650" cy="2824163"/>
          </a:xfrm>
          <a:prstGeom prst="roundRect">
            <a:avLst>
              <a:gd name="adj" fmla="val 944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488656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831556"/>
            <a:ext cx="7353300" cy="809625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831556"/>
            <a:ext cx="0" cy="80962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964906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A FULL QUESTION-AND-ANSWER PAIR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5193506"/>
            <a:ext cx="71020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 不喜欢，我喜欢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34525" y="5755481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534525" y="6017419"/>
            <a:ext cx="2018705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648825" y="6036469"/>
            <a:ext cx="1825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different Lesson-1 colours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629430" y="6017419"/>
            <a:ext cx="1492151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743730" y="6036469"/>
            <a:ext cx="1288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question 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197780" y="6017419"/>
            <a:ext cx="1211461" cy="209550"/>
          </a:xfrm>
          <a:prstGeom prst="roundRect">
            <a:avLst>
              <a:gd name="adj" fmla="val 4540909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3312080" y="6036469"/>
            <a:ext cx="10025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answer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34525" y="6226969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word order and colour choice.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143000" y="7131844"/>
            <a:ext cx="16002000" cy="457200"/>
          </a:xfrm>
          <a:prstGeom prst="rect">
            <a:avLst/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166813" y="7131844"/>
            <a:ext cx="0" cy="457200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00175" y="7246144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"下一课，我们要学五个新颜色——包括紫色和棕色！"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4538853" y="2280047"/>
            <a:ext cx="9210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538853" y="2699147"/>
            <a:ext cx="921029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538853" y="3842147"/>
            <a:ext cx="92102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4538853" y="4623197"/>
            <a:ext cx="92102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你喜欢什么颜色？ · 你喜欢……吗？ · 喜欢/不喜欢 · 我也喜欢/我也不喜欢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629150" y="5394722"/>
            <a:ext cx="9029700" cy="2059781"/>
          </a:xfrm>
          <a:prstGeom prst="roundRect">
            <a:avLst>
              <a:gd name="adj" fmla="val 12948"/>
            </a:avLst>
          </a:prstGeom>
          <a:solidFill>
            <a:srgbClr val="F3EEE4"/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4628" y="5718572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4628" y="6023372"/>
            <a:ext cx="8238744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</a:t>
            </a: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五个新颜色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——包括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棕色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！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five new colours, including purple (紫色) and brown (棕色).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2026-07-28T09:09:39Z</dcterms:created>
  <dcterms:modified xsi:type="dcterms:W3CDTF">2026-07-28T09:09:39Z</dcterms:modified>
</cp:coreProperties>
</file>