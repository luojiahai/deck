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0" y="5715000"/>
            <a:ext cx="408051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0"/>
              </a:lnSpc>
              <a:buNone/>
            </a:pPr>
            <a:r>
              <a:rPr lang="en-US" sz="31500" dirty="0">
                <a:solidFill>
                  <a:srgbClr val="B840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色</a:t>
            </a:r>
            <a:endParaRPr lang="en-US" sz="31500" dirty="0"/>
          </a:p>
        </p:txBody>
      </p:sp>
      <p:sp>
        <p:nvSpPr>
          <p:cNvPr id="3" name="Text 1"/>
          <p:cNvSpPr/>
          <p:nvPr/>
        </p:nvSpPr>
        <p:spPr>
          <a:xfrm>
            <a:off x="4772025" y="2226469"/>
            <a:ext cx="874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3 OF 8 · Y7 UNIT 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772025" y="2721769"/>
            <a:ext cx="87439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00"/>
              </a:lnSpc>
              <a:buNone/>
            </a:pPr>
            <a:r>
              <a:rPr lang="en-US" sz="75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🎨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4772025" y="4631531"/>
            <a:ext cx="87439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0"/>
              </a:lnSpc>
              <a:spcBef>
                <a:spcPts val="7538"/>
              </a:spcBef>
              <a:spcAft>
                <a:spcPts val="600"/>
              </a:spcAft>
              <a:buNone/>
            </a:pPr>
            <a:r>
              <a:rPr lang="en-US" sz="1125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核心颜色</a:t>
            </a:r>
            <a:r>
              <a:rPr lang="en-US" sz="11250" b="1" dirty="0">
                <a:solidFill>
                  <a:srgbClr val="B840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1125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二</a:t>
            </a:r>
            <a:endParaRPr lang="en-US" sz="11250" dirty="0"/>
          </a:p>
        </p:txBody>
      </p:sp>
      <p:sp>
        <p:nvSpPr>
          <p:cNvPr id="6" name="Text 4"/>
          <p:cNvSpPr/>
          <p:nvPr/>
        </p:nvSpPr>
        <p:spPr>
          <a:xfrm>
            <a:off x="4772025" y="6136481"/>
            <a:ext cx="87439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Core Colours 2 (颜色橙紫棕绿灰) + Text 2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8067675" y="7146131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D976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524875" y="7146131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7A4E9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982075" y="7146131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8A5A34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439275" y="7146131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4C8A4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896475" y="7146131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9A9A94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9373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CORE COLOURS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051870" y="280988"/>
            <a:ext cx="13014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0–8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1430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428750"/>
            <a:ext cx="1671066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复习 · Asking About Colour Preferences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952500" y="2257425"/>
            <a:ext cx="8441829" cy="2857500"/>
          </a:xfrm>
          <a:prstGeom prst="roundRect">
            <a:avLst>
              <a:gd name="adj" fmla="val 9333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28725" y="2638425"/>
            <a:ext cx="80471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050"/>
              </a:spcAft>
              <a:buNone/>
            </a:pPr>
            <a:r>
              <a:rPr lang="en-US" sz="1125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2'S QUESTION PATTERN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228725" y="2971800"/>
            <a:ext cx="804716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你喜欢什么颜色？</a:t>
            </a:r>
            <a:r>
              <a:rPr lang="en-US" sz="1125" dirty="0">
                <a:solidFill>
                  <a:srgbClr val="5C56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What colour do you like?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28725" y="3581400"/>
            <a:ext cx="804716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你喜欢……吗？</a:t>
            </a:r>
            <a:r>
              <a:rPr lang="en-US" sz="1125" dirty="0">
                <a:solidFill>
                  <a:srgbClr val="5C56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Do you like ___?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28725" y="4248150"/>
            <a:ext cx="977652" cy="476250"/>
          </a:xfrm>
          <a:prstGeom prst="roundRect">
            <a:avLst>
              <a:gd name="adj" fmla="val 1998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314450" y="433387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A1A1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714500" y="4381500"/>
            <a:ext cx="3171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黑色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01627" y="4248150"/>
            <a:ext cx="977652" cy="476250"/>
          </a:xfrm>
          <a:prstGeom prst="roundRect">
            <a:avLst>
              <a:gd name="adj" fmla="val 1998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387352" y="433387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787402" y="4381500"/>
            <a:ext cx="3171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白色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74529" y="4248150"/>
            <a:ext cx="977652" cy="476250"/>
          </a:xfrm>
          <a:prstGeom prst="roundRect">
            <a:avLst>
              <a:gd name="adj" fmla="val 1998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460254" y="433387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8B92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860304" y="4381500"/>
            <a:ext cx="3171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黄色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47431" y="4248150"/>
            <a:ext cx="977652" cy="476250"/>
          </a:xfrm>
          <a:prstGeom prst="roundRect">
            <a:avLst>
              <a:gd name="adj" fmla="val 1998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533156" y="433387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E5FA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33206" y="4381500"/>
            <a:ext cx="3171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蓝色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20333" y="4248150"/>
            <a:ext cx="977652" cy="476250"/>
          </a:xfrm>
          <a:prstGeom prst="roundRect">
            <a:avLst>
              <a:gd name="adj" fmla="val 1998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606058" y="433387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23B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006108" y="4381500"/>
            <a:ext cx="3171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红色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93235" y="4248150"/>
            <a:ext cx="1133177" cy="476250"/>
          </a:xfrm>
          <a:prstGeom prst="roundRect">
            <a:avLst>
              <a:gd name="adj" fmla="val 1998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678960" y="433387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88EA0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079010" y="4381500"/>
            <a:ext cx="47575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粉红色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61029" y="2257425"/>
            <a:ext cx="7674471" cy="2857500"/>
          </a:xfrm>
          <a:prstGeom prst="roundRect">
            <a:avLst>
              <a:gd name="adj" fmla="val 6667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9927729" y="2609850"/>
            <a:ext cx="72838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· PAIR DIALOGUE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9927729" y="2924175"/>
            <a:ext cx="7283893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</a:t>
            </a:r>
            <a:r>
              <a:rPr lang="en-US" sz="13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With a partner, perform Lesson 2's Find-Someone-Who dialogue from memory using Lesson 1's six colours (above).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927729" y="3548955"/>
            <a:ext cx="728389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</a:t>
            </a:r>
            <a:r>
              <a:rPr lang="en-US" sz="13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30 seconds each direction, then swap roles.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9927729" y="3899446"/>
            <a:ext cx="728389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35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</a:t>
            </a:r>
            <a:r>
              <a:rPr lang="en-US" sz="13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Cold call one pair to perform for the whole class.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952500" y="5324475"/>
            <a:ext cx="16383000" cy="538163"/>
          </a:xfrm>
          <a:prstGeom prst="rect">
            <a:avLst/>
          </a:prstGeom>
          <a:solidFill>
            <a:srgbClr val="B8402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976313" y="5324475"/>
            <a:ext cx="0" cy="538163"/>
          </a:xfrm>
          <a:prstGeom prst="line">
            <a:avLst/>
          </a:prstGeom>
          <a:noFill/>
          <a:ln w="47625">
            <a:solidFill>
              <a:srgbClr val="B840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28725" y="5457825"/>
            <a:ext cx="16195739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Connection:</a:t>
            </a:r>
            <a:r>
              <a:rPr lang="en-US" sz="14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"上节课我们学会了怎么问颜色。今天我们要学五个新颜色，然后用课文二的对话来练习问答。"</a:t>
            </a:r>
            <a:endParaRPr lang="en-US" sz="1425" dirty="0"/>
          </a:p>
        </p:txBody>
      </p:sp>
      <p:sp>
        <p:nvSpPr>
          <p:cNvPr id="39" name="Shape 3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9373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CORE COLOURS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051870" y="280988"/>
            <a:ext cx="35554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&amp; Success Criteria · 8–10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43000" y="1181100"/>
            <a:ext cx="163220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485900"/>
            <a:ext cx="1632204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学习目标 · Learning Intention &amp; Success Criteria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143000" y="2409825"/>
            <a:ext cx="16002000" cy="1162050"/>
          </a:xfrm>
          <a:prstGeom prst="roundRect">
            <a:avLst>
              <a:gd name="adj" fmla="val 16393"/>
            </a:avLst>
          </a:prstGeom>
          <a:solidFill>
            <a:srgbClr val="2E4B7A">
              <a:alpha val="10000"/>
            </a:srgbClr>
          </a:solidFill>
          <a:ln w="19050">
            <a:solidFill>
              <a:srgbClr val="2E4B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66850" y="2657475"/>
            <a:ext cx="156613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466850" y="2924175"/>
            <a:ext cx="1566138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five more colours in Chinese and performing the Text 2 dialogue about colour preferences.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143000" y="3895725"/>
            <a:ext cx="163220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SUCCESS CRITERIA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1143000" y="4248150"/>
            <a:ext cx="16002000" cy="1038225"/>
          </a:xfrm>
          <a:prstGeom prst="roundRect">
            <a:avLst>
              <a:gd name="adj" fmla="val 1100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381125" y="4448175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B840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952625" y="4448175"/>
            <a:ext cx="51297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能说五个新颜色：橙色、紫色、棕色、绿色、灰色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952625" y="4829175"/>
            <a:ext cx="512978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say five more colours: 橙色, 紫色, 棕色, 绿色, 灰色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43000" y="5438775"/>
            <a:ext cx="16002000" cy="1038225"/>
          </a:xfrm>
          <a:prstGeom prst="roundRect">
            <a:avLst>
              <a:gd name="adj" fmla="val 1100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381125" y="5638800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B840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952625" y="5638800"/>
            <a:ext cx="40140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能说"颜色"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952625" y="6019800"/>
            <a:ext cx="401402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say the word for "colour" on its own: 颜色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43000" y="6629400"/>
            <a:ext cx="16002000" cy="1038225"/>
          </a:xfrm>
          <a:prstGeom prst="roundRect">
            <a:avLst>
              <a:gd name="adj" fmla="val 1100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381125" y="6829425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B840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1952625" y="6829425"/>
            <a:ext cx="408718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能和同伴表演课文二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952625" y="7210425"/>
            <a:ext cx="408718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perform the Text 2 dialogue with a partner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9373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CORE COLOURS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051870" y="280988"/>
            <a:ext cx="25709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New Vocabulary · 10–20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1049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NEW VOCABULARY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390650"/>
            <a:ext cx="1671066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颜色 · 橙紫棕绿灰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952500" y="2124075"/>
            <a:ext cx="5384750" cy="1143000"/>
          </a:xfrm>
          <a:prstGeom prst="roundRect">
            <a:avLst>
              <a:gd name="adj" fmla="val 16667"/>
            </a:avLst>
          </a:prstGeom>
          <a:solidFill>
            <a:srgbClr val="B8402E">
              <a:alpha val="10000"/>
            </a:srgbClr>
          </a:solidFill>
          <a:ln w="9525">
            <a:solidFill>
              <a:srgbClr val="B840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14425" y="2514600"/>
            <a:ext cx="361950" cy="361950"/>
          </a:xfrm>
          <a:prstGeom prst="roundRect">
            <a:avLst>
              <a:gd name="adj" fmla="val 252632"/>
            </a:avLst>
          </a:prstGeom>
          <a:noFill/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590675" y="2247900"/>
            <a:ext cx="7772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颜(顏)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590675" y="26670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yán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590675" y="291465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colour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6451550" y="2124075"/>
            <a:ext cx="5384899" cy="1143000"/>
          </a:xfrm>
          <a:prstGeom prst="roundRect">
            <a:avLst>
              <a:gd name="adj" fmla="val 16667"/>
            </a:avLst>
          </a:prstGeom>
          <a:solidFill>
            <a:srgbClr val="B8402E">
              <a:alpha val="10000"/>
            </a:srgbClr>
          </a:solidFill>
          <a:ln w="9525">
            <a:solidFill>
              <a:srgbClr val="B840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613475" y="2514600"/>
            <a:ext cx="361950" cy="361950"/>
          </a:xfrm>
          <a:prstGeom prst="roundRect">
            <a:avLst>
              <a:gd name="adj" fmla="val 252632"/>
            </a:avLst>
          </a:prstGeom>
          <a:noFill/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089725" y="2247900"/>
            <a:ext cx="7772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颜色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7089725" y="26670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yánsè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7089725" y="291465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colour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11950750" y="2124075"/>
            <a:ext cx="5384750" cy="1143000"/>
          </a:xfrm>
          <a:prstGeom prst="roundRect">
            <a:avLst>
              <a:gd name="adj" fmla="val 16667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2112675" y="2514600"/>
            <a:ext cx="361950" cy="361950"/>
          </a:xfrm>
          <a:prstGeom prst="roundRect">
            <a:avLst>
              <a:gd name="adj" fmla="val 252632"/>
            </a:avLst>
          </a:prstGeom>
          <a:solidFill>
            <a:srgbClr val="D976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2588925" y="2247900"/>
            <a:ext cx="7772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橙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2588925" y="26670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chéng</a:t>
            </a:r>
            <a:endParaRPr lang="en-US" sz="1275" dirty="0"/>
          </a:p>
        </p:txBody>
      </p:sp>
      <p:sp>
        <p:nvSpPr>
          <p:cNvPr id="23" name="Text 21"/>
          <p:cNvSpPr/>
          <p:nvPr/>
        </p:nvSpPr>
        <p:spPr>
          <a:xfrm>
            <a:off x="12588925" y="291465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orange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952500" y="3381375"/>
            <a:ext cx="5384750" cy="1143000"/>
          </a:xfrm>
          <a:prstGeom prst="roundRect">
            <a:avLst>
              <a:gd name="adj" fmla="val 16667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114425" y="3771900"/>
            <a:ext cx="361950" cy="361950"/>
          </a:xfrm>
          <a:prstGeom prst="roundRect">
            <a:avLst>
              <a:gd name="adj" fmla="val 252632"/>
            </a:avLst>
          </a:prstGeom>
          <a:solidFill>
            <a:srgbClr val="D976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590675" y="3505200"/>
            <a:ext cx="11040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橙色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590675" y="3924300"/>
            <a:ext cx="1104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chéngsè</a:t>
            </a:r>
            <a:endParaRPr lang="en-US" sz="1275" dirty="0"/>
          </a:p>
        </p:txBody>
      </p:sp>
      <p:sp>
        <p:nvSpPr>
          <p:cNvPr id="28" name="Text 26"/>
          <p:cNvSpPr/>
          <p:nvPr/>
        </p:nvSpPr>
        <p:spPr>
          <a:xfrm>
            <a:off x="1590675" y="4171950"/>
            <a:ext cx="1104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orange colour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6451550" y="3381375"/>
            <a:ext cx="5384899" cy="1143000"/>
          </a:xfrm>
          <a:prstGeom prst="roundRect">
            <a:avLst>
              <a:gd name="adj" fmla="val 16667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613475" y="3771900"/>
            <a:ext cx="361950" cy="361950"/>
          </a:xfrm>
          <a:prstGeom prst="roundRect">
            <a:avLst>
              <a:gd name="adj" fmla="val 252632"/>
            </a:avLst>
          </a:prstGeom>
          <a:solidFill>
            <a:srgbClr val="7A4E9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089725" y="3505200"/>
            <a:ext cx="7772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紫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7089725" y="39243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zǐ</a:t>
            </a:r>
            <a:endParaRPr lang="en-US" sz="1275" dirty="0"/>
          </a:p>
        </p:txBody>
      </p:sp>
      <p:sp>
        <p:nvSpPr>
          <p:cNvPr id="33" name="Text 31"/>
          <p:cNvSpPr/>
          <p:nvPr/>
        </p:nvSpPr>
        <p:spPr>
          <a:xfrm>
            <a:off x="7089725" y="417195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purple</a:t>
            </a:r>
            <a:endParaRPr lang="en-US" sz="1275" dirty="0"/>
          </a:p>
        </p:txBody>
      </p:sp>
      <p:sp>
        <p:nvSpPr>
          <p:cNvPr id="34" name="Text 32"/>
          <p:cNvSpPr/>
          <p:nvPr/>
        </p:nvSpPr>
        <p:spPr>
          <a:xfrm>
            <a:off x="11950750" y="3381375"/>
            <a:ext cx="5384750" cy="1143000"/>
          </a:xfrm>
          <a:prstGeom prst="roundRect">
            <a:avLst>
              <a:gd name="adj" fmla="val 16667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2112675" y="3771900"/>
            <a:ext cx="361950" cy="361950"/>
          </a:xfrm>
          <a:prstGeom prst="roundRect">
            <a:avLst>
              <a:gd name="adj" fmla="val 252632"/>
            </a:avLst>
          </a:prstGeom>
          <a:solidFill>
            <a:srgbClr val="7A4E9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2588925" y="3505200"/>
            <a:ext cx="7772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紫色</a:t>
            </a:r>
            <a:endParaRPr lang="en-US" sz="2250" dirty="0"/>
          </a:p>
        </p:txBody>
      </p:sp>
      <p:sp>
        <p:nvSpPr>
          <p:cNvPr id="37" name="Text 35"/>
          <p:cNvSpPr/>
          <p:nvPr/>
        </p:nvSpPr>
        <p:spPr>
          <a:xfrm>
            <a:off x="12588925" y="39243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zǐsè</a:t>
            </a:r>
            <a:endParaRPr lang="en-US" sz="1275" dirty="0"/>
          </a:p>
        </p:txBody>
      </p:sp>
      <p:sp>
        <p:nvSpPr>
          <p:cNvPr id="38" name="Text 36"/>
          <p:cNvSpPr/>
          <p:nvPr/>
        </p:nvSpPr>
        <p:spPr>
          <a:xfrm>
            <a:off x="12588925" y="417195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purple</a:t>
            </a:r>
            <a:endParaRPr lang="en-US" sz="1275" dirty="0"/>
          </a:p>
        </p:txBody>
      </p:sp>
      <p:sp>
        <p:nvSpPr>
          <p:cNvPr id="39" name="Text 37"/>
          <p:cNvSpPr/>
          <p:nvPr/>
        </p:nvSpPr>
        <p:spPr>
          <a:xfrm>
            <a:off x="952500" y="4638675"/>
            <a:ext cx="5384750" cy="1143000"/>
          </a:xfrm>
          <a:prstGeom prst="roundRect">
            <a:avLst>
              <a:gd name="adj" fmla="val 16667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114425" y="5029200"/>
            <a:ext cx="361950" cy="361950"/>
          </a:xfrm>
          <a:prstGeom prst="roundRect">
            <a:avLst>
              <a:gd name="adj" fmla="val 252632"/>
            </a:avLst>
          </a:prstGeom>
          <a:solidFill>
            <a:srgbClr val="8A5A34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590675" y="4762500"/>
            <a:ext cx="7772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棕</a:t>
            </a:r>
            <a:endParaRPr lang="en-US" sz="2250" dirty="0"/>
          </a:p>
        </p:txBody>
      </p:sp>
      <p:sp>
        <p:nvSpPr>
          <p:cNvPr id="42" name="Text 40"/>
          <p:cNvSpPr/>
          <p:nvPr/>
        </p:nvSpPr>
        <p:spPr>
          <a:xfrm>
            <a:off x="1590675" y="51816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zōng</a:t>
            </a:r>
            <a:endParaRPr lang="en-US" sz="1275" dirty="0"/>
          </a:p>
        </p:txBody>
      </p:sp>
      <p:sp>
        <p:nvSpPr>
          <p:cNvPr id="43" name="Text 41"/>
          <p:cNvSpPr/>
          <p:nvPr/>
        </p:nvSpPr>
        <p:spPr>
          <a:xfrm>
            <a:off x="1590675" y="542925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brown</a:t>
            </a:r>
            <a:endParaRPr lang="en-US" sz="1275" dirty="0"/>
          </a:p>
        </p:txBody>
      </p:sp>
      <p:sp>
        <p:nvSpPr>
          <p:cNvPr id="44" name="Text 42"/>
          <p:cNvSpPr/>
          <p:nvPr/>
        </p:nvSpPr>
        <p:spPr>
          <a:xfrm>
            <a:off x="6451550" y="4638675"/>
            <a:ext cx="5384899" cy="1143000"/>
          </a:xfrm>
          <a:prstGeom prst="roundRect">
            <a:avLst>
              <a:gd name="adj" fmla="val 16667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613475" y="5029200"/>
            <a:ext cx="361950" cy="361950"/>
          </a:xfrm>
          <a:prstGeom prst="roundRect">
            <a:avLst>
              <a:gd name="adj" fmla="val 252632"/>
            </a:avLst>
          </a:prstGeom>
          <a:solidFill>
            <a:srgbClr val="8A5A34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089725" y="4762500"/>
            <a:ext cx="7772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棕色</a:t>
            </a:r>
            <a:endParaRPr lang="en-US" sz="2250" dirty="0"/>
          </a:p>
        </p:txBody>
      </p:sp>
      <p:sp>
        <p:nvSpPr>
          <p:cNvPr id="47" name="Text 45"/>
          <p:cNvSpPr/>
          <p:nvPr/>
        </p:nvSpPr>
        <p:spPr>
          <a:xfrm>
            <a:off x="7089725" y="51816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zōngsè</a:t>
            </a:r>
            <a:endParaRPr lang="en-US" sz="1275" dirty="0"/>
          </a:p>
        </p:txBody>
      </p:sp>
      <p:sp>
        <p:nvSpPr>
          <p:cNvPr id="48" name="Text 46"/>
          <p:cNvSpPr/>
          <p:nvPr/>
        </p:nvSpPr>
        <p:spPr>
          <a:xfrm>
            <a:off x="7089725" y="542925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brown</a:t>
            </a:r>
            <a:endParaRPr lang="en-US" sz="1275" dirty="0"/>
          </a:p>
        </p:txBody>
      </p:sp>
      <p:sp>
        <p:nvSpPr>
          <p:cNvPr id="49" name="Text 47"/>
          <p:cNvSpPr/>
          <p:nvPr/>
        </p:nvSpPr>
        <p:spPr>
          <a:xfrm>
            <a:off x="11950750" y="4638675"/>
            <a:ext cx="5384750" cy="1143000"/>
          </a:xfrm>
          <a:prstGeom prst="roundRect">
            <a:avLst>
              <a:gd name="adj" fmla="val 16667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12112675" y="5029200"/>
            <a:ext cx="361950" cy="361950"/>
          </a:xfrm>
          <a:prstGeom prst="roundRect">
            <a:avLst>
              <a:gd name="adj" fmla="val 252632"/>
            </a:avLst>
          </a:prstGeom>
          <a:solidFill>
            <a:srgbClr val="4C8A4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12588925" y="4762500"/>
            <a:ext cx="7772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绿(綠)</a:t>
            </a:r>
            <a:endParaRPr lang="en-US" sz="2250" dirty="0"/>
          </a:p>
        </p:txBody>
      </p:sp>
      <p:sp>
        <p:nvSpPr>
          <p:cNvPr id="52" name="Text 50"/>
          <p:cNvSpPr/>
          <p:nvPr/>
        </p:nvSpPr>
        <p:spPr>
          <a:xfrm>
            <a:off x="12588925" y="51816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lǜ</a:t>
            </a:r>
            <a:endParaRPr lang="en-US" sz="1275" dirty="0"/>
          </a:p>
        </p:txBody>
      </p:sp>
      <p:sp>
        <p:nvSpPr>
          <p:cNvPr id="53" name="Text 51"/>
          <p:cNvSpPr/>
          <p:nvPr/>
        </p:nvSpPr>
        <p:spPr>
          <a:xfrm>
            <a:off x="12588925" y="542925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green</a:t>
            </a:r>
            <a:endParaRPr lang="en-US" sz="1275" dirty="0"/>
          </a:p>
        </p:txBody>
      </p:sp>
      <p:sp>
        <p:nvSpPr>
          <p:cNvPr id="54" name="Text 52"/>
          <p:cNvSpPr/>
          <p:nvPr/>
        </p:nvSpPr>
        <p:spPr>
          <a:xfrm>
            <a:off x="952500" y="5895975"/>
            <a:ext cx="5384750" cy="1143000"/>
          </a:xfrm>
          <a:prstGeom prst="roundRect">
            <a:avLst>
              <a:gd name="adj" fmla="val 16667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1114425" y="6286500"/>
            <a:ext cx="361950" cy="361950"/>
          </a:xfrm>
          <a:prstGeom prst="roundRect">
            <a:avLst>
              <a:gd name="adj" fmla="val 252632"/>
            </a:avLst>
          </a:prstGeom>
          <a:solidFill>
            <a:srgbClr val="4C8A4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1590675" y="6019800"/>
            <a:ext cx="7772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绿色</a:t>
            </a:r>
            <a:endParaRPr lang="en-US" sz="2250" dirty="0"/>
          </a:p>
        </p:txBody>
      </p:sp>
      <p:sp>
        <p:nvSpPr>
          <p:cNvPr id="57" name="Text 55"/>
          <p:cNvSpPr/>
          <p:nvPr/>
        </p:nvSpPr>
        <p:spPr>
          <a:xfrm>
            <a:off x="1590675" y="64389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lǜsè</a:t>
            </a:r>
            <a:endParaRPr lang="en-US" sz="1275" dirty="0"/>
          </a:p>
        </p:txBody>
      </p:sp>
      <p:sp>
        <p:nvSpPr>
          <p:cNvPr id="58" name="Text 56"/>
          <p:cNvSpPr/>
          <p:nvPr/>
        </p:nvSpPr>
        <p:spPr>
          <a:xfrm>
            <a:off x="1590675" y="668655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green</a:t>
            </a:r>
            <a:endParaRPr lang="en-US" sz="1275" dirty="0"/>
          </a:p>
        </p:txBody>
      </p:sp>
      <p:sp>
        <p:nvSpPr>
          <p:cNvPr id="59" name="Text 57"/>
          <p:cNvSpPr/>
          <p:nvPr/>
        </p:nvSpPr>
        <p:spPr>
          <a:xfrm>
            <a:off x="6451550" y="5895975"/>
            <a:ext cx="5384899" cy="1143000"/>
          </a:xfrm>
          <a:prstGeom prst="roundRect">
            <a:avLst>
              <a:gd name="adj" fmla="val 16667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6613475" y="6286500"/>
            <a:ext cx="361950" cy="361950"/>
          </a:xfrm>
          <a:prstGeom prst="roundRect">
            <a:avLst>
              <a:gd name="adj" fmla="val 252632"/>
            </a:avLst>
          </a:prstGeom>
          <a:solidFill>
            <a:srgbClr val="9A9A94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7089725" y="6019800"/>
            <a:ext cx="7772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灰</a:t>
            </a:r>
            <a:endParaRPr lang="en-US" sz="2250" dirty="0"/>
          </a:p>
        </p:txBody>
      </p:sp>
      <p:sp>
        <p:nvSpPr>
          <p:cNvPr id="62" name="Text 60"/>
          <p:cNvSpPr/>
          <p:nvPr/>
        </p:nvSpPr>
        <p:spPr>
          <a:xfrm>
            <a:off x="7089725" y="64389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huī</a:t>
            </a:r>
            <a:endParaRPr lang="en-US" sz="1275" dirty="0"/>
          </a:p>
        </p:txBody>
      </p:sp>
      <p:sp>
        <p:nvSpPr>
          <p:cNvPr id="63" name="Text 61"/>
          <p:cNvSpPr/>
          <p:nvPr/>
        </p:nvSpPr>
        <p:spPr>
          <a:xfrm>
            <a:off x="7089725" y="668655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grey</a:t>
            </a:r>
            <a:endParaRPr lang="en-US" sz="1275" dirty="0"/>
          </a:p>
        </p:txBody>
      </p:sp>
      <p:sp>
        <p:nvSpPr>
          <p:cNvPr id="64" name="Text 62"/>
          <p:cNvSpPr/>
          <p:nvPr/>
        </p:nvSpPr>
        <p:spPr>
          <a:xfrm>
            <a:off x="11950750" y="5895975"/>
            <a:ext cx="5384750" cy="1143000"/>
          </a:xfrm>
          <a:prstGeom prst="roundRect">
            <a:avLst>
              <a:gd name="adj" fmla="val 16667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12112675" y="6286500"/>
            <a:ext cx="361950" cy="361950"/>
          </a:xfrm>
          <a:prstGeom prst="roundRect">
            <a:avLst>
              <a:gd name="adj" fmla="val 252632"/>
            </a:avLst>
          </a:prstGeom>
          <a:solidFill>
            <a:srgbClr val="9A9A94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12588925" y="6019800"/>
            <a:ext cx="7772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灰色</a:t>
            </a:r>
            <a:endParaRPr lang="en-US" sz="2250" dirty="0"/>
          </a:p>
        </p:txBody>
      </p:sp>
      <p:sp>
        <p:nvSpPr>
          <p:cNvPr id="67" name="Text 65"/>
          <p:cNvSpPr/>
          <p:nvPr/>
        </p:nvSpPr>
        <p:spPr>
          <a:xfrm>
            <a:off x="12588925" y="64389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huīsè</a:t>
            </a:r>
            <a:endParaRPr lang="en-US" sz="1275" dirty="0"/>
          </a:p>
        </p:txBody>
      </p:sp>
      <p:sp>
        <p:nvSpPr>
          <p:cNvPr id="68" name="Text 66"/>
          <p:cNvSpPr/>
          <p:nvPr/>
        </p:nvSpPr>
        <p:spPr>
          <a:xfrm>
            <a:off x="12588925" y="668655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grey</a:t>
            </a:r>
            <a:endParaRPr lang="en-US" sz="1275" dirty="0"/>
          </a:p>
        </p:txBody>
      </p:sp>
      <p:sp>
        <p:nvSpPr>
          <p:cNvPr id="69" name="Text 67"/>
          <p:cNvSpPr/>
          <p:nvPr/>
        </p:nvSpPr>
        <p:spPr>
          <a:xfrm>
            <a:off x="952500" y="7210425"/>
            <a:ext cx="16383000" cy="540990"/>
          </a:xfrm>
          <a:prstGeom prst="roundRect">
            <a:avLst>
              <a:gd name="adj" fmla="val 21128"/>
            </a:avLst>
          </a:prstGeom>
          <a:solidFill>
            <a:srgbClr val="2E4B7A">
              <a:alpha val="10000"/>
            </a:srgbClr>
          </a:solidFill>
          <a:ln w="19050">
            <a:solidFill>
              <a:srgbClr val="2E4B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1200150" y="7362825"/>
            <a:ext cx="10337596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Point out:</a:t>
            </a: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20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颜色</a:t>
            </a: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on its own means "colour" (the general noun) — it's what you ask about: 你喜欢什么</a:t>
            </a:r>
            <a:r>
              <a:rPr lang="en-US" sz="120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颜色</a:t>
            </a: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？literally "you like what colour?"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9373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CORE COLOURS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051870" y="280988"/>
            <a:ext cx="25474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Text 2 Dialogue · 10–20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1049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KEY TEXT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390650"/>
            <a:ext cx="167106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课文二 · Text 2 Dialogue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952500" y="20574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p.100, CD T63 — read aloud once (teacher only), then choral read together with both roles.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52500" y="2457450"/>
            <a:ext cx="16383000" cy="3019425"/>
          </a:xfrm>
          <a:prstGeom prst="roundRect">
            <a:avLst>
              <a:gd name="adj" fmla="val 8833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85875" y="2800350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394966" y="2857500"/>
            <a:ext cx="1077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62125" y="2714625"/>
            <a:ext cx="23317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你喜欢什么颜色？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85875" y="3324225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2E4B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399133" y="3381375"/>
            <a:ext cx="992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62125" y="3238500"/>
            <a:ext cx="43719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我喜欢橙色、紫色、棕色和绿色。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285875" y="3848100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394966" y="3905250"/>
            <a:ext cx="1077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62125" y="3762375"/>
            <a:ext cx="20402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你喜欢灰色吗？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285875" y="4371975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2E4B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399133" y="4429125"/>
            <a:ext cx="992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62125" y="4286250"/>
            <a:ext cx="11658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不喜欢。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285875" y="4895850"/>
            <a:ext cx="323850" cy="323850"/>
          </a:xfrm>
          <a:prstGeom prst="roundRect">
            <a:avLst>
              <a:gd name="adj" fmla="val 282353"/>
            </a:avLst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394966" y="4953000"/>
            <a:ext cx="1077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762125" y="4810125"/>
            <a:ext cx="17487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我也不喜欢。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952500" y="5686425"/>
            <a:ext cx="167106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COMPREHENSION QUESTIONS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952500" y="6000750"/>
            <a:ext cx="16383000" cy="552450"/>
          </a:xfrm>
          <a:prstGeom prst="roundRect">
            <a:avLst>
              <a:gd name="adj" fmla="val 20690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162050" y="6134100"/>
            <a:ext cx="1628317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1.</a:t>
            </a:r>
            <a:r>
              <a:rPr lang="en-US" sz="165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B喜欢哪几个颜色？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52500" y="6667500"/>
            <a:ext cx="16383000" cy="552450"/>
          </a:xfrm>
          <a:prstGeom prst="roundRect">
            <a:avLst>
              <a:gd name="adj" fmla="val 20690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162050" y="6800850"/>
            <a:ext cx="1628317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2.</a:t>
            </a:r>
            <a:r>
              <a:rPr lang="en-US" sz="165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A和B都喜欢灰色吗？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9373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CORE COLOURS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051870" y="280988"/>
            <a:ext cx="17739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Text 2 Answers ↳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1049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409700"/>
            <a:ext cx="1671066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Text 2 Comprehension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952500" y="2295525"/>
            <a:ext cx="16383000" cy="1495425"/>
          </a:xfrm>
          <a:prstGeom prst="roundRect">
            <a:avLst>
              <a:gd name="adj" fmla="val 1273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287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91692" y="2600325"/>
            <a:ext cx="950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876425" y="2533650"/>
            <a:ext cx="154865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B喜欢哪几个颜色？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1876425" y="2895600"/>
            <a:ext cx="4824413" cy="657225"/>
          </a:xfrm>
          <a:prstGeom prst="roundRect">
            <a:avLst>
              <a:gd name="adj" fmla="val 17391"/>
            </a:avLst>
          </a:prstGeom>
          <a:solidFill>
            <a:srgbClr val="B8862E">
              <a:alpha val="12000"/>
            </a:srgbClr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105025" y="3100388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D976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447925" y="3100388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7A4E9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790825" y="3100388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8A5A34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133725" y="3100388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4C8A4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76625" y="3048000"/>
            <a:ext cx="305552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</a:t>
            </a:r>
            <a:r>
              <a:rPr lang="en-US" sz="195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橙色、紫色、棕色、绿色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52500" y="4000500"/>
            <a:ext cx="16383000" cy="1495425"/>
          </a:xfrm>
          <a:prstGeom prst="roundRect">
            <a:avLst>
              <a:gd name="adj" fmla="val 1273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228725" y="4238625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372642" y="4305300"/>
            <a:ext cx="1338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876425" y="4238625"/>
            <a:ext cx="154865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A和B都喜欢灰色吗？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1876425" y="4600575"/>
            <a:ext cx="2995315" cy="657225"/>
          </a:xfrm>
          <a:prstGeom prst="roundRect">
            <a:avLst>
              <a:gd name="adj" fmla="val 17391"/>
            </a:avLst>
          </a:prstGeom>
          <a:solidFill>
            <a:srgbClr val="B8862E">
              <a:alpha val="12000"/>
            </a:srgbClr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105025" y="4752975"/>
            <a:ext cx="258887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</a:t>
            </a:r>
            <a:r>
              <a:rPr lang="en-US" sz="195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都不喜欢 </a:t>
            </a:r>
            <a:r>
              <a:rPr lang="en-US" sz="1200" dirty="0">
                <a:solidFill>
                  <a:srgbClr val="5C56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 both dislike it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9373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CORE COLOURS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051870" y="280988"/>
            <a:ext cx="26623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Checkpoints · 10–20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1049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CHECK FOR UNDERSTANDING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409700"/>
            <a:ext cx="1671066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检查理解 · CFU Checkpoints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952500" y="2257425"/>
            <a:ext cx="5334000" cy="3067645"/>
          </a:xfrm>
          <a:prstGeom prst="roundRect">
            <a:avLst>
              <a:gd name="adj" fmla="val 8694"/>
            </a:avLst>
          </a:prstGeom>
          <a:solidFill>
            <a:srgbClr val="B8402E">
              <a:alpha val="10000"/>
            </a:srgbClr>
          </a:solidFill>
          <a:ln w="9525">
            <a:solidFill>
              <a:srgbClr val="B840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906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55378" y="26098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90625" y="3086100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GESTURE CHECK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190625" y="3390900"/>
            <a:ext cx="49549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绿色 = "Green"?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90625" y="3838575"/>
            <a:ext cx="4954905" cy="752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says: </a:t>
            </a: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"Thumbs up if 绿色 means green."</a:t>
            </a:r>
            <a:endParaRPr lang="en-US" sz="1275" dirty="0"/>
          </a:p>
          <a:p>
            <a:pPr algn="l" indent="0" marL="0">
              <a:lnSpc>
                <a:spcPts val="1976"/>
              </a:lnSpc>
              <a:buNone/>
            </a:pPr>
            <a:endParaRPr lang="en-US" sz="1275" dirty="0"/>
          </a:p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Every student shows a thumbs-up or thumbs-down.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6477000" y="2257425"/>
            <a:ext cx="5334000" cy="3067645"/>
          </a:xfrm>
          <a:prstGeom prst="roundRect">
            <a:avLst>
              <a:gd name="adj" fmla="val 8694"/>
            </a:avLst>
          </a:prstGeom>
          <a:solidFill>
            <a:srgbClr val="2E4B7A">
              <a:alpha val="10000"/>
            </a:srgbClr>
          </a:solidFill>
          <a:ln w="9525">
            <a:solidFill>
              <a:srgbClr val="2E4B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7151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2E4B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879878" y="26098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15125" y="3086100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6715125" y="3390900"/>
            <a:ext cx="49549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Write "Purple"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15125" y="3838575"/>
            <a:ext cx="4954905" cy="110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asks: </a:t>
            </a: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"Write 'purple' in Chinese."</a:t>
            </a:r>
            <a:endParaRPr lang="en-US" sz="1275" dirty="0"/>
          </a:p>
          <a:p>
            <a:pPr algn="l" indent="0" marL="0">
              <a:lnSpc>
                <a:spcPts val="2790"/>
              </a:lnSpc>
              <a:buNone/>
            </a:pPr>
            <a:endParaRPr lang="en-US" sz="1275" dirty="0"/>
          </a:p>
          <a:p>
            <a:pPr algn="l" indent="0" marL="0">
              <a:lnSpc>
                <a:spcPts val="2790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Students write </a:t>
            </a:r>
            <a:endParaRPr lang="en-US" sz="1275" dirty="0"/>
          </a:p>
          <a:p>
            <a:pPr algn="l" indent="0" marL="0">
              <a:lnSpc>
                <a:spcPts val="2790"/>
              </a:lnSpc>
              <a:buNone/>
            </a:pPr>
            <a:r>
              <a:rPr lang="en-US" sz="1800" b="1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紫色</a:t>
            </a: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on their mini whiteboards and hold up on three: "一、二、三，举起来！"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12001500" y="2257425"/>
            <a:ext cx="5334000" cy="3067645"/>
          </a:xfrm>
          <a:prstGeom prst="roundRect">
            <a:avLst>
              <a:gd name="adj" fmla="val 8694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22396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2404378" y="26098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239625" y="3086100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2239625" y="3390900"/>
            <a:ext cx="49549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Rapid Translation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239625" y="3838575"/>
            <a:ext cx="4954905" cy="1210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asks individual students, in order:</a:t>
            </a:r>
            <a:endParaRPr lang="en-US" sz="1275" dirty="0"/>
          </a:p>
          <a:p>
            <a:pPr algn="l" indent="0" marL="0">
              <a:lnSpc>
                <a:spcPts val="2790"/>
              </a:lnSpc>
              <a:buNone/>
            </a:pPr>
            <a:endParaRPr lang="en-US" sz="1275" dirty="0"/>
          </a:p>
          <a:p>
            <a:pPr algn="l" indent="0" marL="0">
              <a:lnSpc>
                <a:spcPts val="2790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"Sam, how do you say </a:t>
            </a:r>
            <a:endParaRPr lang="en-US" sz="1275" dirty="0"/>
          </a:p>
          <a:p>
            <a:pPr algn="l" indent="0" marL="0">
              <a:lnSpc>
                <a:spcPts val="2790"/>
              </a:lnSpc>
              <a:buNone/>
            </a:pPr>
            <a:r>
              <a:rPr lang="en-US" sz="1800" b="1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'brown'</a:t>
            </a: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Chinese?"</a:t>
            </a:r>
            <a:endParaRPr lang="en-US" sz="1275" dirty="0"/>
          </a:p>
          <a:p>
            <a:pPr algn="l" indent="0" marL="0">
              <a:lnSpc>
                <a:spcPts val="2790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"Mia, </a:t>
            </a:r>
            <a:endParaRPr lang="en-US" sz="1275" dirty="0"/>
          </a:p>
          <a:p>
            <a:pPr algn="l" indent="0" marL="0">
              <a:lnSpc>
                <a:spcPts val="2790"/>
              </a:lnSpc>
              <a:buNone/>
            </a:pPr>
            <a:r>
              <a:rPr lang="en-US" sz="1800" b="1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'orange'</a:t>
            </a: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呢？"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952500" y="5515570"/>
            <a:ext cx="16383000" cy="476250"/>
          </a:xfrm>
          <a:prstGeom prst="roundRect">
            <a:avLst>
              <a:gd name="adj" fmla="val 24000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190625" y="5639395"/>
            <a:ext cx="162248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note:</a:t>
            </a: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Aim for 100% participation on checks 1 and 2. For cold call, pre-identify 4–5 students who need a stretch — give them 棕色 and 橙色 in full sentences, not just single words.</a:t>
            </a:r>
            <a:endParaRPr lang="en-US" sz="1275" dirty="0"/>
          </a:p>
        </p:txBody>
      </p:sp>
      <p:sp>
        <p:nvSpPr>
          <p:cNvPr id="29" name="Shape 2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9373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CORE COLOURS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051870" y="280988"/>
            <a:ext cx="16249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Answers ↳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1049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409700"/>
            <a:ext cx="1671066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CFU Checkpoints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952500" y="2295525"/>
            <a:ext cx="16383000" cy="1466850"/>
          </a:xfrm>
          <a:prstGeom prst="roundRect">
            <a:avLst>
              <a:gd name="adj" fmla="val 12987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287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91692" y="2600325"/>
            <a:ext cx="950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876425" y="2533650"/>
            <a:ext cx="15486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Gesture Check — 绿色的意思是"green"，对不对？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876425" y="2867025"/>
            <a:ext cx="2947988" cy="657225"/>
          </a:xfrm>
          <a:prstGeom prst="roundRect">
            <a:avLst>
              <a:gd name="adj" fmla="val 17391"/>
            </a:avLst>
          </a:prstGeom>
          <a:solidFill>
            <a:srgbClr val="B8862E">
              <a:alpha val="12000"/>
            </a:srgbClr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105025" y="3071813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4C8A4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466975" y="3019425"/>
            <a:ext cx="217141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👍 对！绿色 = green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52500" y="3952875"/>
            <a:ext cx="16383000" cy="1466850"/>
          </a:xfrm>
          <a:prstGeom prst="roundRect">
            <a:avLst>
              <a:gd name="adj" fmla="val 12987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28725" y="419100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372642" y="4257675"/>
            <a:ext cx="1338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876425" y="4191000"/>
            <a:ext cx="15486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 — Write "purple" in Chinese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876425" y="4524375"/>
            <a:ext cx="2074813" cy="657225"/>
          </a:xfrm>
          <a:prstGeom prst="roundRect">
            <a:avLst>
              <a:gd name="adj" fmla="val 17391"/>
            </a:avLst>
          </a:prstGeom>
          <a:solidFill>
            <a:srgbClr val="B8862E">
              <a:alpha val="12000"/>
            </a:srgbClr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105025" y="4729163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7A4E9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466975" y="4676775"/>
            <a:ext cx="128077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 紫色 </a:t>
            </a:r>
            <a:r>
              <a:rPr lang="en-US" sz="1200" dirty="0">
                <a:solidFill>
                  <a:srgbClr val="5C564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(zǐsè)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52500" y="5610225"/>
            <a:ext cx="16383000" cy="1743075"/>
          </a:xfrm>
          <a:prstGeom prst="roundRect">
            <a:avLst>
              <a:gd name="adj" fmla="val 1092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228725" y="58483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372046" y="5915025"/>
            <a:ext cx="13495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876425" y="5848350"/>
            <a:ext cx="15486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— "brown" / "orange" 用中文怎么说？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876425" y="6181725"/>
            <a:ext cx="2852738" cy="657225"/>
          </a:xfrm>
          <a:prstGeom prst="roundRect">
            <a:avLst>
              <a:gd name="adj" fmla="val 17391"/>
            </a:avLst>
          </a:prstGeom>
          <a:solidFill>
            <a:srgbClr val="B8862E">
              <a:alpha val="12000"/>
            </a:srgbClr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105025" y="6386513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8A5A34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466975" y="6386513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D976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828925" y="6334125"/>
            <a:ext cx="170507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 棕色 · 橙色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876425" y="6915150"/>
            <a:ext cx="154865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brown = 棕色 (zōngsè)  |  orange = 橙色 (chéngsè)</a:t>
            </a:r>
            <a:endParaRPr lang="en-US" sz="1125" dirty="0"/>
          </a:p>
        </p:txBody>
      </p:sp>
      <p:sp>
        <p:nvSpPr>
          <p:cNvPr id="32" name="Shape 30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9373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CORE COLOURS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051870" y="280988"/>
            <a:ext cx="30541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→ You Do · Activity 1 · 20–30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1430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20–30 MIN · FLEXIBLE PRACTICE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428750"/>
            <a:ext cx="167106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活动一 · Dialogue Performance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952500" y="2190750"/>
            <a:ext cx="16383000" cy="4995863"/>
          </a:xfrm>
          <a:prstGeom prst="roundRect">
            <a:avLst>
              <a:gd name="adj" fmla="val 3813"/>
            </a:avLst>
          </a:prstGeom>
          <a:solidFill>
            <a:srgbClr val="F3EEE4"/>
          </a:solidFill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38250" y="2076450"/>
            <a:ext cx="2411164" cy="266700"/>
          </a:xfrm>
          <a:prstGeom prst="roundRect">
            <a:avLst>
              <a:gd name="adj" fmla="val 3567857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409700" y="2114550"/>
            <a:ext cx="21096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→ YOU DO · 10 MIN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352550" y="2590800"/>
            <a:ext cx="7677150" cy="1657350"/>
          </a:xfrm>
          <a:prstGeom prst="roundRect">
            <a:avLst>
              <a:gd name="adj" fmla="val 11494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581150" y="2914650"/>
            <a:ext cx="73643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581150" y="3200400"/>
            <a:ext cx="73643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pairs, students perform the Text 2 dialogue, then swap it out — Student B must list a </a:t>
            </a:r>
            <a:r>
              <a:rPr lang="en-US" sz="1200" b="1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different</a:t>
            </a: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combination of colours than the textbook (using any of the 11 colours learned so far across Lessons 1–3), and Student A asks about a different colour for the yes/no question.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258300" y="2590800"/>
            <a:ext cx="7677150" cy="1657350"/>
          </a:xfrm>
          <a:prstGeom prst="roundRect">
            <a:avLst>
              <a:gd name="adj" fmla="val 11494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486900" y="2914650"/>
            <a:ext cx="73643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486900" y="3200400"/>
            <a:ext cx="73643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</a:t>
            </a: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Model the swapped version once with a volunteer (see below).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486900" y="3486150"/>
            <a:ext cx="73643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</a:t>
            </a: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Pairs rehearse (2 min).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86900" y="3771900"/>
            <a:ext cx="73643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</a:t>
            </a: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Perform for a neighbouring pair.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52550" y="4381500"/>
            <a:ext cx="15582900" cy="814388"/>
          </a:xfrm>
          <a:prstGeom prst="rect">
            <a:avLst/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1376363" y="4381500"/>
            <a:ext cx="0" cy="814388"/>
          </a:xfrm>
          <a:prstGeom prst="line">
            <a:avLst/>
          </a:prstGeom>
          <a:noFill/>
          <a:ln w="47625">
            <a:solidFill>
              <a:srgbClr val="B840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28775" y="4533900"/>
            <a:ext cx="153796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 — SWAPPED VERSION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28775" y="4772025"/>
            <a:ext cx="15379636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"你喜欢什么颜色？" "我喜欢黑色、红色和绿色。" "你喜欢棕色吗？" "不喜欢。" "我也不喜欢。"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1352550" y="5329238"/>
            <a:ext cx="15582900" cy="409575"/>
          </a:xfrm>
          <a:prstGeom prst="roundRect">
            <a:avLst>
              <a:gd name="adj" fmla="val 27907"/>
            </a:avLst>
          </a:prstGeom>
          <a:solidFill>
            <a:srgbClr val="C2564A">
              <a:alpha val="10000"/>
            </a:srgbClr>
          </a:solidFill>
          <a:ln w="9525">
            <a:solidFill>
              <a:srgbClr val="C256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552575" y="5434013"/>
            <a:ext cx="154865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OTR:</a:t>
            </a: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Every student speaks both roles (swap after first performance).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1352550" y="5967413"/>
            <a:ext cx="5092601" cy="819150"/>
          </a:xfrm>
          <a:prstGeom prst="roundRect">
            <a:avLst>
              <a:gd name="adj" fmla="val 13953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504950" y="6081713"/>
            <a:ext cx="48835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1504950" y="6272213"/>
            <a:ext cx="488355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Colour word bank (all 11 words with pinyin) on the board throughout.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6597551" y="5967413"/>
            <a:ext cx="5092750" cy="819150"/>
          </a:xfrm>
          <a:prstGeom prst="roundRect">
            <a:avLst>
              <a:gd name="adj" fmla="val 13953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749951" y="6081713"/>
            <a:ext cx="48837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6749951" y="6272213"/>
            <a:ext cx="488370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a third exchange of their own invention using 我也喜欢 (agreement) instead of disagreement.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11842700" y="5967413"/>
            <a:ext cx="5092750" cy="819150"/>
          </a:xfrm>
          <a:prstGeom prst="roundRect">
            <a:avLst>
              <a:gd name="adj" fmla="val 13953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1995100" y="6081713"/>
            <a:ext cx="48837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PAIRS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11995100" y="6272213"/>
            <a:ext cx="48837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Rehearse 2 min, then perform for a neighbouring pair.</a:t>
            </a:r>
            <a:endParaRPr lang="en-US" sz="1125" dirty="0"/>
          </a:p>
        </p:txBody>
      </p:sp>
      <p:sp>
        <p:nvSpPr>
          <p:cNvPr id="35" name="Shape 33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9373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CORE COLOURS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051870" y="280988"/>
            <a:ext cx="2358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Activity 2 · 30–38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1430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30–38 MIN · FLEXIBLE PRACTICE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428750"/>
            <a:ext cx="167106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活动二 · New Word Copying + Sentence Writing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952500" y="2190750"/>
            <a:ext cx="742950" cy="685800"/>
          </a:xfrm>
          <a:prstGeom prst="roundRect">
            <a:avLst>
              <a:gd name="adj" fmla="val 16667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52525" y="2295525"/>
            <a:ext cx="34975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颜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828800" y="2190750"/>
            <a:ext cx="742950" cy="685800"/>
          </a:xfrm>
          <a:prstGeom prst="roundRect">
            <a:avLst>
              <a:gd name="adj" fmla="val 16667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028825" y="2295525"/>
            <a:ext cx="34975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橙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2705100" y="2190750"/>
            <a:ext cx="742950" cy="685800"/>
          </a:xfrm>
          <a:prstGeom prst="roundRect">
            <a:avLst>
              <a:gd name="adj" fmla="val 16667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905125" y="2295525"/>
            <a:ext cx="34975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紫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3581400" y="2190750"/>
            <a:ext cx="742950" cy="685800"/>
          </a:xfrm>
          <a:prstGeom prst="roundRect">
            <a:avLst>
              <a:gd name="adj" fmla="val 16667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781425" y="2295525"/>
            <a:ext cx="34975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棕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457700" y="2190750"/>
            <a:ext cx="742950" cy="685800"/>
          </a:xfrm>
          <a:prstGeom prst="roundRect">
            <a:avLst>
              <a:gd name="adj" fmla="val 16667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657725" y="2295525"/>
            <a:ext cx="34975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绿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5334000" y="2190750"/>
            <a:ext cx="742950" cy="685800"/>
          </a:xfrm>
          <a:prstGeom prst="roundRect">
            <a:avLst>
              <a:gd name="adj" fmla="val 16667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534025" y="2295525"/>
            <a:ext cx="34975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灰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952500" y="3048000"/>
            <a:ext cx="16383000" cy="4857750"/>
          </a:xfrm>
          <a:prstGeom prst="roundRect">
            <a:avLst>
              <a:gd name="adj" fmla="val 3922"/>
            </a:avLst>
          </a:prstGeom>
          <a:solidFill>
            <a:srgbClr val="F3EEE4"/>
          </a:solidFill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238250" y="2933700"/>
            <a:ext cx="1576388" cy="266700"/>
          </a:xfrm>
          <a:prstGeom prst="roundRect">
            <a:avLst>
              <a:gd name="adj" fmla="val 3567857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409700" y="2971800"/>
            <a:ext cx="125815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8 MIN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352550" y="3448050"/>
            <a:ext cx="7677150" cy="1657350"/>
          </a:xfrm>
          <a:prstGeom prst="roundRect">
            <a:avLst>
              <a:gd name="adj" fmla="val 11494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581150" y="3771900"/>
            <a:ext cx="73643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581150" y="4057650"/>
            <a:ext cx="73643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copy the six new words into their books (workbook Ex.15 style), then write 2 original sentences: one using 我喜欢 with two of today's colours, one using 我不喜欢 with one.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258300" y="3448050"/>
            <a:ext cx="7677150" cy="1657350"/>
          </a:xfrm>
          <a:prstGeom prst="roundRect">
            <a:avLst>
              <a:gd name="adj" fmla="val 11494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486900" y="3771900"/>
            <a:ext cx="73643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486900" y="4057650"/>
            <a:ext cx="73643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</a:t>
            </a: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Project stroke order for 颜, 橙, 紫, 棕, 绿, 灰.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486900" y="4343400"/>
            <a:ext cx="73643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</a:t>
            </a: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Students copy each 3 times, then write their two sentences independently.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486900" y="4629150"/>
            <a:ext cx="73643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</a:t>
            </a: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Cold call 2–3 students to read a sentence aloud.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352550" y="5181600"/>
            <a:ext cx="15582900" cy="733425"/>
          </a:xfrm>
          <a:prstGeom prst="rect">
            <a:avLst/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1376363" y="5181600"/>
            <a:ext cx="0" cy="733425"/>
          </a:xfrm>
          <a:prstGeom prst="line">
            <a:avLst/>
          </a:prstGeom>
          <a:noFill/>
          <a:ln w="47625">
            <a:solidFill>
              <a:srgbClr val="B840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28775" y="5334000"/>
            <a:ext cx="1537963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我(不)喜欢</a:t>
            </a:r>
            <a:r>
              <a:rPr lang="en-US" sz="240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</a:t>
            </a:r>
            <a:r>
              <a:rPr lang="en-US" sz="240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352550" y="6048375"/>
            <a:ext cx="15582900" cy="409575"/>
          </a:xfrm>
          <a:prstGeom prst="roundRect">
            <a:avLst>
              <a:gd name="adj" fmla="val 27907"/>
            </a:avLst>
          </a:prstGeom>
          <a:solidFill>
            <a:srgbClr val="C2564A">
              <a:alpha val="10000"/>
            </a:srgbClr>
          </a:solidFill>
          <a:ln w="9525">
            <a:solidFill>
              <a:srgbClr val="C256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552575" y="6153150"/>
            <a:ext cx="154865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OTR:</a:t>
            </a: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All students complete the copying and both sentences; cold call samples the room.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1352550" y="6686550"/>
            <a:ext cx="5092601" cy="819150"/>
          </a:xfrm>
          <a:prstGeom prst="roundRect">
            <a:avLst>
              <a:gd name="adj" fmla="val 13953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504950" y="6800850"/>
            <a:ext cx="48835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1504950" y="6991350"/>
            <a:ext cx="488355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frame: 我(不)喜欢____和____。</a:t>
            </a:r>
            <a:endParaRPr lang="en-US" sz="1125" dirty="0"/>
          </a:p>
        </p:txBody>
      </p:sp>
      <p:sp>
        <p:nvSpPr>
          <p:cNvPr id="40" name="Text 38"/>
          <p:cNvSpPr/>
          <p:nvPr/>
        </p:nvSpPr>
        <p:spPr>
          <a:xfrm>
            <a:off x="6597551" y="6686550"/>
            <a:ext cx="5092750" cy="819150"/>
          </a:xfrm>
          <a:prstGeom prst="roundRect">
            <a:avLst>
              <a:gd name="adj" fmla="val 13953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749951" y="6800850"/>
            <a:ext cx="48837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6749951" y="6991350"/>
            <a:ext cx="488370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a third sentence combining all 11 colours learned so far into one list using 、 correctly (comma convention from Text 2).</a:t>
            </a:r>
            <a:endParaRPr lang="en-US" sz="1125" dirty="0"/>
          </a:p>
        </p:txBody>
      </p:sp>
      <p:sp>
        <p:nvSpPr>
          <p:cNvPr id="43" name="Text 41"/>
          <p:cNvSpPr/>
          <p:nvPr/>
        </p:nvSpPr>
        <p:spPr>
          <a:xfrm>
            <a:off x="11842700" y="6686550"/>
            <a:ext cx="5092750" cy="819150"/>
          </a:xfrm>
          <a:prstGeom prst="roundRect">
            <a:avLst>
              <a:gd name="adj" fmla="val 13953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1995100" y="6800850"/>
            <a:ext cx="48837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MATERIALS</a:t>
            </a:r>
            <a:endParaRPr lang="en-US" sz="825" dirty="0"/>
          </a:p>
        </p:txBody>
      </p:sp>
      <p:sp>
        <p:nvSpPr>
          <p:cNvPr id="45" name="Text 43"/>
          <p:cNvSpPr/>
          <p:nvPr/>
        </p:nvSpPr>
        <p:spPr>
          <a:xfrm>
            <a:off x="11995100" y="6991350"/>
            <a:ext cx="48837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Exercise books and pens.</a:t>
            </a:r>
            <a:endParaRPr lang="en-US" sz="1125" dirty="0"/>
          </a:p>
        </p:txBody>
      </p:sp>
      <p:sp>
        <p:nvSpPr>
          <p:cNvPr id="46" name="Shape 44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9373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CORE COLOURS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051870" y="280988"/>
            <a:ext cx="13890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38–43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12395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38–43 MIN · GAME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409700"/>
            <a:ext cx="167106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拍板游戏 · Slap the Board — All 11 Colours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952500" y="2152650"/>
            <a:ext cx="2651075" cy="1114425"/>
          </a:xfrm>
          <a:prstGeom prst="roundRect">
            <a:avLst>
              <a:gd name="adj" fmla="val 10256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125563" y="227647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A1A1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068413" y="2638425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黑色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2135237" y="2981325"/>
            <a:ext cx="2911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hēisè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98825" y="2152650"/>
            <a:ext cx="2651075" cy="1114425"/>
          </a:xfrm>
          <a:prstGeom prst="roundRect">
            <a:avLst>
              <a:gd name="adj" fmla="val 10256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71889" y="227647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14739" y="2638425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白色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879925" y="2981325"/>
            <a:ext cx="29450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báisè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45151" y="2152650"/>
            <a:ext cx="2651224" cy="1114425"/>
          </a:xfrm>
          <a:prstGeom prst="roundRect">
            <a:avLst>
              <a:gd name="adj" fmla="val 10256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618363" y="227647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8B92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561213" y="2638425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黄色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7542461" y="2981325"/>
            <a:ext cx="4655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huángsè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91625" y="2152650"/>
            <a:ext cx="2651075" cy="1114425"/>
          </a:xfrm>
          <a:prstGeom prst="roundRect">
            <a:avLst>
              <a:gd name="adj" fmla="val 10256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364688" y="227647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E5FA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0307538" y="2638425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蓝色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0375553" y="2981325"/>
            <a:ext cx="2888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lánsè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937950" y="2152650"/>
            <a:ext cx="2651075" cy="1114425"/>
          </a:xfrm>
          <a:prstGeom prst="roundRect">
            <a:avLst>
              <a:gd name="adj" fmla="val 10256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3111014" y="227647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23B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3053864" y="2638425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红色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3068449" y="2981325"/>
            <a:ext cx="3977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hóngsè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4684276" y="2152650"/>
            <a:ext cx="2651224" cy="1114425"/>
          </a:xfrm>
          <a:prstGeom prst="roundRect">
            <a:avLst>
              <a:gd name="adj" fmla="val 10256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5857488" y="227647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88EA0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5695563" y="2638425"/>
            <a:ext cx="64122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粉红色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5727412" y="2981325"/>
            <a:ext cx="5762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fěnhóngsè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52500" y="3362325"/>
            <a:ext cx="2651075" cy="1114425"/>
          </a:xfrm>
          <a:prstGeom prst="roundRect">
            <a:avLst>
              <a:gd name="adj" fmla="val 10256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125563" y="348615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D976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068413" y="384810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橙色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2050554" y="4191000"/>
            <a:ext cx="4640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chéngsè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98825" y="3362325"/>
            <a:ext cx="2651075" cy="1114425"/>
          </a:xfrm>
          <a:prstGeom prst="roundRect">
            <a:avLst>
              <a:gd name="adj" fmla="val 10256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871889" y="348615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7A4E9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814739" y="384810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紫色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4917430" y="4191000"/>
            <a:ext cx="21814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zǐsè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45151" y="3362325"/>
            <a:ext cx="2651224" cy="1114425"/>
          </a:xfrm>
          <a:prstGeom prst="roundRect">
            <a:avLst>
              <a:gd name="adj" fmla="val 10256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618363" y="348615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8A5A34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561213" y="384810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棕色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7579668" y="4191000"/>
            <a:ext cx="3896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zōngsè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191625" y="3362325"/>
            <a:ext cx="2651075" cy="1114425"/>
          </a:xfrm>
          <a:prstGeom prst="roundRect">
            <a:avLst>
              <a:gd name="adj" fmla="val 10256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10364688" y="348615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4C8A4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0307538" y="384810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绿色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10408741" y="4191000"/>
            <a:ext cx="2211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lǜsè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937950" y="3362325"/>
            <a:ext cx="2651075" cy="1114425"/>
          </a:xfrm>
          <a:prstGeom prst="roundRect">
            <a:avLst>
              <a:gd name="adj" fmla="val 10256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13111014" y="348615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9A9A94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13053864" y="384810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灰色</a:t>
            </a:r>
            <a:endParaRPr lang="en-US" sz="1650" dirty="0"/>
          </a:p>
        </p:txBody>
      </p:sp>
      <p:sp>
        <p:nvSpPr>
          <p:cNvPr id="52" name="Text 50"/>
          <p:cNvSpPr/>
          <p:nvPr/>
        </p:nvSpPr>
        <p:spPr>
          <a:xfrm>
            <a:off x="13112948" y="4191000"/>
            <a:ext cx="30710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huīsè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52500" y="4648200"/>
            <a:ext cx="8077200" cy="1576388"/>
          </a:xfrm>
          <a:prstGeom prst="roundRect">
            <a:avLst>
              <a:gd name="adj" fmla="val 12085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1181100" y="4953000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PLAY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181100" y="5238750"/>
            <a:ext cx="7772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</a:t>
            </a: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All 11 colour flashcards (Lessons 1 + 3) on the board.</a:t>
            </a:r>
            <a:endParaRPr lang="en-US" sz="1125" dirty="0"/>
          </a:p>
        </p:txBody>
      </p:sp>
      <p:sp>
        <p:nvSpPr>
          <p:cNvPr id="56" name="Text 54"/>
          <p:cNvSpPr/>
          <p:nvPr/>
        </p:nvSpPr>
        <p:spPr>
          <a:xfrm>
            <a:off x="1181100" y="5510213"/>
            <a:ext cx="7772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</a:t>
            </a: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Two students race to slap the card as the teacher calls out the English name.</a:t>
            </a:r>
            <a:endParaRPr lang="en-US" sz="1125" dirty="0"/>
          </a:p>
        </p:txBody>
      </p:sp>
      <p:sp>
        <p:nvSpPr>
          <p:cNvPr id="57" name="Text 55"/>
          <p:cNvSpPr/>
          <p:nvPr/>
        </p:nvSpPr>
        <p:spPr>
          <a:xfrm>
            <a:off x="1181100" y="5781675"/>
            <a:ext cx="7772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</a:t>
            </a: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Winner stays up.</a:t>
            </a:r>
            <a:endParaRPr lang="en-US" sz="1125" dirty="0"/>
          </a:p>
        </p:txBody>
      </p:sp>
      <p:sp>
        <p:nvSpPr>
          <p:cNvPr id="58" name="Text 56"/>
          <p:cNvSpPr/>
          <p:nvPr/>
        </p:nvSpPr>
        <p:spPr>
          <a:xfrm>
            <a:off x="9258300" y="4648200"/>
            <a:ext cx="8077200" cy="1576388"/>
          </a:xfrm>
          <a:prstGeom prst="roundRect">
            <a:avLst>
              <a:gd name="adj" fmla="val 12085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9486900" y="4953000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PRACTISES / SETUP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9486900" y="5238750"/>
            <a:ext cx="7772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Rapid recall across the full colour set so far.</a:t>
            </a:r>
            <a:endParaRPr lang="en-US" sz="1125" dirty="0"/>
          </a:p>
        </p:txBody>
      </p:sp>
      <p:sp>
        <p:nvSpPr>
          <p:cNvPr id="61" name="Text 59"/>
          <p:cNvSpPr/>
          <p:nvPr/>
        </p:nvSpPr>
        <p:spPr>
          <a:xfrm>
            <a:off x="9486900" y="5453063"/>
            <a:ext cx="7772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Setup:</a:t>
            </a: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Flashcards or projected grid.</a:t>
            </a:r>
            <a:endParaRPr lang="en-US" sz="1125" dirty="0"/>
          </a:p>
        </p:txBody>
      </p:sp>
      <p:sp>
        <p:nvSpPr>
          <p:cNvPr id="62" name="Text 60"/>
          <p:cNvSpPr/>
          <p:nvPr/>
        </p:nvSpPr>
        <p:spPr>
          <a:xfrm>
            <a:off x="952500" y="6453188"/>
            <a:ext cx="5359301" cy="819150"/>
          </a:xfrm>
          <a:prstGeom prst="roundRect">
            <a:avLst>
              <a:gd name="adj" fmla="val 13953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1104900" y="6567488"/>
            <a:ext cx="51555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64" name="Text 62"/>
          <p:cNvSpPr/>
          <p:nvPr/>
        </p:nvSpPr>
        <p:spPr>
          <a:xfrm>
            <a:off x="1104900" y="6757988"/>
            <a:ext cx="51555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Pinyin visible under each character.</a:t>
            </a:r>
            <a:endParaRPr lang="en-US" sz="1125" dirty="0"/>
          </a:p>
        </p:txBody>
      </p:sp>
      <p:sp>
        <p:nvSpPr>
          <p:cNvPr id="65" name="Text 63"/>
          <p:cNvSpPr/>
          <p:nvPr/>
        </p:nvSpPr>
        <p:spPr>
          <a:xfrm>
            <a:off x="6464201" y="6453188"/>
            <a:ext cx="5359450" cy="819150"/>
          </a:xfrm>
          <a:prstGeom prst="roundRect">
            <a:avLst>
              <a:gd name="adj" fmla="val 13953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6616601" y="6567488"/>
            <a:ext cx="51557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67" name="Text 65"/>
          <p:cNvSpPr/>
          <p:nvPr/>
        </p:nvSpPr>
        <p:spPr>
          <a:xfrm>
            <a:off x="6616601" y="6757988"/>
            <a:ext cx="51557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Winner must use the colour in a full sentence before the next round.</a:t>
            </a:r>
            <a:endParaRPr lang="en-US" sz="1125" dirty="0"/>
          </a:p>
        </p:txBody>
      </p:sp>
      <p:sp>
        <p:nvSpPr>
          <p:cNvPr id="68" name="Text 66"/>
          <p:cNvSpPr/>
          <p:nvPr/>
        </p:nvSpPr>
        <p:spPr>
          <a:xfrm>
            <a:off x="11976050" y="6453188"/>
            <a:ext cx="5359450" cy="819150"/>
          </a:xfrm>
          <a:prstGeom prst="roundRect">
            <a:avLst>
              <a:gd name="adj" fmla="val 13953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12128450" y="6567488"/>
            <a:ext cx="51557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PACE</a:t>
            </a:r>
            <a:endParaRPr lang="en-US" sz="825" dirty="0"/>
          </a:p>
        </p:txBody>
      </p:sp>
      <p:sp>
        <p:nvSpPr>
          <p:cNvPr id="70" name="Text 68"/>
          <p:cNvSpPr/>
          <p:nvPr/>
        </p:nvSpPr>
        <p:spPr>
          <a:xfrm>
            <a:off x="12128450" y="6757988"/>
            <a:ext cx="515574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Keep rounds brisk — every student watches and predicts even when not up.</a:t>
            </a:r>
            <a:endParaRPr lang="en-US" sz="1125" dirty="0"/>
          </a:p>
        </p:txBody>
      </p:sp>
      <p:sp>
        <p:nvSpPr>
          <p:cNvPr id="71" name="Shape 69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9373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CORE COLOURS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051870" y="280988"/>
            <a:ext cx="1505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43000" y="2975074"/>
            <a:ext cx="163220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3279874"/>
            <a:ext cx="1632204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143000" y="4127599"/>
            <a:ext cx="7867650" cy="2803178"/>
          </a:xfrm>
          <a:prstGeom prst="roundRect">
            <a:avLst>
              <a:gd name="adj" fmla="val 9514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00175" y="4499074"/>
            <a:ext cx="75003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00175" y="4841974"/>
            <a:ext cx="75003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00"/>
              </a:spcAft>
              <a:buNone/>
            </a:pPr>
            <a:r>
              <a:rPr lang="en-US" sz="9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Hold up fingers: </a:t>
            </a:r>
            <a:r>
              <a:rPr lang="en-US" sz="975" b="1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r>
              <a:rPr lang="en-US" sz="9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完全可以 · </a:t>
            </a:r>
            <a:r>
              <a:rPr lang="en-US" sz="975" b="1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r>
              <a:rPr lang="en-US" sz="9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差不多 · </a:t>
            </a:r>
            <a:r>
              <a:rPr lang="en-US" sz="975" b="1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r>
              <a:rPr lang="en-US" sz="9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还不行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533525" y="512772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645146" y="5186809"/>
            <a:ext cx="830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885950" y="512772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997422" y="5186809"/>
            <a:ext cx="834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238375" y="512772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2564A">
              <a:alpha val="10000"/>
            </a:srgbClr>
          </a:solidFill>
          <a:ln w="9525">
            <a:solidFill>
              <a:srgbClr val="C256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363093" y="5186809"/>
            <a:ext cx="5647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76525" y="5180112"/>
            <a:ext cx="34858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Say five more colours: 橙色, 紫色, 棕色, 绿色, 灰色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533525" y="553729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645146" y="5596384"/>
            <a:ext cx="830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885950" y="553729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997422" y="5596384"/>
            <a:ext cx="834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38375" y="553729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2564A">
              <a:alpha val="10000"/>
            </a:srgbClr>
          </a:solidFill>
          <a:ln w="9525">
            <a:solidFill>
              <a:srgbClr val="C256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363093" y="5596384"/>
            <a:ext cx="5647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676525" y="5589687"/>
            <a:ext cx="29781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Say the word for "colour" on its own: 颜色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1533525" y="594687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645146" y="6005959"/>
            <a:ext cx="830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885950" y="594687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997422" y="6005959"/>
            <a:ext cx="834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238375" y="594687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2564A">
              <a:alpha val="10000"/>
            </a:srgbClr>
          </a:solidFill>
          <a:ln w="9525">
            <a:solidFill>
              <a:srgbClr val="C256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363093" y="6005959"/>
            <a:ext cx="5647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676525" y="5999262"/>
            <a:ext cx="30288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Perform the Text 2 dialogue with a partner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1400175" y="6365974"/>
            <a:ext cx="7353300" cy="333375"/>
          </a:xfrm>
          <a:prstGeom prst="roundRect">
            <a:avLst>
              <a:gd name="adj" fmla="val 34286"/>
            </a:avLst>
          </a:prstGeom>
          <a:solidFill>
            <a:srgbClr val="B886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533525" y="6451699"/>
            <a:ext cx="72283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note:</a:t>
            </a:r>
            <a:r>
              <a:rPr lang="en-US" sz="938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teacher reads the first criterion; a student volunteer reads the second and third — "今天我们做到了吗？"</a:t>
            </a:r>
            <a:endParaRPr lang="en-US" sz="938" dirty="0"/>
          </a:p>
        </p:txBody>
      </p:sp>
      <p:sp>
        <p:nvSpPr>
          <p:cNvPr id="35" name="Text 33"/>
          <p:cNvSpPr/>
          <p:nvPr/>
        </p:nvSpPr>
        <p:spPr>
          <a:xfrm>
            <a:off x="9277350" y="4127599"/>
            <a:ext cx="7867650" cy="2803178"/>
          </a:xfrm>
          <a:prstGeom prst="roundRect">
            <a:avLst>
              <a:gd name="adj" fmla="val 9514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9534525" y="4499074"/>
            <a:ext cx="75003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 (2 MIN)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534525" y="4841974"/>
            <a:ext cx="7353300" cy="788640"/>
          </a:xfrm>
          <a:prstGeom prst="rect">
            <a:avLst/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9558338" y="4841974"/>
            <a:ext cx="0" cy="788640"/>
          </a:xfrm>
          <a:prstGeom prst="line">
            <a:avLst/>
          </a:prstGeom>
          <a:noFill/>
          <a:ln w="47625">
            <a:solidFill>
              <a:srgbClr val="2E7D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53600" y="4975324"/>
            <a:ext cx="71020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 — WRITE ONE SENTENCE ON MINI WHITEBOARD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9753600" y="5203924"/>
            <a:ext cx="710203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</a:t>
            </a:r>
            <a:r>
              <a:rPr lang="en-US" sz="165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</a:t>
            </a:r>
            <a:r>
              <a:rPr lang="en-US" sz="165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</a:t>
            </a:r>
            <a:r>
              <a:rPr lang="en-US" sz="165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9534525" y="5744914"/>
            <a:ext cx="7500366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Must include: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9534525" y="6216402"/>
            <a:ext cx="750036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circulates and scans whiteboards for correct word choice.</a:t>
            </a:r>
            <a:endParaRPr lang="en-US" sz="975" dirty="0"/>
          </a:p>
        </p:txBody>
      </p:sp>
      <p:sp>
        <p:nvSpPr>
          <p:cNvPr id="43" name="Text 41"/>
          <p:cNvSpPr/>
          <p:nvPr/>
        </p:nvSpPr>
        <p:spPr>
          <a:xfrm>
            <a:off x="1143000" y="7121277"/>
            <a:ext cx="16002000" cy="457200"/>
          </a:xfrm>
          <a:prstGeom prst="rect">
            <a:avLst/>
          </a:prstGeom>
          <a:solidFill>
            <a:srgbClr val="2E4B7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1166813" y="7121277"/>
            <a:ext cx="0" cy="457200"/>
          </a:xfrm>
          <a:prstGeom prst="line">
            <a:avLst/>
          </a:prstGeom>
          <a:noFill/>
          <a:ln w="47625">
            <a:solidFill>
              <a:srgbClr val="2E4B7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400175" y="7235577"/>
            <a:ext cx="15845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Preview:</a:t>
            </a: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"下一课，我们要把颜色和交通工具放在一起——比如'黑色的火车'！"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9373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CORE COLOURS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051870" y="280988"/>
            <a:ext cx="16271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Preview · Next Lesson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90927" y="3879503"/>
            <a:ext cx="29059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下节课预告 · COMING UP NEXT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30662" y="4279553"/>
            <a:ext cx="11026676" cy="1946821"/>
          </a:xfrm>
          <a:prstGeom prst="roundRect">
            <a:avLst>
              <a:gd name="adj" fmla="val 13699"/>
            </a:avLst>
          </a:prstGeom>
          <a:solidFill>
            <a:srgbClr val="2E4B7A">
              <a:alpha val="10000"/>
            </a:srgbClr>
          </a:solidFill>
          <a:ln w="19050">
            <a:solidFill>
              <a:srgbClr val="2E4B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161618" y="4717703"/>
            <a:ext cx="9964763" cy="518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080"/>
              </a:lnSpc>
              <a:buNone/>
            </a:pPr>
            <a:r>
              <a:rPr lang="en-US" sz="25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"下一课，我们要把颜色和交通工具放在一起——比如'黑色的火车'！"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8315325" y="5502473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1A1A1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772525" y="5502473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C23B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229725" y="5502473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2E5FA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686925" y="5502473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E8B92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067010" y="6474023"/>
            <a:ext cx="41538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4 of 8 · Y7 Unit 5 · Colour + Noun Speaking</a:t>
            </a:r>
            <a:endParaRPr lang="en-US" sz="1125" dirty="0"/>
          </a:p>
        </p:txBody>
      </p:sp>
      <p:sp>
        <p:nvSpPr>
          <p:cNvPr id="15" name="Shape 13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2026-07-28T09:09:47Z</dcterms:created>
  <dcterms:modified xsi:type="dcterms:W3CDTF">2026-07-28T09:09:47Z</dcterms:modified>
</cp:coreProperties>
</file>