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4545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Title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430250" y="5181600"/>
            <a:ext cx="427482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0"/>
              </a:lnSpc>
              <a:buNone/>
            </a:pPr>
            <a:r>
              <a:rPr lang="en-US" sz="330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33000" dirty="0"/>
          </a:p>
        </p:txBody>
      </p:sp>
      <p:sp>
        <p:nvSpPr>
          <p:cNvPr id="8" name="Text 6"/>
          <p:cNvSpPr/>
          <p:nvPr/>
        </p:nvSpPr>
        <p:spPr>
          <a:xfrm>
            <a:off x="749808" y="2629346"/>
            <a:ext cx="1678838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Y7 UNIT 5 · 轻松学中文 1</a:t>
            </a:r>
            <a:endParaRPr lang="en-US" sz="1950" dirty="0"/>
          </a:p>
        </p:txBody>
      </p:sp>
      <p:pic>
        <p:nvPicPr>
          <p:cNvPr id="9" name="Image 0" descr="/var/folders/6c/210dcgxn4gz5sm71vld2cy1h0000gn/T/tmp.3MeIcQemFz/l3-de-frame/slides/01-title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5543" y="3172271"/>
            <a:ext cx="1496764" cy="14287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5430589"/>
            <a:ext cx="16788384" cy="1312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9750" dirty="0"/>
          </a:p>
        </p:txBody>
      </p:sp>
      <p:sp>
        <p:nvSpPr>
          <p:cNvPr id="11" name="Text 8"/>
          <p:cNvSpPr/>
          <p:nvPr/>
        </p:nvSpPr>
        <p:spPr>
          <a:xfrm>
            <a:off x="749808" y="6857405"/>
            <a:ext cx="16788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Colour + 的 + noun — 黑色的火车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6219373" y="7638455"/>
            <a:ext cx="1731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468378" y="7638455"/>
            <a:ext cx="829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9825564" y="7638455"/>
            <a:ext cx="6749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1026649" y="7638455"/>
            <a:ext cx="10350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p.97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2000" y="9463088"/>
            <a:ext cx="30198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颜色 + 的 + 名词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4033599" y="9463088"/>
            <a:ext cx="35622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4262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复习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08" y="3200400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一边是颜色……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73380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95450" y="441007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3695700" y="373380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76750" y="44291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6477000" y="373380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58050" y="441007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9258300" y="373380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039350" y="441007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2039600" y="373380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820650" y="441007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4820900" y="373380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554325" y="4410075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749808" y="5305425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……一边是车。今天把它们连起来。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14400" y="5838825"/>
            <a:ext cx="2552700" cy="1514475"/>
          </a:xfrm>
          <a:prstGeom prst="roundRect">
            <a:avLst>
              <a:gd name="adj" fmla="val 12579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95450" y="60198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校车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1696641" y="6791325"/>
            <a:ext cx="10079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xiàochē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3695700" y="5838825"/>
            <a:ext cx="2552700" cy="1514475"/>
          </a:xfrm>
          <a:prstGeom prst="roundRect">
            <a:avLst>
              <a:gd name="adj" fmla="val 12579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476750" y="60198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4505474" y="6791325"/>
            <a:ext cx="9516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huǒchē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477000" y="5838825"/>
            <a:ext cx="2552700" cy="1514475"/>
          </a:xfrm>
          <a:prstGeom prst="roundRect">
            <a:avLst>
              <a:gd name="adj" fmla="val 12579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010400" y="6019800"/>
            <a:ext cx="1515618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出租车</a:t>
            </a:r>
            <a:endParaRPr lang="en-US" sz="3900" dirty="0"/>
          </a:p>
        </p:txBody>
      </p:sp>
      <p:sp>
        <p:nvSpPr>
          <p:cNvPr id="29" name="Text 27"/>
          <p:cNvSpPr/>
          <p:nvPr/>
        </p:nvSpPr>
        <p:spPr>
          <a:xfrm>
            <a:off x="7139285" y="6791325"/>
            <a:ext cx="12526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chūzūchē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258300" y="5838825"/>
            <a:ext cx="2552700" cy="1514475"/>
          </a:xfrm>
          <a:prstGeom prst="roundRect">
            <a:avLst>
              <a:gd name="adj" fmla="val 12579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544050" y="6019800"/>
            <a:ext cx="2020824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公共汽车</a:t>
            </a:r>
            <a:endParaRPr lang="en-US" sz="3900" dirty="0"/>
          </a:p>
        </p:txBody>
      </p:sp>
      <p:sp>
        <p:nvSpPr>
          <p:cNvPr id="32" name="Text 30"/>
          <p:cNvSpPr/>
          <p:nvPr/>
        </p:nvSpPr>
        <p:spPr>
          <a:xfrm>
            <a:off x="9495086" y="6791325"/>
            <a:ext cx="21205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gōnggòng qìchē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2039600" y="5838825"/>
            <a:ext cx="2552700" cy="1514475"/>
          </a:xfrm>
          <a:prstGeom prst="roundRect">
            <a:avLst>
              <a:gd name="adj" fmla="val 12579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2820650" y="60198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地铁</a:t>
            </a:r>
            <a:endParaRPr lang="en-US" sz="3900" dirty="0"/>
          </a:p>
        </p:txBody>
      </p:sp>
      <p:sp>
        <p:nvSpPr>
          <p:cNvPr id="35" name="Text 33"/>
          <p:cNvSpPr/>
          <p:nvPr/>
        </p:nvSpPr>
        <p:spPr>
          <a:xfrm>
            <a:off x="13035558" y="6791325"/>
            <a:ext cx="5718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dìtiě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4820900" y="5838825"/>
            <a:ext cx="2552700" cy="1514475"/>
          </a:xfrm>
          <a:prstGeom prst="roundRect">
            <a:avLst>
              <a:gd name="adj" fmla="val 12579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5601950" y="60198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电车</a:t>
            </a:r>
            <a:endParaRPr lang="en-US" sz="3900" dirty="0"/>
          </a:p>
        </p:txBody>
      </p:sp>
      <p:sp>
        <p:nvSpPr>
          <p:cNvPr id="38" name="Text 36"/>
          <p:cNvSpPr/>
          <p:nvPr/>
        </p:nvSpPr>
        <p:spPr>
          <a:xfrm>
            <a:off x="15596741" y="6791325"/>
            <a:ext cx="10208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diànchē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000" y="9463088"/>
            <a:ext cx="30198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颜色 + 的 + 名词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4033599" y="9463088"/>
            <a:ext cx="35622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7435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 · SC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602260"/>
            <a:ext cx="3627983" cy="381000"/>
          </a:xfrm>
          <a:prstGeom prst="roundRect">
            <a:avLst>
              <a:gd name="adj" fmla="val 2497500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659410"/>
            <a:ext cx="33119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154710"/>
            <a:ext cx="1678838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我们学怎么用颜色说一个东西。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4080421"/>
            <a:ext cx="2825204" cy="381000"/>
          </a:xfrm>
          <a:prstGeom prst="roundRect">
            <a:avLst>
              <a:gd name="adj" fmla="val 24975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4900" y="4137571"/>
            <a:ext cx="2493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67097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490909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4909096"/>
            <a:ext cx="11685166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我会用「的」把颜色放在东西前面</a:t>
            </a: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put a colour in front of a noun with 的 — 黑色的火车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82156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605968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6059686"/>
            <a:ext cx="10763863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我会把英文的短语翻译成中文</a:t>
            </a: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translate colour-and-object phrases into Chinese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97215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90625" y="721027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876425" y="7210276"/>
            <a:ext cx="11593172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我会写 疒、火、爫 三个部首</a:t>
            </a: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the radicals 疒 火 爫 and name a character for each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63088"/>
            <a:ext cx="30198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颜色 + 的 + 名词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033599" y="9463088"/>
            <a:ext cx="35622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23900" y="1044178"/>
            <a:ext cx="17177004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颜色</a:t>
            </a: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的 </a:t>
            </a:r>
            <a:r>
              <a:rPr lang="en-US" sz="24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33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东西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3900" y="2187178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hēisè de huǒchē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3900" y="2606278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黑色的火车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23900" y="3229570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black train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3900" y="3762970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huángsè de xiàochē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23900" y="4182070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黄色的校车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723900" y="4805363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yellow school bus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3900" y="5338763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hóngsè de chūzūchē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5757863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红色的出租车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723900" y="6381155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red taxi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23900" y="6914555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bàba xǐhuan báisè de qìchē，wǒ māma měitiān zuò lánsè de diànchē shàngbān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23900" y="7333655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我爸爸喜欢白色的汽车，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我妈妈每天坐蓝色的电车上班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723900" y="7956947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clauses, two 的 phrases, and the whole Unit 4 transport frame inside.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23900" y="8452247"/>
            <a:ext cx="16840200" cy="1057275"/>
          </a:xfrm>
          <a:prstGeom prst="roundRect">
            <a:avLst>
              <a:gd name="adj" fmla="val 10811"/>
            </a:avLst>
          </a:prstGeom>
          <a:solidFill>
            <a:srgbClr val="2C4C7C">
              <a:alpha val="10000"/>
            </a:srgbClr>
          </a:solidFill>
          <a:ln w="19050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09650" y="8623697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543050" y="8623697"/>
            <a:ext cx="940581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颜色 + 的 + 东西 ✓ 颜色 + 东西 ✗</a:t>
            </a:r>
            <a:r>
              <a:rPr lang="en-US" sz="12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English has nothing in the middle. Chinese has to have 的. 这一课最容易错的就是它。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000" y="9463088"/>
            <a:ext cx="30198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颜色 + 的 + 名词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4033599" y="9463088"/>
            <a:ext cx="35622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说明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75295" y="2425154"/>
            <a:ext cx="213741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0"/>
              </a:lnSpc>
              <a:buNone/>
            </a:pPr>
            <a:r>
              <a:rPr lang="en-US" sz="165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16500" dirty="0"/>
          </a:p>
        </p:txBody>
      </p:sp>
      <p:sp>
        <p:nvSpPr>
          <p:cNvPr id="8" name="Text 6"/>
          <p:cNvSpPr/>
          <p:nvPr/>
        </p:nvSpPr>
        <p:spPr>
          <a:xfrm>
            <a:off x="6695694" y="4844504"/>
            <a:ext cx="489661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今天没有新的颜色。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800475" y="5808315"/>
            <a:ext cx="10687050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每个字你都学过了 — 六个颜色，还有四单元的车。新的只有中间这一个字。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277249" y="7195096"/>
            <a:ext cx="3733354" cy="933450"/>
          </a:xfrm>
          <a:prstGeom prst="roundRect">
            <a:avLst>
              <a:gd name="adj" fmla="val 12245"/>
            </a:avLst>
          </a:prstGeom>
          <a:solidFill>
            <a:srgbClr val="E7E2D5"/>
          </a:solidFill>
          <a:ln w="19050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11515" y="7366546"/>
            <a:ext cx="8806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8595641" y="7447508"/>
            <a:ext cx="2202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923733" y="7366546"/>
            <a:ext cx="44038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9471941" y="7447508"/>
            <a:ext cx="2202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795717" y="7366546"/>
            <a:ext cx="8806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000" y="9463088"/>
            <a:ext cx="30198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颜色 + 的 + 名词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033599" y="9463088"/>
            <a:ext cx="35622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检查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553146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562100" y="2553146"/>
            <a:ext cx="3764453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「的」放在哪里？指黑板。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362771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562100" y="3362771"/>
            <a:ext cx="6885557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怎么说 </a:t>
            </a: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yellow school bus</a:t>
            </a: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？写在小白板上。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4172396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562100" y="4172396"/>
            <a:ext cx="4436947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8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这句对不对？ </a:t>
            </a:r>
            <a:r>
              <a:rPr lang="en-US" sz="31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火车黑色的。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5000030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562100" y="5000030"/>
            <a:ext cx="5502465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怎么说 </a:t>
            </a: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dad likes the white taxi</a:t>
            </a: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？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904905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19200" y="6095405"/>
            <a:ext cx="256489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火车黑色的。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4000500" y="6176367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0" y="6095405"/>
            <a:ext cx="213741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黑色的火车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914400" y="7028855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19200" y="7219355"/>
            <a:ext cx="213741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红色出租车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3581400" y="7300317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152900" y="7219355"/>
            <a:ext cx="256489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红色的出租车</a:t>
            </a:r>
            <a:endParaRPr lang="en-US" sz="3300" dirty="0"/>
          </a:p>
        </p:txBody>
      </p:sp>
      <p:sp>
        <p:nvSpPr>
          <p:cNvPr id="23" name="Shape 21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000" y="9463088"/>
            <a:ext cx="30198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颜色 + 的 + 名词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4033599" y="9463088"/>
            <a:ext cx="35622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5211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活动一 (20–28)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617589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课本 p.97 Ex.1 · 8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27189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3246239"/>
            <a:ext cx="7994794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全班一起 — 老师指图，大家一起说：黑色的火车。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3949154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3968204"/>
            <a:ext cx="6584680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两个人一组 — 一个指，一个说，然后换。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4671120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562100" y="4690170"/>
            <a:ext cx="8813932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写到本子上，七个短语。六个颜色都要用到，至少一次。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5450235"/>
            <a:ext cx="16459200" cy="1120080"/>
          </a:xfrm>
          <a:prstGeom prst="roundRect">
            <a:avLst>
              <a:gd name="adj" fmla="val 1700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28725" y="5688360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黑色的火车　黄色的校车　红色的出租车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914400" y="6760815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04656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895326" y="6989415"/>
            <a:ext cx="13323746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每个短语加一个人、一个四单元的动词，写四句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我弟弟每天坐黄色的校车上学。我妈妈坐蓝色的地铁上班。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say all four aloud with the board covered.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" y="9463088"/>
            <a:ext cx="30198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颜色 + 的 + 名词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4033599" y="9463088"/>
            <a:ext cx="35622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部首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586163"/>
            <a:ext cx="5334000" cy="1943100"/>
          </a:xfrm>
          <a:prstGeom prst="roundRect">
            <a:avLst>
              <a:gd name="adj" fmla="val 9804"/>
            </a:avLst>
          </a:prstGeom>
          <a:solidFill>
            <a:srgbClr val="2C4C7C">
              <a:alpha val="10000"/>
            </a:srgbClr>
          </a:solidFill>
          <a:ln w="9525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33750" y="3767138"/>
            <a:ext cx="505206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疒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3088332" y="4538663"/>
            <a:ext cx="10058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disease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455938" y="4995863"/>
            <a:ext cx="255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病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477000" y="3586163"/>
            <a:ext cx="5334000" cy="1943100"/>
          </a:xfrm>
          <a:prstGeom prst="roundRect">
            <a:avLst>
              <a:gd name="adj" fmla="val 9804"/>
            </a:avLst>
          </a:prstGeom>
          <a:solidFill>
            <a:srgbClr val="2C4C7C">
              <a:alpha val="10000"/>
            </a:srgbClr>
          </a:solidFill>
          <a:ln w="9525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96350" y="3767138"/>
            <a:ext cx="505206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8925818" y="4538663"/>
            <a:ext cx="4450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018538" y="4995863"/>
            <a:ext cx="255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炒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039600" y="3586163"/>
            <a:ext cx="5334000" cy="1943100"/>
          </a:xfrm>
          <a:prstGeom prst="roundRect">
            <a:avLst>
              <a:gd name="adj" fmla="val 9804"/>
            </a:avLst>
          </a:prstGeom>
          <a:solidFill>
            <a:srgbClr val="2C4C7C">
              <a:alpha val="10000"/>
            </a:srgbClr>
          </a:solidFill>
          <a:ln w="9525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458950" y="3767138"/>
            <a:ext cx="505206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爫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14412962" y="4538663"/>
            <a:ext cx="5988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claw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4581138" y="4995863"/>
            <a:ext cx="255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爱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14400" y="5834063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C4C7C">
              <a:alpha val="10000"/>
            </a:srgbClr>
          </a:solidFill>
          <a:ln w="19050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38250" y="6043613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771650" y="6043613"/>
            <a:ext cx="922365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「黑」下面的四点 </a:t>
            </a:r>
            <a:r>
              <a:rPr lang="en-US" sz="22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灬</a:t>
            </a:r>
            <a:r>
              <a:rPr lang="en-US" sz="22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就是「火」，写扁了。</a:t>
            </a:r>
            <a:r>
              <a:rPr lang="en-US" sz="12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第一课抄过「黑」了 — 先在自己的本子上把 炒 里的火和 黑 里的灬圈出来，再开始抄。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463088"/>
            <a:ext cx="30198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颜色 + 的 + 名词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4033599" y="9463088"/>
            <a:ext cx="35622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5978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活动二 (28–36)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505992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练习本 p.134 / p.138 / p.139 · 8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15592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2134642"/>
            <a:ext cx="6055793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练习本 Ex.1 — 按笔顺抄 疒、火、爫。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2837557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2856607"/>
            <a:ext cx="8303261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练习本 Ex.9 第 1–3 题 — 写出 炒、爱、病 的部首。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3559522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562100" y="3578572"/>
            <a:ext cx="8965129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练习本 Ex.10 — 六个短语翻译成中文。第一个已经给了。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4338638"/>
            <a:ext cx="16459200" cy="2502991"/>
          </a:xfrm>
          <a:prstGeom prst="roundRect">
            <a:avLst>
              <a:gd name="adj" fmla="val 761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28725" y="4576763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black taxi　→　黑色的出租车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228725" y="5315843"/>
            <a:ext cx="16147161" cy="128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blue car　·　red public bus　·　yellow school bus　·　pink watch　·　white bed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914400" y="6879729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38250" y="7089279"/>
            <a:ext cx="7666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503908" y="7089279"/>
            <a:ext cx="1319531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 5、6 题要用 </a:t>
            </a: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手表</a:t>
            </a: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床</a:t>
            </a: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They go on the board as recognition words — the exercise is asking for the colour and the 的, not for two new nouns.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8203704"/>
            <a:ext cx="1645920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38250" y="8489454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895326" y="8432304"/>
            <a:ext cx="15288098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自己再写四个「颜色的东西」，名词可以是一册书里任何一个，再把其中两个写成句子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我姐姐七点坐红色的公共汽车上学。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000" y="9463088"/>
            <a:ext cx="30198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颜色 + 的 + 名词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4033599" y="9463088"/>
            <a:ext cx="35622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43388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排句子 (36–43)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617589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排句子 · 7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27189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3246239"/>
            <a:ext cx="4583287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四个人一组，每组一套卡片。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3949154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3968204"/>
            <a:ext cx="5640910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比谁先排对，排完举手，老师来看。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4671120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562100" y="4690170"/>
            <a:ext cx="3173022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三轮，每轮换一套。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5450235"/>
            <a:ext cx="16459200" cy="1120080"/>
          </a:xfrm>
          <a:prstGeom prst="roundRect">
            <a:avLst>
              <a:gd name="adj" fmla="val 1700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28725" y="5688360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我弟弟 · 每天 · 坐 · 黄色的 · 校车 · 上学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914400" y="6760815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04656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895326" y="6989415"/>
            <a:ext cx="10882574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第四轮偷偷把一组的「的」卡拿走，看他们发不发现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少了哪个字？放在哪里？为什么？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90 seconds to build the longest correct sentence from a shared pool of leftover cards.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" y="9463088"/>
            <a:ext cx="30198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颜色 + 的 + 名词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4033599" y="9463088"/>
            <a:ext cx="35622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7679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192685"/>
            <a:ext cx="16459200" cy="390525"/>
          </a:xfrm>
          <a:prstGeom prst="roundRect">
            <a:avLst>
              <a:gd name="adj" fmla="val 2436585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249835"/>
            <a:ext cx="1639976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我做到了吗？ 👍 / 😐 / 👎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77371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301183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876425" y="3011835"/>
            <a:ext cx="4705490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我会用「的」把颜色放在东西前面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412432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4124325"/>
            <a:ext cx="3537505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我会翻译「颜色 + 东西」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499869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523681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5236815"/>
            <a:ext cx="2615898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我会写 疒、火、爫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244530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38250" y="6454080"/>
            <a:ext cx="31879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✎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741289" y="6454080"/>
            <a:ext cx="988294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Two items — </a:t>
            </a: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red taxi</a:t>
            </a: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then </a:t>
            </a: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mum likes the white car.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写在小白板上。两题都要有「的」。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7530405"/>
            <a:ext cx="16459200" cy="830461"/>
          </a:xfrm>
          <a:prstGeom prst="roundRect">
            <a:avLst>
              <a:gd name="adj" fmla="val 13763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38250" y="7739955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082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771650" y="7739955"/>
            <a:ext cx="83056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怎么问别人「你喜欢什么颜色？」，还有四个新颜色。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63088"/>
            <a:ext cx="30198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颜色 + 的 + 名词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033599" y="9463088"/>
            <a:ext cx="35622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80927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048500" y="2636639"/>
            <a:ext cx="427482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</a:t>
            </a:r>
            <a:endParaRPr lang="en-US" sz="16500" dirty="0"/>
          </a:p>
        </p:txBody>
      </p:sp>
      <p:sp>
        <p:nvSpPr>
          <p:cNvPr id="8" name="Text 6"/>
          <p:cNvSpPr/>
          <p:nvPr/>
        </p:nvSpPr>
        <p:spPr>
          <a:xfrm>
            <a:off x="6116836" y="4998839"/>
            <a:ext cx="617526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Next — asking the question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991225" y="5905500"/>
            <a:ext cx="6305550" cy="2011561"/>
          </a:xfrm>
          <a:prstGeom prst="roundRect">
            <a:avLst>
              <a:gd name="adj" fmla="val 94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19850" y="6200775"/>
            <a:ext cx="5557266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什么颜色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6419850" y="6977955"/>
            <a:ext cx="5557266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　橙色　紫色　棕色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9463088"/>
            <a:ext cx="30198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颜色 + 的 + 名词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033599" y="9463088"/>
            <a:ext cx="35622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2026-09-14T06:46:50Z</dcterms:created>
  <dcterms:modified xsi:type="dcterms:W3CDTF">2026-09-14T06:46:50Z</dcterms:modified>
</cp:coreProperties>
</file>