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4545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Title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430250" y="5181600"/>
            <a:ext cx="427482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0"/>
              </a:lnSpc>
              <a:buNone/>
            </a:pPr>
            <a:r>
              <a:rPr lang="en-US" sz="330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</a:t>
            </a:r>
            <a:endParaRPr lang="en-US" sz="33000" dirty="0"/>
          </a:p>
        </p:txBody>
      </p:sp>
      <p:sp>
        <p:nvSpPr>
          <p:cNvPr id="8" name="Text 6"/>
          <p:cNvSpPr/>
          <p:nvPr/>
        </p:nvSpPr>
        <p:spPr>
          <a:xfrm>
            <a:off x="749808" y="2629346"/>
            <a:ext cx="1678838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Y7 UNIT 5 · 轻松学中文 1</a:t>
            </a:r>
            <a:endParaRPr lang="en-US" sz="1950" dirty="0"/>
          </a:p>
        </p:txBody>
      </p:sp>
      <p:pic>
        <p:nvPicPr>
          <p:cNvPr id="9" name="Image 0" descr="/var/folders/6c/210dcgxn4gz5sm71vld2cy1h0000gn/T/tmp.3MeIcQemFz/l7-survey-mixing/slides/01-title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5543" y="3172271"/>
            <a:ext cx="1496764" cy="14287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5430589"/>
            <a:ext cx="16788384" cy="1312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天蓝色</a:t>
            </a:r>
            <a:endParaRPr lang="en-US" sz="9750" dirty="0"/>
          </a:p>
        </p:txBody>
      </p:sp>
      <p:sp>
        <p:nvSpPr>
          <p:cNvPr id="11" name="Text 8"/>
          <p:cNvSpPr/>
          <p:nvPr/>
        </p:nvSpPr>
        <p:spPr>
          <a:xfrm>
            <a:off x="749808" y="6857405"/>
            <a:ext cx="16788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class survey · Mixing colours · 王红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5905792" y="7638455"/>
            <a:ext cx="17311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154797" y="7638455"/>
            <a:ext cx="829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9511983" y="7638455"/>
            <a:ext cx="6749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0706797" y="7638455"/>
            <a:ext cx="16747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p.101–102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2000" y="9463088"/>
            <a:ext cx="33567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调查 · 混色 · 天蓝色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3515380" y="9463088"/>
            <a:ext cx="40908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p.101–102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4262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复习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08" y="3061395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全班接龙 — 老师先问，答完换一个颜色问下一个人。两圈，越来越快。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8488" y="3628132"/>
            <a:ext cx="255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543050" y="3594795"/>
            <a:ext cx="3400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lǜsè ma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543050" y="3975795"/>
            <a:ext cx="34004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7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你喜欢绿色吗？</a:t>
            </a:r>
            <a:endParaRPr lang="en-US" sz="3750" dirty="0"/>
          </a:p>
        </p:txBody>
      </p:sp>
      <p:sp>
        <p:nvSpPr>
          <p:cNvPr id="11" name="Text 9"/>
          <p:cNvSpPr/>
          <p:nvPr/>
        </p:nvSpPr>
        <p:spPr>
          <a:xfrm>
            <a:off x="998488" y="5104507"/>
            <a:ext cx="255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43050" y="5071170"/>
            <a:ext cx="40076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xǐhuan ／ bù xǐhuan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43050" y="5452170"/>
            <a:ext cx="400764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7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喜欢。／ 不喜欢。</a:t>
            </a:r>
            <a:endParaRPr lang="en-US" sz="3750" dirty="0"/>
          </a:p>
        </p:txBody>
      </p:sp>
      <p:sp>
        <p:nvSpPr>
          <p:cNvPr id="14" name="Text 12"/>
          <p:cNvSpPr/>
          <p:nvPr/>
        </p:nvSpPr>
        <p:spPr>
          <a:xfrm>
            <a:off x="914400" y="6661845"/>
            <a:ext cx="16459200" cy="830461"/>
          </a:xfrm>
          <a:prstGeom prst="roundRect">
            <a:avLst>
              <a:gd name="adj" fmla="val 13763"/>
            </a:avLst>
          </a:prstGeom>
          <a:solidFill>
            <a:srgbClr val="B03C2C">
              <a:alpha val="10000"/>
            </a:srgbClr>
          </a:solidFill>
          <a:ln w="19050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38250" y="6871395"/>
            <a:ext cx="7666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503908" y="6871395"/>
            <a:ext cx="67774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答「是」的人把问题传给下一个，下一圈再试一次。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9463088"/>
            <a:ext cx="33567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调查 · 混色 · 天蓝色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515380" y="9463088"/>
            <a:ext cx="40908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p.101–102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7435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 · SC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602260"/>
            <a:ext cx="3627983" cy="381000"/>
          </a:xfrm>
          <a:prstGeom prst="roundRect">
            <a:avLst>
              <a:gd name="adj" fmla="val 2497500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2659410"/>
            <a:ext cx="33119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154710"/>
            <a:ext cx="1678838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我们学怎么问全班喜欢什么颜色，再把结果说出来。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4080421"/>
            <a:ext cx="2825204" cy="381000"/>
          </a:xfrm>
          <a:prstGeom prst="roundRect">
            <a:avLst>
              <a:gd name="adj" fmla="val 24975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4900" y="4137571"/>
            <a:ext cx="2493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67097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625" y="490909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76425" y="4909096"/>
            <a:ext cx="11565392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我会问「你喜欢X色吗？」，还会记下答案</a:t>
            </a: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你喜欢X色吗？and record the answers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82156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605968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76425" y="6059686"/>
            <a:ext cx="9318379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我会报告结果：五个人喜欢黑色。</a:t>
            </a: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report a result — 五个人喜欢黑色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97215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90625" y="721027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876425" y="7210276"/>
            <a:ext cx="11715679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我会说两个颜色混在一起是什么颜色</a:t>
            </a: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what two colours make — 蓝色和白色是天蓝色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63088"/>
            <a:ext cx="33567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调查 · 混色 · 天蓝色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515380" y="9463088"/>
            <a:ext cx="40908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p.101–102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107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38337"/>
            <a:ext cx="7962900" cy="6677025"/>
          </a:xfrm>
          <a:prstGeom prst="roundRect">
            <a:avLst>
              <a:gd name="adj" fmla="val 3994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tmp.3MeIcQemFz/l7-survey-mixing/slides/04-vocab-a1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670" y="2338388"/>
            <a:ext cx="2494508" cy="2381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67100" y="4891088"/>
            <a:ext cx="29146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天蓝色</a:t>
            </a:r>
            <a:endParaRPr lang="en-US" sz="7500" dirty="0"/>
          </a:p>
        </p:txBody>
      </p:sp>
      <p:sp>
        <p:nvSpPr>
          <p:cNvPr id="10" name="Text 7"/>
          <p:cNvSpPr/>
          <p:nvPr/>
        </p:nvSpPr>
        <p:spPr>
          <a:xfrm>
            <a:off x="3924746" y="6062663"/>
            <a:ext cx="1980899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tiānlánsè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4268837" y="6853238"/>
            <a:ext cx="1279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sky blue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1969740" y="7486650"/>
            <a:ext cx="58520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11220" y="7548563"/>
            <a:ext cx="596911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天</a:t>
            </a: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学过（今天、明天） </a:t>
            </a: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蓝色</a:t>
            </a: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第二课学过 — 只有合起来是新的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2000" y="9463088"/>
            <a:ext cx="33567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调查 · 混色 · 天蓝色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3515380" y="9463088"/>
            <a:ext cx="40908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p.101–102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0147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写一句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825079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lánsè hé báisè shì tiānlánsè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2282279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蓝色和白色是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天蓝色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2983260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Blue and white make sky blue.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688110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tiānlánsè de qìchē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4145310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天蓝色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的汽车。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4846290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sky-blue cars.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227290"/>
            <a:ext cx="16459200" cy="12419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942975" y="5227290"/>
            <a:ext cx="0" cy="12419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6350" y="5455890"/>
            <a:ext cx="16108299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我喜欢天蓝色的</a:t>
            </a: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104900" y="6906369"/>
            <a:ext cx="564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39243" y="6774061"/>
            <a:ext cx="2655064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写一句。60 秒。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14400" y="7553176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38250" y="7838926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895326" y="7781776"/>
            <a:ext cx="8291724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写一个三个颜色的算式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红色、黄色和蓝色是棕色。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say which of the two blues you prefer: 我喜欢天蓝色，我不喜欢蓝色。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63088"/>
            <a:ext cx="33567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调查 · 混色 · 天蓝色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515380" y="9463088"/>
            <a:ext cx="40908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p.101–102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5406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词汇总览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08" y="3333750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这节课这块板一直留着 — 做活动的时候可以看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86715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95450" y="4543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3695700" y="386715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76750" y="456247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6477000" y="386715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58050" y="4543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9258300" y="386715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039350" y="4543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2039600" y="386715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820650" y="4543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4820900" y="386715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5554325" y="4543425"/>
            <a:ext cx="110756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914400" y="5667375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95450" y="63436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橙色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3695700" y="5667375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76750" y="63436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6477000" y="5667375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258050" y="63436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棕色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9258300" y="5667375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039350" y="63436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</a:t>
            </a:r>
            <a:endParaRPr lang="en-US" sz="3900" dirty="0"/>
          </a:p>
        </p:txBody>
      </p:sp>
      <p:sp>
        <p:nvSpPr>
          <p:cNvPr id="28" name="Text 26"/>
          <p:cNvSpPr/>
          <p:nvPr/>
        </p:nvSpPr>
        <p:spPr>
          <a:xfrm>
            <a:off x="12039600" y="5667375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2820650" y="63436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</a:t>
            </a:r>
            <a:endParaRPr lang="en-US" sz="3900" dirty="0"/>
          </a:p>
        </p:txBody>
      </p:sp>
      <p:sp>
        <p:nvSpPr>
          <p:cNvPr id="30" name="Text 28"/>
          <p:cNvSpPr/>
          <p:nvPr/>
        </p:nvSpPr>
        <p:spPr>
          <a:xfrm>
            <a:off x="14820900" y="5667375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5554325" y="6343650"/>
            <a:ext cx="110756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天蓝色</a:t>
            </a:r>
            <a:endParaRPr lang="en-US" sz="2850" dirty="0"/>
          </a:p>
        </p:txBody>
      </p:sp>
      <p:sp>
        <p:nvSpPr>
          <p:cNvPr id="32" name="Shape 30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000" y="9463088"/>
            <a:ext cx="33567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调查 · 混色 · 天蓝色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3515380" y="9463088"/>
            <a:ext cx="40908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p.101–102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1937"/>
            <a:ext cx="141497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2652" y="247650"/>
            <a:ext cx="10146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句型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23900" y="1048941"/>
            <a:ext cx="1717700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数字</a:t>
            </a: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个人 </a:t>
            </a:r>
            <a:r>
              <a:rPr lang="en-US" sz="24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喜欢 </a:t>
            </a:r>
            <a:r>
              <a:rPr lang="en-US" sz="24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33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颜色</a:t>
            </a: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3900" y="2210991"/>
            <a:ext cx="1717700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lǜsè ma — xǐhuan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23900" y="2620566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你喜欢绿色吗？ — 喜欢。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23900" y="3243858"/>
            <a:ext cx="1717700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you like green? — Yes.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3900" y="3758208"/>
            <a:ext cx="1717700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wǔ ge rén xǐhuan hēisè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23900" y="4167783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五个人喜欢黑色。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723900" y="4791075"/>
            <a:ext cx="1717700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Five people like black.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3900" y="5305425"/>
            <a:ext cx="1717700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sān ge rén bù xǐhuan huīsè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5715000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三个人不喜欢灰色。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723900" y="6338292"/>
            <a:ext cx="1717700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people don't like grey.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23900" y="6852642"/>
            <a:ext cx="1717700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shí ge rén xǐhuan lánsè，liǎng ge rén xǐhuan tiānlánsè，wǒ yě xǐhuan tiānlánsè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23900" y="7290792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十个人喜欢蓝色，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两个人喜欢天蓝色，我也喜欢天蓝色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723900" y="7914084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counts, a contrast between the two blues, and 也 attaching the speaker to the smaller group.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23900" y="8409384"/>
            <a:ext cx="16840200" cy="1095375"/>
          </a:xfrm>
          <a:prstGeom prst="roundRect">
            <a:avLst>
              <a:gd name="adj" fmla="val 10435"/>
            </a:avLst>
          </a:prstGeom>
          <a:solidFill>
            <a:srgbClr val="2C4C7C">
              <a:alpha val="10000"/>
            </a:srgbClr>
          </a:solidFill>
          <a:ln w="19050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09650" y="8580834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543050" y="8580834"/>
            <a:ext cx="8455369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数人用「</a:t>
            </a:r>
            <a:r>
              <a:rPr lang="en-US" sz="22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个</a:t>
            </a:r>
            <a:r>
              <a:rPr lang="en-US" sz="22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」，不用「口」。</a:t>
            </a:r>
            <a:r>
              <a:rPr lang="en-US" sz="12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我家有三口人 — 口 is only for family. 五个人喜欢黑色 — everyone else takes 个.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000" y="9458325"/>
            <a:ext cx="30160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调查 · 混色 · 天蓝色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737431" y="9458325"/>
            <a:ext cx="38643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p.101–102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107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检查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519934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562100" y="3519934"/>
            <a:ext cx="6273936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数班上的人，用「口」还是「个」？为什么？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4329559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562100" y="4329559"/>
            <a:ext cx="6835006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怎么说 </a:t>
            </a:r>
            <a:r>
              <a:rPr lang="en-US" sz="2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five people like black</a:t>
            </a: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？写在小白板上。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5139184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562100" y="5139184"/>
            <a:ext cx="647720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8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红色和黄色是什么颜色？</a:t>
            </a: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用中文回答。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6062067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19200" y="6252567"/>
            <a:ext cx="341985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五口人喜欢红色。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4838700" y="6333530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10200" y="6252567"/>
            <a:ext cx="341985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五个人喜欢红色。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9463088"/>
            <a:ext cx="33567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调查 · 混色 · 天蓝色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515380" y="9463088"/>
            <a:ext cx="40908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p.101–102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5211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活动一 (20–25)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653629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课本 p.102 Ex.8 + 练习本 p.142 Ex.17 · 5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63229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2282279"/>
            <a:ext cx="7756309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七个算式，写到本子上，再大声说成完整的句子。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298519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62100" y="3004245"/>
            <a:ext cx="2820531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第一个已经给了。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3764310"/>
            <a:ext cx="16459200" cy="2598241"/>
          </a:xfrm>
          <a:prstGeom prst="roundRect">
            <a:avLst>
              <a:gd name="adj" fmla="val 733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28725" y="4002435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白色和黑色是灰色。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228725" y="4741515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 + 白色　·　红色 + 黄色　·　红色 + 黄色 + 蓝色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228725" y="5480596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 + 红色　·　黄色 + 蓝色　·　紫色 + 黄色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914400" y="6400651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6610201"/>
            <a:ext cx="7666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503908" y="6610201"/>
            <a:ext cx="874774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这七个算式差不多把这一课的颜色全用上了。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Anyone who only remembers four gets found out here, rather than on the test.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7724626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38250" y="8010376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895326" y="7953226"/>
            <a:ext cx="10871948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自己编三个算式，每个后面加一个「的」短语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蓝色和黄色是绿色，我喜欢绿色的校车。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quiz a partner with the board covered — you say two colours, they say the third.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463088"/>
            <a:ext cx="33567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调查 · 混色 · 天蓝色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515380" y="9463088"/>
            <a:ext cx="40908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p.101–102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5978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活动二 (25–34)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082254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课本 p.101 Ex.7 · 9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91854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2710904"/>
            <a:ext cx="5993553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每个人一张表，十一个颜色写在左边。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3413820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62100" y="3432870"/>
            <a:ext cx="6346043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站起来问，问到谁就打一个勾。五分钟。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413578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562100" y="4154835"/>
            <a:ext cx="6698685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回座位数一数，写三个结果，完整的句子。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4914900"/>
            <a:ext cx="16459200" cy="1859161"/>
          </a:xfrm>
          <a:prstGeom prst="roundRect">
            <a:avLst>
              <a:gd name="adj" fmla="val 1024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28725" y="5153025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你喜欢黑色吗？ — 喜欢。／不喜欢。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228725" y="5892105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五个人喜欢黑色。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914400" y="6964561"/>
            <a:ext cx="16459200" cy="1506736"/>
          </a:xfrm>
          <a:prstGeom prst="roundRect">
            <a:avLst>
              <a:gd name="adj" fmla="val 7586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38250" y="7250311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895326" y="7193161"/>
            <a:ext cx="15457512" cy="104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不只是数，要比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五个人喜欢黑色，两个人不喜欢黑色，我也喜欢黑色。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work out the most and least popular colour in the room and announce both in Chinese. In mixed pairs the fluent student asks and the partner records.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63088"/>
            <a:ext cx="33567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调查 · 混色 · 天蓝色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515380" y="9463088"/>
            <a:ext cx="40908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p.101–102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5978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活动三 (34–39)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180332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练习本 p.140 Ex.14 · 5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89932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2808982"/>
            <a:ext cx="105766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一起读一遍，然后两个人一组口头回答四个问题，其中两个写下来。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3569047"/>
            <a:ext cx="16459200" cy="2598241"/>
          </a:xfrm>
          <a:prstGeom prst="roundRect">
            <a:avLst>
              <a:gd name="adj" fmla="val 733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28725" y="3807172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我叫王红。我家有三口人：爸爸、妈妈和我。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28725" y="4546253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我爸爸是律师，我妈妈不工作。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1228725" y="5285333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我喜欢红色，爸爸和妈妈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喜欢黑色。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914400" y="6205389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38250" y="6414939"/>
            <a:ext cx="7666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503908" y="6414939"/>
            <a:ext cx="815676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「都」不是这一课的词 — 在黑板上写一下意思就行，不用教。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 / all — understanding it is enough.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7529364"/>
            <a:ext cx="16459200" cy="843855"/>
          </a:xfrm>
          <a:prstGeom prst="roundRect">
            <a:avLst>
              <a:gd name="adj" fmla="val 135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38250" y="7815114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895326" y="7757964"/>
            <a:ext cx="8336506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四个问题全部写成完整的句子，再自己出第五个问题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考旁边的同学。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63088"/>
            <a:ext cx="33567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调查 · 混色 · 天蓝色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515380" y="9463088"/>
            <a:ext cx="40908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p.101–102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2174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猜字 (39–43)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978497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Hangman · 课本 p.103 Ex.11 · 4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88097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3607147"/>
            <a:ext cx="8108799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老师在黑板上画空格，全班猜字母。猜错就画一笔。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4310063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62100" y="4329113"/>
            <a:ext cx="5288420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猜出来全班一起说这个词和意思。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089178"/>
            <a:ext cx="16459200" cy="1120080"/>
          </a:xfrm>
          <a:prstGeom prst="roundRect">
            <a:avLst>
              <a:gd name="adj" fmla="val 1700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28725" y="5327303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hóng sè　·　xǐ huan　·　fàng xué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914400" y="6399758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38250" y="6685508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895326" y="6628358"/>
            <a:ext cx="10014403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猜的人要连声调一起说对才算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ó 还是 ǒ？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whoever solves the word has to use it in a full sentence before the next round starts.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9463088"/>
            <a:ext cx="33567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调查 · 混色 · 天蓝色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515380" y="9463088"/>
            <a:ext cx="40908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p.101–102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7679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192685"/>
            <a:ext cx="16459200" cy="390525"/>
          </a:xfrm>
          <a:prstGeom prst="roundRect">
            <a:avLst>
              <a:gd name="adj" fmla="val 2436585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2249835"/>
            <a:ext cx="1639976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我做到了吗？ 👍 / 😐 / 👎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77371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301183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876425" y="3011835"/>
            <a:ext cx="5847668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我会问「你喜欢X色吗？」，还会记下答案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625" y="412432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76425" y="4124325"/>
            <a:ext cx="4078081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我会报告：五个人喜欢黑色。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499869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523681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76425" y="5236815"/>
            <a:ext cx="4078081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我会说两个颜色混起来是什么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244530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38250" y="6454080"/>
            <a:ext cx="31879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✎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741289" y="6454080"/>
            <a:ext cx="1243204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Two items — </a:t>
            </a: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红色和黄色是什么颜色？</a:t>
            </a: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one survey result as a full sentence.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两题都写在小白板上。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7530405"/>
            <a:ext cx="16459200" cy="830461"/>
          </a:xfrm>
          <a:prstGeom prst="roundRect">
            <a:avLst>
              <a:gd name="adj" fmla="val 13763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38250" y="7739955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082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771650" y="7739955"/>
            <a:ext cx="105689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第十三课全部复习一遍，还有一篇课文 — 一个男孩的名字是两个颜色。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63088"/>
            <a:ext cx="33567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调查 · 混色 · 天蓝色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515380" y="9463088"/>
            <a:ext cx="40908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p.101–102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80927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048500" y="2636639"/>
            <a:ext cx="427482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0"/>
              </a:lnSpc>
              <a:buNone/>
            </a:pPr>
            <a:r>
              <a:rPr lang="en-US" sz="165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</a:t>
            </a:r>
            <a:endParaRPr lang="en-US" sz="16500" dirty="0"/>
          </a:p>
        </p:txBody>
      </p:sp>
      <p:sp>
        <p:nvSpPr>
          <p:cNvPr id="8" name="Text 6"/>
          <p:cNvSpPr/>
          <p:nvPr/>
        </p:nvSpPr>
        <p:spPr>
          <a:xfrm>
            <a:off x="5955209" y="4998839"/>
            <a:ext cx="650498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Next — revision, and 王黑白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267075" y="5905500"/>
            <a:ext cx="11753850" cy="2011561"/>
          </a:xfrm>
          <a:prstGeom prst="roundRect">
            <a:avLst>
              <a:gd name="adj" fmla="val 94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95700" y="6200775"/>
            <a:ext cx="11114532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十二个颜色　·　喜欢　·　的　·　两种问句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3695700" y="6977955"/>
            <a:ext cx="11114532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他爸爸喜欢黑色和白色，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所以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给他起名「黑白」。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9463088"/>
            <a:ext cx="33567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调查 · 混色 · 天蓝色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515380" y="9463088"/>
            <a:ext cx="40908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p.101–102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2026-09-14T06:49:28Z</dcterms:created>
  <dcterms:modified xsi:type="dcterms:W3CDTF">2026-09-14T06:49:28Z</dcterms:modified>
</cp:coreProperties>
</file>