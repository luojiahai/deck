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67112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· L10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51372" y="166688"/>
            <a:ext cx="13328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菜市场 Fresh Market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335494" y="176213"/>
            <a:ext cx="3555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360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3 · 第四单元 · 第十课 · PP.90–91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447925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900"/>
              </a:spcBef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菜市场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416498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500"/>
              </a:spcBef>
              <a:buNone/>
            </a:pPr>
            <a:r>
              <a:rPr lang="en-US" sz="30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Fresh Market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08949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700"/>
              </a:spcBef>
              <a:buNone/>
            </a:pPr>
            <a:r>
              <a:rPr lang="en-US" sz="180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1 of 6 · 市场词汇 Market Vocabulary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521250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7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六个新词 · 三个学习环 · 50 分钟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67037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50628" y="166688"/>
            <a:ext cx="8370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复习 Review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143" y="176213"/>
            <a:ext cx="4007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5615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上节课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45035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7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Lesson 9 文具 Stationery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2500610"/>
            <a:ext cx="3522166" cy="1231702"/>
          </a:xfrm>
          <a:prstGeom prst="roundRect">
            <a:avLst>
              <a:gd name="adj" fmla="val 1031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13583" y="2725936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文具店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334917" y="2500610"/>
            <a:ext cx="3522166" cy="1231702"/>
          </a:xfrm>
          <a:prstGeom prst="roundRect">
            <a:avLst>
              <a:gd name="adj" fmla="val 1031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438900" y="2725936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铅笔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060234" y="2500610"/>
            <a:ext cx="3522166" cy="1231702"/>
          </a:xfrm>
          <a:prstGeom prst="roundRect">
            <a:avLst>
              <a:gd name="adj" fmla="val 1031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64217" y="2725936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橡皮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09600" y="3948112"/>
            <a:ext cx="10972800" cy="1279178"/>
          </a:xfrm>
          <a:prstGeom prst="roundRect">
            <a:avLst>
              <a:gd name="adj" fmla="val 9928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08000" y="4182963"/>
            <a:ext cx="10583519" cy="334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看字说拼音和英文。 </a:t>
            </a:r>
            <a:r>
              <a:rPr lang="en-US" sz="17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Then:</a:t>
            </a:r>
            <a:r>
              <a:rPr lang="en-US" sz="17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两位同学用「里边」说一句话。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08000" y="4619179"/>
            <a:ext cx="1058351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800"/>
              </a:spcBef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我的文具盒里边有三支铅笔。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19051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学习目标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441" y="176213"/>
            <a:ext cx="4004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3820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27075"/>
            <a:ext cx="9715500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7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describe what a fresh market sells, and say that its food is fresh and cheap.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1707952"/>
            <a:ext cx="10972800" cy="951012"/>
          </a:xfrm>
          <a:prstGeom prst="roundRect">
            <a:avLst>
              <a:gd name="adj" fmla="val 8013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2275" y="188252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279327" y="1882527"/>
            <a:ext cx="516940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name a market and a fresh market in Chinese.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79327" y="2217688"/>
            <a:ext cx="51694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能说出「市场」和「菜市场」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9600" y="2811363"/>
            <a:ext cx="10972800" cy="951012"/>
          </a:xfrm>
          <a:prstGeom prst="roundRect">
            <a:avLst>
              <a:gd name="adj" fmla="val 8013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2985939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1279327" y="2985939"/>
            <a:ext cx="408081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name two kinds of meat sold there.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79327" y="3321100"/>
            <a:ext cx="408081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能说出「猪肉」和「牛肉」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9600" y="3914775"/>
            <a:ext cx="10972800" cy="951012"/>
          </a:xfrm>
          <a:prstGeom prst="roundRect">
            <a:avLst>
              <a:gd name="adj" fmla="val 8013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2275" y="408935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1279327" y="4089350"/>
            <a:ext cx="380194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describe food as fresh or cheap.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79327" y="4424511"/>
            <a:ext cx="38019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2F6B4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能用「新鲜」「便宜」描述食物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生词 1 · Cycle 1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846" y="176213"/>
            <a:ext cx="4010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9855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WORDS · 跟我读两遍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00076"/>
            <a:ext cx="5308550" cy="3584823"/>
          </a:xfrm>
          <a:prstGeom prst="roundRect">
            <a:avLst>
              <a:gd name="adj" fmla="val 3543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Users/luojiahai/code/deck/index/designs/y9-l10-demo/img/shicha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7250" y="2063502"/>
            <a:ext cx="1473101" cy="147310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81449" y="3650903"/>
            <a:ext cx="98399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shìchǎng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070003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市场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946053" y="4854773"/>
            <a:ext cx="64835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market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800076"/>
            <a:ext cx="5308699" cy="3584823"/>
          </a:xfrm>
          <a:prstGeom prst="roundRect">
            <a:avLst>
              <a:gd name="adj" fmla="val 3543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Users/luojiahai/code/deck/index/designs/y9-l10-demo/img/caishicha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0" y="2063502"/>
            <a:ext cx="1473101" cy="147310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286899" y="3650903"/>
            <a:ext cx="130779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càishìchǎng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204150" y="4070003"/>
            <a:ext cx="1476604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菜市场</a:t>
            </a:r>
            <a:endParaRPr lang="en-US" sz="3800" dirty="0"/>
          </a:p>
        </p:txBody>
      </p:sp>
      <p:sp>
        <p:nvSpPr>
          <p:cNvPr id="18" name="Text 14"/>
          <p:cNvSpPr/>
          <p:nvPr/>
        </p:nvSpPr>
        <p:spPr>
          <a:xfrm>
            <a:off x="8343156" y="4715173"/>
            <a:ext cx="11931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fresh market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143" y="176213"/>
            <a:ext cx="4007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8126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例句 · 读一遍，再一起读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57486"/>
            <a:ext cx="10972800" cy="1077367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557486"/>
            <a:ext cx="0" cy="1077367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722537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我家附近有一个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市场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231678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There is a market near my home.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50654"/>
            <a:ext cx="10972800" cy="1077367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50654"/>
            <a:ext cx="0" cy="1077367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15704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妈妈喜欢去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菜市场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买菜。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24845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Mum likes going to the fresh market to buy food.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143821"/>
            <a:ext cx="10972800" cy="1077367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143821"/>
            <a:ext cx="0" cy="1077367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308872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我家附近的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市场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是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菜市场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818013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market near my home is a fresh market.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37358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问：妈妈去哪里买菜？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399" y="176213"/>
            <a:ext cx="4015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6273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写一句 · 60 秒 · 写在小白板上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89708"/>
            <a:ext cx="10972800" cy="1688902"/>
          </a:xfrm>
          <a:prstGeom prst="roundRect">
            <a:avLst>
              <a:gd name="adj" fmla="val 7520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462659"/>
            <a:ext cx="105316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我家附近有一个 ＿＿＿＿＿＿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33450" y="3034159"/>
            <a:ext cx="105316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我喜欢去 ＿＿＿＿＿＿ 买菜。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094411"/>
            <a:ext cx="10972800" cy="926157"/>
          </a:xfrm>
          <a:prstGeom prst="roundRect">
            <a:avLst>
              <a:gd name="adj" fmla="val 8228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278511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541937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用「</a:t>
            </a:r>
            <a:r>
              <a:rPr lang="en-US" sz="1600" b="1" dirty="0">
                <a:solidFill>
                  <a:srgbClr val="2F6B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因为……所以……</a:t>
            </a:r>
            <a:r>
              <a:rPr lang="en-US" sz="16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」把两句连起来，说说你妈妈为什么去菜市场买菜。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生词 2 · Cycle 2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6799" y="176213"/>
            <a:ext cx="3949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9855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WORDS · 跟我读两遍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00076"/>
            <a:ext cx="5308550" cy="3584823"/>
          </a:xfrm>
          <a:prstGeom prst="roundRect">
            <a:avLst>
              <a:gd name="adj" fmla="val 3543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Users/luojiahai/code/deck/index/designs/y9-l10-demo/img/zhuro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7250" y="2063502"/>
            <a:ext cx="1473101" cy="147310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895005" y="3650903"/>
            <a:ext cx="7523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zhūròu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070003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猪肉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3059460" y="4854773"/>
            <a:ext cx="4168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pork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800076"/>
            <a:ext cx="5308699" cy="3584823"/>
          </a:xfrm>
          <a:prstGeom prst="roundRect">
            <a:avLst>
              <a:gd name="adj" fmla="val 3543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Users/luojiahai/code/deck/index/designs/y9-l10-demo/img/niuro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0" y="2063502"/>
            <a:ext cx="1473101" cy="147310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83811" y="3650903"/>
            <a:ext cx="70224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niúròu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070003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牛肉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723709" y="4854773"/>
            <a:ext cx="4168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beef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697" y="176213"/>
            <a:ext cx="4012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8126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例句 · 读一遍，再一起读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57486"/>
            <a:ext cx="10972800" cy="1077367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557486"/>
            <a:ext cx="0" cy="1077367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722537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我喜欢吃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猪肉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231678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like eating pork.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50654"/>
            <a:ext cx="10972800" cy="1077367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50654"/>
            <a:ext cx="0" cy="1077367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15704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我不喜欢吃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牛肉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24845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don't like eating beef.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143821"/>
            <a:ext cx="10972800" cy="1077367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143821"/>
            <a:ext cx="0" cy="1077367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308872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妈妈买了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猪肉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牛肉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818013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Mum bought pork and beef.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37358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问：妈妈买了什么肉？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250" y="176213"/>
            <a:ext cx="4016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6273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写一句 · 60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89708"/>
            <a:ext cx="10972800" cy="1688902"/>
          </a:xfrm>
          <a:prstGeom prst="roundRect">
            <a:avLst>
              <a:gd name="adj" fmla="val 7520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462659"/>
            <a:ext cx="105316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我喜欢吃 ＿＿＿＿＿＿ ，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33450" y="3034159"/>
            <a:ext cx="105316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不喜欢吃 ＿＿＿＿＿＿ 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094411"/>
            <a:ext cx="10972800" cy="926157"/>
          </a:xfrm>
          <a:prstGeom prst="roundRect">
            <a:avLst>
              <a:gd name="adj" fmla="val 8228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278511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541937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说说你家一个星期买什么肉。写</a:t>
            </a:r>
            <a:r>
              <a:rPr lang="en-US" sz="1600" b="1" dirty="0">
                <a:solidFill>
                  <a:srgbClr val="2F6B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两句</a:t>
            </a:r>
            <a:r>
              <a:rPr lang="en-US" sz="16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：第一句说买什么，第二句用「</a:t>
            </a:r>
            <a:r>
              <a:rPr lang="en-US" sz="1600" b="1" dirty="0">
                <a:solidFill>
                  <a:srgbClr val="2F6B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因为……</a:t>
            </a:r>
            <a:r>
              <a:rPr lang="en-US" sz="16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」说为什么。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生词 3 · Cycle 3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4142" y="176213"/>
            <a:ext cx="4589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8879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WORDS · 跟我读两遍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290316"/>
            <a:ext cx="5308550" cy="2604343"/>
          </a:xfrm>
          <a:prstGeom prst="roundRect">
            <a:avLst>
              <a:gd name="adj" fmla="val 4876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68364" y="2706142"/>
            <a:ext cx="8066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xīnxiān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68301" y="3150543"/>
            <a:ext cx="4274820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新鲜（鮮）</a:t>
            </a:r>
            <a:endParaRPr lang="en-US" sz="6600" dirty="0"/>
          </a:p>
        </p:txBody>
      </p:sp>
      <p:sp>
        <p:nvSpPr>
          <p:cNvPr id="12" name="Text 10"/>
          <p:cNvSpPr/>
          <p:nvPr/>
        </p:nvSpPr>
        <p:spPr>
          <a:xfrm>
            <a:off x="3030289" y="4212134"/>
            <a:ext cx="4765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fresh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73701" y="2290316"/>
            <a:ext cx="5308699" cy="2604343"/>
          </a:xfrm>
          <a:prstGeom prst="roundRect">
            <a:avLst>
              <a:gd name="adj" fmla="val 4876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606730" y="2706142"/>
            <a:ext cx="6553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2F6B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piányi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089850" y="3150543"/>
            <a:ext cx="1709928" cy="921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便宜</a:t>
            </a:r>
            <a:endParaRPr lang="en-US" sz="6600" dirty="0"/>
          </a:p>
        </p:txBody>
      </p:sp>
      <p:sp>
        <p:nvSpPr>
          <p:cNvPr id="16" name="Text 14"/>
          <p:cNvSpPr/>
          <p:nvPr/>
        </p:nvSpPr>
        <p:spPr>
          <a:xfrm>
            <a:off x="8651677" y="4212134"/>
            <a:ext cx="5638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cheap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例句 3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58550" y="176213"/>
            <a:ext cx="43401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8126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例句 · 读一遍，再一起读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57486"/>
            <a:ext cx="10972800" cy="1077367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557486"/>
            <a:ext cx="0" cy="1077367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722537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这里的菜很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新鲜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231678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vegetables here are very fresh.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50654"/>
            <a:ext cx="10972800" cy="1077367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50654"/>
            <a:ext cx="0" cy="1077367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15704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这里的水果很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便宜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24845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fruit here is very cheap.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143821"/>
            <a:ext cx="10972800" cy="1077367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143821"/>
            <a:ext cx="0" cy="1077367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308872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菜市场的菜很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新鲜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，也很</a:t>
            </a:r>
            <a:r>
              <a:rPr lang="en-US" sz="26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便宜</a:t>
            </a:r>
            <a:r>
              <a:rPr lang="en-US" sz="260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818013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food at the fresh market is fresh, and cheap too.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37358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7A69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问：菜市场的菜怎么样？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写一句 3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398" y="176213"/>
            <a:ext cx="4596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6273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写一句 · 60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189708"/>
            <a:ext cx="10972800" cy="1688902"/>
          </a:xfrm>
          <a:prstGeom prst="roundRect">
            <a:avLst>
              <a:gd name="adj" fmla="val 7520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462659"/>
            <a:ext cx="105316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＿＿＿＿＿＿ 很新鲜。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33450" y="3034159"/>
            <a:ext cx="105316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＿＿＿＿＿＿ 很便宜。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094411"/>
            <a:ext cx="10972800" cy="926157"/>
          </a:xfrm>
          <a:prstGeom prst="roundRect">
            <a:avLst>
              <a:gd name="adj" fmla="val 8228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278511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541937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写</a:t>
            </a:r>
            <a:r>
              <a:rPr lang="en-US" sz="1600" b="1" dirty="0">
                <a:solidFill>
                  <a:srgbClr val="2F6B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三句</a:t>
            </a:r>
            <a:r>
              <a:rPr lang="en-US" sz="16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，说说你家附近的市场。每句都要用今天的一个新词，最后一句用「</a:t>
            </a:r>
            <a:r>
              <a:rPr lang="en-US" sz="1600" b="1" dirty="0">
                <a:solidFill>
                  <a:srgbClr val="2F6B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因为……所以……</a:t>
            </a:r>
            <a:r>
              <a:rPr lang="en-US" sz="16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」。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0239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CHECKPOINT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797248" y="166688"/>
            <a:ext cx="16067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认字 · Read them back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696" y="176213"/>
            <a:ext cx="4593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258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只看汉字 · 一起读 · 说拼音和英文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290911"/>
            <a:ext cx="3522166" cy="1231702"/>
          </a:xfrm>
          <a:prstGeom prst="roundRect">
            <a:avLst>
              <a:gd name="adj" fmla="val 1031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3583" y="2516237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市场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334917" y="2290911"/>
            <a:ext cx="3522166" cy="1231702"/>
          </a:xfrm>
          <a:prstGeom prst="roundRect">
            <a:avLst>
              <a:gd name="adj" fmla="val 1031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38900" y="2516237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菜市场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060234" y="2290911"/>
            <a:ext cx="3522166" cy="1231702"/>
          </a:xfrm>
          <a:prstGeom prst="roundRect">
            <a:avLst>
              <a:gd name="adj" fmla="val 1031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64217" y="2516237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猪肉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09600" y="3725763"/>
            <a:ext cx="3522166" cy="1231702"/>
          </a:xfrm>
          <a:prstGeom prst="roundRect">
            <a:avLst>
              <a:gd name="adj" fmla="val 1031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3583" y="395108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牛肉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334917" y="3725763"/>
            <a:ext cx="3522166" cy="1231702"/>
          </a:xfrm>
          <a:prstGeom prst="roundRect">
            <a:avLst>
              <a:gd name="adj" fmla="val 1031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438900" y="395108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新鲜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060234" y="3725763"/>
            <a:ext cx="3522166" cy="1231702"/>
          </a:xfrm>
          <a:prstGeom prst="roundRect">
            <a:avLst>
              <a:gd name="adj" fmla="val 1031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64217" y="395108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便宜</a:t>
            </a:r>
            <a:endParaRPr lang="en-US" sz="4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5537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句型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100" y="176213"/>
            <a:ext cx="4599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3820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今天的句型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65175"/>
            <a:ext cx="10972800" cy="1022152"/>
          </a:xfrm>
          <a:prstGeom prst="roundRect">
            <a:avLst>
              <a:gd name="adj" fmla="val 12425"/>
            </a:avLst>
          </a:prstGeom>
          <a:solidFill>
            <a:srgbClr val="E4D5BC"/>
          </a:solidFill>
          <a:ln w="19050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400026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我家附近有一个 …… ，那里的 …… 很 …… 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403128"/>
            <a:ext cx="10972800" cy="775841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633412" y="2403128"/>
            <a:ext cx="0" cy="775841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5825" y="2568178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我家附近有一个市场，那里的菜很新鲜。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09600" y="3394770"/>
            <a:ext cx="10972800" cy="775841"/>
          </a:xfrm>
          <a:prstGeom prst="rect">
            <a:avLst/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33412" y="3394770"/>
            <a:ext cx="0" cy="775841"/>
          </a:xfrm>
          <a:prstGeom prst="line">
            <a:avLst/>
          </a:prstGeom>
          <a:noFill/>
          <a:ln w="47625">
            <a:solidFill>
              <a:srgbClr val="2F6B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5825" y="3559820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我家附近有一个菜市场，那里的水果很便宜。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9600" y="4386411"/>
            <a:ext cx="10972800" cy="1077367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386411"/>
            <a:ext cx="0" cy="1077367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551462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我家附近有一个菜市场，那里的猪肉很新鲜，牛肉也很便宜。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5060603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 items, two descriptions — this is the one to aim for.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8610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20–43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37556" y="166688"/>
            <a:ext cx="16739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词汇总览 Today's Words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398" y="176213"/>
            <a:ext cx="45966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7828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今天的六个词 · 这块板一直留在屏幕上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67160"/>
            <a:ext cx="3539133" cy="1930152"/>
          </a:xfrm>
          <a:prstGeom prst="roundRect">
            <a:avLst>
              <a:gd name="adj" fmla="val 658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Users/luojiahai/code/deck/index/designs/y9-l10-demo/img/shicha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6517" y="1716286"/>
            <a:ext cx="965150" cy="9651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60066" y="2757636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市场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4326434" y="1567160"/>
            <a:ext cx="3539133" cy="1930152"/>
          </a:xfrm>
          <a:prstGeom prst="roundRect">
            <a:avLst>
              <a:gd name="adj" fmla="val 658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Users/luojiahai/code/deck/index/designs/y9-l10-demo/img/caishicha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350" y="1716286"/>
            <a:ext cx="965150" cy="9651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62600" y="2757636"/>
            <a:ext cx="108813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菜市场</a:t>
            </a:r>
            <a:endParaRPr lang="en-US" sz="2800" dirty="0"/>
          </a:p>
        </p:txBody>
      </p:sp>
      <p:sp>
        <p:nvSpPr>
          <p:cNvPr id="15" name="Text 11"/>
          <p:cNvSpPr/>
          <p:nvPr/>
        </p:nvSpPr>
        <p:spPr>
          <a:xfrm>
            <a:off x="8043267" y="1567160"/>
            <a:ext cx="3539133" cy="1930152"/>
          </a:xfrm>
          <a:prstGeom prst="roundRect">
            <a:avLst>
              <a:gd name="adj" fmla="val 658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Users/luojiahai/code/deck/index/designs/y9-l10-demo/img/zhuro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0184" y="1716286"/>
            <a:ext cx="965150" cy="9651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93734" y="2757636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猪肉</a:t>
            </a:r>
            <a:endParaRPr lang="en-US" sz="3300" dirty="0"/>
          </a:p>
        </p:txBody>
      </p:sp>
      <p:sp>
        <p:nvSpPr>
          <p:cNvPr id="18" name="Text 13"/>
          <p:cNvSpPr/>
          <p:nvPr/>
        </p:nvSpPr>
        <p:spPr>
          <a:xfrm>
            <a:off x="609600" y="3675013"/>
            <a:ext cx="3539133" cy="1930152"/>
          </a:xfrm>
          <a:prstGeom prst="roundRect">
            <a:avLst>
              <a:gd name="adj" fmla="val 658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Users/luojiahai/code/deck/index/designs/y9-l10-demo/img/niuro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6517" y="3824139"/>
            <a:ext cx="965150" cy="9651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960066" y="4865489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牛肉</a:t>
            </a:r>
            <a:endParaRPr lang="en-US" sz="3300" dirty="0"/>
          </a:p>
        </p:txBody>
      </p:sp>
      <p:sp>
        <p:nvSpPr>
          <p:cNvPr id="21" name="Text 15"/>
          <p:cNvSpPr/>
          <p:nvPr/>
        </p:nvSpPr>
        <p:spPr>
          <a:xfrm>
            <a:off x="4326434" y="3675013"/>
            <a:ext cx="3539133" cy="1930152"/>
          </a:xfrm>
          <a:prstGeom prst="roundRect">
            <a:avLst>
              <a:gd name="adj" fmla="val 658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6"/>
          <p:cNvSpPr/>
          <p:nvPr/>
        </p:nvSpPr>
        <p:spPr>
          <a:xfrm>
            <a:off x="5676900" y="4865489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新鲜</a:t>
            </a:r>
            <a:endParaRPr lang="en-US" sz="3300" dirty="0"/>
          </a:p>
        </p:txBody>
      </p:sp>
      <p:sp>
        <p:nvSpPr>
          <p:cNvPr id="23" name="Text 17"/>
          <p:cNvSpPr/>
          <p:nvPr/>
        </p:nvSpPr>
        <p:spPr>
          <a:xfrm>
            <a:off x="8043267" y="3675013"/>
            <a:ext cx="3539133" cy="1930152"/>
          </a:xfrm>
          <a:prstGeom prst="roundRect">
            <a:avLst>
              <a:gd name="adj" fmla="val 6580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8"/>
          <p:cNvSpPr/>
          <p:nvPr/>
        </p:nvSpPr>
        <p:spPr>
          <a:xfrm>
            <a:off x="9393734" y="4865489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便宜</a:t>
            </a:r>
            <a:endParaRPr lang="en-US" sz="3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58453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20–43 MIN · WE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346871" y="166688"/>
            <a:ext cx="16274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任务 · 给妈妈写一张便条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654" y="176213"/>
            <a:ext cx="4604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3820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用今天六个词，一个都不能少 · 4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14425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给妈妈写一张便条 — Write Mum a note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1644551"/>
            <a:ext cx="10972800" cy="2386310"/>
          </a:xfrm>
          <a:prstGeom prst="roundRect">
            <a:avLst>
              <a:gd name="adj" fmla="val 5322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08000" y="1879402"/>
            <a:ext cx="10583519" cy="334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写 </a:t>
            </a:r>
            <a:r>
              <a:rPr lang="en-US" sz="17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四句话</a:t>
            </a:r>
            <a:r>
              <a:rPr lang="en-US" sz="17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08000" y="2302966"/>
            <a:ext cx="1058351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spcBef>
                <a:spcPts val="700"/>
              </a:spcBef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1. 你去哪里 —— 市场 / 菜市场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08000" y="2676227"/>
            <a:ext cx="1058351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2. 你买了什么肉 —— 猪肉、牛肉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08000" y="3049488"/>
            <a:ext cx="1058351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3. 那里的菜怎么样 —— 新鲜、便宜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08000" y="3422749"/>
            <a:ext cx="1058351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4. 你为什么去那里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09600" y="4246662"/>
            <a:ext cx="10972800" cy="926157"/>
          </a:xfrm>
          <a:prstGeom prst="roundRect">
            <a:avLst>
              <a:gd name="adj" fmla="val 8228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57250" y="4430762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7250" y="4694188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不看词汇板写。加上「</a:t>
            </a:r>
            <a:r>
              <a:rPr lang="en-US" sz="1600" b="1" dirty="0">
                <a:solidFill>
                  <a:srgbClr val="2F6B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因为……所以……</a:t>
            </a:r>
            <a:r>
              <a:rPr lang="en-US" sz="16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」，再写一样你</a:t>
            </a:r>
            <a:r>
              <a:rPr lang="en-US" sz="1600" b="1" dirty="0">
                <a:solidFill>
                  <a:srgbClr val="2F6B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没买</a:t>
            </a:r>
            <a:r>
              <a:rPr lang="en-US" sz="16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的东西和原因。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8610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20–43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37556" y="166688"/>
            <a:ext cx="21240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游戏 · 拍字 Slap the Character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9054" y="176213"/>
            <a:ext cx="4538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17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669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5 分钟 · 两人一组上黑板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43211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拍字 Slap the Character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2173337"/>
            <a:ext cx="10972800" cy="804416"/>
          </a:xfrm>
          <a:prstGeom prst="roundRect">
            <a:avLst>
              <a:gd name="adj" fmla="val 15788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08000" y="2408188"/>
            <a:ext cx="10583519" cy="334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六个词写在黑板上。老师说英文 —— 最快拍到那个词的同学得一分。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09600" y="3142804"/>
            <a:ext cx="3522166" cy="1231702"/>
          </a:xfrm>
          <a:prstGeom prst="roundRect">
            <a:avLst>
              <a:gd name="adj" fmla="val 1031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3583" y="336812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市场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4334917" y="3142804"/>
            <a:ext cx="3522166" cy="1231702"/>
          </a:xfrm>
          <a:prstGeom prst="roundRect">
            <a:avLst>
              <a:gd name="adj" fmla="val 1031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38900" y="336812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猪肉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060234" y="3142804"/>
            <a:ext cx="3522166" cy="1231702"/>
          </a:xfrm>
          <a:prstGeom prst="roundRect">
            <a:avLst>
              <a:gd name="adj" fmla="val 10311"/>
            </a:avLst>
          </a:prstGeom>
          <a:solidFill>
            <a:srgbClr val="F1E8D8"/>
          </a:solidFill>
          <a:ln w="9525">
            <a:solidFill>
              <a:srgbClr val="E0CFB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164217" y="336812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新鲜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09600" y="4590306"/>
            <a:ext cx="10972800" cy="926157"/>
          </a:xfrm>
          <a:prstGeom prst="roundRect">
            <a:avLst>
              <a:gd name="adj" fmla="val 8228"/>
            </a:avLst>
          </a:prstGeom>
          <a:solidFill>
            <a:srgbClr val="2F6B44">
              <a:alpha val="10000"/>
            </a:srgbClr>
          </a:solidFill>
          <a:ln w="19050">
            <a:solidFill>
              <a:srgbClr val="2F6B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57250" y="4774406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F6B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 · 加分题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7250" y="5037832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老师改说</a:t>
            </a:r>
            <a:r>
              <a:rPr lang="en-US" sz="1600" b="1" dirty="0">
                <a:solidFill>
                  <a:srgbClr val="2F6B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整句中文</a:t>
            </a:r>
            <a:r>
              <a:rPr lang="en-US" sz="16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，把那个词换成「什么」。学生要先拍字，再把</a:t>
            </a:r>
            <a:r>
              <a:rPr lang="en-US" sz="1600" b="1" dirty="0">
                <a:solidFill>
                  <a:srgbClr val="2F6B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完整的句子</a:t>
            </a:r>
            <a:r>
              <a:rPr lang="en-US" sz="16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说出来才算分。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AF6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0CF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8614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38002" y="166688"/>
            <a:ext cx="8596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小结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952" y="176213"/>
            <a:ext cx="4601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9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18 / 18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3949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15716"/>
            <a:ext cx="11192256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spcBef>
                <a:spcPts val="600"/>
              </a:spcBef>
              <a:buNone/>
            </a:pPr>
            <a:r>
              <a:rPr lang="en-US" sz="23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今天学会了吗？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9600" y="2433191"/>
            <a:ext cx="10972800" cy="804416"/>
          </a:xfrm>
          <a:prstGeom prst="roundRect">
            <a:avLst>
              <a:gd name="adj" fmla="val 15788"/>
            </a:avLst>
          </a:prstGeom>
          <a:solidFill>
            <a:srgbClr val="F1E8D8"/>
          </a:solidFill>
          <a:ln w="19050">
            <a:solidFill>
              <a:srgbClr val="C9B39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08000" y="2668042"/>
            <a:ext cx="10583519" cy="334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35"/>
              </a:lnSpc>
              <a:buNone/>
            </a:pPr>
            <a:r>
              <a:rPr lang="en-US" sz="17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自评</a:t>
            </a:r>
            <a:r>
              <a:rPr lang="en-US" sz="17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三个目标，每个举手：会 / 差不多 / 还不会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09600" y="3402657"/>
            <a:ext cx="10972800" cy="1380827"/>
          </a:xfrm>
          <a:prstGeom prst="roundRect">
            <a:avLst>
              <a:gd name="adj" fmla="val 9197"/>
            </a:avLst>
          </a:prstGeom>
          <a:solidFill>
            <a:srgbClr val="E4D5BC"/>
          </a:solidFill>
          <a:ln w="19050">
            <a:solidFill>
              <a:srgbClr val="A8700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33450" y="3675608"/>
            <a:ext cx="105316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 · 出门条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3450" y="3939034"/>
            <a:ext cx="1053160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spcBef>
                <a:spcPts val="500"/>
              </a:spcBef>
              <a:buNone/>
            </a:pPr>
            <a:r>
              <a:rPr lang="en-US" sz="30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写一句话，用「新鲜」或者「便宜」，说说菜市场。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09600" y="4948535"/>
            <a:ext cx="1119225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5"/>
              </a:lnSpc>
              <a:spcBef>
                <a:spcPts val="1300"/>
              </a:spcBef>
              <a:buNone/>
            </a:pPr>
            <a:r>
              <a:rPr lang="en-US" sz="1500" b="1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下节课：</a:t>
            </a:r>
            <a:r>
              <a:rPr lang="en-US" sz="1500" dirty="0">
                <a:solidFill>
                  <a:srgbClr val="5C4A3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用「比」比较菜市场和超市 —— 菜市场的菜比超市的便宜。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2026-09-14T01:03:10Z</dcterms:created>
  <dcterms:modified xsi:type="dcterms:W3CDTF">2026-09-14T01:03:10Z</dcterms:modified>
</cp:coreProperties>
</file>