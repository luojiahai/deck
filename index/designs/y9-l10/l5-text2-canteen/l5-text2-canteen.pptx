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66323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Y9 · L10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43633" y="166688"/>
            <a:ext cx="141087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菜市场 Fresh Market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2334" y="176213"/>
            <a:ext cx="3995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 / 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133600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3 · 第四单元 · 第十课 · PP.95–96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447925"/>
            <a:ext cx="11192256" cy="905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28"/>
              </a:lnSpc>
              <a:spcBef>
                <a:spcPts val="900"/>
              </a:spcBef>
              <a:buNone/>
            </a:pPr>
            <a:r>
              <a:rPr lang="en-US" sz="66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盒饭</a:t>
            </a:r>
            <a:endParaRPr lang="en-US" sz="6600" dirty="0"/>
          </a:p>
        </p:txBody>
      </p:sp>
      <p:sp>
        <p:nvSpPr>
          <p:cNvPr id="10" name="Text 8"/>
          <p:cNvSpPr/>
          <p:nvPr/>
        </p:nvSpPr>
        <p:spPr>
          <a:xfrm>
            <a:off x="609600" y="3416498"/>
            <a:ext cx="11192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Bef>
                <a:spcPts val="500"/>
              </a:spcBef>
              <a:buNone/>
            </a:pPr>
            <a:r>
              <a:rPr lang="en-US" sz="300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Lunch at the School Canteen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09600" y="4089499"/>
            <a:ext cx="111922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1700"/>
              </a:spcBef>
              <a:buNone/>
            </a:pPr>
            <a:r>
              <a:rPr lang="en-US" sz="18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5 of 6 · 课文二 学校餐厅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09600" y="4521250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700"/>
              </a:spcBef>
              <a:buNone/>
            </a:pP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五个新词 · 三个学习环 · 50 分钟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67037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0–8 MIN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50628" y="166688"/>
            <a:ext cx="83705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复习 Review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7182" y="176213"/>
            <a:ext cx="42520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 / 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045345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REVIEW · 作业本练习十一 · 阅读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321570"/>
            <a:ext cx="11192256" cy="365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5"/>
              </a:lnSpc>
              <a:spcBef>
                <a:spcPts val="600"/>
              </a:spcBef>
              <a:buNone/>
            </a:pPr>
            <a:r>
              <a:rPr lang="en-US" sz="23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上节课 · 课文一的词和部首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609600" y="2851696"/>
            <a:ext cx="10972800" cy="1986260"/>
          </a:xfrm>
          <a:prstGeom prst="roundRect">
            <a:avLst>
              <a:gd name="adj" fmla="val 6394"/>
            </a:avLst>
          </a:prstGeom>
          <a:solidFill>
            <a:srgbClr val="F1E8D8"/>
          </a:solidFill>
          <a:ln w="19050">
            <a:solidFill>
              <a:srgbClr val="C9B39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933450" y="3099346"/>
            <a:ext cx="1053160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我妈妈最近在减肥。猪肉、牛肉、羊肉、鸡肉，她都不吃。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933450" y="3499396"/>
            <a:ext cx="1053160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她只吃鱼、虾、蔬菜、豆腐和水果。她每天会吃四五种蔬菜和水果。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933450" y="3899446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一起读，然后</a:t>
            </a:r>
            <a:r>
              <a:rPr lang="en-US" sz="17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用中文</a:t>
            </a: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回答：她现在只吃什么？ 她每天要吃几种蔬菜和水果？ 她最近瘦了很多吗？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33450" y="4244876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小白板：</a:t>
            </a: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写「鲜」，圈部首。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74171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8–10 MIN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520577" y="166688"/>
            <a:ext cx="190514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学习目标 Learning Intention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7480" y="176213"/>
            <a:ext cx="42490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 / 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389906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WE ARE LEARNING TO…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678781"/>
            <a:ext cx="9715500" cy="365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5"/>
              </a:lnSpc>
              <a:spcBef>
                <a:spcPts val="700"/>
              </a:spcBef>
              <a:buNone/>
            </a:pPr>
            <a:r>
              <a:rPr lang="en-US" sz="23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say what we usually buy for lunch at school, and how much it costs.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609600" y="2259657"/>
            <a:ext cx="10972800" cy="976312"/>
          </a:xfrm>
          <a:prstGeom prst="roundRect">
            <a:avLst>
              <a:gd name="adj" fmla="val 7805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22275" y="2446883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1279327" y="2446883"/>
            <a:ext cx="6475836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name a sandwich, a box lunch, crisps and chips in Chinese.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79327" y="2782044"/>
            <a:ext cx="647583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能说出「三明治」「盒饭」「薯片」「薯条」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09600" y="3388370"/>
            <a:ext cx="10972800" cy="976312"/>
          </a:xfrm>
          <a:prstGeom prst="roundRect">
            <a:avLst>
              <a:gd name="adj" fmla="val 7805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22275" y="3575596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1279327" y="3575596"/>
            <a:ext cx="3659556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say what I usually do with 平时.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79327" y="3910757"/>
            <a:ext cx="365955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能用「平时」说日常的事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09600" y="4517082"/>
            <a:ext cx="10972800" cy="976312"/>
          </a:xfrm>
          <a:prstGeom prst="roundRect">
            <a:avLst>
              <a:gd name="adj" fmla="val 7805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822275" y="4704308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1279327" y="4704308"/>
            <a:ext cx="3436251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ask and answer 多少钱一盒？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79327" y="5039469"/>
            <a:ext cx="343625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能问价钱，也能回答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40874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生词 1 · Cycle 1 of 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6884" y="176213"/>
            <a:ext cx="42550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 / 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15550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NEW WORDS · 跟我读两遍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457027"/>
            <a:ext cx="5308550" cy="4270921"/>
          </a:xfrm>
          <a:prstGeom prst="roundRect">
            <a:avLst>
              <a:gd name="adj" fmla="val 2974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/Users/luojiahai/code/deck/index/designs/y9-l10/img/sanmingzh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1301" y="1847552"/>
            <a:ext cx="1905000" cy="1905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656731" y="3866852"/>
            <a:ext cx="123842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sānmíngzhì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2540050" y="4285952"/>
            <a:ext cx="1476604" cy="530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0"/>
              </a:lnSpc>
              <a:buNone/>
            </a:pPr>
            <a:r>
              <a:rPr lang="en-US" sz="38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三明治</a:t>
            </a:r>
            <a:endParaRPr lang="en-US" sz="3800" dirty="0"/>
          </a:p>
        </p:txBody>
      </p:sp>
      <p:sp>
        <p:nvSpPr>
          <p:cNvPr id="13" name="Text 10"/>
          <p:cNvSpPr/>
          <p:nvPr/>
        </p:nvSpPr>
        <p:spPr>
          <a:xfrm>
            <a:off x="2836813" y="4931122"/>
            <a:ext cx="87120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sandwich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273701" y="1457027"/>
            <a:ext cx="5308699" cy="4270921"/>
          </a:xfrm>
          <a:prstGeom prst="roundRect">
            <a:avLst>
              <a:gd name="adj" fmla="val 2974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5" name="Image 1" descr="/Users/luojiahai/code/deck/index/designs/y9-l10/img/hef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5550" y="1847552"/>
            <a:ext cx="1905000" cy="19050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628311" y="3866852"/>
            <a:ext cx="61131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héfàn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8318450" y="4285952"/>
            <a:ext cx="1243584" cy="670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盒饭</a:t>
            </a:r>
            <a:endParaRPr lang="en-US" sz="4800" dirty="0"/>
          </a:p>
        </p:txBody>
      </p:sp>
      <p:sp>
        <p:nvSpPr>
          <p:cNvPr id="18" name="Text 14"/>
          <p:cNvSpPr/>
          <p:nvPr/>
        </p:nvSpPr>
        <p:spPr>
          <a:xfrm>
            <a:off x="8485138" y="5070723"/>
            <a:ext cx="9033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box lunch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62097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1 · See them used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7182" y="176213"/>
            <a:ext cx="42520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 / 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382613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· 读一遍，再一起读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658838"/>
            <a:ext cx="10972800" cy="1052066"/>
          </a:xfrm>
          <a:prstGeom prst="rect">
            <a:avLst/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33412" y="1658838"/>
            <a:ext cx="0" cy="1052066"/>
          </a:xfrm>
          <a:prstGeom prst="line">
            <a:avLst/>
          </a:prstGeom>
          <a:noFill/>
          <a:ln w="47625">
            <a:solidFill>
              <a:srgbClr val="2F6B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5825" y="1811238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我有时候从家里带</a:t>
            </a:r>
            <a:r>
              <a:rPr lang="en-US" sz="260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三明治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85825" y="2320379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sometimes bring a sandwich from home.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09600" y="2863304"/>
            <a:ext cx="10972800" cy="1052066"/>
          </a:xfrm>
          <a:prstGeom prst="rect">
            <a:avLst/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33412" y="2863304"/>
            <a:ext cx="0" cy="1052066"/>
          </a:xfrm>
          <a:prstGeom prst="line">
            <a:avLst/>
          </a:prstGeom>
          <a:noFill/>
          <a:ln w="47625">
            <a:solidFill>
              <a:srgbClr val="2F6B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5825" y="3015704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我通常买</a:t>
            </a:r>
            <a:r>
              <a:rPr lang="en-US" sz="260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盒饭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吃。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85825" y="3524845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usually buy a box lunch.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09600" y="4067770"/>
            <a:ext cx="10972800" cy="1052066"/>
          </a:xfrm>
          <a:prstGeom prst="rect">
            <a:avLst/>
          </a:prstGeom>
          <a:solidFill>
            <a:srgbClr val="A8432E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33412" y="4067770"/>
            <a:ext cx="0" cy="1052066"/>
          </a:xfrm>
          <a:prstGeom prst="line">
            <a:avLst/>
          </a:prstGeom>
          <a:noFill/>
          <a:ln w="47625">
            <a:solidFill>
              <a:srgbClr val="A843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5825" y="4220170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我有时候带</a:t>
            </a:r>
            <a:r>
              <a:rPr lang="en-US" sz="260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三明治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，有时候买</a:t>
            </a:r>
            <a:r>
              <a:rPr lang="en-US" sz="260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盒饭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85825" y="4729311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Sometimes a sandwich, sometimes a box lunch.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09600" y="5272236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问：盒饭多少钱一盒？（课文二：十九块）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78583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1 · Write your own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6438" y="176213"/>
            <a:ext cx="42596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 / 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722983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· 60 秒 · 写在小白板上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049959"/>
            <a:ext cx="10972800" cy="1981200"/>
          </a:xfrm>
          <a:prstGeom prst="roundRect">
            <a:avLst>
              <a:gd name="adj" fmla="val 6410"/>
            </a:avLst>
          </a:prstGeom>
          <a:solidFill>
            <a:srgbClr val="E4D5BC"/>
          </a:solidFill>
          <a:ln w="19050">
            <a:solidFill>
              <a:srgbClr val="A8700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8751" y="2373809"/>
            <a:ext cx="1047998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0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我午饭有时候吃＿＿＿＿。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958751" y="3040559"/>
            <a:ext cx="1047998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0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我通常买＿＿＿＿。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09600" y="4208859"/>
            <a:ext cx="10972800" cy="951458"/>
          </a:xfrm>
          <a:prstGeom prst="roundRect">
            <a:avLst>
              <a:gd name="adj" fmla="val 8009"/>
            </a:avLst>
          </a:prstGeom>
          <a:solidFill>
            <a:srgbClr val="2F6B44">
              <a:alpha val="10000"/>
            </a:srgbClr>
          </a:solidFill>
          <a:ln w="19050">
            <a:solidFill>
              <a:srgbClr val="2F6B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57250" y="4405610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 · 加分题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57250" y="4669036"/>
            <a:ext cx="10687050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用「</a:t>
            </a:r>
            <a:r>
              <a:rPr lang="en-US" sz="16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有时候……，有时候……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」写一句，</a:t>
            </a:r>
            <a:r>
              <a:rPr lang="en-US" sz="16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再加上价钱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。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46339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生词 2 · Cycle 2 of 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72838" y="176213"/>
            <a:ext cx="41943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 / 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15550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NEW WORDS · 跟我读两遍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457027"/>
            <a:ext cx="5308550" cy="4270921"/>
          </a:xfrm>
          <a:prstGeom prst="roundRect">
            <a:avLst>
              <a:gd name="adj" fmla="val 2974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/Users/luojiahai/code/deck/index/designs/y9-l10/img/shupi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1301" y="1847552"/>
            <a:ext cx="1905000" cy="1905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841873" y="3866852"/>
            <a:ext cx="86073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shǔpiàn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2654201" y="4285952"/>
            <a:ext cx="1243584" cy="670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薯片</a:t>
            </a:r>
            <a:endParaRPr lang="en-US" sz="4800" dirty="0"/>
          </a:p>
        </p:txBody>
      </p:sp>
      <p:sp>
        <p:nvSpPr>
          <p:cNvPr id="13" name="Text 10"/>
          <p:cNvSpPr/>
          <p:nvPr/>
        </p:nvSpPr>
        <p:spPr>
          <a:xfrm>
            <a:off x="2685752" y="5070723"/>
            <a:ext cx="117937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chips; crisps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273701" y="1457027"/>
            <a:ext cx="5308699" cy="4270921"/>
          </a:xfrm>
          <a:prstGeom prst="roundRect">
            <a:avLst>
              <a:gd name="adj" fmla="val 2974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5" name="Image 1" descr="/Users/luojiahai/code/deck/index/designs/y9-l10/img/shutia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5550" y="1847552"/>
            <a:ext cx="1905000" cy="19050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529489" y="3866852"/>
            <a:ext cx="81291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shǔtiáo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8318450" y="4285952"/>
            <a:ext cx="1243584" cy="670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薯条</a:t>
            </a:r>
            <a:endParaRPr lang="en-US" sz="4800" dirty="0"/>
          </a:p>
        </p:txBody>
      </p:sp>
      <p:sp>
        <p:nvSpPr>
          <p:cNvPr id="18" name="Text 14"/>
          <p:cNvSpPr/>
          <p:nvPr/>
        </p:nvSpPr>
        <p:spPr>
          <a:xfrm>
            <a:off x="8377238" y="5070723"/>
            <a:ext cx="112350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French fries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64829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2 · See them used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6736" y="176213"/>
            <a:ext cx="42566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 / 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382613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· 读一遍，再一起读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658838"/>
            <a:ext cx="10972800" cy="1052066"/>
          </a:xfrm>
          <a:prstGeom prst="rect">
            <a:avLst/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33412" y="1658838"/>
            <a:ext cx="0" cy="1052066"/>
          </a:xfrm>
          <a:prstGeom prst="line">
            <a:avLst/>
          </a:prstGeom>
          <a:noFill/>
          <a:ln w="47625">
            <a:solidFill>
              <a:srgbClr val="2F6B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5825" y="1811238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薯片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七块六。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85825" y="2320379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Crisps are 7.60.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09600" y="2863304"/>
            <a:ext cx="10972800" cy="1052066"/>
          </a:xfrm>
          <a:prstGeom prst="rect">
            <a:avLst/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33412" y="2863304"/>
            <a:ext cx="0" cy="1052066"/>
          </a:xfrm>
          <a:prstGeom prst="line">
            <a:avLst/>
          </a:prstGeom>
          <a:noFill/>
          <a:ln w="47625">
            <a:solidFill>
              <a:srgbClr val="2F6B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5825" y="3015704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我不常吃</a:t>
            </a:r>
            <a:r>
              <a:rPr lang="en-US" sz="260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薯条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85825" y="3524845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don't often eat fries.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09600" y="4067770"/>
            <a:ext cx="10972800" cy="1052066"/>
          </a:xfrm>
          <a:prstGeom prst="rect">
            <a:avLst/>
          </a:prstGeom>
          <a:solidFill>
            <a:srgbClr val="A8432E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33412" y="4067770"/>
            <a:ext cx="0" cy="1052066"/>
          </a:xfrm>
          <a:prstGeom prst="line">
            <a:avLst/>
          </a:prstGeom>
          <a:noFill/>
          <a:ln w="47625">
            <a:solidFill>
              <a:srgbClr val="A843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5825" y="4220170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薯片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比</a:t>
            </a:r>
            <a:r>
              <a:rPr lang="en-US" sz="260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薯条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贵。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85825" y="4729311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Crisps cost more than fries.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09600" y="5272236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问：薯片和薯条，哪个便宜？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81315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2 · Write your own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6289" y="176213"/>
            <a:ext cx="42611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9 / 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056358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· 60 秒 · 写在小白板上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383334"/>
            <a:ext cx="10972800" cy="1314450"/>
          </a:xfrm>
          <a:prstGeom prst="roundRect">
            <a:avLst>
              <a:gd name="adj" fmla="val 9662"/>
            </a:avLst>
          </a:prstGeom>
          <a:solidFill>
            <a:srgbClr val="E4D5BC"/>
          </a:solidFill>
          <a:ln w="19050">
            <a:solidFill>
              <a:srgbClr val="A8700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8751" y="2707184"/>
            <a:ext cx="1047998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0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＿＿＿＿比＿＿＿＿便宜。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09600" y="3875484"/>
            <a:ext cx="10972800" cy="951458"/>
          </a:xfrm>
          <a:prstGeom prst="roundRect">
            <a:avLst>
              <a:gd name="adj" fmla="val 8009"/>
            </a:avLst>
          </a:prstGeom>
          <a:solidFill>
            <a:srgbClr val="2F6B44">
              <a:alpha val="10000"/>
            </a:srgbClr>
          </a:solidFill>
          <a:ln w="19050">
            <a:solidFill>
              <a:srgbClr val="2F6B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57250" y="4072235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 · 加分题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57250" y="4335661"/>
            <a:ext cx="10687050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三样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东西排价钱，从便宜到贵，用</a:t>
            </a:r>
            <a:r>
              <a:rPr lang="en-US" sz="16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两个「比」句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写出来。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46339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生词 3 · Cycle 3 of 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10181" y="176213"/>
            <a:ext cx="48334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 / 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417290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NEW WORDS · 说日常的事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718816"/>
            <a:ext cx="5308550" cy="3747343"/>
          </a:xfrm>
          <a:prstGeom prst="roundRect">
            <a:avLst>
              <a:gd name="adj" fmla="val 3389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872532" y="2668042"/>
            <a:ext cx="79834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píngshí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2425601" y="3150543"/>
            <a:ext cx="1709928" cy="921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60"/>
              </a:lnSpc>
              <a:buNone/>
            </a:pPr>
            <a:r>
              <a:rPr lang="en-US" sz="66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平时</a:t>
            </a:r>
            <a:endParaRPr lang="en-US" sz="6600" dirty="0"/>
          </a:p>
        </p:txBody>
      </p:sp>
      <p:sp>
        <p:nvSpPr>
          <p:cNvPr id="12" name="Text 10"/>
          <p:cNvSpPr/>
          <p:nvPr/>
        </p:nvSpPr>
        <p:spPr>
          <a:xfrm>
            <a:off x="2950369" y="4250234"/>
            <a:ext cx="63940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usually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273701" y="1718816"/>
            <a:ext cx="5308699" cy="3747343"/>
          </a:xfrm>
          <a:prstGeom prst="roundRect">
            <a:avLst>
              <a:gd name="adj" fmla="val 3389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358336" y="2668042"/>
            <a:ext cx="116206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tōngcháng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089850" y="3150543"/>
            <a:ext cx="1709928" cy="921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60"/>
              </a:lnSpc>
              <a:buNone/>
            </a:pPr>
            <a:r>
              <a:rPr lang="en-US" sz="66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通常</a:t>
            </a:r>
            <a:endParaRPr lang="en-US" sz="6600" dirty="0"/>
          </a:p>
        </p:txBody>
      </p:sp>
      <p:sp>
        <p:nvSpPr>
          <p:cNvPr id="16" name="Text 14"/>
          <p:cNvSpPr/>
          <p:nvPr/>
        </p:nvSpPr>
        <p:spPr>
          <a:xfrm>
            <a:off x="8226326" y="4250234"/>
            <a:ext cx="14313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usually（已学）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64829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3 · See them used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4440" y="176213"/>
            <a:ext cx="45860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11 / 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382613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· 读一遍，再一起读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658838"/>
            <a:ext cx="10972800" cy="1052066"/>
          </a:xfrm>
          <a:prstGeom prst="rect">
            <a:avLst/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33412" y="1658838"/>
            <a:ext cx="0" cy="1052066"/>
          </a:xfrm>
          <a:prstGeom prst="line">
            <a:avLst/>
          </a:prstGeom>
          <a:noFill/>
          <a:ln w="47625">
            <a:solidFill>
              <a:srgbClr val="2F6B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5825" y="1811238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</a:t>
            </a:r>
            <a:r>
              <a:rPr lang="en-US" sz="260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平时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买些什么？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85825" y="2320379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What do you usually buy?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09600" y="2863304"/>
            <a:ext cx="10972800" cy="1052066"/>
          </a:xfrm>
          <a:prstGeom prst="rect">
            <a:avLst/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33412" y="2863304"/>
            <a:ext cx="0" cy="1052066"/>
          </a:xfrm>
          <a:prstGeom prst="line">
            <a:avLst/>
          </a:prstGeom>
          <a:noFill/>
          <a:ln w="47625">
            <a:solidFill>
              <a:srgbClr val="2F6B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5825" y="3015704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</a:t>
            </a:r>
            <a:r>
              <a:rPr lang="en-US" sz="260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平时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在学校餐厅买东西吃。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85825" y="3524845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usually buy something at the school canteen.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09600" y="4067770"/>
            <a:ext cx="10972800" cy="1052066"/>
          </a:xfrm>
          <a:prstGeom prst="rect">
            <a:avLst/>
          </a:prstGeom>
          <a:solidFill>
            <a:srgbClr val="A8432E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33412" y="4067770"/>
            <a:ext cx="0" cy="1052066"/>
          </a:xfrm>
          <a:prstGeom prst="line">
            <a:avLst/>
          </a:prstGeom>
          <a:noFill/>
          <a:ln w="47625">
            <a:solidFill>
              <a:srgbClr val="A843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5825" y="4220170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</a:t>
            </a:r>
            <a:r>
              <a:rPr lang="en-US" sz="260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平时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吃盒饭，有时候吃三明治。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85825" y="4729311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usually have a box lunch, sometimes a sandwich.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09600" y="5272236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问：你平时午饭吃什么？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81315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3 · Write your own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9288" y="176213"/>
            <a:ext cx="48425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12 / 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056358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· 60 秒 · 写在小白板上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383334"/>
            <a:ext cx="10972800" cy="1314450"/>
          </a:xfrm>
          <a:prstGeom prst="roundRect">
            <a:avLst>
              <a:gd name="adj" fmla="val 9662"/>
            </a:avLst>
          </a:prstGeom>
          <a:solidFill>
            <a:srgbClr val="E4D5BC"/>
          </a:solidFill>
          <a:ln w="19050">
            <a:solidFill>
              <a:srgbClr val="A8700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8751" y="2707184"/>
            <a:ext cx="1047998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0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我平时午饭＿＿＿＿。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09600" y="3875484"/>
            <a:ext cx="10972800" cy="951458"/>
          </a:xfrm>
          <a:prstGeom prst="roundRect">
            <a:avLst>
              <a:gd name="adj" fmla="val 8009"/>
            </a:avLst>
          </a:prstGeom>
          <a:solidFill>
            <a:srgbClr val="2F6B44">
              <a:alpha val="10000"/>
            </a:srgbClr>
          </a:solidFill>
          <a:ln w="19050">
            <a:solidFill>
              <a:srgbClr val="2F6B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57250" y="4072235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 · 加分题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57250" y="4335661"/>
            <a:ext cx="10687050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用「</a:t>
            </a:r>
            <a:r>
              <a:rPr lang="en-US" sz="16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平时……，但是今天……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」写一句，</a:t>
            </a:r>
            <a:r>
              <a:rPr lang="en-US" sz="16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两边要不一样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。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02392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CHECKPOINT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797248" y="166688"/>
            <a:ext cx="160670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认字 · Read them back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9734" y="176213"/>
            <a:ext cx="48380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13 / 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697236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只看汉字 · 一起读 · 说拼音和英文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062311"/>
            <a:ext cx="3522166" cy="1460302"/>
          </a:xfrm>
          <a:prstGeom prst="roundRect">
            <a:avLst>
              <a:gd name="adj" fmla="val 8697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13583" y="2401937"/>
            <a:ext cx="33142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三明治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4334917" y="2062311"/>
            <a:ext cx="3522166" cy="1460302"/>
          </a:xfrm>
          <a:prstGeom prst="roundRect">
            <a:avLst>
              <a:gd name="adj" fmla="val 8697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438900" y="2401937"/>
            <a:ext cx="33142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盒饭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8060234" y="2062311"/>
            <a:ext cx="3522166" cy="1460302"/>
          </a:xfrm>
          <a:prstGeom prst="roundRect">
            <a:avLst>
              <a:gd name="adj" fmla="val 8697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164217" y="2401937"/>
            <a:ext cx="33142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薯片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609600" y="3725763"/>
            <a:ext cx="3522166" cy="1460302"/>
          </a:xfrm>
          <a:prstGeom prst="roundRect">
            <a:avLst>
              <a:gd name="adj" fmla="val 8697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13583" y="4065389"/>
            <a:ext cx="33142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薯条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4334917" y="3725763"/>
            <a:ext cx="3522166" cy="1460302"/>
          </a:xfrm>
          <a:prstGeom prst="roundRect">
            <a:avLst>
              <a:gd name="adj" fmla="val 8697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438900" y="4065389"/>
            <a:ext cx="33142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平时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8060234" y="3725763"/>
            <a:ext cx="3522166" cy="1460302"/>
          </a:xfrm>
          <a:prstGeom prst="roundRect">
            <a:avLst>
              <a:gd name="adj" fmla="val 8697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164217" y="4065389"/>
            <a:ext cx="33142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通常</a:t>
            </a:r>
            <a:endParaRPr lang="en-US" sz="4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92494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课文二 CD 39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9139" y="176213"/>
            <a:ext cx="48440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14 / 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626269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课本 95 页 · 只看汉字 · 先听，再一起读，然后两人一组换角色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902494"/>
            <a:ext cx="10972800" cy="674340"/>
          </a:xfrm>
          <a:prstGeom prst="rect">
            <a:avLst/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33412" y="902494"/>
            <a:ext cx="0" cy="674340"/>
          </a:xfrm>
          <a:prstGeom prst="line">
            <a:avLst/>
          </a:prstGeom>
          <a:noFill/>
          <a:ln w="47625">
            <a:solidFill>
              <a:srgbClr val="2F6B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5825" y="1016794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A：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你每天午饭吃什么？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09600" y="1678335"/>
            <a:ext cx="10972800" cy="674340"/>
          </a:xfrm>
          <a:prstGeom prst="rect">
            <a:avLst/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633412" y="1678335"/>
            <a:ext cx="0" cy="674340"/>
          </a:xfrm>
          <a:prstGeom prst="line">
            <a:avLst/>
          </a:prstGeom>
          <a:noFill/>
          <a:ln w="47625">
            <a:solidFill>
              <a:srgbClr val="2F6B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5825" y="1792635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B：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我有时候从家里带三明治，有时候在学校餐厅买东西吃。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09600" y="2454176"/>
            <a:ext cx="10972800" cy="674340"/>
          </a:xfrm>
          <a:prstGeom prst="rect">
            <a:avLst/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633412" y="2454176"/>
            <a:ext cx="0" cy="674340"/>
          </a:xfrm>
          <a:prstGeom prst="line">
            <a:avLst/>
          </a:prstGeom>
          <a:noFill/>
          <a:ln w="47625">
            <a:solidFill>
              <a:srgbClr val="2F6B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5825" y="2568476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A：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你平时买些什么？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09600" y="3230017"/>
            <a:ext cx="10972800" cy="1120080"/>
          </a:xfrm>
          <a:prstGeom prst="rect">
            <a:avLst/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633412" y="3230017"/>
            <a:ext cx="0" cy="1120080"/>
          </a:xfrm>
          <a:prstGeom prst="line">
            <a:avLst/>
          </a:prstGeom>
          <a:noFill/>
          <a:ln w="47625">
            <a:solidFill>
              <a:srgbClr val="2F6B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5825" y="3344317"/>
            <a:ext cx="10677335" cy="89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B：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我通常买盒饭吃，有时候也会买薯片、薯条、炸鸡翅（膀）、糖果等。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09600" y="4451598"/>
            <a:ext cx="10972800" cy="674340"/>
          </a:xfrm>
          <a:prstGeom prst="rect">
            <a:avLst/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633412" y="4451598"/>
            <a:ext cx="0" cy="674340"/>
          </a:xfrm>
          <a:prstGeom prst="line">
            <a:avLst/>
          </a:prstGeom>
          <a:noFill/>
          <a:ln w="47625">
            <a:solidFill>
              <a:srgbClr val="2F6B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85825" y="4565898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A：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盒饭贵吗？多少钱一盒？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609600" y="5227439"/>
            <a:ext cx="10972800" cy="674340"/>
          </a:xfrm>
          <a:prstGeom prst="rect">
            <a:avLst/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633412" y="5227439"/>
            <a:ext cx="0" cy="674340"/>
          </a:xfrm>
          <a:prstGeom prst="line">
            <a:avLst/>
          </a:prstGeom>
          <a:noFill/>
          <a:ln w="47625">
            <a:solidFill>
              <a:srgbClr val="2F6B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5825" y="5341739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B：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十九块，不算太贵。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609600" y="6028730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问：B 平时买什么？ 盒饭多少钱？ 「不算太贵」是贵还是便宜？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48222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 · 多少钱一……？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9288" y="176213"/>
            <a:ext cx="48425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15 / 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51792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今天的句型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844897"/>
            <a:ext cx="10972800" cy="1098352"/>
          </a:xfrm>
          <a:prstGeom prst="roundRect">
            <a:avLst>
              <a:gd name="adj" fmla="val 11563"/>
            </a:avLst>
          </a:prstGeom>
          <a:solidFill>
            <a:srgbClr val="E4D5BC"/>
          </a:solidFill>
          <a:ln w="19050">
            <a:solidFill>
              <a:srgbClr val="A843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30199" y="1117848"/>
            <a:ext cx="10531602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多少钱 一 + 量词 ？  →  价钱 + 一 + 量词 。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609600" y="2159050"/>
            <a:ext cx="10972800" cy="750540"/>
          </a:xfrm>
          <a:prstGeom prst="rect">
            <a:avLst/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633412" y="2159050"/>
            <a:ext cx="0" cy="750540"/>
          </a:xfrm>
          <a:prstGeom prst="line">
            <a:avLst/>
          </a:prstGeom>
          <a:noFill/>
          <a:ln w="47625">
            <a:solidFill>
              <a:srgbClr val="2F6B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5825" y="2311450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盒饭贵吗？多少钱一盒？ —— 十九块，不算太贵。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09600" y="3061990"/>
            <a:ext cx="10972800" cy="750540"/>
          </a:xfrm>
          <a:prstGeom prst="rect">
            <a:avLst/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633412" y="3061990"/>
            <a:ext cx="0" cy="750540"/>
          </a:xfrm>
          <a:prstGeom prst="line">
            <a:avLst/>
          </a:prstGeom>
          <a:noFill/>
          <a:ln w="47625">
            <a:solidFill>
              <a:srgbClr val="2F6B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5825" y="3214390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三明治多少钱一个？ —— 七块六。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09600" y="3964930"/>
            <a:ext cx="10972800" cy="750540"/>
          </a:xfrm>
          <a:prstGeom prst="rect">
            <a:avLst/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33412" y="3964930"/>
            <a:ext cx="0" cy="750540"/>
          </a:xfrm>
          <a:prstGeom prst="line">
            <a:avLst/>
          </a:prstGeom>
          <a:noFill/>
          <a:ln w="47625">
            <a:solidFill>
              <a:srgbClr val="2F6B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5825" y="4117330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薯条多少钱一份？ —— 五块五。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09600" y="4867870"/>
            <a:ext cx="10972800" cy="1497806"/>
          </a:xfrm>
          <a:prstGeom prst="rect">
            <a:avLst/>
          </a:prstGeom>
          <a:solidFill>
            <a:srgbClr val="A8432E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633412" y="4867870"/>
            <a:ext cx="0" cy="1497806"/>
          </a:xfrm>
          <a:prstGeom prst="line">
            <a:avLst/>
          </a:prstGeom>
          <a:noFill/>
          <a:ln w="47625">
            <a:solidFill>
              <a:srgbClr val="A843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5825" y="5020270"/>
            <a:ext cx="10677335" cy="89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咖喱牛肉饭比鱼柳饭便宜吗？ —— 不便宜，鱼柳饭十六块，咖喱牛肉饭十五块。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885825" y="5975152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price question answered with a comparison — this is the one to aim for.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86103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637556" y="166688"/>
            <a:ext cx="16739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词汇总览 Today's Words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8544" y="176213"/>
            <a:ext cx="48501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16 / 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935534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今天的词 · 这块板一直留在屏幕上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224409"/>
            <a:ext cx="3488234" cy="2234803"/>
          </a:xfrm>
          <a:prstGeom prst="roundRect">
            <a:avLst>
              <a:gd name="adj" fmla="val 5683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/Users/luojiahai/code/deck/index/designs/y9-l10/img/sanmingzh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9566" y="1411635"/>
            <a:ext cx="1168301" cy="1168301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820317" y="2681436"/>
            <a:ext cx="1088136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三明治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4351734" y="1224409"/>
            <a:ext cx="3488382" cy="2234803"/>
          </a:xfrm>
          <a:prstGeom prst="roundRect">
            <a:avLst>
              <a:gd name="adj" fmla="val 5683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3" name="Image 1" descr="/Users/luojiahai/code/deck/index/designs/y9-l10/img/hef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1701" y="1411635"/>
            <a:ext cx="1168301" cy="116830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76751" y="2681436"/>
            <a:ext cx="85496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盒饭</a:t>
            </a:r>
            <a:endParaRPr lang="en-US" sz="3300" dirty="0"/>
          </a:p>
        </p:txBody>
      </p:sp>
      <p:sp>
        <p:nvSpPr>
          <p:cNvPr id="15" name="Text 11"/>
          <p:cNvSpPr/>
          <p:nvPr/>
        </p:nvSpPr>
        <p:spPr>
          <a:xfrm>
            <a:off x="8094018" y="1224409"/>
            <a:ext cx="3488234" cy="2234803"/>
          </a:xfrm>
          <a:prstGeom prst="roundRect">
            <a:avLst>
              <a:gd name="adj" fmla="val 5683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6" name="Image 2" descr="/Users/luojiahai/code/deck/index/designs/y9-l10/img/shupi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3984" y="1411635"/>
            <a:ext cx="1168301" cy="116830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419034" y="2681436"/>
            <a:ext cx="85496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薯片</a:t>
            </a:r>
            <a:endParaRPr lang="en-US" sz="3300" dirty="0"/>
          </a:p>
        </p:txBody>
      </p:sp>
      <p:sp>
        <p:nvSpPr>
          <p:cNvPr id="18" name="Text 13"/>
          <p:cNvSpPr/>
          <p:nvPr/>
        </p:nvSpPr>
        <p:spPr>
          <a:xfrm>
            <a:off x="609600" y="3713113"/>
            <a:ext cx="3488234" cy="2234803"/>
          </a:xfrm>
          <a:prstGeom prst="roundRect">
            <a:avLst>
              <a:gd name="adj" fmla="val 5683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9" name="Image 3" descr="/Users/luojiahai/code/deck/index/designs/y9-l10/img/shutia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9566" y="3900339"/>
            <a:ext cx="1168301" cy="1168301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934617" y="5170140"/>
            <a:ext cx="85496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薯条</a:t>
            </a:r>
            <a:endParaRPr lang="en-US" sz="3300" dirty="0"/>
          </a:p>
        </p:txBody>
      </p:sp>
      <p:sp>
        <p:nvSpPr>
          <p:cNvPr id="21" name="Text 15"/>
          <p:cNvSpPr/>
          <p:nvPr/>
        </p:nvSpPr>
        <p:spPr>
          <a:xfrm>
            <a:off x="4351734" y="3713113"/>
            <a:ext cx="3488382" cy="2234803"/>
          </a:xfrm>
          <a:prstGeom prst="roundRect">
            <a:avLst>
              <a:gd name="adj" fmla="val 5683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6"/>
          <p:cNvSpPr/>
          <p:nvPr/>
        </p:nvSpPr>
        <p:spPr>
          <a:xfrm>
            <a:off x="5676751" y="5170140"/>
            <a:ext cx="85496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平时</a:t>
            </a:r>
            <a:endParaRPr lang="en-US" sz="3300" dirty="0"/>
          </a:p>
        </p:txBody>
      </p:sp>
      <p:sp>
        <p:nvSpPr>
          <p:cNvPr id="23" name="Text 17"/>
          <p:cNvSpPr/>
          <p:nvPr/>
        </p:nvSpPr>
        <p:spPr>
          <a:xfrm>
            <a:off x="8094018" y="3713113"/>
            <a:ext cx="3488234" cy="2234803"/>
          </a:xfrm>
          <a:prstGeom prst="roundRect">
            <a:avLst>
              <a:gd name="adj" fmla="val 5683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18"/>
          <p:cNvSpPr/>
          <p:nvPr/>
        </p:nvSpPr>
        <p:spPr>
          <a:xfrm>
            <a:off x="9419034" y="5170140"/>
            <a:ext cx="85496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通常</a:t>
            </a:r>
            <a:endParaRPr lang="en-US" sz="3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58453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WE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346871" y="166688"/>
            <a:ext cx="133694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活动一 · 小吃价目表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15092" y="176213"/>
            <a:ext cx="47833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17 / 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306264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课本 96 页 练习八 · 9 分钟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582489"/>
            <a:ext cx="11192256" cy="365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5"/>
              </a:lnSpc>
              <a:spcBef>
                <a:spcPts val="600"/>
              </a:spcBef>
              <a:buNone/>
            </a:pPr>
            <a:r>
              <a:rPr lang="en-US" sz="23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小吃价目表 — Write the snack prices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609600" y="2112615"/>
            <a:ext cx="10972800" cy="2040880"/>
          </a:xfrm>
          <a:prstGeom prst="roundRect">
            <a:avLst>
              <a:gd name="adj" fmla="val 6223"/>
            </a:avLst>
          </a:prstGeom>
          <a:solidFill>
            <a:srgbClr val="F1E8D8"/>
          </a:solidFill>
          <a:ln w="19050">
            <a:solidFill>
              <a:srgbClr val="C9B39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933450" y="2360265"/>
            <a:ext cx="1053160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例：一卷糖果五块八毛。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933450" y="2760315"/>
            <a:ext cx="1053160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三明治 ¥15.00 · 薯条 ¥5.50 · 咖喱牛肉盒饭 ¥15.00 · 炸鸡腿 ¥8.40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933450" y="3160365"/>
            <a:ext cx="1053160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炸鸡翅 ¥10.00 · 薯片 ¥7.60 · 鱼柳盒饭 ¥16.00 · 猪排盒饭 ¥14.00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933450" y="3560415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八句全写</a:t>
            </a: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在练习本上。写完再照课本要求，自己列四样吃的喝的，每样标价钱。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09600" y="4331196"/>
            <a:ext cx="10972800" cy="1245989"/>
          </a:xfrm>
          <a:prstGeom prst="roundRect">
            <a:avLst>
              <a:gd name="adj" fmla="val 6116"/>
            </a:avLst>
          </a:prstGeom>
          <a:solidFill>
            <a:srgbClr val="2F6B44">
              <a:alpha val="10000"/>
            </a:srgbClr>
          </a:solidFill>
          <a:ln w="19050">
            <a:solidFill>
              <a:srgbClr val="2F6B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57250" y="4527947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 · 加分题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57250" y="4791373"/>
            <a:ext cx="10687050" cy="589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八句写完，把单子变成</a:t>
            </a:r>
            <a:r>
              <a:rPr lang="en-US" sz="16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有预算的菜单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：午饭只有 </a:t>
            </a:r>
            <a:r>
              <a:rPr lang="en-US" sz="16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30 块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，要买</a:t>
            </a:r>
            <a:r>
              <a:rPr lang="en-US" sz="16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三样不一样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的东西。写下买什么、一共多少钱、</a:t>
            </a:r>
            <a:r>
              <a:rPr lang="en-US" sz="16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没买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的一样和「因为」。每一句都要有</a:t>
            </a:r>
            <a:r>
              <a:rPr lang="en-US" sz="16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量词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。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68017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YOU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440632" y="166688"/>
            <a:ext cx="119166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活动二 · 两人对话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8990" y="176213"/>
            <a:ext cx="48456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18 / 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413570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课本 95 页 课文二 + 99 页 练习十三 · 8 分钟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689795"/>
            <a:ext cx="11192256" cy="365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5"/>
              </a:lnSpc>
              <a:spcBef>
                <a:spcPts val="600"/>
              </a:spcBef>
              <a:buNone/>
            </a:pPr>
            <a:r>
              <a:rPr lang="en-US" sz="23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两人对话 — Run it three times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609600" y="2219920"/>
            <a:ext cx="10972800" cy="1531590"/>
          </a:xfrm>
          <a:prstGeom prst="roundRect">
            <a:avLst>
              <a:gd name="adj" fmla="val 8292"/>
            </a:avLst>
          </a:prstGeom>
          <a:solidFill>
            <a:srgbClr val="F1E8D8"/>
          </a:solidFill>
          <a:ln w="19050">
            <a:solidFill>
              <a:srgbClr val="C9B39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933450" y="2467570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第一遍：</a:t>
            </a: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看着屏幕演。 </a:t>
            </a:r>
            <a:r>
              <a:rPr lang="en-US" sz="17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第二遍：</a:t>
            </a: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屏幕关掉，凭记忆演。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3450" y="2813000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第三遍：</a:t>
            </a: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 的回答换成</a:t>
            </a:r>
            <a:r>
              <a:rPr lang="en-US" sz="17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自己真的</a:t>
            </a: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答案。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33450" y="3158430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老师请两组到前面来演。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09600" y="3929211"/>
            <a:ext cx="10972800" cy="1540520"/>
          </a:xfrm>
          <a:prstGeom prst="roundRect">
            <a:avLst>
              <a:gd name="adj" fmla="val 4946"/>
            </a:avLst>
          </a:prstGeom>
          <a:solidFill>
            <a:srgbClr val="2F6B44">
              <a:alpha val="10000"/>
            </a:srgbClr>
          </a:solidFill>
          <a:ln w="19050">
            <a:solidFill>
              <a:srgbClr val="2F6B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57250" y="4125962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 · 加分题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57250" y="4389388"/>
            <a:ext cx="10687050" cy="88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</a:t>
            </a:r>
            <a:r>
              <a:rPr lang="en-US" sz="16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不用课文的问题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，改用课本练习十三的：你们学校有餐厅吗？你经常去那里买什么吃？你们中午几点吃午饭？你一般吃什么？ 再自己加两个。B </a:t>
            </a:r>
            <a:r>
              <a:rPr lang="en-US" sz="16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不准备，直接答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，要说完整的句子。然后照课本 </a:t>
            </a:r>
            <a:r>
              <a:rPr lang="en-US" sz="16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Report to the class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的要求，A 用</a:t>
            </a:r>
            <a:r>
              <a:rPr lang="en-US" sz="16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第三人称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报告：他午饭一般吃盒饭，他说不算太贵。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68017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YOU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440632" y="166688"/>
            <a:ext cx="171038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活动三 · 分类 Categorize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8544" y="176213"/>
            <a:ext cx="48501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19 / 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306264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作业本练习十五 · 5 分钟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582489"/>
            <a:ext cx="11192256" cy="365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5"/>
              </a:lnSpc>
              <a:spcBef>
                <a:spcPts val="600"/>
              </a:spcBef>
              <a:buNone/>
            </a:pPr>
            <a:r>
              <a:rPr lang="en-US" sz="23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分类 — 中餐 / 快餐 / 零食 / 饮料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609600" y="2112615"/>
            <a:ext cx="10972800" cy="2040880"/>
          </a:xfrm>
          <a:prstGeom prst="roundRect">
            <a:avLst>
              <a:gd name="adj" fmla="val 6223"/>
            </a:avLst>
          </a:prstGeom>
          <a:solidFill>
            <a:srgbClr val="F1E8D8"/>
          </a:solidFill>
          <a:ln w="19050">
            <a:solidFill>
              <a:srgbClr val="C9B39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933450" y="2360265"/>
            <a:ext cx="1053160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炒菜 · 炒面 · 糖果 · 炸鸡翅 · 比萨饼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933450" y="2760315"/>
            <a:ext cx="1053160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可乐 · 汽水 · 炒青菜 · 炒大虾 · 红烧豆腐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933450" y="3160365"/>
            <a:ext cx="1053160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热狗 · 薯片 · 汉堡包 · 三明治 · 咖喱牛肉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933450" y="3560415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分完以后，两位同学各</a:t>
            </a:r>
            <a:r>
              <a:rPr lang="en-US" sz="17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用中文</a:t>
            </a: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说明一个分类的理由。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09600" y="4331196"/>
            <a:ext cx="10972800" cy="1245989"/>
          </a:xfrm>
          <a:prstGeom prst="roundRect">
            <a:avLst>
              <a:gd name="adj" fmla="val 6116"/>
            </a:avLst>
          </a:prstGeom>
          <a:solidFill>
            <a:srgbClr val="2F6B44">
              <a:alpha val="10000"/>
            </a:srgbClr>
          </a:solidFill>
          <a:ln w="19050">
            <a:solidFill>
              <a:srgbClr val="2F6B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57250" y="4527947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 · 加分题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57250" y="4791373"/>
            <a:ext cx="10687050" cy="589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十五个全分完，再把</a:t>
            </a:r>
            <a:r>
              <a:rPr lang="en-US" sz="16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其中两个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争到</a:t>
            </a:r>
            <a:r>
              <a:rPr lang="en-US" sz="16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别的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格子里去，用中文辩护：我觉得三明治也是零食，因为我平时下午吃三明治，不是午饭。 这就是</a:t>
            </a:r>
            <a:r>
              <a:rPr lang="en-US" sz="16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单元测验第一题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的难版。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86149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43–50 MIN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638002" y="166688"/>
            <a:ext cx="85967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小结 Plenary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85029" y="176213"/>
            <a:ext cx="50900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 / 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522809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PLENARY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799034"/>
            <a:ext cx="11192256" cy="365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5"/>
              </a:lnSpc>
              <a:spcBef>
                <a:spcPts val="600"/>
              </a:spcBef>
              <a:buNone/>
            </a:pPr>
            <a:r>
              <a:rPr lang="en-US" sz="23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今天学会了吗？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609600" y="2316510"/>
            <a:ext cx="10972800" cy="840730"/>
          </a:xfrm>
          <a:prstGeom prst="roundRect">
            <a:avLst>
              <a:gd name="adj" fmla="val 15106"/>
            </a:avLst>
          </a:prstGeom>
          <a:solidFill>
            <a:srgbClr val="F1E8D8"/>
          </a:solidFill>
          <a:ln w="19050">
            <a:solidFill>
              <a:srgbClr val="C9B39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933450" y="2564160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自评</a:t>
            </a: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— 三个目标，每个举手：会 / 差不多 / 还不会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09600" y="3322290"/>
            <a:ext cx="10972800" cy="1577876"/>
          </a:xfrm>
          <a:prstGeom prst="roundRect">
            <a:avLst>
              <a:gd name="adj" fmla="val 8049"/>
            </a:avLst>
          </a:prstGeom>
          <a:solidFill>
            <a:srgbClr val="E4D5BC"/>
          </a:solidFill>
          <a:ln w="19050">
            <a:solidFill>
              <a:srgbClr val="A8700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958751" y="3646140"/>
            <a:ext cx="1047998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432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EXIT TICKET · 出门条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58751" y="3909566"/>
            <a:ext cx="1047998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spcBef>
                <a:spcPts val="500"/>
              </a:spcBef>
              <a:buNone/>
            </a:pPr>
            <a:r>
              <a:rPr lang="en-US" sz="30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用「平时」写一句，说说你在学校午饭吃什么，</a:t>
            </a:r>
            <a:r>
              <a:rPr lang="en-US" sz="30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多少钱</a:t>
            </a:r>
            <a:r>
              <a:rPr lang="en-US" sz="30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09600" y="5065216"/>
            <a:ext cx="11192256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5"/>
              </a:lnSpc>
              <a:spcBef>
                <a:spcPts val="1300"/>
              </a:spcBef>
              <a:buNone/>
            </a:pPr>
            <a:r>
              <a:rPr lang="en-US" sz="1500" b="1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下节课：</a:t>
            </a:r>
            <a:r>
              <a:rPr lang="en-US" sz="15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这一课的最后一节 —— 炸鸡翅、糖果，还有「我平时……，但是……」。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2026-09-14T03:48:21Z</dcterms:created>
  <dcterms:modified xsi:type="dcterms:W3CDTF">2026-09-14T03:48:21Z</dcterms:modified>
</cp:coreProperties>
</file>