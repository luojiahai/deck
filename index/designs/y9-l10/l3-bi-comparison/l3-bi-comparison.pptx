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66323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Y9 · L10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43633" y="166688"/>
            <a:ext cx="141087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菜市场 Fresh Market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316444" y="176213"/>
            <a:ext cx="37495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 / 14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133600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3 · 第四单元 · 第十课 · PP.90, 92–93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447925"/>
            <a:ext cx="11192256" cy="905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28"/>
              </a:lnSpc>
              <a:spcBef>
                <a:spcPts val="900"/>
              </a:spcBef>
              <a:buNone/>
            </a:pPr>
            <a:r>
              <a:rPr lang="en-US" sz="66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比</a:t>
            </a:r>
            <a:endParaRPr lang="en-US" sz="6600" dirty="0"/>
          </a:p>
        </p:txBody>
      </p:sp>
      <p:sp>
        <p:nvSpPr>
          <p:cNvPr id="10" name="Text 8"/>
          <p:cNvSpPr/>
          <p:nvPr/>
        </p:nvSpPr>
        <p:spPr>
          <a:xfrm>
            <a:off x="609600" y="3416498"/>
            <a:ext cx="11192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Bef>
                <a:spcPts val="500"/>
              </a:spcBef>
              <a:buNone/>
            </a:pPr>
            <a:r>
              <a:rPr lang="en-US" sz="30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Comparing Two Things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09600" y="4089499"/>
            <a:ext cx="111922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700"/>
              </a:spcBef>
              <a:buNone/>
            </a:pPr>
            <a:r>
              <a:rPr lang="en-US" sz="18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3 of 6 · A 比 B + 形容词 · 各种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9600" y="4521250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700"/>
              </a:spcBef>
              <a:buNone/>
            </a:pP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两个新词 · 一个学习环 · 三个活动 · 50 分钟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80975"/>
            <a:ext cx="61511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0–8 MIN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396454" y="166688"/>
            <a:ext cx="79803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复习 Review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322397" y="180975"/>
            <a:ext cx="3688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 / 14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645295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REVIEW · 改错 CORRECT THE TEACHER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921520"/>
            <a:ext cx="11192256" cy="365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5"/>
              </a:lnSpc>
              <a:spcBef>
                <a:spcPts val="600"/>
              </a:spcBef>
              <a:buNone/>
            </a:pPr>
            <a:r>
              <a:rPr lang="en-US" sz="23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Lesson 2 · 价钱和量词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609600" y="2451646"/>
            <a:ext cx="10972800" cy="2786360"/>
          </a:xfrm>
          <a:prstGeom prst="roundRect">
            <a:avLst>
              <a:gd name="adj" fmla="val 4558"/>
            </a:avLst>
          </a:prstGeom>
          <a:solidFill>
            <a:srgbClr val="F1E8D8"/>
          </a:solidFill>
          <a:ln w="19050">
            <a:solidFill>
              <a:srgbClr val="C9B39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33450" y="2699296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四句话，三句是</a:t>
            </a:r>
            <a:r>
              <a:rPr lang="en-US" sz="17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错的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。在小白板上改过来。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3044726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1. 猪肉十块钱。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33450" y="3444776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2. 活鱼十五块一条。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933450" y="3844826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3. 豆腐一块五一斤。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933450" y="4244876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4. 一公斤苹果八块钱。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933450" y="4644926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然后：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作业本练习五 —— 反义词，一起说。 贵→便宜 · 胖→瘦 · 容易→难 · 进→出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74171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8–10 MIN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520577" y="166688"/>
            <a:ext cx="190514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学习目标 Learning Intention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1590" y="176213"/>
            <a:ext cx="40030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 / 14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389906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 ARE LEARNING TO…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678781"/>
            <a:ext cx="9715500" cy="365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5"/>
              </a:lnSpc>
              <a:spcBef>
                <a:spcPts val="700"/>
              </a:spcBef>
              <a:buNone/>
            </a:pPr>
            <a:r>
              <a:rPr lang="en-US" sz="23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compare two things with 比, and say what a shop sells with 各种.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609600" y="2259657"/>
            <a:ext cx="10972800" cy="976312"/>
          </a:xfrm>
          <a:prstGeom prst="roundRect">
            <a:avLst>
              <a:gd name="adj" fmla="val 7805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22275" y="2446883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1279327" y="2446883"/>
            <a:ext cx="4511939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compare two things: A 比 B + adjective.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79327" y="2782044"/>
            <a:ext cx="451193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能用「A比B……」比较两样东西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09600" y="3388370"/>
            <a:ext cx="10972800" cy="976312"/>
          </a:xfrm>
          <a:prstGeom prst="roundRect">
            <a:avLst>
              <a:gd name="adj" fmla="val 7805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22275" y="3575596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1279327" y="3575596"/>
            <a:ext cx="3110630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know that 很 never follows 比.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79327" y="3910757"/>
            <a:ext cx="31106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知道「比」后面不用「很」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09600" y="4517082"/>
            <a:ext cx="10972800" cy="976312"/>
          </a:xfrm>
          <a:prstGeom prst="roundRect">
            <a:avLst>
              <a:gd name="adj" fmla="val 7805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22275" y="4704308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1279327" y="4704308"/>
            <a:ext cx="3832006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say what a shop sells using 各种.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79327" y="5039469"/>
            <a:ext cx="383200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能用「这家……店卖各种……」说一句话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2701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生词 · Cycle 1 of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0995" y="176213"/>
            <a:ext cx="40091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 / 14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417290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 WORDS · 跟我读两遍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718816"/>
            <a:ext cx="5308550" cy="3747343"/>
          </a:xfrm>
          <a:prstGeom prst="roundRect">
            <a:avLst>
              <a:gd name="adj" fmla="val 3389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163491" y="2668042"/>
            <a:ext cx="20463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bǐ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2844701" y="3150543"/>
            <a:ext cx="854964" cy="921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60"/>
              </a:lnSpc>
              <a:buNone/>
            </a:pPr>
            <a:r>
              <a:rPr lang="en-US" sz="66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比</a:t>
            </a:r>
            <a:endParaRPr lang="en-US" sz="6600" dirty="0"/>
          </a:p>
        </p:txBody>
      </p:sp>
      <p:sp>
        <p:nvSpPr>
          <p:cNvPr id="12" name="Text 10"/>
          <p:cNvSpPr/>
          <p:nvPr/>
        </p:nvSpPr>
        <p:spPr>
          <a:xfrm>
            <a:off x="2864644" y="4250234"/>
            <a:ext cx="81443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compare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273701" y="1718816"/>
            <a:ext cx="5308699" cy="3747343"/>
          </a:xfrm>
          <a:prstGeom prst="roundRect">
            <a:avLst>
              <a:gd name="adj" fmla="val 3389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797528" y="2668042"/>
            <a:ext cx="26611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gè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508950" y="3150543"/>
            <a:ext cx="854964" cy="921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60"/>
              </a:lnSpc>
              <a:buNone/>
            </a:pPr>
            <a:r>
              <a:rPr lang="en-US" sz="66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各</a:t>
            </a:r>
            <a:endParaRPr lang="en-US" sz="6600" dirty="0"/>
          </a:p>
        </p:txBody>
      </p:sp>
      <p:sp>
        <p:nvSpPr>
          <p:cNvPr id="16" name="Text 14"/>
          <p:cNvSpPr/>
          <p:nvPr/>
        </p:nvSpPr>
        <p:spPr>
          <a:xfrm>
            <a:off x="8520857" y="4250234"/>
            <a:ext cx="830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all; every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50969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· See them used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1292" y="176213"/>
            <a:ext cx="40061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 / 14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38261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· 读一遍，再一起读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658838"/>
            <a:ext cx="10972800" cy="1052066"/>
          </a:xfrm>
          <a:prstGeom prst="rect">
            <a:avLst/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33412" y="1658838"/>
            <a:ext cx="0" cy="1052066"/>
          </a:xfrm>
          <a:prstGeom prst="line">
            <a:avLst/>
          </a:prstGeom>
          <a:noFill/>
          <a:ln w="47625">
            <a:solidFill>
              <a:srgbClr val="2F6B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5825" y="1811238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那里的菜</a:t>
            </a:r>
            <a:r>
              <a:rPr lang="en-US" sz="26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比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超市里的新鲜。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85825" y="2320379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food there is fresher than at the supermarket.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9600" y="2863304"/>
            <a:ext cx="10972800" cy="1052066"/>
          </a:xfrm>
          <a:prstGeom prst="rect">
            <a:avLst/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33412" y="2863304"/>
            <a:ext cx="0" cy="1052066"/>
          </a:xfrm>
          <a:prstGeom prst="line">
            <a:avLst/>
          </a:prstGeom>
          <a:noFill/>
          <a:ln w="47625">
            <a:solidFill>
              <a:srgbClr val="2F6B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5825" y="3015704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那里还卖</a:t>
            </a:r>
            <a:r>
              <a:rPr lang="en-US" sz="26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各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种新鲜蔬菜和水果。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85825" y="3524845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It also sells all kinds of fresh vegetables and fruit.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09600" y="4067770"/>
            <a:ext cx="10972800" cy="1052066"/>
          </a:xfrm>
          <a:prstGeom prst="rect">
            <a:avLst/>
          </a:prstGeom>
          <a:solidFill>
            <a:srgbClr val="A8432E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33412" y="4067770"/>
            <a:ext cx="0" cy="1052066"/>
          </a:xfrm>
          <a:prstGeom prst="line">
            <a:avLst/>
          </a:prstGeom>
          <a:noFill/>
          <a:ln w="47625">
            <a:solidFill>
              <a:srgbClr val="A843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5825" y="4220170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这家菜市场卖</a:t>
            </a:r>
            <a:r>
              <a:rPr lang="en-US" sz="26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各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种肉，肉</a:t>
            </a:r>
            <a:r>
              <a:rPr lang="en-US" sz="26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比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超市的便宜。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85825" y="4729311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This market sells all kinds of meat, and it's cheaper than the supermarket.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09600" y="5272236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问：妈妈为什么喜欢去菜市场？（两个原因）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67455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· Write your own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0548" y="176213"/>
            <a:ext cx="40137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 / 14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72298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· 60 秒 · 写在小白板上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049959"/>
            <a:ext cx="10972800" cy="1981200"/>
          </a:xfrm>
          <a:prstGeom prst="roundRect">
            <a:avLst>
              <a:gd name="adj" fmla="val 6410"/>
            </a:avLst>
          </a:prstGeom>
          <a:solidFill>
            <a:srgbClr val="E4D5BC"/>
          </a:solidFill>
          <a:ln w="19050">
            <a:solidFill>
              <a:srgbClr val="A8700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373809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菜市场的＿＿比超市的＿＿。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58751" y="3040559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这家＿＿店卖各种＿＿。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09600" y="4208859"/>
            <a:ext cx="10972800" cy="951458"/>
          </a:xfrm>
          <a:prstGeom prst="roundRect">
            <a:avLst>
              <a:gd name="adj" fmla="val 8009"/>
            </a:avLst>
          </a:prstGeom>
          <a:solidFill>
            <a:srgbClr val="2F6B44">
              <a:alpha val="10000"/>
            </a:srgbClr>
          </a:solidFill>
          <a:ln w="19050">
            <a:solidFill>
              <a:srgbClr val="2F6B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57250" y="4405610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 · 加分题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57250" y="4669036"/>
            <a:ext cx="10687050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两句连成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一句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，用「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因为……所以……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」说明你家为什么去菜市场买菜。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5359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A 比 B + 形容词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6948" y="176213"/>
            <a:ext cx="39484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 / 14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667941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今天的句型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994916"/>
            <a:ext cx="10972800" cy="1098352"/>
          </a:xfrm>
          <a:prstGeom prst="roundRect">
            <a:avLst>
              <a:gd name="adj" fmla="val 11563"/>
            </a:avLst>
          </a:prstGeom>
          <a:solidFill>
            <a:srgbClr val="E4D5BC"/>
          </a:solidFill>
          <a:ln w="19050">
            <a:solidFill>
              <a:srgbClr val="A843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30199" y="1267867"/>
            <a:ext cx="10531602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  比  B  +  形容词 。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609600" y="2309068"/>
            <a:ext cx="10972800" cy="975866"/>
          </a:xfrm>
          <a:prstGeom prst="rect">
            <a:avLst/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33412" y="2309068"/>
            <a:ext cx="0" cy="975866"/>
          </a:xfrm>
          <a:prstGeom prst="line">
            <a:avLst/>
          </a:prstGeom>
          <a:noFill/>
          <a:ln w="47625">
            <a:solidFill>
              <a:srgbClr val="2F6B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5825" y="2423368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我比弟弟高。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85825" y="2932509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课本 93 页 NOTE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09600" y="3386435"/>
            <a:ext cx="10972800" cy="975866"/>
          </a:xfrm>
          <a:prstGeom prst="rect">
            <a:avLst/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633412" y="3386435"/>
            <a:ext cx="0" cy="975866"/>
          </a:xfrm>
          <a:prstGeom prst="line">
            <a:avLst/>
          </a:prstGeom>
          <a:noFill/>
          <a:ln w="47625">
            <a:solidFill>
              <a:srgbClr val="2F6B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5825" y="3500735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我的头发比妹妹的长。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85825" y="4009876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课本 93 页 NOTE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09600" y="4463802"/>
            <a:ext cx="10972800" cy="674340"/>
          </a:xfrm>
          <a:prstGeom prst="rect">
            <a:avLst/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633412" y="4463802"/>
            <a:ext cx="0" cy="674340"/>
          </a:xfrm>
          <a:prstGeom prst="line">
            <a:avLst/>
          </a:prstGeom>
          <a:noFill/>
          <a:ln w="47625">
            <a:solidFill>
              <a:srgbClr val="2F6B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5825" y="4578102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牛肉比猪肉贵。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09600" y="5239643"/>
            <a:ext cx="10972800" cy="975866"/>
          </a:xfrm>
          <a:prstGeom prst="rect">
            <a:avLst/>
          </a:prstGeom>
          <a:solidFill>
            <a:srgbClr val="A8432E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633412" y="5239643"/>
            <a:ext cx="0" cy="975866"/>
          </a:xfrm>
          <a:prstGeom prst="line">
            <a:avLst/>
          </a:prstGeom>
          <a:noFill/>
          <a:ln w="47625">
            <a:solidFill>
              <a:srgbClr val="A843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85825" y="5353943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这个菜市场的菜比超市里的新鲜，还比超市的便宜。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885825" y="5863084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Two comparisons joined by 还 — this is the one to aim for.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43683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两条规则 · Two rules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0846" y="176213"/>
            <a:ext cx="40106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 / 14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699915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记住这两条 · 考试会考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976140"/>
            <a:ext cx="11192256" cy="365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5"/>
              </a:lnSpc>
              <a:spcBef>
                <a:spcPts val="600"/>
              </a:spcBef>
              <a:buNone/>
            </a:pPr>
            <a:r>
              <a:rPr lang="en-US" sz="23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「比」的两条规则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609600" y="2506266"/>
            <a:ext cx="10972800" cy="2677120"/>
          </a:xfrm>
          <a:prstGeom prst="roundRect">
            <a:avLst>
              <a:gd name="adj" fmla="val 4744"/>
            </a:avLst>
          </a:prstGeom>
          <a:solidFill>
            <a:srgbClr val="F1E8D8"/>
          </a:solidFill>
          <a:ln w="19050">
            <a:solidFill>
              <a:srgbClr val="C9B39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33450" y="2753916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规则一：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「比」后面</a:t>
            </a:r>
            <a:r>
              <a:rPr lang="en-US" sz="17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不用「很」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3099346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✗ 牛肉比猪肉很贵。</a:t>
            </a:r>
            <a:r>
              <a:rPr lang="en-US" sz="21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→ </a:t>
            </a:r>
            <a:r>
              <a:rPr lang="en-US" sz="21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✓ 牛肉比猪肉贵。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33450" y="3499396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规则二：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 重复 A 的东西时，留「的」，去掉那个词。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33450" y="3844826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✗ 我的头发比妹妹的头发长。</a:t>
            </a:r>
            <a:r>
              <a:rPr lang="en-US" sz="21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→ </a:t>
            </a:r>
            <a:r>
              <a:rPr lang="en-US" sz="21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✓ 我的头发比妹妹</a:t>
            </a:r>
            <a:r>
              <a:rPr lang="en-US" sz="21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的</a:t>
            </a:r>
            <a:r>
              <a:rPr lang="en-US" sz="21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长。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933450" y="4244876"/>
            <a:ext cx="10531602" cy="690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各 的词组（作业本练习七）：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各个学校 · 各位老师 · 各家餐厅 · 各种书报 · 各个菜市场 · 各家饭店 · 各种文具 · 各家医院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52852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课文一 · 第二段 CD 37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0399" y="176213"/>
            <a:ext cx="40152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 / 14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83490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课本 90 页 · 课文一 第二段 · 先听，再一起读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111127"/>
            <a:ext cx="10972800" cy="750540"/>
          </a:xfrm>
          <a:prstGeom prst="rect">
            <a:avLst/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33412" y="2111127"/>
            <a:ext cx="0" cy="750540"/>
          </a:xfrm>
          <a:prstGeom prst="line">
            <a:avLst/>
          </a:prstGeom>
          <a:noFill/>
          <a:ln w="47625">
            <a:solidFill>
              <a:srgbClr val="2F6B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5825" y="2263527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我妈妈特别喜欢去市场买菜。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09600" y="3014067"/>
            <a:ext cx="10972800" cy="750540"/>
          </a:xfrm>
          <a:prstGeom prst="rect">
            <a:avLst/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33412" y="3014067"/>
            <a:ext cx="0" cy="750540"/>
          </a:xfrm>
          <a:prstGeom prst="line">
            <a:avLst/>
          </a:prstGeom>
          <a:noFill/>
          <a:ln w="47625">
            <a:solidFill>
              <a:srgbClr val="2F6B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5825" y="3166467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她说那里的菜</a:t>
            </a:r>
            <a:r>
              <a:rPr lang="en-US" sz="26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比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超市里的新鲜，还便宜。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09600" y="3917007"/>
            <a:ext cx="10972800" cy="750540"/>
          </a:xfrm>
          <a:prstGeom prst="rect">
            <a:avLst/>
          </a:prstGeom>
          <a:solidFill>
            <a:srgbClr val="A8432E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633412" y="3917007"/>
            <a:ext cx="0" cy="750540"/>
          </a:xfrm>
          <a:prstGeom prst="line">
            <a:avLst/>
          </a:prstGeom>
          <a:noFill/>
          <a:ln w="47625">
            <a:solidFill>
              <a:srgbClr val="A843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5825" y="4069407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在菜市场，一公斤苹果八块钱，在超市要卖十二块钱。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09600" y="4819948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问：妈妈为什么喜欢去那里？ 苹果在哪里便宜？便宜多少？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58453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WE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346871" y="166688"/>
            <a:ext cx="119166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活动一 · 完成句子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4291" y="176213"/>
            <a:ext cx="45875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 / 14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988070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课本 93 页 练习四 + 作业本练习十 · 8 分钟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264295"/>
            <a:ext cx="11192256" cy="365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5"/>
              </a:lnSpc>
              <a:spcBef>
                <a:spcPts val="600"/>
              </a:spcBef>
              <a:buNone/>
            </a:pPr>
            <a:r>
              <a:rPr lang="en-US" sz="23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完成句子 — Complete the sentences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609600" y="1794421"/>
            <a:ext cx="10972800" cy="2677120"/>
          </a:xfrm>
          <a:prstGeom prst="roundRect">
            <a:avLst>
              <a:gd name="adj" fmla="val 4744"/>
            </a:avLst>
          </a:prstGeom>
          <a:solidFill>
            <a:srgbClr val="F1E8D8"/>
          </a:solidFill>
          <a:ln w="19050">
            <a:solidFill>
              <a:srgbClr val="C9B39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33450" y="2042071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老师先做第一句，剩下的自己写在练习本上。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2387501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牛肉比＿＿＿＿好吃。 · 我的书包比＿＿＿＿便宜。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33450" y="2787551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今年夏天比＿＿＿＿热。 · 这双凉鞋比＿＿＿＿舒服。 · 这个空调比＿＿＿＿小。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933450" y="3187601"/>
            <a:ext cx="10531602" cy="690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然后：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作业本练习十 —— 十句里挑六句写。 我们家的汽车比…… · 这个菜市场的菜比…… · 这条项链比……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33450" y="3878461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老师巡视，专门看有没有人多写了一个「</a:t>
            </a:r>
            <a:r>
              <a:rPr lang="en-US" sz="17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很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」。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09600" y="4649242"/>
            <a:ext cx="10972800" cy="1245989"/>
          </a:xfrm>
          <a:prstGeom prst="roundRect">
            <a:avLst>
              <a:gd name="adj" fmla="val 6116"/>
            </a:avLst>
          </a:prstGeom>
          <a:solidFill>
            <a:srgbClr val="2F6B44">
              <a:alpha val="10000"/>
            </a:srgbClr>
          </a:solidFill>
          <a:ln w="19050">
            <a:solidFill>
              <a:srgbClr val="2F6B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57250" y="4845993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 · 加分题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57250" y="5109418"/>
            <a:ext cx="10687050" cy="589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十句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全写完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，再把其中三句改成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两头都说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的句子，加上原因：这个菜市场的菜比超市的新鲜，因为菜市场的菜是今天早上到的。 最后写一句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故意说错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的比较句，小结的时候让全班来挑错。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68017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YOU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440632" y="166688"/>
            <a:ext cx="119166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活动二 · 角色扮演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58550" y="176213"/>
            <a:ext cx="43401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11 / 14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158925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课本 93 页 练习五 · 两人一组 · 7 分钟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435150"/>
            <a:ext cx="11192256" cy="365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5"/>
              </a:lnSpc>
              <a:spcBef>
                <a:spcPts val="600"/>
              </a:spcBef>
              <a:buNone/>
            </a:pPr>
            <a:r>
              <a:rPr lang="en-US" sz="23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角色扮演 — Role play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609600" y="1965275"/>
            <a:ext cx="10972800" cy="2040880"/>
          </a:xfrm>
          <a:prstGeom prst="roundRect">
            <a:avLst>
              <a:gd name="adj" fmla="val 6223"/>
            </a:avLst>
          </a:prstGeom>
          <a:solidFill>
            <a:srgbClr val="F1E8D8"/>
          </a:solidFill>
          <a:ln w="19050">
            <a:solidFill>
              <a:srgbClr val="C9B39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33450" y="2212925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老师：</a:t>
            </a:r>
            <a:r>
              <a:rPr lang="en-US" sz="21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这双运动鞋是你的吗？ </a:t>
            </a:r>
            <a:r>
              <a:rPr lang="en-US" sz="21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学生：</a:t>
            </a:r>
            <a:r>
              <a:rPr lang="en-US" sz="21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不是。我的是白色的。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33450" y="2612975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老师：</a:t>
            </a:r>
            <a:r>
              <a:rPr lang="en-US" sz="21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这双白色的是不是你的？ </a:t>
            </a:r>
            <a:r>
              <a:rPr lang="en-US" sz="21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学生：</a:t>
            </a:r>
            <a:r>
              <a:rPr lang="en-US" sz="21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也不是。我的</a:t>
            </a: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比</a:t>
            </a:r>
            <a:r>
              <a:rPr lang="en-US" sz="21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这双新。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33450" y="3013025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老师：</a:t>
            </a:r>
            <a:r>
              <a:rPr lang="en-US" sz="21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这双新的运动鞋是你的吗？ </a:t>
            </a:r>
            <a:r>
              <a:rPr lang="en-US" sz="21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学生：</a:t>
            </a:r>
            <a:r>
              <a:rPr lang="en-US" sz="21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就是这双。谢谢！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933450" y="3413075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照着演一遍，再换一样东西换角色演一遍：雨伞 · 外套 · 文具盒 · 裤子 · 手机 · 拖鞋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09600" y="4183856"/>
            <a:ext cx="10972800" cy="1540520"/>
          </a:xfrm>
          <a:prstGeom prst="roundRect">
            <a:avLst>
              <a:gd name="adj" fmla="val 4946"/>
            </a:avLst>
          </a:prstGeom>
          <a:solidFill>
            <a:srgbClr val="2F6B44">
              <a:alpha val="10000"/>
            </a:srgbClr>
          </a:solidFill>
          <a:ln w="19050">
            <a:solidFill>
              <a:srgbClr val="2F6B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57250" y="4380607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 · 加分题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57250" y="4644033"/>
            <a:ext cx="10687050" cy="88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学生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不许用「新」和「旧」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。每一次拒绝都要换一个形容词：我的比这把大 / 我的比这件便宜 / 我的比这条长。四轮以后老师问「你的到底是哪一把？」，学生要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不看东西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用两句完整的话描述出来。然后交换 —— 中文好的同学当老师，问题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自己现编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。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68017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YOU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440632" y="166688"/>
            <a:ext cx="206332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活动三 · 这家……店卖各种……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3547" y="176213"/>
            <a:ext cx="45951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12 / 14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333500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课本 92 页 练习三 + 作业本练习六、八 · 4 分钟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609725"/>
            <a:ext cx="11192256" cy="365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5"/>
              </a:lnSpc>
              <a:spcBef>
                <a:spcPts val="600"/>
              </a:spcBef>
              <a:buNone/>
            </a:pPr>
            <a:r>
              <a:rPr lang="en-US" sz="23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这家……店卖各种……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609600" y="2139851"/>
            <a:ext cx="10972800" cy="1986260"/>
          </a:xfrm>
          <a:prstGeom prst="roundRect">
            <a:avLst>
              <a:gd name="adj" fmla="val 6394"/>
            </a:avLst>
          </a:prstGeom>
          <a:solidFill>
            <a:srgbClr val="F1E8D8"/>
          </a:solidFill>
          <a:ln w="19050">
            <a:solidFill>
              <a:srgbClr val="C9B39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33450" y="2387501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例：这家水果店卖各种新鲜水果。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33450" y="2787551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屏幕上七家店，每家写</a:t>
            </a:r>
            <a:r>
              <a:rPr lang="en-US" sz="17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一句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，句句都要有「各种」。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3450" y="3132981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服装店 · 家具店 · 中药店 · 书店 · 电器店 · 文具店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933450" y="3533031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口头检查（作业本练习八）：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你在家具店可以买到床、＿＿ · 你在书店可以买到＿＿ · 你在菜市场＿＿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09600" y="4303812"/>
            <a:ext cx="10972800" cy="1245989"/>
          </a:xfrm>
          <a:prstGeom prst="roundRect">
            <a:avLst>
              <a:gd name="adj" fmla="val 6116"/>
            </a:avLst>
          </a:prstGeom>
          <a:solidFill>
            <a:srgbClr val="2F6B44">
              <a:alpha val="10000"/>
            </a:srgbClr>
          </a:solidFill>
          <a:ln w="19050">
            <a:solidFill>
              <a:srgbClr val="2F6B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57250" y="4500563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 · 加分题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57250" y="4763988"/>
            <a:ext cx="10687050" cy="589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每一句还要说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为什么去这家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而不去别家，用「比」：我去这家书店，因为这家的书比那家的便宜。 再给一家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屏幕上没有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的店写两句，让全班猜是哪一家。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86103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637556" y="166688"/>
            <a:ext cx="215365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游戏 · 排句子 Sentence Jumble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3845" y="176213"/>
            <a:ext cx="45920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13 / 14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653480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GAME · 4 分钟 · 两人一组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929705"/>
            <a:ext cx="11192256" cy="365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5"/>
              </a:lnSpc>
              <a:spcBef>
                <a:spcPts val="600"/>
              </a:spcBef>
              <a:buNone/>
            </a:pPr>
            <a:r>
              <a:rPr lang="en-US" sz="23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排句子 — Sentence Jumble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609600" y="2459831"/>
            <a:ext cx="10972800" cy="1640830"/>
          </a:xfrm>
          <a:prstGeom prst="roundRect">
            <a:avLst>
              <a:gd name="adj" fmla="val 7740"/>
            </a:avLst>
          </a:prstGeom>
          <a:solidFill>
            <a:srgbClr val="F1E8D8"/>
          </a:solidFill>
          <a:ln w="19050">
            <a:solidFill>
              <a:srgbClr val="C9B39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33450" y="2707481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每轮一句，词序打乱。最快排对的一组得分。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3052911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觉得 / 猪排饭 / 我 / 贵 / 有一点儿 。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33450" y="3452961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的菜 / 比 / 菜市场 / 超市的 / 新鲜 。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609600" y="4278362"/>
            <a:ext cx="10972800" cy="951458"/>
          </a:xfrm>
          <a:prstGeom prst="roundRect">
            <a:avLst>
              <a:gd name="adj" fmla="val 8009"/>
            </a:avLst>
          </a:prstGeom>
          <a:solidFill>
            <a:srgbClr val="2F6B44">
              <a:alpha val="10000"/>
            </a:srgbClr>
          </a:solidFill>
          <a:ln w="19050">
            <a:solidFill>
              <a:srgbClr val="2F6B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57250" y="4475113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 · 加分题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57250" y="4738539"/>
            <a:ext cx="10687050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排对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还不算分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—— 要用同一个句型再说一句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真的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句子才算。句子里「比」后面出现「很」，这一分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取消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。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86149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43–50 MIN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638002" y="166688"/>
            <a:ext cx="85967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小结 Plenary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3249" y="176213"/>
            <a:ext cx="45981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14 / 14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522809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PLENARY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799034"/>
            <a:ext cx="11192256" cy="365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5"/>
              </a:lnSpc>
              <a:spcBef>
                <a:spcPts val="600"/>
              </a:spcBef>
              <a:buNone/>
            </a:pPr>
            <a:r>
              <a:rPr lang="en-US" sz="23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今天学会了吗？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609600" y="2316510"/>
            <a:ext cx="10972800" cy="840730"/>
          </a:xfrm>
          <a:prstGeom prst="roundRect">
            <a:avLst>
              <a:gd name="adj" fmla="val 15106"/>
            </a:avLst>
          </a:prstGeom>
          <a:solidFill>
            <a:srgbClr val="F1E8D8"/>
          </a:solidFill>
          <a:ln w="19050">
            <a:solidFill>
              <a:srgbClr val="C9B39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33450" y="2564160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自评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 三个目标，每个举手：会 / 差不多 / 还不会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09600" y="3322290"/>
            <a:ext cx="10972800" cy="1577876"/>
          </a:xfrm>
          <a:prstGeom prst="roundRect">
            <a:avLst>
              <a:gd name="adj" fmla="val 8049"/>
            </a:avLst>
          </a:prstGeom>
          <a:solidFill>
            <a:srgbClr val="E4D5BC"/>
          </a:solidFill>
          <a:ln w="19050">
            <a:solidFill>
              <a:srgbClr val="A8700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58751" y="3646140"/>
            <a:ext cx="104799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EXIT TICKET · 出门条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58751" y="3909566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spcBef>
                <a:spcPts val="500"/>
              </a:spcBef>
              <a:buNone/>
            </a:pPr>
            <a:r>
              <a:rPr lang="en-US" sz="30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用「比」写一句话，比较</a:t>
            </a:r>
            <a:r>
              <a:rPr lang="en-US" sz="30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菜市场和超市</a:t>
            </a:r>
            <a:r>
              <a:rPr lang="en-US" sz="30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09600" y="5065216"/>
            <a:ext cx="11192256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5"/>
              </a:lnSpc>
              <a:spcBef>
                <a:spcPts val="1300"/>
              </a:spcBef>
              <a:buNone/>
            </a:pPr>
            <a:r>
              <a:rPr lang="en-US" sz="1500" b="1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下节课：</a:t>
            </a:r>
            <a:r>
              <a:rPr lang="en-US" sz="15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把课文一整篇读完，再看这些字是怎么写出来的 —— 鲜、活、虾、猪。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2026-09-14T03:47:22Z</dcterms:created>
  <dcterms:modified xsi:type="dcterms:W3CDTF">2026-09-14T03:47:22Z</dcterms:modified>
</cp:coreProperties>
</file>