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72025" y="2055019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72025" y="3274219"/>
            <a:ext cx="874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🥬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72025" y="5183981"/>
            <a:ext cx="8743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r>
              <a:rPr lang="en-US" sz="112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772025" y="6898481"/>
            <a:ext cx="8743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 Market Vocabulary — Meat, Seafood &amp; Tofu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682932" y="8060531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41472" y="8060531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78288" y="8060531"/>
            <a:ext cx="13527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+ Writing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91263" y="8060531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954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190750"/>
            <a:ext cx="165163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Stationery Recap &amp; Bridge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047750" y="3438525"/>
            <a:ext cx="7924800" cy="2600325"/>
          </a:xfrm>
          <a:prstGeom prst="roundRect">
            <a:avLst>
              <a:gd name="adj" fmla="val 732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4925" y="3810000"/>
            <a:ext cx="75586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LESSON 9 STATIONERY VOCAB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4925" y="4171950"/>
            <a:ext cx="828675" cy="1114425"/>
          </a:xfrm>
          <a:prstGeom prst="roundRect">
            <a:avLst>
              <a:gd name="adj" fmla="val 689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47800" y="44386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80691" y="4972050"/>
            <a:ext cx="486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wénjùdiàn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09800" y="4171950"/>
            <a:ext cx="647700" cy="1114425"/>
          </a:xfrm>
          <a:prstGeom prst="roundRect">
            <a:avLst>
              <a:gd name="adj" fmla="val 882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52675" y="4438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389584" y="4972050"/>
            <a:ext cx="293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33700" y="4171950"/>
            <a:ext cx="647700" cy="1114425"/>
          </a:xfrm>
          <a:prstGeom prst="roundRect">
            <a:avLst>
              <a:gd name="adj" fmla="val 882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76575" y="4438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146822" y="4972050"/>
            <a:ext cx="2257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chǐzi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0" y="4171950"/>
            <a:ext cx="647700" cy="1114425"/>
          </a:xfrm>
          <a:prstGeom prst="roundRect">
            <a:avLst>
              <a:gd name="adj" fmla="val 882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00475" y="4438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809851" y="4972050"/>
            <a:ext cx="350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81500" y="4171950"/>
            <a:ext cx="828675" cy="1114425"/>
          </a:xfrm>
          <a:prstGeom prst="roundRect">
            <a:avLst>
              <a:gd name="adj" fmla="val 689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24375" y="4438650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4602361" y="4972050"/>
            <a:ext cx="394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wénjùhé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04925" y="5438775"/>
            <a:ext cx="7558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stationery items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(Chinese side); class says pinyin + English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15450" y="3438525"/>
            <a:ext cx="7924800" cy="2514600"/>
          </a:xfrm>
          <a:prstGeom prst="roundRect">
            <a:avLst>
              <a:gd name="adj" fmla="val 757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72625" y="3810000"/>
            <a:ext cx="75586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COLD CALL CHECK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72625" y="4171950"/>
            <a:ext cx="7410450" cy="800100"/>
          </a:xfrm>
          <a:prstGeom prst="roundRect">
            <a:avLst>
              <a:gd name="adj" fmla="val 14286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744075" y="4438650"/>
            <a:ext cx="7208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文具店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有铅笔、尺子……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72625" y="5124450"/>
            <a:ext cx="7558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one full sentence each using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里边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following Lesson 9's pattern — closing out Unit 3 before starting Unit 4.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7750" y="6248400"/>
            <a:ext cx="16192500" cy="1928813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076325" y="6248400"/>
            <a:ext cx="0" cy="1928812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0650" y="6581775"/>
            <a:ext cx="15875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390650" y="6991350"/>
            <a:ext cx="15875127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6"/>
              </a:lnSpc>
              <a:spcBef>
                <a:spcPts val="1875"/>
              </a:spcBef>
              <a:spcAft>
                <a:spcPts val="1875"/>
              </a:spcAft>
              <a:buNone/>
            </a:pP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"上个单元我们学了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。今天我们开始一个新单元——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(Fresh Market)。你们知道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'便宜'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怎么说吗？今天我们要学怎么在市场买菜、说价钱。"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727472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699022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00"/>
              </a:spcBef>
              <a:spcAft>
                <a:spcPts val="3900"/>
              </a:spcAft>
              <a:buNone/>
            </a:pPr>
            <a:r>
              <a:rPr lang="en-US" sz="3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232547"/>
            <a:ext cx="15621000" cy="1568648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232547"/>
            <a:ext cx="0" cy="1568648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3565922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3985022"/>
            <a:ext cx="152630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fresh-market foods</a:t>
            </a: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say their </a:t>
            </a:r>
            <a:r>
              <a:rPr lang="en-US" sz="19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prices using measure words</a:t>
            </a: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144095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68702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572720"/>
            <a:ext cx="90178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key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meat, seafood and tofu items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能说出肉类、海鲜和豆腐的名称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812756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735568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7241381"/>
            <a:ext cx="10007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 price using a measure word: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+ price + 一斤/一公斤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能用"……一斤/一公斤"说价钱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8481417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9024342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8910042"/>
            <a:ext cx="9696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新鲜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便宜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and use them in a sentence 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能正确书写并使用"新鲜"和"便宜"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2570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763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 (TEXT 1, P.90)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1336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 · Fresh Market Vocabulary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33147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38004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90725" y="3638550"/>
            <a:ext cx="717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shìchǎng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990725" y="4210050"/>
            <a:ext cx="717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076825" y="33147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38750" y="390525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15050" y="3638550"/>
            <a:ext cx="101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càishìchǎng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6115050" y="4210050"/>
            <a:ext cx="101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 market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201150" y="33147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63075" y="3800475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新鲜（鮮）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1191875" y="3638550"/>
            <a:ext cx="587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xīnxiān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1191875" y="4210050"/>
            <a:ext cx="587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3325475" y="33147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487400" y="38004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4363700" y="3638550"/>
            <a:ext cx="548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zhūròu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4363700" y="4210050"/>
            <a:ext cx="548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952500" y="48768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14425" y="53625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990725" y="5200650"/>
            <a:ext cx="51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niúròu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990725" y="5772150"/>
            <a:ext cx="51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5076825" y="48768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38750" y="53625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115050" y="5200650"/>
            <a:ext cx="1064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jīròu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6115050" y="5772150"/>
            <a:ext cx="1064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chicken meat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9201150" y="48768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363075" y="53625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0239375" y="5200650"/>
            <a:ext cx="731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huó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0239375" y="5772150"/>
            <a:ext cx="731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alive; live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3325475" y="48768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3487400" y="5362575"/>
            <a:ext cx="139903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虾（蝦）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14973300" y="5200650"/>
            <a:ext cx="535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xiā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4973300" y="5772150"/>
            <a:ext cx="535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shrimp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952500" y="64389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14425" y="69246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990725" y="6762750"/>
            <a:ext cx="1224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dòufu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990725" y="7334250"/>
            <a:ext cx="1224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tofu; bean curd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5076825" y="64389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38750" y="69246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6115050" y="6762750"/>
            <a:ext cx="706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gè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6115050" y="7334250"/>
            <a:ext cx="706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all; every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9201150" y="64389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363075" y="69246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2700" dirty="0"/>
          </a:p>
        </p:txBody>
      </p:sp>
      <p:sp>
        <p:nvSpPr>
          <p:cNvPr id="51" name="Text 49"/>
          <p:cNvSpPr/>
          <p:nvPr/>
        </p:nvSpPr>
        <p:spPr>
          <a:xfrm>
            <a:off x="10239375" y="6762750"/>
            <a:ext cx="692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bǐ</a:t>
            </a:r>
            <a:endParaRPr lang="en-US" sz="1275" dirty="0"/>
          </a:p>
        </p:txBody>
      </p:sp>
      <p:sp>
        <p:nvSpPr>
          <p:cNvPr id="52" name="Text 50"/>
          <p:cNvSpPr/>
          <p:nvPr/>
        </p:nvSpPr>
        <p:spPr>
          <a:xfrm>
            <a:off x="10239375" y="7334250"/>
            <a:ext cx="692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13325475" y="6438900"/>
            <a:ext cx="4010025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3487400" y="69246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14363700" y="6762750"/>
            <a:ext cx="47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piányi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4363700" y="7334250"/>
            <a:ext cx="47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cheap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952500" y="8001000"/>
            <a:ext cx="16383000" cy="1447800"/>
          </a:xfrm>
          <a:prstGeom prst="roundRect">
            <a:avLst>
              <a:gd name="adj" fmla="val 1315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114425" y="848677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1990725" y="8324850"/>
            <a:ext cx="683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gōngjīn</a:t>
            </a:r>
            <a:endParaRPr lang="en-US" sz="1275" dirty="0"/>
          </a:p>
        </p:txBody>
      </p:sp>
      <p:sp>
        <p:nvSpPr>
          <p:cNvPr id="60" name="Text 58"/>
          <p:cNvSpPr/>
          <p:nvPr/>
        </p:nvSpPr>
        <p:spPr>
          <a:xfrm>
            <a:off x="1990725" y="8896350"/>
            <a:ext cx="683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kilogram</a:t>
            </a:r>
            <a:endParaRPr lang="en-US" sz="1275" dirty="0"/>
          </a:p>
        </p:txBody>
      </p:sp>
      <p:sp>
        <p:nvSpPr>
          <p:cNvPr id="61" name="Text 59"/>
          <p:cNvSpPr/>
          <p:nvPr/>
        </p:nvSpPr>
        <p:spPr>
          <a:xfrm>
            <a:off x="952500" y="9620250"/>
            <a:ext cx="16383000" cy="845790"/>
          </a:xfrm>
          <a:prstGeom prst="roundRect">
            <a:avLst>
              <a:gd name="adj" fmla="val 13514"/>
            </a:avLst>
          </a:prstGeom>
          <a:solidFill>
            <a:srgbClr val="A8432E">
              <a:alpha val="12000"/>
            </a:srgbClr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00150" y="9925050"/>
            <a:ext cx="1347630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字形小知识 · Component breakdown:</a:t>
            </a: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鲜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鱼(fish) + 羊(sheep) — "fresh" food is fish and meat · 腐 in 豆腐 recurs later in Lesson 10 — no deep teaching needed here, just flag it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31751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&amp; CFU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906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SENTENCE PATTERN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952625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核心句型 · Saying a Price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2905125"/>
            <a:ext cx="4872930" cy="1000125"/>
          </a:xfrm>
          <a:prstGeom prst="roundRect">
            <a:avLst>
              <a:gd name="adj" fmla="val 11429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1100" y="3248025"/>
            <a:ext cx="127349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物品 (item)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05819" y="3286125"/>
            <a:ext cx="117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97063" y="3248025"/>
            <a:ext cx="135440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价钱 (price)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01108" y="3286125"/>
            <a:ext cx="117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2352" y="3248025"/>
            <a:ext cx="13305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一斤/一公斤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15930" y="3305175"/>
            <a:ext cx="2089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"X costs Y per jin / kilogram"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52500" y="4038600"/>
            <a:ext cx="16383000" cy="914400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2525" y="4352925"/>
            <a:ext cx="2526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52575" y="4352925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r>
              <a:rPr lang="en-US" sz="16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十五块一斤</a:t>
            </a: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705475" y="4395788"/>
            <a:ext cx="1321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 is $15 per jin.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52500" y="5029200"/>
            <a:ext cx="16383000" cy="914400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52525" y="5343525"/>
            <a:ext cx="2526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552575" y="5343525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牛肉比猪肉贵，</a:t>
            </a:r>
            <a:r>
              <a:rPr lang="en-US" sz="16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二十块一斤</a:t>
            </a: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705475" y="5386388"/>
            <a:ext cx="3270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 is more expensive than pork, $20 per jin.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52500" y="6019800"/>
            <a:ext cx="16383000" cy="914400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52525" y="6334125"/>
            <a:ext cx="2526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552575" y="6334125"/>
            <a:ext cx="408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r>
              <a:rPr lang="en-US" sz="16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一百块一公斤</a:t>
            </a: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！太贵了！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705475" y="6376988"/>
            <a:ext cx="4508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reaction: tofu $100/kg! Too expensive!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52500" y="722947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检查理解 · CFU CHECKPOINTS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52500" y="7667625"/>
            <a:ext cx="5359301" cy="1254919"/>
          </a:xfrm>
          <a:prstGeom prst="roundRect">
            <a:avLst>
              <a:gd name="adj" fmla="val 15180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33475" y="7939087"/>
            <a:ext cx="5097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63"/>
              </a:spcBef>
              <a:spcAft>
                <a:spcPts val="863"/>
              </a:spcAft>
              <a:buNone/>
            </a:pPr>
            <a:r>
              <a:rPr lang="en-US" sz="863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/ DOWN</a:t>
            </a:r>
            <a:endParaRPr lang="en-US" sz="863" dirty="0"/>
          </a:p>
        </p:txBody>
      </p:sp>
      <p:sp>
        <p:nvSpPr>
          <p:cNvPr id="31" name="Text 29"/>
          <p:cNvSpPr/>
          <p:nvPr/>
        </p:nvSpPr>
        <p:spPr>
          <a:xfrm>
            <a:off x="1133475" y="8415338"/>
            <a:ext cx="509729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新鲜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'fresh'."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6464201" y="7667625"/>
            <a:ext cx="5359450" cy="1254919"/>
          </a:xfrm>
          <a:prstGeom prst="roundRect">
            <a:avLst>
              <a:gd name="adj" fmla="val 1518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45176" y="7939087"/>
            <a:ext cx="5097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63"/>
              </a:spcBef>
              <a:spcAft>
                <a:spcPts val="863"/>
              </a:spcAft>
              <a:buNone/>
            </a:pPr>
            <a:r>
              <a:rPr lang="en-US" sz="863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6645176" y="8415338"/>
            <a:ext cx="5097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'shrimp'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Hold it up on three."</a:t>
            </a:r>
            <a:endParaRPr lang="en-US" sz="1088" dirty="0"/>
          </a:p>
        </p:txBody>
      </p:sp>
      <p:sp>
        <p:nvSpPr>
          <p:cNvPr id="35" name="Text 33"/>
          <p:cNvSpPr/>
          <p:nvPr/>
        </p:nvSpPr>
        <p:spPr>
          <a:xfrm>
            <a:off x="11976050" y="7667625"/>
            <a:ext cx="5359450" cy="1254919"/>
          </a:xfrm>
          <a:prstGeom prst="roundRect">
            <a:avLst>
              <a:gd name="adj" fmla="val 1518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157025" y="7939087"/>
            <a:ext cx="5097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63"/>
              </a:spcBef>
              <a:spcAft>
                <a:spcPts val="863"/>
              </a:spcAft>
              <a:buNone/>
            </a:pPr>
            <a:r>
              <a:rPr lang="en-US" sz="863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863" dirty="0"/>
          </a:p>
        </p:txBody>
      </p:sp>
      <p:sp>
        <p:nvSpPr>
          <p:cNvPr id="37" name="Text 35"/>
          <p:cNvSpPr/>
          <p:nvPr/>
        </p:nvSpPr>
        <p:spPr>
          <a:xfrm>
            <a:off x="12157025" y="8415338"/>
            <a:ext cx="50974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"Jamie，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'tofu'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用中文怎么说？" → "Wei，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'cheap'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呢？"</a:t>
            </a:r>
            <a:endParaRPr lang="en-US" sz="1088" dirty="0"/>
          </a:p>
        </p:txBody>
      </p:sp>
      <p:sp>
        <p:nvSpPr>
          <p:cNvPr id="38" name="Shape 3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53120" cy="600075"/>
          </a:xfrm>
          <a:prstGeom prst="roundRect">
            <a:avLst>
              <a:gd name="adj" fmla="val 1585714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62063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47750"/>
            <a:ext cx="927199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257300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37620" y="1062038"/>
            <a:ext cx="2529929" cy="600075"/>
          </a:xfrm>
          <a:prstGeom prst="roundRect">
            <a:avLst>
              <a:gd name="adj" fmla="val 1585714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9070" y="1262063"/>
            <a:ext cx="22307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Guided Price-Writing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1145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引导写价钱句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3133725"/>
            <a:ext cx="8769846" cy="6293644"/>
          </a:xfrm>
          <a:prstGeom prst="roundRect">
            <a:avLst>
              <a:gd name="adj" fmla="val 3027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3362325"/>
            <a:ext cx="8236446" cy="134302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243013" y="3362325"/>
            <a:ext cx="0" cy="1343025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5425" y="3819525"/>
            <a:ext cx="788625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___十___</a:t>
            </a:r>
            <a:r>
              <a:rPr lang="en-US" sz="24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一斤。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19200" y="48387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24570" y="4886325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5014913"/>
            <a:ext cx="799312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1238"/>
              </a:spcBef>
              <a:spcAft>
                <a:spcPts val="1238"/>
              </a:spcAft>
              <a:buNone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market pictures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Textbook Act. 1 (猪肉, 牛肉, 鸡肉, 活鱼, 活虾, 豆腐), each with a price tag.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1219200" y="573881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13259" y="5786438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19250" y="5915025"/>
            <a:ext cx="683622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1238"/>
              </a:spcBef>
              <a:spcAft>
                <a:spcPts val="1238"/>
              </a:spcAft>
              <a:buNone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</a:t>
            </a:r>
            <a:r>
              <a:rPr lang="en-US" sz="12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2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full written sentences on the board, e.g. </a:t>
            </a:r>
            <a:r>
              <a:rPr lang="en-US" sz="1238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猪肉十五块一斤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1219200" y="640318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2962" y="6450806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619250" y="6579394"/>
            <a:ext cx="7440251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1238"/>
              </a:spcBef>
              <a:spcAft>
                <a:spcPts val="1238"/>
              </a:spcAft>
              <a:buNone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copy the pattern and write the remaining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price sentences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their exercise books.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1219200" y="70675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12515" y="7115175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619250" y="7243763"/>
            <a:ext cx="6788402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1238"/>
              </a:spcBef>
              <a:spcAft>
                <a:spcPts val="1238"/>
              </a:spcAft>
              <a:buNone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Circulate and cold call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read their sentences aloud for the class to check.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1219200" y="7865269"/>
            <a:ext cx="2643783" cy="1371600"/>
          </a:xfrm>
          <a:prstGeom prst="roundRect">
            <a:avLst>
              <a:gd name="adj" fmla="val 833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371600" y="8084344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371600" y="8379619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visible under each picture; provide the sentence frame ___十___一斤。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4015383" y="7865269"/>
            <a:ext cx="2643932" cy="1371600"/>
          </a:xfrm>
          <a:prstGeom prst="roundRect">
            <a:avLst>
              <a:gd name="adj" fmla="val 833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67783" y="8084344"/>
            <a:ext cx="2385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167783" y="8379619"/>
            <a:ext cx="23859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comparison using 比 (previewing next lesson), e.g. 牛肉比猪肉贵。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811714" y="7865269"/>
            <a:ext cx="2643783" cy="1371600"/>
          </a:xfrm>
          <a:prstGeom prst="roundRect">
            <a:avLst>
              <a:gd name="adj" fmla="val 833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64114" y="8084344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964114" y="8379619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all 4 sentences; whole-class check via cold call.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0027146" y="3267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MARKET PICTURES (TEXTBOOK ACT. 1)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27146" y="3724275"/>
            <a:ext cx="3616077" cy="1162050"/>
          </a:xfrm>
          <a:prstGeom prst="roundRect">
            <a:avLst>
              <a:gd name="adj" fmla="val 9836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117287" y="4029075"/>
            <a:ext cx="3435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0117287" y="4505325"/>
            <a:ext cx="3435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719423" y="3724275"/>
            <a:ext cx="3616077" cy="1162050"/>
          </a:xfrm>
          <a:prstGeom prst="roundRect">
            <a:avLst>
              <a:gd name="adj" fmla="val 9836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809564" y="4029075"/>
            <a:ext cx="3435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13809564" y="4505325"/>
            <a:ext cx="3435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27146" y="4962525"/>
            <a:ext cx="3616077" cy="1162050"/>
          </a:xfrm>
          <a:prstGeom prst="roundRect">
            <a:avLst>
              <a:gd name="adj" fmla="val 9836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117287" y="5267325"/>
            <a:ext cx="3435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0117287" y="5743575"/>
            <a:ext cx="3435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chicken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719423" y="4962525"/>
            <a:ext cx="3616077" cy="1162050"/>
          </a:xfrm>
          <a:prstGeom prst="roundRect">
            <a:avLst>
              <a:gd name="adj" fmla="val 9836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3809564" y="5267325"/>
            <a:ext cx="3435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3809564" y="5743575"/>
            <a:ext cx="3435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 fish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027146" y="6200775"/>
            <a:ext cx="3616077" cy="1162050"/>
          </a:xfrm>
          <a:prstGeom prst="roundRect">
            <a:avLst>
              <a:gd name="adj" fmla="val 9836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0117287" y="6505575"/>
            <a:ext cx="3435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0117287" y="6981825"/>
            <a:ext cx="3435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 shrimp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3719423" y="6200775"/>
            <a:ext cx="3616077" cy="1162050"/>
          </a:xfrm>
          <a:prstGeom prst="roundRect">
            <a:avLst>
              <a:gd name="adj" fmla="val 9836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3809564" y="6505575"/>
            <a:ext cx="3435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575" dirty="0"/>
          </a:p>
        </p:txBody>
      </p:sp>
      <p:sp>
        <p:nvSpPr>
          <p:cNvPr id="57" name="Text 55"/>
          <p:cNvSpPr/>
          <p:nvPr/>
        </p:nvSpPr>
        <p:spPr>
          <a:xfrm>
            <a:off x="13809564" y="6981825"/>
            <a:ext cx="34357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tofu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28–38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2988"/>
            <a:ext cx="1179165" cy="600075"/>
          </a:xfrm>
          <a:prstGeom prst="roundRect">
            <a:avLst>
              <a:gd name="adj" fmla="val 1585714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43013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065" y="1028700"/>
            <a:ext cx="992237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040" y="1238250"/>
            <a:ext cx="642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10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28702" y="1042988"/>
            <a:ext cx="1774180" cy="600075"/>
          </a:xfrm>
          <a:prstGeom prst="roundRect">
            <a:avLst>
              <a:gd name="adj" fmla="val 1585714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00152" y="1243013"/>
            <a:ext cx="1459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Workbook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05740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词汇练习巩固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2990850"/>
            <a:ext cx="8599884" cy="5291435"/>
          </a:xfrm>
          <a:prstGeom prst="roundRect">
            <a:avLst>
              <a:gd name="adj" fmla="val 5040"/>
            </a:avLst>
          </a:prstGeom>
          <a:solidFill>
            <a:srgbClr val="F1E8D8"/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2876550"/>
            <a:ext cx="2879378" cy="533400"/>
          </a:xfrm>
          <a:prstGeom prst="roundRect">
            <a:avLst>
              <a:gd name="adj" fmla="val 1783929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9700" y="3048000"/>
            <a:ext cx="2587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Individual + Pair Check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1100" y="3314700"/>
            <a:ext cx="8142684" cy="1007269"/>
          </a:xfrm>
          <a:prstGeom prst="roundRect">
            <a:avLst>
              <a:gd name="adj" fmla="val 11348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33500" y="3562350"/>
            <a:ext cx="7994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 1 · Match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33500" y="3886200"/>
            <a:ext cx="799464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</a:t>
            </a:r>
            <a:r>
              <a:rPr lang="en-US" sz="1013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pictures</a:t>
            </a: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meat/seafood/vegetables to the word bank: 猪肉, 牛肉, 羊肉, 鸡肉, 活鱼, 活虾, 豆腐, 蔬菜.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1181100" y="4455319"/>
            <a:ext cx="8142684" cy="1200150"/>
          </a:xfrm>
          <a:prstGeom prst="roundRect">
            <a:avLst>
              <a:gd name="adj" fmla="val 9524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33500" y="4702969"/>
            <a:ext cx="7994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 4 · Write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33500" y="5026819"/>
            <a:ext cx="799464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 for </a:t>
            </a:r>
            <a:r>
              <a:rPr lang="en-US" sz="1013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pictured food items</a:t>
            </a: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lettuce is given as an example, then tomato, broccoli, orange, potato, banana, apple, watermelon, pear, pizza, hamburger, baguette, steak, drink.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1181100" y="5750719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62063" y="5779294"/>
            <a:ext cx="48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485900" y="5898356"/>
            <a:ext cx="4192542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complete </a:t>
            </a:r>
            <a:r>
              <a:rPr lang="en-US" sz="1013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exercises individually</a:t>
            </a: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exercise books.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1181100" y="6273552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52538" y="6302127"/>
            <a:ext cx="68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485900" y="6421189"/>
            <a:ext cx="580152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Pair-check</a:t>
            </a: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answers with a neighbour before teacher reveals the answers on the projector.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1181100" y="6958310"/>
            <a:ext cx="3995142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333500" y="7177385"/>
            <a:ext cx="3764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333500" y="7472660"/>
            <a:ext cx="37641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Ex. 4, provide a partial word bank on the board for items not yet taught explicitly.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328642" y="6958310"/>
            <a:ext cx="3995142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81042" y="7177385"/>
            <a:ext cx="3764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481042" y="7472660"/>
            <a:ext cx="37641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write one full sentence (not just the word) for 3 Ex. 4 items, e.g. 我喜欢吃西瓜。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857184" y="2990850"/>
            <a:ext cx="7478167" cy="1414463"/>
          </a:xfrm>
          <a:prstGeom prst="roundRect">
            <a:avLst>
              <a:gd name="adj" fmla="val 1885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057209" y="3305175"/>
            <a:ext cx="7219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FAST-FINISHER · WORKBOOK EX. 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7209" y="3638550"/>
            <a:ext cx="721967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who finish Ex. 1 and Ex. 4 early move on to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Ex. 2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circle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vocabulary phrases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hidden in a 5×5 character grid and write their meanings.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9857184" y="4519613"/>
            <a:ext cx="7478167" cy="1285875"/>
          </a:xfrm>
          <a:prstGeom prst="roundRect">
            <a:avLst>
              <a:gd name="adj" fmla="val 2074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057209" y="4795838"/>
            <a:ext cx="7219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EX. 1 WORD BANK · 词库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72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1810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6287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7525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2002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3240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羊肉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7717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18955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23432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24670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29147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0385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34862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36100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4057709" y="5072063"/>
            <a:ext cx="514350" cy="571500"/>
          </a:xfrm>
          <a:prstGeom prst="roundRect">
            <a:avLst>
              <a:gd name="adj" fmla="val 22222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4181534" y="5262563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857184" y="5919788"/>
            <a:ext cx="7478167" cy="1107281"/>
          </a:xfrm>
          <a:prstGeom prst="roundRect">
            <a:avLst>
              <a:gd name="adj" fmla="val 2408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0057209" y="6196013"/>
            <a:ext cx="7219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· MINI WHITEBOARDS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057209" y="6500813"/>
            <a:ext cx="721967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'fresh'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Hold it up."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25272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Writing Relay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600075"/>
          </a:xfrm>
          <a:prstGeom prst="roundRect">
            <a:avLst>
              <a:gd name="adj" fmla="val 1585714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62063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6157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257300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4336" y="1062038"/>
            <a:ext cx="2010519" cy="600075"/>
          </a:xfrm>
          <a:prstGeom prst="roundRect">
            <a:avLst>
              <a:gd name="adj" fmla="val 1585714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5786" y="1262063"/>
            <a:ext cx="17009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Teams · Board Relay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1336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汉字接力 · Writing Relay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2500" y="32575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recognition and handwriting accuracy for the 12 Lesson 10 component characters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2500" y="3838575"/>
            <a:ext cx="3867150" cy="3295650"/>
          </a:xfrm>
          <a:prstGeom prst="roundRect">
            <a:avLst>
              <a:gd name="adj" fmla="val 5780"/>
            </a:avLst>
          </a:prstGeom>
          <a:noFill/>
          <a:ln w="2857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3867150"/>
            <a:ext cx="3810000" cy="666750"/>
          </a:xfrm>
          <a:prstGeom prst="rect">
            <a:avLst/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2975" y="40957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FLASH CHARACTERS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1075" y="45339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1593" y="47625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金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933575" y="45339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64093" y="47625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匕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2886075" y="45339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16593" y="47625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亡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3838575" y="45339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69093" y="47625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尸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81075" y="539115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11593" y="561975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丁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933575" y="539115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264093" y="561975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入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2886075" y="539115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16593" y="561975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户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3838575" y="539115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169093" y="561975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井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81075" y="62484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311593" y="64770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933575" y="62484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264093" y="64770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2886075" y="62484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16593" y="64770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习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3838575" y="6248400"/>
            <a:ext cx="952500" cy="857250"/>
          </a:xfrm>
          <a:prstGeom prst="rect">
            <a:avLst/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169093" y="6477000"/>
            <a:ext cx="291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皿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5086350" y="3838575"/>
            <a:ext cx="12249150" cy="2971800"/>
          </a:xfrm>
          <a:prstGeom prst="roundRect">
            <a:avLst>
              <a:gd name="adj" fmla="val 641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305425" y="4152900"/>
            <a:ext cx="12047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5425" y="46291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19750" y="4619625"/>
            <a:ext cx="11133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flash characters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Textbook Act. 2 (金匕亡尸丁入户井弓方习皿). Split the class into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teams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each lined up facing the board.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5305425" y="53244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619750" y="5314950"/>
            <a:ext cx="11726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one character's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English/pinyin meaning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; the first student in each team runs up and writes the correct 汉字 on the board, then tags the next teammate.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5305425" y="61912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619750" y="6181725"/>
            <a:ext cx="41337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team to correctly write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12 characters</a:t>
            </a:r>
            <a:r>
              <a:rPr lang="en-US" sz="127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wins.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5086350" y="6943725"/>
            <a:ext cx="12249150" cy="1143000"/>
          </a:xfrm>
          <a:prstGeom prst="roundRect">
            <a:avLst>
              <a:gd name="adj" fmla="val 10000"/>
            </a:avLst>
          </a:prstGeom>
          <a:solidFill>
            <a:srgbClr val="D45A3A">
              <a:alpha val="10000"/>
            </a:srgbClr>
          </a:solidFill>
          <a:ln w="19050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276850" y="7377113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619750" y="7239000"/>
            <a:ext cx="35794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5619750" y="7629525"/>
            <a:ext cx="3579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Board space for 4 teams; no printed materials needed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86350" y="8315325"/>
            <a:ext cx="6067425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38750" y="8534400"/>
            <a:ext cx="5877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5238750" y="8829675"/>
            <a:ext cx="5877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12 characters projected in a corner for teams that fall behind.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268075" y="8315325"/>
            <a:ext cx="6067425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1420475" y="8534400"/>
            <a:ext cx="5877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1420475" y="8829675"/>
            <a:ext cx="58778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team must use one of the characters in a real word from today, e.g. 户 → 户口 (accept any sensible attempt).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46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MARKET VOCAB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5495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125266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001566"/>
            <a:ext cx="1632204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4201716"/>
            <a:ext cx="7877175" cy="3445669"/>
          </a:xfrm>
          <a:prstGeom prst="roundRect">
            <a:avLst>
              <a:gd name="adj" fmla="val 774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81125" y="4544616"/>
            <a:ext cx="7548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81125" y="4858941"/>
            <a:ext cx="75489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81125" y="521404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79500" y="5270302"/>
            <a:ext cx="7134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85925" y="521404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84152" y="5270302"/>
            <a:ext cx="7165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90725" y="521404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00263" y="5270302"/>
            <a:ext cx="4857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1725" y="5254228"/>
            <a:ext cx="3506385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key meat, seafood and tofu items in Chinese</a:t>
            </a:r>
            <a:endParaRPr lang="en-US" sz="1088" dirty="0"/>
          </a:p>
        </p:txBody>
      </p:sp>
      <p:sp>
        <p:nvSpPr>
          <p:cNvPr id="19" name="Text 17"/>
          <p:cNvSpPr/>
          <p:nvPr/>
        </p:nvSpPr>
        <p:spPr>
          <a:xfrm>
            <a:off x="1381125" y="576232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79500" y="5818584"/>
            <a:ext cx="7134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85925" y="576232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84152" y="5818584"/>
            <a:ext cx="7165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90725" y="576232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00263" y="5818584"/>
            <a:ext cx="4857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1725" y="5802511"/>
            <a:ext cx="2655519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a price: item + price + 一斤/一公斤</a:t>
            </a:r>
            <a:endParaRPr lang="en-US" sz="1088" dirty="0"/>
          </a:p>
        </p:txBody>
      </p:sp>
      <p:sp>
        <p:nvSpPr>
          <p:cNvPr id="26" name="Text 24"/>
          <p:cNvSpPr/>
          <p:nvPr/>
        </p:nvSpPr>
        <p:spPr>
          <a:xfrm>
            <a:off x="1381125" y="631061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79500" y="6366867"/>
            <a:ext cx="7134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85925" y="631061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784152" y="6366867"/>
            <a:ext cx="7165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90725" y="631061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00263" y="6366867"/>
            <a:ext cx="4857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1725" y="6350794"/>
            <a:ext cx="3919597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新鲜 and 便宜 correctly and use them in a sentence</a:t>
            </a:r>
            <a:endParaRPr lang="en-US" sz="1088" dirty="0"/>
          </a:p>
        </p:txBody>
      </p:sp>
      <p:sp>
        <p:nvSpPr>
          <p:cNvPr id="33" name="Text 31"/>
          <p:cNvSpPr/>
          <p:nvPr/>
        </p:nvSpPr>
        <p:spPr>
          <a:xfrm>
            <a:off x="1381125" y="6770489"/>
            <a:ext cx="7400925" cy="542925"/>
          </a:xfrm>
          <a:prstGeom prst="roundRect">
            <a:avLst>
              <a:gd name="adj" fmla="val 21053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14475" y="6960989"/>
            <a:ext cx="72769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reads the first criterion; students read the second and third together — "今天我们做到了吗？"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267825" y="4201716"/>
            <a:ext cx="7877175" cy="3445669"/>
          </a:xfrm>
          <a:prstGeom prst="roundRect">
            <a:avLst>
              <a:gd name="adj" fmla="val 774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05950" y="4544616"/>
            <a:ext cx="7548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05950" y="4858941"/>
            <a:ext cx="7400925" cy="117157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29763" y="4858941"/>
            <a:ext cx="0" cy="1171575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5025" y="5097066"/>
            <a:ext cx="7150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PRICE SENTENCE ON MINI WHITEBOARD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25025" y="5439966"/>
            <a:ext cx="715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e.g. </a:t>
            </a:r>
            <a:r>
              <a:rPr lang="en-US" sz="150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新鲜的鱼很便宜，十块一斤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505950" y="6149578"/>
            <a:ext cx="75489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38" dirty="0"/>
          </a:p>
        </p:txBody>
      </p:sp>
      <p:sp>
        <p:nvSpPr>
          <p:cNvPr id="42" name="Text 40"/>
          <p:cNvSpPr/>
          <p:nvPr/>
        </p:nvSpPr>
        <p:spPr>
          <a:xfrm>
            <a:off x="9601200" y="6571059"/>
            <a:ext cx="75264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market item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0586740" y="6571059"/>
            <a:ext cx="6245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新鲜 or 便宜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1446669" y="6571059"/>
            <a:ext cx="11228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price + 一斤/一公斤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9505950" y="6971109"/>
            <a:ext cx="754894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scans.</a:t>
            </a:r>
            <a:endParaRPr lang="en-US" sz="938" dirty="0"/>
          </a:p>
        </p:txBody>
      </p:sp>
      <p:sp>
        <p:nvSpPr>
          <p:cNvPr id="46" name="Text 44"/>
          <p:cNvSpPr/>
          <p:nvPr/>
        </p:nvSpPr>
        <p:spPr>
          <a:xfrm>
            <a:off x="1143000" y="7818834"/>
            <a:ext cx="16002000" cy="76200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1166813" y="7818834"/>
            <a:ext cx="0" cy="76200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0175" y="8085534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"下一课，我们要学怎么用'比'字句比较两样东西——比如'牛肉比猪肉贵'。"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2026-08-01T06:52:32Z</dcterms:created>
  <dcterms:modified xsi:type="dcterms:W3CDTF">2026-08-01T06:52:32Z</dcterms:modified>
</cp:coreProperties>
</file>