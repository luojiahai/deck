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6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AF6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E0CFB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66323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8432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Y9 · L10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43633" y="166688"/>
            <a:ext cx="141087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4A3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菜市场 Fresh Market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316295" y="176213"/>
            <a:ext cx="37510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7A695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 / 18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A843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2133600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8432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轻松学中文 3 · 第四单元 · 第十课 · PP.90–91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447925"/>
            <a:ext cx="11192256" cy="9051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128"/>
              </a:lnSpc>
              <a:spcBef>
                <a:spcPts val="900"/>
              </a:spcBef>
              <a:buNone/>
            </a:pPr>
            <a:r>
              <a:rPr lang="en-US" sz="6600" b="1" dirty="0">
                <a:solidFill>
                  <a:srgbClr val="2B201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菜市场</a:t>
            </a:r>
            <a:endParaRPr lang="en-US" sz="6600" dirty="0"/>
          </a:p>
        </p:txBody>
      </p:sp>
      <p:sp>
        <p:nvSpPr>
          <p:cNvPr id="10" name="Text 8"/>
          <p:cNvSpPr/>
          <p:nvPr/>
        </p:nvSpPr>
        <p:spPr>
          <a:xfrm>
            <a:off x="609600" y="3416498"/>
            <a:ext cx="11192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spcBef>
                <a:spcPts val="500"/>
              </a:spcBef>
              <a:buNone/>
            </a:pPr>
            <a:r>
              <a:rPr lang="en-US" sz="3000" b="1" dirty="0">
                <a:solidFill>
                  <a:srgbClr val="A8432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Fresh Market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09600" y="4089499"/>
            <a:ext cx="1119225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spcBef>
                <a:spcPts val="1700"/>
              </a:spcBef>
              <a:buNone/>
            </a:pPr>
            <a:r>
              <a:rPr lang="en-US" sz="1800" dirty="0">
                <a:solidFill>
                  <a:srgbClr val="5C4A3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Lesson 1 of 6 · 市场词汇 Market Vocabulary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09600" y="4521250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700"/>
              </a:spcBef>
              <a:buNone/>
            </a:pPr>
            <a:r>
              <a:rPr lang="en-US" sz="1200" dirty="0">
                <a:solidFill>
                  <a:srgbClr val="7A695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六个新词 · 三个学习环 · 50 分钟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6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AF6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E0CFB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6703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8432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0–8 MIN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50628" y="166688"/>
            <a:ext cx="8370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4A3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复习 Review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91143" y="176213"/>
            <a:ext cx="40076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7A695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 / 18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A843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510308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8432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REVIEW · 上节课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799183"/>
            <a:ext cx="11192256" cy="365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75"/>
              </a:lnSpc>
              <a:spcBef>
                <a:spcPts val="700"/>
              </a:spcBef>
              <a:buNone/>
            </a:pPr>
            <a:r>
              <a:rPr lang="en-US" sz="2300" b="1" dirty="0">
                <a:solidFill>
                  <a:srgbClr val="2B201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Lesson 9 文具 Stationery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609600" y="2354759"/>
            <a:ext cx="3522166" cy="1460302"/>
          </a:xfrm>
          <a:prstGeom prst="roundRect">
            <a:avLst>
              <a:gd name="adj" fmla="val 8697"/>
            </a:avLst>
          </a:prstGeom>
          <a:solidFill>
            <a:srgbClr val="F1E8D8"/>
          </a:solidFill>
          <a:ln w="9525">
            <a:solidFill>
              <a:srgbClr val="E0CFB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13583" y="2694384"/>
            <a:ext cx="33142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B201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文具店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4334917" y="2354759"/>
            <a:ext cx="3522166" cy="1460302"/>
          </a:xfrm>
          <a:prstGeom prst="roundRect">
            <a:avLst>
              <a:gd name="adj" fmla="val 8697"/>
            </a:avLst>
          </a:prstGeom>
          <a:solidFill>
            <a:srgbClr val="F1E8D8"/>
          </a:solidFill>
          <a:ln w="9525">
            <a:solidFill>
              <a:srgbClr val="E0CFB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4438900" y="2694384"/>
            <a:ext cx="33142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B201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铅笔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8060234" y="2354759"/>
            <a:ext cx="3522166" cy="1460302"/>
          </a:xfrm>
          <a:prstGeom prst="roundRect">
            <a:avLst>
              <a:gd name="adj" fmla="val 8697"/>
            </a:avLst>
          </a:prstGeom>
          <a:solidFill>
            <a:srgbClr val="F1E8D8"/>
          </a:solidFill>
          <a:ln w="9525">
            <a:solidFill>
              <a:srgbClr val="E0CFB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164217" y="2694384"/>
            <a:ext cx="33142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B201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橡皮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609600" y="4030861"/>
            <a:ext cx="10972800" cy="1342281"/>
          </a:xfrm>
          <a:prstGeom prst="roundRect">
            <a:avLst>
              <a:gd name="adj" fmla="val 9461"/>
            </a:avLst>
          </a:prstGeom>
          <a:solidFill>
            <a:srgbClr val="F1E8D8"/>
          </a:solidFill>
          <a:ln w="19050">
            <a:solidFill>
              <a:srgbClr val="C9B39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933450" y="4278511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B201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看字说拼音和英文。 </a:t>
            </a:r>
            <a:r>
              <a:rPr lang="en-US" sz="1700" b="1" dirty="0">
                <a:solidFill>
                  <a:srgbClr val="A8432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Then:</a:t>
            </a:r>
            <a:r>
              <a:rPr lang="en-US" sz="1700" dirty="0">
                <a:solidFill>
                  <a:srgbClr val="2B201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两位同学用「里边」说一句话。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933450" y="4725442"/>
            <a:ext cx="1053160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spcBef>
                <a:spcPts val="800"/>
              </a:spcBef>
              <a:buNone/>
            </a:pPr>
            <a:r>
              <a:rPr lang="en-US" sz="2100" b="1" dirty="0">
                <a:solidFill>
                  <a:srgbClr val="2B201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我的文具盒里边有三支铅笔。</a:t>
            </a:r>
            <a:endParaRPr lang="en-US" sz="2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6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AF6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E0CFB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74171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8432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8–10 MIN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520577" y="166688"/>
            <a:ext cx="190514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4A3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学习目标 Learning Intention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91441" y="176213"/>
            <a:ext cx="40046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7A695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 / 18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A843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389906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8432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WE ARE LEARNING TO…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678781"/>
            <a:ext cx="9715500" cy="365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75"/>
              </a:lnSpc>
              <a:spcBef>
                <a:spcPts val="700"/>
              </a:spcBef>
              <a:buNone/>
            </a:pPr>
            <a:r>
              <a:rPr lang="en-US" sz="2300" b="1" dirty="0">
                <a:solidFill>
                  <a:srgbClr val="2B201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describe what a fresh market sells, and say that its food is fresh and cheap.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609600" y="2259657"/>
            <a:ext cx="10972800" cy="976312"/>
          </a:xfrm>
          <a:prstGeom prst="roundRect">
            <a:avLst>
              <a:gd name="adj" fmla="val 7805"/>
            </a:avLst>
          </a:prstGeom>
          <a:solidFill>
            <a:srgbClr val="F1E8D8"/>
          </a:solidFill>
          <a:ln w="9525">
            <a:solidFill>
              <a:srgbClr val="E0CFB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22275" y="2446883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A8432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300" dirty="0"/>
          </a:p>
        </p:txBody>
      </p:sp>
      <p:sp>
        <p:nvSpPr>
          <p:cNvPr id="12" name="Text 10"/>
          <p:cNvSpPr/>
          <p:nvPr/>
        </p:nvSpPr>
        <p:spPr>
          <a:xfrm>
            <a:off x="1279327" y="2446883"/>
            <a:ext cx="5169405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B201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can name a market and a fresh market in Chinese.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79327" y="2782044"/>
            <a:ext cx="516940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2F6B44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能说出「市场」和「菜市场」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09600" y="3388370"/>
            <a:ext cx="10972800" cy="976312"/>
          </a:xfrm>
          <a:prstGeom prst="roundRect">
            <a:avLst>
              <a:gd name="adj" fmla="val 7805"/>
            </a:avLst>
          </a:prstGeom>
          <a:solidFill>
            <a:srgbClr val="F1E8D8"/>
          </a:solidFill>
          <a:ln w="9525">
            <a:solidFill>
              <a:srgbClr val="E0CFB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22275" y="3575596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A8432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300" dirty="0"/>
          </a:p>
        </p:txBody>
      </p:sp>
      <p:sp>
        <p:nvSpPr>
          <p:cNvPr id="16" name="Text 14"/>
          <p:cNvSpPr/>
          <p:nvPr/>
        </p:nvSpPr>
        <p:spPr>
          <a:xfrm>
            <a:off x="1279327" y="3575596"/>
            <a:ext cx="4080814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B201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can name two kinds of meat sold there.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79327" y="3910757"/>
            <a:ext cx="408081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2F6B44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能说出「猪肉」和「牛肉」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09600" y="4517082"/>
            <a:ext cx="10972800" cy="976312"/>
          </a:xfrm>
          <a:prstGeom prst="roundRect">
            <a:avLst>
              <a:gd name="adj" fmla="val 7805"/>
            </a:avLst>
          </a:prstGeom>
          <a:solidFill>
            <a:srgbClr val="F1E8D8"/>
          </a:solidFill>
          <a:ln w="9525">
            <a:solidFill>
              <a:srgbClr val="E0CFB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22275" y="4704308"/>
            <a:ext cx="297841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A8432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300" dirty="0"/>
          </a:p>
        </p:txBody>
      </p:sp>
      <p:sp>
        <p:nvSpPr>
          <p:cNvPr id="20" name="Text 18"/>
          <p:cNvSpPr/>
          <p:nvPr/>
        </p:nvSpPr>
        <p:spPr>
          <a:xfrm>
            <a:off x="1279327" y="4704308"/>
            <a:ext cx="3801948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B201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can describe food as fresh or cheap.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79327" y="5039469"/>
            <a:ext cx="380194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2F6B44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能用「新鲜」「便宜」描述食物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6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AF6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E0CFB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8432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40874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4A3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生词 1 · Cycle 1 of 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90846" y="176213"/>
            <a:ext cx="40106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7A695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 / 18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A843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155502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8432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NEW WORDS · 跟我读两遍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457027"/>
            <a:ext cx="5308550" cy="4270921"/>
          </a:xfrm>
          <a:prstGeom prst="roundRect">
            <a:avLst>
              <a:gd name="adj" fmla="val 2974"/>
            </a:avLst>
          </a:prstGeom>
          <a:solidFill>
            <a:srgbClr val="F1E8D8"/>
          </a:solidFill>
          <a:ln w="9525">
            <a:solidFill>
              <a:srgbClr val="E0CFB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0" name="Image 0" descr="/Users/luojiahai/code/deck/index/designs/y9-l10/img/shicha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11301" y="1847552"/>
            <a:ext cx="1905000" cy="1905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2781449" y="3866852"/>
            <a:ext cx="98399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F6B44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shìchǎng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2654201" y="4285952"/>
            <a:ext cx="1243584" cy="670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80"/>
              </a:lnSpc>
              <a:buNone/>
            </a:pPr>
            <a:r>
              <a:rPr lang="en-US" sz="4800" b="1" dirty="0">
                <a:solidFill>
                  <a:srgbClr val="2B201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市场</a:t>
            </a:r>
            <a:endParaRPr lang="en-US" sz="4800" dirty="0"/>
          </a:p>
        </p:txBody>
      </p:sp>
      <p:sp>
        <p:nvSpPr>
          <p:cNvPr id="13" name="Text 10"/>
          <p:cNvSpPr/>
          <p:nvPr/>
        </p:nvSpPr>
        <p:spPr>
          <a:xfrm>
            <a:off x="2946053" y="5070723"/>
            <a:ext cx="64835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5C4A3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market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273701" y="1457027"/>
            <a:ext cx="5308699" cy="4270921"/>
          </a:xfrm>
          <a:prstGeom prst="roundRect">
            <a:avLst>
              <a:gd name="adj" fmla="val 2974"/>
            </a:avLst>
          </a:prstGeom>
          <a:solidFill>
            <a:srgbClr val="F1E8D8"/>
          </a:solidFill>
          <a:ln w="9525">
            <a:solidFill>
              <a:srgbClr val="E0CFB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5" name="Image 1" descr="/Users/luojiahai/code/deck/index/designs/y9-l10/img/caishicha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5550" y="1847552"/>
            <a:ext cx="1905000" cy="19050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8286899" y="3866852"/>
            <a:ext cx="130779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F6B44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càishìchǎng</a:t>
            </a:r>
            <a:endParaRPr lang="en-US" sz="1700" dirty="0"/>
          </a:p>
        </p:txBody>
      </p:sp>
      <p:sp>
        <p:nvSpPr>
          <p:cNvPr id="17" name="Text 13"/>
          <p:cNvSpPr/>
          <p:nvPr/>
        </p:nvSpPr>
        <p:spPr>
          <a:xfrm>
            <a:off x="8204150" y="4285952"/>
            <a:ext cx="1476604" cy="530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0"/>
              </a:lnSpc>
              <a:buNone/>
            </a:pPr>
            <a:r>
              <a:rPr lang="en-US" sz="3800" b="1" dirty="0">
                <a:solidFill>
                  <a:srgbClr val="2B201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菜市场</a:t>
            </a:r>
            <a:endParaRPr lang="en-US" sz="3800" dirty="0"/>
          </a:p>
        </p:txBody>
      </p:sp>
      <p:sp>
        <p:nvSpPr>
          <p:cNvPr id="18" name="Text 14"/>
          <p:cNvSpPr/>
          <p:nvPr/>
        </p:nvSpPr>
        <p:spPr>
          <a:xfrm>
            <a:off x="8343156" y="4931122"/>
            <a:ext cx="11931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5C4A3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fresh market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6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AF6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E0CFB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8432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62097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4A3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例句 1 · See them used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91143" y="176213"/>
            <a:ext cx="40076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7A695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5 / 18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A843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382613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8432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例句 · 读一遍，再一起读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658838"/>
            <a:ext cx="10972800" cy="1052066"/>
          </a:xfrm>
          <a:prstGeom prst="rect">
            <a:avLst/>
          </a:prstGeom>
          <a:solidFill>
            <a:srgbClr val="F1E8D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633412" y="1658838"/>
            <a:ext cx="0" cy="1052066"/>
          </a:xfrm>
          <a:prstGeom prst="line">
            <a:avLst/>
          </a:prstGeom>
          <a:noFill/>
          <a:ln w="47625">
            <a:solidFill>
              <a:srgbClr val="2F6B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85825" y="1811238"/>
            <a:ext cx="10677335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dirty="0">
                <a:solidFill>
                  <a:srgbClr val="2B201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我家附近有一个</a:t>
            </a:r>
            <a:r>
              <a:rPr lang="en-US" sz="2600" b="1" dirty="0">
                <a:solidFill>
                  <a:srgbClr val="A8432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市场</a:t>
            </a:r>
            <a:r>
              <a:rPr lang="en-US" sz="2600" dirty="0">
                <a:solidFill>
                  <a:srgbClr val="2B201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885825" y="2320379"/>
            <a:ext cx="1067733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1350" dirty="0">
                <a:solidFill>
                  <a:srgbClr val="5C4A3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There is a market near my home.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09600" y="2863304"/>
            <a:ext cx="10972800" cy="1052066"/>
          </a:xfrm>
          <a:prstGeom prst="rect">
            <a:avLst/>
          </a:prstGeom>
          <a:solidFill>
            <a:srgbClr val="F1E8D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633412" y="2863304"/>
            <a:ext cx="0" cy="1052066"/>
          </a:xfrm>
          <a:prstGeom prst="line">
            <a:avLst/>
          </a:prstGeom>
          <a:noFill/>
          <a:ln w="47625">
            <a:solidFill>
              <a:srgbClr val="2F6B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85825" y="3015704"/>
            <a:ext cx="10677335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dirty="0">
                <a:solidFill>
                  <a:srgbClr val="2B201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妈妈喜欢去</a:t>
            </a:r>
            <a:r>
              <a:rPr lang="en-US" sz="2600" b="1" dirty="0">
                <a:solidFill>
                  <a:srgbClr val="A8432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菜市场</a:t>
            </a:r>
            <a:r>
              <a:rPr lang="en-US" sz="2600" dirty="0">
                <a:solidFill>
                  <a:srgbClr val="2B201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买菜。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85825" y="3524845"/>
            <a:ext cx="1067733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1350" dirty="0">
                <a:solidFill>
                  <a:srgbClr val="5C4A3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Mum likes going to the fresh market to buy food.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09600" y="4067770"/>
            <a:ext cx="10972800" cy="1052066"/>
          </a:xfrm>
          <a:prstGeom prst="rect">
            <a:avLst/>
          </a:prstGeom>
          <a:solidFill>
            <a:srgbClr val="A8432E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633412" y="4067770"/>
            <a:ext cx="0" cy="1052066"/>
          </a:xfrm>
          <a:prstGeom prst="line">
            <a:avLst/>
          </a:prstGeom>
          <a:noFill/>
          <a:ln w="47625">
            <a:solidFill>
              <a:srgbClr val="A843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5825" y="4220170"/>
            <a:ext cx="10677335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dirty="0">
                <a:solidFill>
                  <a:srgbClr val="2B201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我家附近的</a:t>
            </a:r>
            <a:r>
              <a:rPr lang="en-US" sz="2600" b="1" dirty="0">
                <a:solidFill>
                  <a:srgbClr val="A8432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市场</a:t>
            </a:r>
            <a:r>
              <a:rPr lang="en-US" sz="2600" dirty="0">
                <a:solidFill>
                  <a:srgbClr val="2B201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是</a:t>
            </a:r>
            <a:r>
              <a:rPr lang="en-US" sz="2600" b="1" dirty="0">
                <a:solidFill>
                  <a:srgbClr val="A8432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菜市场</a:t>
            </a:r>
            <a:r>
              <a:rPr lang="en-US" sz="2600" dirty="0">
                <a:solidFill>
                  <a:srgbClr val="2B201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885825" y="4729311"/>
            <a:ext cx="1067733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1350" dirty="0">
                <a:solidFill>
                  <a:srgbClr val="5C4A3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The market near my home is a fresh market.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09600" y="5272236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200"/>
              </a:spcBef>
              <a:buNone/>
            </a:pPr>
            <a:r>
              <a:rPr lang="en-US" sz="1200" dirty="0">
                <a:solidFill>
                  <a:srgbClr val="7A695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问：妈妈去哪里买菜？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6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AF6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E0CFB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8432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78583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4A3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写一句 1 · Write your own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90399" y="176213"/>
            <a:ext cx="40152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7A695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6 / 18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A843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722983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8432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写一句 · 60 秒 · 写在小白板上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049959"/>
            <a:ext cx="10972800" cy="1981200"/>
          </a:xfrm>
          <a:prstGeom prst="roundRect">
            <a:avLst>
              <a:gd name="adj" fmla="val 6410"/>
            </a:avLst>
          </a:prstGeom>
          <a:solidFill>
            <a:srgbClr val="E4D5BC"/>
          </a:solidFill>
          <a:ln w="19050">
            <a:solidFill>
              <a:srgbClr val="A8700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58751" y="2373809"/>
            <a:ext cx="10479988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50"/>
              </a:lnSpc>
              <a:buNone/>
            </a:pPr>
            <a:r>
              <a:rPr lang="en-US" sz="3000" b="1" dirty="0">
                <a:solidFill>
                  <a:srgbClr val="2B201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我家附近有一个 ＿＿＿＿＿＿ 。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958751" y="3040559"/>
            <a:ext cx="10479988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50"/>
              </a:lnSpc>
              <a:buNone/>
            </a:pPr>
            <a:r>
              <a:rPr lang="en-US" sz="3000" b="1" dirty="0">
                <a:solidFill>
                  <a:srgbClr val="2B201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我喜欢去 ＿＿＿＿＿＿ 买菜。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09600" y="4208859"/>
            <a:ext cx="10972800" cy="951458"/>
          </a:xfrm>
          <a:prstGeom prst="roundRect">
            <a:avLst>
              <a:gd name="adj" fmla="val 8009"/>
            </a:avLst>
          </a:prstGeom>
          <a:solidFill>
            <a:srgbClr val="2F6B44">
              <a:alpha val="10000"/>
            </a:srgbClr>
          </a:solidFill>
          <a:ln w="19050">
            <a:solidFill>
              <a:srgbClr val="2F6B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57250" y="4405610"/>
            <a:ext cx="106870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2F6B44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EXTENSION · 加分题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57250" y="4669036"/>
            <a:ext cx="10687050" cy="294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2B201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用「</a:t>
            </a:r>
            <a:r>
              <a:rPr lang="en-US" sz="1600" b="1" dirty="0">
                <a:solidFill>
                  <a:srgbClr val="2F6B44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因为……所以……</a:t>
            </a:r>
            <a:r>
              <a:rPr lang="en-US" sz="1600" dirty="0">
                <a:solidFill>
                  <a:srgbClr val="2B201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」把两句连起来，说说你妈妈为什么去菜市场买菜。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6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AF6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E0CFB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8432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46339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4A3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生词 2 · Cycle 2 of 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96799" y="176213"/>
            <a:ext cx="39499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7A695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7 / 18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A843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155502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8432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NEW WORDS · 跟我读两遍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457027"/>
            <a:ext cx="5308550" cy="4270921"/>
          </a:xfrm>
          <a:prstGeom prst="roundRect">
            <a:avLst>
              <a:gd name="adj" fmla="val 2974"/>
            </a:avLst>
          </a:prstGeom>
          <a:solidFill>
            <a:srgbClr val="F1E8D8"/>
          </a:solidFill>
          <a:ln w="9525">
            <a:solidFill>
              <a:srgbClr val="E0CFB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0" name="Image 0" descr="/Users/luojiahai/code/deck/index/designs/y9-l10/img/zhuro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11301" y="1847552"/>
            <a:ext cx="1905000" cy="1905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2895005" y="3866852"/>
            <a:ext cx="75234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F6B44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zhūròu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2654201" y="4285952"/>
            <a:ext cx="1243584" cy="670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80"/>
              </a:lnSpc>
              <a:buNone/>
            </a:pPr>
            <a:r>
              <a:rPr lang="en-US" sz="4800" b="1" dirty="0">
                <a:solidFill>
                  <a:srgbClr val="2B201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猪肉</a:t>
            </a:r>
            <a:endParaRPr lang="en-US" sz="4800" dirty="0"/>
          </a:p>
        </p:txBody>
      </p:sp>
      <p:sp>
        <p:nvSpPr>
          <p:cNvPr id="13" name="Text 10"/>
          <p:cNvSpPr/>
          <p:nvPr/>
        </p:nvSpPr>
        <p:spPr>
          <a:xfrm>
            <a:off x="3059460" y="5070723"/>
            <a:ext cx="41685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5C4A3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pork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273701" y="1457027"/>
            <a:ext cx="5308699" cy="4270921"/>
          </a:xfrm>
          <a:prstGeom prst="roundRect">
            <a:avLst>
              <a:gd name="adj" fmla="val 2974"/>
            </a:avLst>
          </a:prstGeom>
          <a:solidFill>
            <a:srgbClr val="F1E8D8"/>
          </a:solidFill>
          <a:ln w="9525">
            <a:solidFill>
              <a:srgbClr val="E0CFB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5" name="Image 1" descr="/Users/luojiahai/code/deck/index/designs/y9-l10/img/niurou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5550" y="1847552"/>
            <a:ext cx="1905000" cy="19050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8583811" y="3866852"/>
            <a:ext cx="70224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F6B44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niúròu</a:t>
            </a:r>
            <a:endParaRPr lang="en-US" sz="1700" dirty="0"/>
          </a:p>
        </p:txBody>
      </p:sp>
      <p:sp>
        <p:nvSpPr>
          <p:cNvPr id="17" name="Text 13"/>
          <p:cNvSpPr/>
          <p:nvPr/>
        </p:nvSpPr>
        <p:spPr>
          <a:xfrm>
            <a:off x="8318450" y="4285952"/>
            <a:ext cx="1243584" cy="670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80"/>
              </a:lnSpc>
              <a:buNone/>
            </a:pPr>
            <a:r>
              <a:rPr lang="en-US" sz="4800" b="1" dirty="0">
                <a:solidFill>
                  <a:srgbClr val="2B201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牛肉</a:t>
            </a:r>
            <a:endParaRPr lang="en-US" sz="4800" dirty="0"/>
          </a:p>
        </p:txBody>
      </p:sp>
      <p:sp>
        <p:nvSpPr>
          <p:cNvPr id="18" name="Text 14"/>
          <p:cNvSpPr/>
          <p:nvPr/>
        </p:nvSpPr>
        <p:spPr>
          <a:xfrm>
            <a:off x="8723709" y="5070723"/>
            <a:ext cx="41685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5C4A3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beef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6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AF6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E0CFB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8432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64829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4A3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例句 2 · See them used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90697" y="176213"/>
            <a:ext cx="40122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7A695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8 / 18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A843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382613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8432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例句 · 读一遍，再一起读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658838"/>
            <a:ext cx="10972800" cy="1052066"/>
          </a:xfrm>
          <a:prstGeom prst="rect">
            <a:avLst/>
          </a:prstGeom>
          <a:solidFill>
            <a:srgbClr val="F1E8D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633412" y="1658838"/>
            <a:ext cx="0" cy="1052066"/>
          </a:xfrm>
          <a:prstGeom prst="line">
            <a:avLst/>
          </a:prstGeom>
          <a:noFill/>
          <a:ln w="47625">
            <a:solidFill>
              <a:srgbClr val="2F6B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85825" y="1811238"/>
            <a:ext cx="10677335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dirty="0">
                <a:solidFill>
                  <a:srgbClr val="2B201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我喜欢吃</a:t>
            </a:r>
            <a:r>
              <a:rPr lang="en-US" sz="2600" b="1" dirty="0">
                <a:solidFill>
                  <a:srgbClr val="A8432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猪肉</a:t>
            </a:r>
            <a:r>
              <a:rPr lang="en-US" sz="2600" dirty="0">
                <a:solidFill>
                  <a:srgbClr val="2B201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885825" y="2320379"/>
            <a:ext cx="1067733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1350" dirty="0">
                <a:solidFill>
                  <a:srgbClr val="5C4A3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like eating pork.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09600" y="2863304"/>
            <a:ext cx="10972800" cy="1052066"/>
          </a:xfrm>
          <a:prstGeom prst="rect">
            <a:avLst/>
          </a:prstGeom>
          <a:solidFill>
            <a:srgbClr val="F1E8D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633412" y="2863304"/>
            <a:ext cx="0" cy="1052066"/>
          </a:xfrm>
          <a:prstGeom prst="line">
            <a:avLst/>
          </a:prstGeom>
          <a:noFill/>
          <a:ln w="47625">
            <a:solidFill>
              <a:srgbClr val="2F6B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85825" y="3015704"/>
            <a:ext cx="10677335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dirty="0">
                <a:solidFill>
                  <a:srgbClr val="2B201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我不喜欢吃</a:t>
            </a:r>
            <a:r>
              <a:rPr lang="en-US" sz="2600" b="1" dirty="0">
                <a:solidFill>
                  <a:srgbClr val="A8432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牛肉</a:t>
            </a:r>
            <a:r>
              <a:rPr lang="en-US" sz="2600" dirty="0">
                <a:solidFill>
                  <a:srgbClr val="2B201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85825" y="3524845"/>
            <a:ext cx="1067733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1350" dirty="0">
                <a:solidFill>
                  <a:srgbClr val="5C4A3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don't like eating beef.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09600" y="4067770"/>
            <a:ext cx="10972800" cy="1052066"/>
          </a:xfrm>
          <a:prstGeom prst="rect">
            <a:avLst/>
          </a:prstGeom>
          <a:solidFill>
            <a:srgbClr val="A8432E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633412" y="4067770"/>
            <a:ext cx="0" cy="1052066"/>
          </a:xfrm>
          <a:prstGeom prst="line">
            <a:avLst/>
          </a:prstGeom>
          <a:noFill/>
          <a:ln w="47625">
            <a:solidFill>
              <a:srgbClr val="A843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5825" y="4220170"/>
            <a:ext cx="10677335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dirty="0">
                <a:solidFill>
                  <a:srgbClr val="2B201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妈妈买了</a:t>
            </a:r>
            <a:r>
              <a:rPr lang="en-US" sz="2600" b="1" dirty="0">
                <a:solidFill>
                  <a:srgbClr val="A8432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猪肉</a:t>
            </a:r>
            <a:r>
              <a:rPr lang="en-US" sz="2600" dirty="0">
                <a:solidFill>
                  <a:srgbClr val="2B201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和</a:t>
            </a:r>
            <a:r>
              <a:rPr lang="en-US" sz="2600" b="1" dirty="0">
                <a:solidFill>
                  <a:srgbClr val="A8432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牛肉</a:t>
            </a:r>
            <a:r>
              <a:rPr lang="en-US" sz="2600" dirty="0">
                <a:solidFill>
                  <a:srgbClr val="2B201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885825" y="4729311"/>
            <a:ext cx="1067733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1350" dirty="0">
                <a:solidFill>
                  <a:srgbClr val="5C4A3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Mum bought pork and beef.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09600" y="5272236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200"/>
              </a:spcBef>
              <a:buNone/>
            </a:pPr>
            <a:r>
              <a:rPr lang="en-US" sz="1200" dirty="0">
                <a:solidFill>
                  <a:srgbClr val="7A695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问：妈妈买了什么肉？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6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AF6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E0CFB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8432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81315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4A3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写一句 2 · Write your own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90250" y="176213"/>
            <a:ext cx="40167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7A695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9 / 18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A843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722983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8432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写一句 · 60 秒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049959"/>
            <a:ext cx="10972800" cy="1981200"/>
          </a:xfrm>
          <a:prstGeom prst="roundRect">
            <a:avLst>
              <a:gd name="adj" fmla="val 6410"/>
            </a:avLst>
          </a:prstGeom>
          <a:solidFill>
            <a:srgbClr val="E4D5BC"/>
          </a:solidFill>
          <a:ln w="19050">
            <a:solidFill>
              <a:srgbClr val="A8700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58751" y="2373809"/>
            <a:ext cx="10479988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50"/>
              </a:lnSpc>
              <a:buNone/>
            </a:pPr>
            <a:r>
              <a:rPr lang="en-US" sz="3000" b="1" dirty="0">
                <a:solidFill>
                  <a:srgbClr val="2B201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我喜欢吃 ＿＿＿＿＿＿ ，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958751" y="3040559"/>
            <a:ext cx="10479988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50"/>
              </a:lnSpc>
              <a:buNone/>
            </a:pPr>
            <a:r>
              <a:rPr lang="en-US" sz="3000" b="1" dirty="0">
                <a:solidFill>
                  <a:srgbClr val="2B201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不喜欢吃 ＿＿＿＿＿＿ 。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09600" y="4208859"/>
            <a:ext cx="10972800" cy="951458"/>
          </a:xfrm>
          <a:prstGeom prst="roundRect">
            <a:avLst>
              <a:gd name="adj" fmla="val 8009"/>
            </a:avLst>
          </a:prstGeom>
          <a:solidFill>
            <a:srgbClr val="2F6B44">
              <a:alpha val="10000"/>
            </a:srgbClr>
          </a:solidFill>
          <a:ln w="19050">
            <a:solidFill>
              <a:srgbClr val="2F6B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57250" y="4405610"/>
            <a:ext cx="106870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2F6B44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EXTENSION · 加分题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57250" y="4669036"/>
            <a:ext cx="10687050" cy="294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2B201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说说你家一个星期买什么肉。写</a:t>
            </a:r>
            <a:r>
              <a:rPr lang="en-US" sz="1600" b="1" dirty="0">
                <a:solidFill>
                  <a:srgbClr val="2F6B44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两句</a:t>
            </a:r>
            <a:r>
              <a:rPr lang="en-US" sz="1600" dirty="0">
                <a:solidFill>
                  <a:srgbClr val="2B201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：第一句说买什么，第二句用「</a:t>
            </a:r>
            <a:r>
              <a:rPr lang="en-US" sz="1600" b="1" dirty="0">
                <a:solidFill>
                  <a:srgbClr val="2F6B44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因为……</a:t>
            </a:r>
            <a:r>
              <a:rPr lang="en-US" sz="1600" dirty="0">
                <a:solidFill>
                  <a:srgbClr val="2B201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」说为什么。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6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AF6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E0CFB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8432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46339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4A3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生词 3 · Cycle 3 of 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34142" y="176213"/>
            <a:ext cx="45890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7A695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 / 18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A843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417290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8432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NEW WORDS · 跟我读两遍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718816"/>
            <a:ext cx="5308550" cy="3747343"/>
          </a:xfrm>
          <a:prstGeom prst="roundRect">
            <a:avLst>
              <a:gd name="adj" fmla="val 3389"/>
            </a:avLst>
          </a:prstGeom>
          <a:solidFill>
            <a:srgbClr val="F1E8D8"/>
          </a:solidFill>
          <a:ln w="9525">
            <a:solidFill>
              <a:srgbClr val="E0CFB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868364" y="2668042"/>
            <a:ext cx="80669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F6B44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xīnxiān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168301" y="3150543"/>
            <a:ext cx="4274820" cy="921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260"/>
              </a:lnSpc>
              <a:buNone/>
            </a:pPr>
            <a:r>
              <a:rPr lang="en-US" sz="6600" b="1" dirty="0">
                <a:solidFill>
                  <a:srgbClr val="2B201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新鲜（鮮）</a:t>
            </a:r>
            <a:endParaRPr lang="en-US" sz="6600" dirty="0"/>
          </a:p>
        </p:txBody>
      </p:sp>
      <p:sp>
        <p:nvSpPr>
          <p:cNvPr id="12" name="Text 10"/>
          <p:cNvSpPr/>
          <p:nvPr/>
        </p:nvSpPr>
        <p:spPr>
          <a:xfrm>
            <a:off x="3030289" y="4250234"/>
            <a:ext cx="47651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5C4A3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fresh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273701" y="1718816"/>
            <a:ext cx="5308699" cy="3747343"/>
          </a:xfrm>
          <a:prstGeom prst="roundRect">
            <a:avLst>
              <a:gd name="adj" fmla="val 3389"/>
            </a:avLst>
          </a:prstGeom>
          <a:solidFill>
            <a:srgbClr val="F1E8D8"/>
          </a:solidFill>
          <a:ln w="9525">
            <a:solidFill>
              <a:srgbClr val="E0CFB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606730" y="2668042"/>
            <a:ext cx="65534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F6B44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piányi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089850" y="3150543"/>
            <a:ext cx="1709928" cy="921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260"/>
              </a:lnSpc>
              <a:buNone/>
            </a:pPr>
            <a:r>
              <a:rPr lang="en-US" sz="6600" b="1" dirty="0">
                <a:solidFill>
                  <a:srgbClr val="2B201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便宜</a:t>
            </a:r>
            <a:endParaRPr lang="en-US" sz="6600" dirty="0"/>
          </a:p>
        </p:txBody>
      </p:sp>
      <p:sp>
        <p:nvSpPr>
          <p:cNvPr id="16" name="Text 14"/>
          <p:cNvSpPr/>
          <p:nvPr/>
        </p:nvSpPr>
        <p:spPr>
          <a:xfrm>
            <a:off x="8651677" y="4250234"/>
            <a:ext cx="56380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5C4A3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cheap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6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AF6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E0CFB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8432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64829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4A3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例句 3 · See them used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58550" y="176213"/>
            <a:ext cx="43401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7A695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11 / 18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A843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382613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8432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例句 · 读一遍，再一起读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658838"/>
            <a:ext cx="10972800" cy="1052066"/>
          </a:xfrm>
          <a:prstGeom prst="rect">
            <a:avLst/>
          </a:prstGeom>
          <a:solidFill>
            <a:srgbClr val="F1E8D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633412" y="1658838"/>
            <a:ext cx="0" cy="1052066"/>
          </a:xfrm>
          <a:prstGeom prst="line">
            <a:avLst/>
          </a:prstGeom>
          <a:noFill/>
          <a:ln w="47625">
            <a:solidFill>
              <a:srgbClr val="2F6B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85825" y="1811238"/>
            <a:ext cx="10677335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dirty="0">
                <a:solidFill>
                  <a:srgbClr val="2B201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这里的菜很</a:t>
            </a:r>
            <a:r>
              <a:rPr lang="en-US" sz="2600" b="1" dirty="0">
                <a:solidFill>
                  <a:srgbClr val="A8432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新鲜</a:t>
            </a:r>
            <a:r>
              <a:rPr lang="en-US" sz="2600" dirty="0">
                <a:solidFill>
                  <a:srgbClr val="2B201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885825" y="2320379"/>
            <a:ext cx="1067733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1350" dirty="0">
                <a:solidFill>
                  <a:srgbClr val="5C4A3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The vegetables here are very fresh.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09600" y="2863304"/>
            <a:ext cx="10972800" cy="1052066"/>
          </a:xfrm>
          <a:prstGeom prst="rect">
            <a:avLst/>
          </a:prstGeom>
          <a:solidFill>
            <a:srgbClr val="F1E8D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633412" y="2863304"/>
            <a:ext cx="0" cy="1052066"/>
          </a:xfrm>
          <a:prstGeom prst="line">
            <a:avLst/>
          </a:prstGeom>
          <a:noFill/>
          <a:ln w="47625">
            <a:solidFill>
              <a:srgbClr val="2F6B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85825" y="3015704"/>
            <a:ext cx="10677335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dirty="0">
                <a:solidFill>
                  <a:srgbClr val="2B201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这里的水果很</a:t>
            </a:r>
            <a:r>
              <a:rPr lang="en-US" sz="2600" b="1" dirty="0">
                <a:solidFill>
                  <a:srgbClr val="A8432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便宜</a:t>
            </a:r>
            <a:r>
              <a:rPr lang="en-US" sz="2600" dirty="0">
                <a:solidFill>
                  <a:srgbClr val="2B201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85825" y="3524845"/>
            <a:ext cx="1067733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1350" dirty="0">
                <a:solidFill>
                  <a:srgbClr val="5C4A3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The fruit here is very cheap.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09600" y="4067770"/>
            <a:ext cx="10972800" cy="1052066"/>
          </a:xfrm>
          <a:prstGeom prst="rect">
            <a:avLst/>
          </a:prstGeom>
          <a:solidFill>
            <a:srgbClr val="A8432E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633412" y="4067770"/>
            <a:ext cx="0" cy="1052066"/>
          </a:xfrm>
          <a:prstGeom prst="line">
            <a:avLst/>
          </a:prstGeom>
          <a:noFill/>
          <a:ln w="47625">
            <a:solidFill>
              <a:srgbClr val="A843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5825" y="4220170"/>
            <a:ext cx="10677335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dirty="0">
                <a:solidFill>
                  <a:srgbClr val="2B201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菜市场的菜很</a:t>
            </a:r>
            <a:r>
              <a:rPr lang="en-US" sz="2600" b="1" dirty="0">
                <a:solidFill>
                  <a:srgbClr val="A8432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新鲜</a:t>
            </a:r>
            <a:r>
              <a:rPr lang="en-US" sz="2600" dirty="0">
                <a:solidFill>
                  <a:srgbClr val="2B201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，也很</a:t>
            </a:r>
            <a:r>
              <a:rPr lang="en-US" sz="2600" b="1" dirty="0">
                <a:solidFill>
                  <a:srgbClr val="A8432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便宜</a:t>
            </a:r>
            <a:r>
              <a:rPr lang="en-US" sz="2600" dirty="0">
                <a:solidFill>
                  <a:srgbClr val="2B201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885825" y="4729311"/>
            <a:ext cx="1067733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1350" dirty="0">
                <a:solidFill>
                  <a:srgbClr val="5C4A3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The food at the fresh market is fresh, and cheap too.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09600" y="5272236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1200"/>
              </a:spcBef>
              <a:buNone/>
            </a:pPr>
            <a:r>
              <a:rPr lang="en-US" sz="1200" dirty="0">
                <a:solidFill>
                  <a:srgbClr val="7A695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问：菜市场的菜怎么样？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6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AF6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E0CFB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8432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81315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4A3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写一句 3 · Write your own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33398" y="176213"/>
            <a:ext cx="45966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7A695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12 / 18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A843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722983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8432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写一句 · 60 秒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049959"/>
            <a:ext cx="10972800" cy="1981200"/>
          </a:xfrm>
          <a:prstGeom prst="roundRect">
            <a:avLst>
              <a:gd name="adj" fmla="val 6410"/>
            </a:avLst>
          </a:prstGeom>
          <a:solidFill>
            <a:srgbClr val="E4D5BC"/>
          </a:solidFill>
          <a:ln w="19050">
            <a:solidFill>
              <a:srgbClr val="A8700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58751" y="2373809"/>
            <a:ext cx="10479988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50"/>
              </a:lnSpc>
              <a:buNone/>
            </a:pPr>
            <a:r>
              <a:rPr lang="en-US" sz="3000" b="1" dirty="0">
                <a:solidFill>
                  <a:srgbClr val="2B201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＿＿＿＿＿＿ 很新鲜。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958751" y="3040559"/>
            <a:ext cx="10479988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50"/>
              </a:lnSpc>
              <a:buNone/>
            </a:pPr>
            <a:r>
              <a:rPr lang="en-US" sz="3000" b="1" dirty="0">
                <a:solidFill>
                  <a:srgbClr val="2B201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＿＿＿＿＿＿ 很便宜。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09600" y="4208859"/>
            <a:ext cx="10972800" cy="951458"/>
          </a:xfrm>
          <a:prstGeom prst="roundRect">
            <a:avLst>
              <a:gd name="adj" fmla="val 8009"/>
            </a:avLst>
          </a:prstGeom>
          <a:solidFill>
            <a:srgbClr val="2F6B44">
              <a:alpha val="10000"/>
            </a:srgbClr>
          </a:solidFill>
          <a:ln w="19050">
            <a:solidFill>
              <a:srgbClr val="2F6B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57250" y="4405610"/>
            <a:ext cx="106870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2F6B44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EXTENSION · 加分题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57250" y="4669036"/>
            <a:ext cx="10687050" cy="294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2B201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</a:t>
            </a:r>
            <a:r>
              <a:rPr lang="en-US" sz="1600" b="1" dirty="0">
                <a:solidFill>
                  <a:srgbClr val="2F6B44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三句</a:t>
            </a:r>
            <a:r>
              <a:rPr lang="en-US" sz="1600" dirty="0">
                <a:solidFill>
                  <a:srgbClr val="2B201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，说说你家附近的市场。每句都要用今天的一个新词，最后一句用「</a:t>
            </a:r>
            <a:r>
              <a:rPr lang="en-US" sz="1600" b="1" dirty="0">
                <a:solidFill>
                  <a:srgbClr val="2F6B44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因为……所以……</a:t>
            </a:r>
            <a:r>
              <a:rPr lang="en-US" sz="1600" dirty="0">
                <a:solidFill>
                  <a:srgbClr val="2B201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」。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6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AF6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E0CFB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02392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8432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CHECKPOINT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797248" y="166688"/>
            <a:ext cx="160670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4A3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认字 · Read them back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33696" y="176213"/>
            <a:ext cx="45936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7A695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13 / 18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A843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697236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8432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只看汉字 · 一起读 · 说拼音和英文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2062311"/>
            <a:ext cx="3522166" cy="1460302"/>
          </a:xfrm>
          <a:prstGeom prst="roundRect">
            <a:avLst>
              <a:gd name="adj" fmla="val 8697"/>
            </a:avLst>
          </a:prstGeom>
          <a:solidFill>
            <a:srgbClr val="F1E8D8"/>
          </a:solidFill>
          <a:ln w="9525">
            <a:solidFill>
              <a:srgbClr val="E0CFB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13583" y="2401937"/>
            <a:ext cx="33142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B201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市场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4334917" y="2062311"/>
            <a:ext cx="3522166" cy="1460302"/>
          </a:xfrm>
          <a:prstGeom prst="roundRect">
            <a:avLst>
              <a:gd name="adj" fmla="val 8697"/>
            </a:avLst>
          </a:prstGeom>
          <a:solidFill>
            <a:srgbClr val="F1E8D8"/>
          </a:solidFill>
          <a:ln w="9525">
            <a:solidFill>
              <a:srgbClr val="E0CFB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438900" y="2401937"/>
            <a:ext cx="33142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B201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菜市场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8060234" y="2062311"/>
            <a:ext cx="3522166" cy="1460302"/>
          </a:xfrm>
          <a:prstGeom prst="roundRect">
            <a:avLst>
              <a:gd name="adj" fmla="val 8697"/>
            </a:avLst>
          </a:prstGeom>
          <a:solidFill>
            <a:srgbClr val="F1E8D8"/>
          </a:solidFill>
          <a:ln w="9525">
            <a:solidFill>
              <a:srgbClr val="E0CFB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164217" y="2401937"/>
            <a:ext cx="33142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B201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猪肉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609600" y="3725763"/>
            <a:ext cx="3522166" cy="1460302"/>
          </a:xfrm>
          <a:prstGeom prst="roundRect">
            <a:avLst>
              <a:gd name="adj" fmla="val 8697"/>
            </a:avLst>
          </a:prstGeom>
          <a:solidFill>
            <a:srgbClr val="F1E8D8"/>
          </a:solidFill>
          <a:ln w="9525">
            <a:solidFill>
              <a:srgbClr val="E0CFB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13583" y="4065389"/>
            <a:ext cx="33142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B201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牛肉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4334917" y="3725763"/>
            <a:ext cx="3522166" cy="1460302"/>
          </a:xfrm>
          <a:prstGeom prst="roundRect">
            <a:avLst>
              <a:gd name="adj" fmla="val 8697"/>
            </a:avLst>
          </a:prstGeom>
          <a:solidFill>
            <a:srgbClr val="F1E8D8"/>
          </a:solidFill>
          <a:ln w="9525">
            <a:solidFill>
              <a:srgbClr val="E0CFB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4438900" y="4065389"/>
            <a:ext cx="33142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B201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新鲜</a:t>
            </a:r>
            <a:endParaRPr lang="en-US" sz="4400" dirty="0"/>
          </a:p>
        </p:txBody>
      </p:sp>
      <p:sp>
        <p:nvSpPr>
          <p:cNvPr id="19" name="Text 17"/>
          <p:cNvSpPr/>
          <p:nvPr/>
        </p:nvSpPr>
        <p:spPr>
          <a:xfrm>
            <a:off x="8060234" y="3725763"/>
            <a:ext cx="3522166" cy="1460302"/>
          </a:xfrm>
          <a:prstGeom prst="roundRect">
            <a:avLst>
              <a:gd name="adj" fmla="val 8697"/>
            </a:avLst>
          </a:prstGeom>
          <a:solidFill>
            <a:srgbClr val="F1E8D8"/>
          </a:solidFill>
          <a:ln w="9525">
            <a:solidFill>
              <a:srgbClr val="E0CFB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164217" y="4065389"/>
            <a:ext cx="33142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B201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便宜</a:t>
            </a:r>
            <a:endParaRPr lang="en-US" sz="4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6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AF6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E0CFB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3714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8432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MIN · I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137916" y="166688"/>
            <a:ext cx="155372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4A3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句型 Sentence Pattern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33100" y="176213"/>
            <a:ext cx="45996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7A695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14 / 18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A843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192113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8432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今天的句型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519089"/>
            <a:ext cx="10972800" cy="1098352"/>
          </a:xfrm>
          <a:prstGeom prst="roundRect">
            <a:avLst>
              <a:gd name="adj" fmla="val 11563"/>
            </a:avLst>
          </a:prstGeom>
          <a:solidFill>
            <a:srgbClr val="E4D5BC"/>
          </a:solidFill>
          <a:ln w="19050">
            <a:solidFill>
              <a:srgbClr val="A8432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30199" y="1792039"/>
            <a:ext cx="10531602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2B201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我家附近有一个 …… ，那里的 …… 很 …… 。</a:t>
            </a:r>
            <a:endParaRPr lang="en-US" sz="3100" dirty="0"/>
          </a:p>
        </p:txBody>
      </p:sp>
      <p:sp>
        <p:nvSpPr>
          <p:cNvPr id="11" name="Text 9"/>
          <p:cNvSpPr/>
          <p:nvPr/>
        </p:nvSpPr>
        <p:spPr>
          <a:xfrm>
            <a:off x="609600" y="2833241"/>
            <a:ext cx="10972800" cy="750540"/>
          </a:xfrm>
          <a:prstGeom prst="rect">
            <a:avLst/>
          </a:prstGeom>
          <a:solidFill>
            <a:srgbClr val="F1E8D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633412" y="2833241"/>
            <a:ext cx="0" cy="750540"/>
          </a:xfrm>
          <a:prstGeom prst="line">
            <a:avLst/>
          </a:prstGeom>
          <a:noFill/>
          <a:ln w="47625">
            <a:solidFill>
              <a:srgbClr val="2F6B4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85825" y="2985641"/>
            <a:ext cx="10677335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b="1" dirty="0">
                <a:solidFill>
                  <a:srgbClr val="2B201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我家附近有一个市场，那里的菜很新鲜。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09600" y="3736181"/>
            <a:ext cx="10972800" cy="750540"/>
          </a:xfrm>
          <a:prstGeom prst="rect">
            <a:avLst/>
          </a:prstGeom>
          <a:solidFill>
            <a:srgbClr val="F1E8D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633412" y="3736181"/>
            <a:ext cx="0" cy="750540"/>
          </a:xfrm>
          <a:prstGeom prst="line">
            <a:avLst/>
          </a:prstGeom>
          <a:noFill/>
          <a:ln w="47625">
            <a:solidFill>
              <a:srgbClr val="2F6B4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5825" y="3888581"/>
            <a:ext cx="10677335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b="1" dirty="0">
                <a:solidFill>
                  <a:srgbClr val="2B201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我家附近有一个菜市场，那里的水果很便宜。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09600" y="4639121"/>
            <a:ext cx="10972800" cy="1052066"/>
          </a:xfrm>
          <a:prstGeom prst="rect">
            <a:avLst/>
          </a:prstGeom>
          <a:solidFill>
            <a:srgbClr val="A8432E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633412" y="4639121"/>
            <a:ext cx="0" cy="1052066"/>
          </a:xfrm>
          <a:prstGeom prst="line">
            <a:avLst/>
          </a:prstGeom>
          <a:noFill/>
          <a:ln w="47625">
            <a:solidFill>
              <a:srgbClr val="A843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5825" y="4791521"/>
            <a:ext cx="10677335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b="1" dirty="0">
                <a:solidFill>
                  <a:srgbClr val="2B201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我家附近有一个菜市场，那里的猪肉很新鲜，牛肉也很便宜。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885825" y="5300663"/>
            <a:ext cx="1067733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1350" dirty="0">
                <a:solidFill>
                  <a:srgbClr val="5C4A3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Two items, two descriptions — this is the one to aim for.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6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AF6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E0CFB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86103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8432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637556" y="166688"/>
            <a:ext cx="16739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4A3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词汇总览 Today's Words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33398" y="176213"/>
            <a:ext cx="45966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7A695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15 / 18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A843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935534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8432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今天的六个词 · 这块板一直留在屏幕上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224409"/>
            <a:ext cx="3488234" cy="2234803"/>
          </a:xfrm>
          <a:prstGeom prst="roundRect">
            <a:avLst>
              <a:gd name="adj" fmla="val 5683"/>
            </a:avLst>
          </a:prstGeom>
          <a:solidFill>
            <a:srgbClr val="F1E8D8"/>
          </a:solidFill>
          <a:ln w="9525">
            <a:solidFill>
              <a:srgbClr val="E0CFB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0" name="Image 0" descr="/Users/luojiahai/code/deck/index/designs/y9-l10/img/shicha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9566" y="1411635"/>
            <a:ext cx="1168301" cy="1168301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934617" y="2681436"/>
            <a:ext cx="854964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B201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市场</a:t>
            </a:r>
            <a:endParaRPr lang="en-US" sz="3300" dirty="0"/>
          </a:p>
        </p:txBody>
      </p:sp>
      <p:sp>
        <p:nvSpPr>
          <p:cNvPr id="12" name="Text 9"/>
          <p:cNvSpPr/>
          <p:nvPr/>
        </p:nvSpPr>
        <p:spPr>
          <a:xfrm>
            <a:off x="4351734" y="1224409"/>
            <a:ext cx="3488382" cy="2234803"/>
          </a:xfrm>
          <a:prstGeom prst="roundRect">
            <a:avLst>
              <a:gd name="adj" fmla="val 5683"/>
            </a:avLst>
          </a:prstGeom>
          <a:solidFill>
            <a:srgbClr val="F1E8D8"/>
          </a:solidFill>
          <a:ln w="9525">
            <a:solidFill>
              <a:srgbClr val="E0CFB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3" name="Image 1" descr="/Users/luojiahai/code/deck/index/designs/y9-l10/img/caishicha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1701" y="1411635"/>
            <a:ext cx="1168301" cy="1168301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562451" y="2681436"/>
            <a:ext cx="1088136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B201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菜市场</a:t>
            </a:r>
            <a:endParaRPr lang="en-US" sz="2800" dirty="0"/>
          </a:p>
        </p:txBody>
      </p:sp>
      <p:sp>
        <p:nvSpPr>
          <p:cNvPr id="15" name="Text 11"/>
          <p:cNvSpPr/>
          <p:nvPr/>
        </p:nvSpPr>
        <p:spPr>
          <a:xfrm>
            <a:off x="8094018" y="1224409"/>
            <a:ext cx="3488234" cy="2234803"/>
          </a:xfrm>
          <a:prstGeom prst="roundRect">
            <a:avLst>
              <a:gd name="adj" fmla="val 5683"/>
            </a:avLst>
          </a:prstGeom>
          <a:solidFill>
            <a:srgbClr val="F1E8D8"/>
          </a:solidFill>
          <a:ln w="9525">
            <a:solidFill>
              <a:srgbClr val="E0CFB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6" name="Image 2" descr="/Users/luojiahai/code/deck/index/designs/y9-l10/img/zhurou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3984" y="1411635"/>
            <a:ext cx="1168301" cy="1168301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419034" y="2681436"/>
            <a:ext cx="854964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B201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猪肉</a:t>
            </a:r>
            <a:endParaRPr lang="en-US" sz="3300" dirty="0"/>
          </a:p>
        </p:txBody>
      </p:sp>
      <p:sp>
        <p:nvSpPr>
          <p:cNvPr id="18" name="Text 13"/>
          <p:cNvSpPr/>
          <p:nvPr/>
        </p:nvSpPr>
        <p:spPr>
          <a:xfrm>
            <a:off x="609600" y="3713113"/>
            <a:ext cx="3488234" cy="2234803"/>
          </a:xfrm>
          <a:prstGeom prst="roundRect">
            <a:avLst>
              <a:gd name="adj" fmla="val 5683"/>
            </a:avLst>
          </a:prstGeom>
          <a:solidFill>
            <a:srgbClr val="F1E8D8"/>
          </a:solidFill>
          <a:ln w="9525">
            <a:solidFill>
              <a:srgbClr val="E0CFB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9" name="Image 3" descr="/Users/luojiahai/code/deck/index/designs/y9-l10/img/niurou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69566" y="3900339"/>
            <a:ext cx="1168301" cy="1168301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934617" y="5170140"/>
            <a:ext cx="854964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B201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牛肉</a:t>
            </a:r>
            <a:endParaRPr lang="en-US" sz="3300" dirty="0"/>
          </a:p>
        </p:txBody>
      </p:sp>
      <p:sp>
        <p:nvSpPr>
          <p:cNvPr id="21" name="Text 15"/>
          <p:cNvSpPr/>
          <p:nvPr/>
        </p:nvSpPr>
        <p:spPr>
          <a:xfrm>
            <a:off x="4351734" y="3713113"/>
            <a:ext cx="3488382" cy="2234803"/>
          </a:xfrm>
          <a:prstGeom prst="roundRect">
            <a:avLst>
              <a:gd name="adj" fmla="val 5683"/>
            </a:avLst>
          </a:prstGeom>
          <a:solidFill>
            <a:srgbClr val="F1E8D8"/>
          </a:solidFill>
          <a:ln w="9525">
            <a:solidFill>
              <a:srgbClr val="E0CFB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16"/>
          <p:cNvSpPr/>
          <p:nvPr/>
        </p:nvSpPr>
        <p:spPr>
          <a:xfrm>
            <a:off x="5676751" y="5170140"/>
            <a:ext cx="854964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B201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新鲜</a:t>
            </a:r>
            <a:endParaRPr lang="en-US" sz="3300" dirty="0"/>
          </a:p>
        </p:txBody>
      </p:sp>
      <p:sp>
        <p:nvSpPr>
          <p:cNvPr id="23" name="Text 17"/>
          <p:cNvSpPr/>
          <p:nvPr/>
        </p:nvSpPr>
        <p:spPr>
          <a:xfrm>
            <a:off x="8094018" y="3713113"/>
            <a:ext cx="3488234" cy="2234803"/>
          </a:xfrm>
          <a:prstGeom prst="roundRect">
            <a:avLst>
              <a:gd name="adj" fmla="val 5683"/>
            </a:avLst>
          </a:prstGeom>
          <a:solidFill>
            <a:srgbClr val="F1E8D8"/>
          </a:solidFill>
          <a:ln w="9525">
            <a:solidFill>
              <a:srgbClr val="E0CFB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18"/>
          <p:cNvSpPr/>
          <p:nvPr/>
        </p:nvSpPr>
        <p:spPr>
          <a:xfrm>
            <a:off x="9419034" y="5170140"/>
            <a:ext cx="854964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B201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便宜</a:t>
            </a:r>
            <a:endParaRPr lang="en-US" sz="3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6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AF6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E0CFB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158453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8432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 · WE DO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346871" y="166688"/>
            <a:ext cx="162749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4A3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任务 · 给妈妈写一张便条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32654" y="176213"/>
            <a:ext cx="46042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7A695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16 / 18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A843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209080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8432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用今天六个词，一个都不能少 · 4 分钟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485305"/>
            <a:ext cx="11192256" cy="365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75"/>
              </a:lnSpc>
              <a:spcBef>
                <a:spcPts val="600"/>
              </a:spcBef>
              <a:buNone/>
            </a:pPr>
            <a:r>
              <a:rPr lang="en-US" sz="2300" b="1" dirty="0">
                <a:solidFill>
                  <a:srgbClr val="2B201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给妈妈写一张便条 — Write Mum a note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609600" y="2015430"/>
            <a:ext cx="10972800" cy="2529780"/>
          </a:xfrm>
          <a:prstGeom prst="roundRect">
            <a:avLst>
              <a:gd name="adj" fmla="val 5020"/>
            </a:avLst>
          </a:prstGeom>
          <a:solidFill>
            <a:srgbClr val="F1E8D8"/>
          </a:solidFill>
          <a:ln w="19050">
            <a:solidFill>
              <a:srgbClr val="C9B39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933450" y="2263080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B201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 </a:t>
            </a:r>
            <a:r>
              <a:rPr lang="en-US" sz="1700" b="1" dirty="0">
                <a:solidFill>
                  <a:srgbClr val="A8432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四句话</a:t>
            </a:r>
            <a:r>
              <a:rPr lang="en-US" sz="1700" dirty="0">
                <a:solidFill>
                  <a:srgbClr val="2B201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：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33450" y="2697361"/>
            <a:ext cx="1053160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spcBef>
                <a:spcPts val="700"/>
              </a:spcBef>
              <a:buNone/>
            </a:pPr>
            <a:r>
              <a:rPr lang="en-US" sz="2100" b="1" dirty="0">
                <a:solidFill>
                  <a:srgbClr val="2B201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1. 你去哪里 —— 市场 / 菜市场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933450" y="3097411"/>
            <a:ext cx="1053160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b="1" dirty="0">
                <a:solidFill>
                  <a:srgbClr val="2B201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2. 你买了什么肉 —— 猪肉、牛肉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933450" y="3497461"/>
            <a:ext cx="1053160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b="1" dirty="0">
                <a:solidFill>
                  <a:srgbClr val="2B201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3. 那里的菜怎么样 —— 新鲜、便宜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933450" y="3897511"/>
            <a:ext cx="1053160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b="1" dirty="0">
                <a:solidFill>
                  <a:srgbClr val="2B201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4. 你为什么去那里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609600" y="4722912"/>
            <a:ext cx="10972800" cy="951458"/>
          </a:xfrm>
          <a:prstGeom prst="roundRect">
            <a:avLst>
              <a:gd name="adj" fmla="val 8009"/>
            </a:avLst>
          </a:prstGeom>
          <a:solidFill>
            <a:srgbClr val="2F6B44">
              <a:alpha val="10000"/>
            </a:srgbClr>
          </a:solidFill>
          <a:ln w="19050">
            <a:solidFill>
              <a:srgbClr val="2F6B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57250" y="4919663"/>
            <a:ext cx="106870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2F6B44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EXTENSION · 加分题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57250" y="5183088"/>
            <a:ext cx="10687050" cy="294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2B201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不看词汇板写。加上「</a:t>
            </a:r>
            <a:r>
              <a:rPr lang="en-US" sz="1600" b="1" dirty="0">
                <a:solidFill>
                  <a:srgbClr val="2F6B44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因为……所以……</a:t>
            </a:r>
            <a:r>
              <a:rPr lang="en-US" sz="1600" dirty="0">
                <a:solidFill>
                  <a:srgbClr val="2B201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」，再写一样你</a:t>
            </a:r>
            <a:r>
              <a:rPr lang="en-US" sz="1600" b="1" dirty="0">
                <a:solidFill>
                  <a:srgbClr val="2F6B44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没买</a:t>
            </a:r>
            <a:r>
              <a:rPr lang="en-US" sz="1600" dirty="0">
                <a:solidFill>
                  <a:srgbClr val="2B201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的东西和原因。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6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AF6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E0CFB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86103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8432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20–43 MIN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637556" y="166688"/>
            <a:ext cx="21240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4A3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游戏 · 拍字 Slap the Character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39054" y="176213"/>
            <a:ext cx="45389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7A695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17 / 18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A843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240929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8432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GAME · 5 分钟 · 两人一组上黑板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517154"/>
            <a:ext cx="11192256" cy="365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75"/>
              </a:lnSpc>
              <a:spcBef>
                <a:spcPts val="600"/>
              </a:spcBef>
              <a:buNone/>
            </a:pPr>
            <a:r>
              <a:rPr lang="en-US" sz="2300" b="1" dirty="0">
                <a:solidFill>
                  <a:srgbClr val="2B201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拍字 Slap the Character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609600" y="2047280"/>
            <a:ext cx="10972800" cy="840730"/>
          </a:xfrm>
          <a:prstGeom prst="roundRect">
            <a:avLst>
              <a:gd name="adj" fmla="val 15106"/>
            </a:avLst>
          </a:prstGeom>
          <a:solidFill>
            <a:srgbClr val="F1E8D8"/>
          </a:solidFill>
          <a:ln w="19050">
            <a:solidFill>
              <a:srgbClr val="C9B39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933450" y="2294930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dirty="0">
                <a:solidFill>
                  <a:srgbClr val="2B201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六个词写在黑板上。老师说英文 —— 最快拍到那个词的同学得一分。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09600" y="3053060"/>
            <a:ext cx="3522166" cy="1460302"/>
          </a:xfrm>
          <a:prstGeom prst="roundRect">
            <a:avLst>
              <a:gd name="adj" fmla="val 8697"/>
            </a:avLst>
          </a:prstGeom>
          <a:solidFill>
            <a:srgbClr val="F1E8D8"/>
          </a:solidFill>
          <a:ln w="9525">
            <a:solidFill>
              <a:srgbClr val="E0CFB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13583" y="3392686"/>
            <a:ext cx="33142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B201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市场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4334917" y="3053060"/>
            <a:ext cx="3522166" cy="1460302"/>
          </a:xfrm>
          <a:prstGeom prst="roundRect">
            <a:avLst>
              <a:gd name="adj" fmla="val 8697"/>
            </a:avLst>
          </a:prstGeom>
          <a:solidFill>
            <a:srgbClr val="F1E8D8"/>
          </a:solidFill>
          <a:ln w="9525">
            <a:solidFill>
              <a:srgbClr val="E0CFB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438900" y="3392686"/>
            <a:ext cx="33142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B201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猪肉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8060234" y="3053060"/>
            <a:ext cx="3522166" cy="1460302"/>
          </a:xfrm>
          <a:prstGeom prst="roundRect">
            <a:avLst>
              <a:gd name="adj" fmla="val 8697"/>
            </a:avLst>
          </a:prstGeom>
          <a:solidFill>
            <a:srgbClr val="F1E8D8"/>
          </a:solidFill>
          <a:ln w="9525">
            <a:solidFill>
              <a:srgbClr val="E0CFB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164217" y="3392686"/>
            <a:ext cx="33142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B201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新鲜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609600" y="4691063"/>
            <a:ext cx="10972800" cy="951458"/>
          </a:xfrm>
          <a:prstGeom prst="roundRect">
            <a:avLst>
              <a:gd name="adj" fmla="val 8009"/>
            </a:avLst>
          </a:prstGeom>
          <a:solidFill>
            <a:srgbClr val="2F6B44">
              <a:alpha val="10000"/>
            </a:srgbClr>
          </a:solidFill>
          <a:ln w="19050">
            <a:solidFill>
              <a:srgbClr val="2F6B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57250" y="4887813"/>
            <a:ext cx="106870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2F6B44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EXTENSION · 加分题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57250" y="5151239"/>
            <a:ext cx="10687050" cy="294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2B201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老师改说</a:t>
            </a:r>
            <a:r>
              <a:rPr lang="en-US" sz="1600" b="1" dirty="0">
                <a:solidFill>
                  <a:srgbClr val="2F6B44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整句中文</a:t>
            </a:r>
            <a:r>
              <a:rPr lang="en-US" sz="1600" dirty="0">
                <a:solidFill>
                  <a:srgbClr val="2B201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，把那个词换成「什么」。学生要先拍字，再把</a:t>
            </a:r>
            <a:r>
              <a:rPr lang="en-US" sz="1600" b="1" dirty="0">
                <a:solidFill>
                  <a:srgbClr val="2F6B44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完整的句子</a:t>
            </a:r>
            <a:r>
              <a:rPr lang="en-US" sz="1600" dirty="0">
                <a:solidFill>
                  <a:srgbClr val="2B201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说出来才算分。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6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542925"/>
          </a:xfrm>
          <a:prstGeom prst="rect">
            <a:avLst/>
          </a:prstGeom>
          <a:solidFill>
            <a:srgbClr val="FAF6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538163"/>
            <a:ext cx="12192000" cy="0"/>
          </a:xfrm>
          <a:prstGeom prst="line">
            <a:avLst/>
          </a:prstGeom>
          <a:noFill/>
          <a:ln w="9525">
            <a:solidFill>
              <a:srgbClr val="E0CFB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7950" y="176213"/>
            <a:ext cx="86149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8432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43–50 MIN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638002" y="166688"/>
            <a:ext cx="85967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4A3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小结 Plenary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32952" y="176213"/>
            <a:ext cx="46012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7A695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18 / 18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7950" y="0"/>
            <a:ext cx="11176099" cy="31700"/>
          </a:xfrm>
          <a:prstGeom prst="rect">
            <a:avLst/>
          </a:prstGeom>
          <a:solidFill>
            <a:srgbClr val="A843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1522809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8432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PLENARY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799034"/>
            <a:ext cx="11192256" cy="365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75"/>
              </a:lnSpc>
              <a:spcBef>
                <a:spcPts val="600"/>
              </a:spcBef>
              <a:buNone/>
            </a:pPr>
            <a:r>
              <a:rPr lang="en-US" sz="2300" b="1" dirty="0">
                <a:solidFill>
                  <a:srgbClr val="2B201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今天学会了吗？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609600" y="2316510"/>
            <a:ext cx="10972800" cy="840730"/>
          </a:xfrm>
          <a:prstGeom prst="roundRect">
            <a:avLst>
              <a:gd name="adj" fmla="val 15106"/>
            </a:avLst>
          </a:prstGeom>
          <a:solidFill>
            <a:srgbClr val="F1E8D8"/>
          </a:solidFill>
          <a:ln w="19050">
            <a:solidFill>
              <a:srgbClr val="C9B39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933450" y="2564160"/>
            <a:ext cx="1053160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b="1" dirty="0">
                <a:solidFill>
                  <a:srgbClr val="A8432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自评</a:t>
            </a:r>
            <a:r>
              <a:rPr lang="en-US" sz="1700" dirty="0">
                <a:solidFill>
                  <a:srgbClr val="2B201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— 三个目标，每个举手：会 / 差不多 / 还不会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09600" y="3322290"/>
            <a:ext cx="10972800" cy="1577876"/>
          </a:xfrm>
          <a:prstGeom prst="roundRect">
            <a:avLst>
              <a:gd name="adj" fmla="val 8049"/>
            </a:avLst>
          </a:prstGeom>
          <a:solidFill>
            <a:srgbClr val="E4D5BC"/>
          </a:solidFill>
          <a:ln w="19050">
            <a:solidFill>
              <a:srgbClr val="A8700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958751" y="3646140"/>
            <a:ext cx="1047998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8432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EXIT TICKET · 出门条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58751" y="3909566"/>
            <a:ext cx="10479988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50"/>
              </a:lnSpc>
              <a:spcBef>
                <a:spcPts val="500"/>
              </a:spcBef>
              <a:buNone/>
            </a:pPr>
            <a:r>
              <a:rPr lang="en-US" sz="3000" b="1" dirty="0">
                <a:solidFill>
                  <a:srgbClr val="2B201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写一句话，用「新鲜」或者「便宜」，说说菜市场。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09600" y="5065216"/>
            <a:ext cx="11192256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5"/>
              </a:lnSpc>
              <a:spcBef>
                <a:spcPts val="1300"/>
              </a:spcBef>
              <a:buNone/>
            </a:pPr>
            <a:r>
              <a:rPr lang="en-US" sz="1500" b="1" dirty="0">
                <a:solidFill>
                  <a:srgbClr val="5C4A3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下节课：</a:t>
            </a:r>
            <a:r>
              <a:rPr lang="en-US" sz="1500" dirty="0">
                <a:solidFill>
                  <a:srgbClr val="5C4A3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用「比」比较菜市场和超市 —— 菜市场的菜比超市的便宜。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2026-09-14T03:46:42Z</dcterms:created>
  <dcterms:modified xsi:type="dcterms:W3CDTF">2026-09-14T03:46:42Z</dcterms:modified>
</cp:coreProperties>
</file>