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17145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spcBef>
                <a:spcPts val="31500"/>
              </a:spcBef>
              <a:spcAft>
                <a:spcPts val="31500"/>
              </a:spcAft>
              <a:buNone/>
            </a:pPr>
            <a:r>
              <a:rPr lang="en-US" sz="31500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5030548" y="2171700"/>
            <a:ext cx="82269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30548" y="3390900"/>
            <a:ext cx="822690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spcBef>
                <a:spcPts val="7500"/>
              </a:spcBef>
              <a:spcAft>
                <a:spcPts val="7500"/>
              </a:spcAft>
              <a:buNone/>
            </a:pPr>
            <a:r>
              <a:rPr lang="en-US" sz="7500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🛍️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5030548" y="5295900"/>
            <a:ext cx="8226903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spcBef>
                <a:spcPts val="6532"/>
              </a:spcBef>
              <a:spcAft>
                <a:spcPts val="600"/>
              </a:spcAft>
              <a:buNone/>
            </a:pP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买东西</a:t>
            </a:r>
            <a:r>
              <a:rPr lang="en-US" sz="97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采访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5030548" y="6800850"/>
            <a:ext cx="822690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Shopping Roleplay + 但是 Contrast + Partner Interview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098633" y="7943850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7173" y="7943850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82303" y="7943850"/>
            <a:ext cx="25447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Roleplay + Writing + Speaking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5562" y="7943850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2954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190750"/>
            <a:ext cx="165163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Measure Words &amp; Prices Recap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047750" y="3438525"/>
            <a:ext cx="7924800" cy="2266950"/>
          </a:xfrm>
          <a:prstGeom prst="roundRect">
            <a:avLst>
              <a:gd name="adj" fmla="val 840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04925" y="3810000"/>
            <a:ext cx="75586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LESSON 6 MEASURE WORDS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4925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47800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卷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847850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90725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2390775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533650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份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2933700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76575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块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476625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19500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4019550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62425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4562475" y="4171950"/>
            <a:ext cx="647700" cy="781050"/>
          </a:xfrm>
          <a:prstGeom prst="roundRect">
            <a:avLst>
              <a:gd name="adj" fmla="val 8824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05350" y="4438650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公斤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5286375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29250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条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5829300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72175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6372225" y="4171950"/>
            <a:ext cx="466725" cy="781050"/>
          </a:xfrm>
          <a:prstGeom prst="roundRect">
            <a:avLst>
              <a:gd name="adj" fmla="val 12245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C9745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15100" y="4438650"/>
            <a:ext cx="184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瓶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304925" y="5105400"/>
            <a:ext cx="7558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measure-word cards stuck up on the board — the target set for today's game.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15450" y="3438525"/>
            <a:ext cx="7924800" cy="1562100"/>
          </a:xfrm>
          <a:prstGeom prst="roundRect">
            <a:avLst>
              <a:gd name="adj" fmla="val 12195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572625" y="3810000"/>
            <a:ext cx="75586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SLAP THE 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72625" y="4171950"/>
            <a:ext cx="7558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stand at the board. Teacher says a noun (e.g. 一___水，一___面包) — students race to slap the matching measure word.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Winner stays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the next round.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47750" y="5915025"/>
            <a:ext cx="16192500" cy="152578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1076325" y="5915025"/>
            <a:ext cx="0" cy="1525786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90650" y="6248400"/>
            <a:ext cx="15875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CONNECTION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1390650" y="6648450"/>
            <a:ext cx="1587512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"上节课我们学了</a:t>
            </a:r>
            <a:r>
              <a:rPr lang="en-US" sz="18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</a:t>
            </a:r>
            <a:r>
              <a:rPr lang="en-US" sz="18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18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价钱</a:t>
            </a:r>
            <a:r>
              <a:rPr lang="en-US" sz="18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。今天我们要用这些词做买东西的角色扮演，还要学怎么对比</a:t>
            </a:r>
            <a:r>
              <a:rPr lang="en-US" sz="18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'平时'</a:t>
            </a:r>
            <a:r>
              <a:rPr lang="en-US" sz="18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18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'今天'</a:t>
            </a:r>
            <a:r>
              <a:rPr lang="en-US" sz="18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的不同。"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2159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727472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699022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00"/>
              </a:spcBef>
              <a:spcAft>
                <a:spcPts val="3900"/>
              </a:spcAft>
              <a:buNone/>
            </a:pPr>
            <a:r>
              <a:rPr lang="en-US" sz="3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232547"/>
            <a:ext cx="15621000" cy="1568648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232547"/>
            <a:ext cx="0" cy="1568648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3565922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3985022"/>
            <a:ext cx="15263051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8"/>
              </a:lnSpc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9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roleplay a shopping conversation</a:t>
            </a: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to </a:t>
            </a:r>
            <a:r>
              <a:rPr lang="en-US" sz="19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contrast our usual habits with an exception</a:t>
            </a:r>
            <a:r>
              <a:rPr lang="en-US" sz="19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但是.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144095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68702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572720"/>
            <a:ext cx="8127168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roleplay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buying an item, asking to see/try it and asking the price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能表演买东西、试穿和问价钱的对话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6812756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7355681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7241381"/>
            <a:ext cx="8873136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contrast a usual habit with an exception using a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 adverb + 但是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能用"平时/通常……但是……"对比习惯和例外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8481417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9024342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8910042"/>
            <a:ext cx="8426071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interview a partner about their daily eating routine and report back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能采访同伴的日常饮食习惯并汇报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35003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Recap Vocab &amp; Key Patterns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5252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895475"/>
            <a:ext cx="1671066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复习词汇 &amp; 句型 · Recap Vocab &amp; Patterns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52500" y="2828925"/>
            <a:ext cx="3200400" cy="1066800"/>
          </a:xfrm>
          <a:prstGeom prst="roundRect">
            <a:avLst>
              <a:gd name="adj" fmla="val 1785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95375" y="3219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试穿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609725" y="3057525"/>
            <a:ext cx="546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shìchuān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09725" y="3495675"/>
            <a:ext cx="546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try 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48150" y="2828925"/>
            <a:ext cx="3200400" cy="1066800"/>
          </a:xfrm>
          <a:prstGeom prst="roundRect">
            <a:avLst>
              <a:gd name="adj" fmla="val 1785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91025" y="3219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05375" y="3057525"/>
            <a:ext cx="5890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05375" y="3495675"/>
            <a:ext cx="5890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look at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7543800" y="2828925"/>
            <a:ext cx="3200400" cy="1066800"/>
          </a:xfrm>
          <a:prstGeom prst="roundRect">
            <a:avLst>
              <a:gd name="adj" fmla="val 1785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86675" y="3219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201025" y="3057525"/>
            <a:ext cx="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dànshì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201025" y="3495675"/>
            <a:ext cx="401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0839450" y="2828925"/>
            <a:ext cx="3200400" cy="1066800"/>
          </a:xfrm>
          <a:prstGeom prst="roundRect">
            <a:avLst>
              <a:gd name="adj" fmla="val 1785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82325" y="3219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496675" y="3057525"/>
            <a:ext cx="547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yìbān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1496675" y="3495675"/>
            <a:ext cx="5477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generally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4135100" y="2828925"/>
            <a:ext cx="3200400" cy="1066800"/>
          </a:xfrm>
          <a:prstGeom prst="roundRect">
            <a:avLst>
              <a:gd name="adj" fmla="val 17857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4277975" y="3219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经常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792325" y="3057525"/>
            <a:ext cx="6151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jīngcháng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4792325" y="3495675"/>
            <a:ext cx="6151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often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52500" y="5676900"/>
            <a:ext cx="16710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例子 (TEACHER READS ALOUD, CLASS REPEATS)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52500" y="6029325"/>
            <a:ext cx="16383000" cy="968127"/>
          </a:xfrm>
          <a:prstGeom prst="roundRect">
            <a:avLst>
              <a:gd name="adj" fmla="val 1180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52525" y="6191250"/>
            <a:ext cx="1630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52525" y="6505575"/>
            <a:ext cx="16302609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你想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哪双鞋？ B: 这双，两百块的。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952500" y="7054602"/>
            <a:ext cx="16383000" cy="968127"/>
          </a:xfrm>
          <a:prstGeom prst="roundRect">
            <a:avLst>
              <a:gd name="adj" fmla="val 1180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52525" y="7216527"/>
            <a:ext cx="1630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52525" y="7530852"/>
            <a:ext cx="16302609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我平时买盒饭吃，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今天我带了三明治。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952500" y="8079879"/>
            <a:ext cx="16383000" cy="968127"/>
          </a:xfrm>
          <a:prstGeom prst="roundRect">
            <a:avLst>
              <a:gd name="adj" fmla="val 1180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52525" y="8241804"/>
            <a:ext cx="1630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3 — SILLY EXAMPLE, WAIT FOR REACTION!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52525" y="8556129"/>
            <a:ext cx="16302609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我平时坐公共汽车上学，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今天骑了一头大象！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18–20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573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18–20 MIN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15265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3438525"/>
            <a:ext cx="5334000" cy="4895850"/>
          </a:xfrm>
          <a:prstGeom prst="roundRect">
            <a:avLst>
              <a:gd name="adj" fmla="val 544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71575" y="36957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36328" y="377190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1575" y="4352925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71575" y="4972050"/>
            <a:ext cx="49937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试穿 Check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71575" y="5734050"/>
            <a:ext cx="49937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试穿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means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'to try on'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0" y="3438525"/>
            <a:ext cx="5334000" cy="4895850"/>
          </a:xfrm>
          <a:prstGeom prst="roundRect">
            <a:avLst>
              <a:gd name="adj" fmla="val 5447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96075" y="36957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D45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60828" y="377190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96075" y="4352925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696075" y="4972050"/>
            <a:ext cx="49937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What's Wrong?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696075" y="5734050"/>
            <a:ext cx="499376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projects: 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我但是平时吃三明治。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"What's wrong here?" — word order: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goes at the start of the second clause.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96075" y="6534150"/>
            <a:ext cx="4895850" cy="1543050"/>
          </a:xfrm>
          <a:prstGeom prst="roundRect">
            <a:avLst>
              <a:gd name="adj" fmla="val 7407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29425" y="6819900"/>
            <a:ext cx="17487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D45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我但是平时吃三明治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29425" y="7524750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我平时吃三明治，但是……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01500" y="3438525"/>
            <a:ext cx="5334000" cy="4895850"/>
          </a:xfrm>
          <a:prstGeom prst="roundRect">
            <a:avLst>
              <a:gd name="adj" fmla="val 5447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220575" y="36957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385328" y="377190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220575" y="4352925"/>
            <a:ext cx="49937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2220575" y="4972050"/>
            <a:ext cx="49937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Make a Contrast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220575" y="5734050"/>
            <a:ext cx="49937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"Ivy，用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'但是'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说一句对比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和</a:t>
            </a:r>
            <a:r>
              <a:rPr lang="en-US" sz="15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平时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的句子。"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2500" y="8524875"/>
            <a:ext cx="16383000" cy="800100"/>
          </a:xfrm>
          <a:prstGeom prst="roundRect">
            <a:avLst>
              <a:gd name="adj" fmla="val 1428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90625" y="8810625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 1. For the error correction, listen for students naming it as a word-order error, not just fixing it by instinct.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22772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 · 20–28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362075"/>
            <a:ext cx="1259681" cy="571500"/>
          </a:xfrm>
          <a:prstGeom prst="roundRect">
            <a:avLst>
              <a:gd name="adj" fmla="val 1665000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552575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2681" y="1409700"/>
            <a:ext cx="485258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Shopping Roleplay 购物角色扮演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2343150"/>
            <a:ext cx="927199" cy="628650"/>
          </a:xfrm>
          <a:prstGeom prst="roundRect">
            <a:avLst>
              <a:gd name="adj" fmla="val 151363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2552700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93999" y="2400300"/>
            <a:ext cx="757089" cy="514350"/>
          </a:xfrm>
          <a:prstGeom prst="roundRect">
            <a:avLst>
              <a:gd name="adj" fmla="val 1850000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27349" y="2571750"/>
            <a:ext cx="5001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865388" y="2571750"/>
            <a:ext cx="20112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Based on Textbook Act. 11, p. 98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52500" y="3276600"/>
            <a:ext cx="8209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DIALOGUE — WATCH SHOPPING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2500" y="3714750"/>
            <a:ext cx="8048625" cy="838200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76313" y="3714750"/>
            <a:ext cx="0" cy="838200"/>
          </a:xfrm>
          <a:prstGeom prst="line">
            <a:avLst/>
          </a:prstGeom>
          <a:noFill/>
          <a:ln w="47625">
            <a:solidFill>
              <a:srgbClr val="C68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1575" y="400050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买家</a:t>
            </a: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你想看哪块手表？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2500" y="4648200"/>
            <a:ext cx="8048625" cy="838200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976313" y="4648200"/>
            <a:ext cx="0" cy="838200"/>
          </a:xfrm>
          <a:prstGeom prst="line">
            <a:avLst/>
          </a:prstGeom>
          <a:noFill/>
          <a:ln w="47625">
            <a:solidFill>
              <a:srgbClr val="C68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1575" y="4933950"/>
            <a:ext cx="7811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卖家</a:t>
            </a:r>
            <a:r>
              <a:rPr lang="en-US" sz="15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这块，一千五百块的。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2500" y="5753100"/>
            <a:ext cx="82095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once at the front, then pairs pick </a:t>
            </a: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of the 8</a:t>
            </a: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item prompts and perform each dialogue for their partner, then swap. Cold call 1–2 pairs to perform for the class.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86875" y="3276600"/>
            <a:ext cx="8209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ITEM PROMPTS — PICK 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86875" y="3714750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429750" y="3952875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金鱼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goldfish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3349288" y="3714750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492163" y="3952875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西瓜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watermelon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9286875" y="4467225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429750" y="4705350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计算器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calculators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3349288" y="4467225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3492163" y="4705350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短裤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shorts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9286875" y="5219700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429750" y="5457825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项链/耳环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necklace/earrings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3349288" y="5219700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3492163" y="5457825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书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books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9286875" y="5972175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429750" y="6210300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凉鞋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sandals/shoes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3349288" y="5972175"/>
            <a:ext cx="3986213" cy="676275"/>
          </a:xfrm>
          <a:prstGeom prst="roundRect">
            <a:avLst>
              <a:gd name="adj" fmla="val 1690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3492163" y="6210300"/>
            <a:ext cx="37744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皮带/领带</a:t>
            </a:r>
            <a:r>
              <a:rPr lang="en-US" sz="1125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belt/tie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286875" y="6915150"/>
            <a:ext cx="8209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item uses the verbs </a:t>
            </a:r>
            <a:r>
              <a:rPr lang="en-US" sz="10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买/试穿/看</a:t>
            </a: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 price.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52500" y="7467600"/>
            <a:ext cx="5359301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04900" y="7686675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104900" y="7981950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Dialogue frame with blanks: "你想___哪___？" / "这___，___块的。"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6464201" y="7467600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616601" y="7686675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616601" y="7981950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比 comparison or 不算太 comment, e.g. 这个比那个便宜，不算太贵。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11976050" y="7467600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128450" y="7686675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2128450" y="7981950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pair performs at least 3 exchanges; cold call 2 pairs to share with the class.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2358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 · 28–36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362075"/>
            <a:ext cx="1283940" cy="571500"/>
          </a:xfrm>
          <a:prstGeom prst="roundRect">
            <a:avLst>
              <a:gd name="adj" fmla="val 1665000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552575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6940" y="1409700"/>
            <a:ext cx="348467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 Contrast Sentences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2343150"/>
            <a:ext cx="927199" cy="628650"/>
          </a:xfrm>
          <a:prstGeom prst="roundRect">
            <a:avLst>
              <a:gd name="adj" fmla="val 151363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2552700"/>
            <a:ext cx="576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93999" y="2400300"/>
            <a:ext cx="846088" cy="514350"/>
          </a:xfrm>
          <a:prstGeom prst="roundRect">
            <a:avLst>
              <a:gd name="adj" fmla="val 1850000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27349" y="2571750"/>
            <a:ext cx="5909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954387" y="2571750"/>
            <a:ext cx="32401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Based on Textbook Act. 12, p. 99 &amp; Workbook Ex. 18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52500" y="3143250"/>
            <a:ext cx="8048625" cy="3295055"/>
          </a:xfrm>
          <a:prstGeom prst="roundRect">
            <a:avLst>
              <a:gd name="adj" fmla="val 5781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3505200"/>
            <a:ext cx="77238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190625" y="3857625"/>
            <a:ext cx="7572375" cy="127575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sentences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a frequency adverb + 但是 contrast structure in your exercise book (independent writing, 6 min)</a:t>
            </a:r>
            <a:endParaRPr lang="en-US" sz="1200" dirty="0"/>
          </a:p>
          <a:p>
            <a:pPr algn="l" marL="95250" indent="-95250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of the 9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personal questions from Workbook Ex. 18 about food preference and daily habits</a:t>
            </a:r>
            <a:endParaRPr lang="en-US" sz="1200" dirty="0"/>
          </a:p>
          <a:p>
            <a:pPr algn="l" marL="95250" indent="-95250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Pair-check with a neighbour, then cold call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read a completed sentence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90625" y="5285780"/>
            <a:ext cx="7572375" cy="933450"/>
          </a:xfrm>
          <a:prstGeom prst="roundRect">
            <a:avLst>
              <a:gd name="adj" fmla="val 12245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71600" y="5552480"/>
            <a:ext cx="73546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finishers →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move on to Workbook Ex. 19 — compare a Chinese menu (菜单A：中式) and a Western menu (菜单B：西式) with prices, and answer the 6 comprehension questions.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286875" y="3143250"/>
            <a:ext cx="8048625" cy="1476375"/>
          </a:xfrm>
          <a:prstGeom prst="roundRect">
            <a:avLst>
              <a:gd name="adj" fmla="val 12903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496425" y="3448050"/>
            <a:ext cx="77821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FREQUENCY-ADVERB WORD BANK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96425" y="3733800"/>
            <a:ext cx="666750" cy="714375"/>
          </a:xfrm>
          <a:prstGeom prst="roundRect">
            <a:avLst>
              <a:gd name="adj" fmla="val 17143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658350" y="39719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239375" y="3733800"/>
            <a:ext cx="666750" cy="714375"/>
          </a:xfrm>
          <a:prstGeom prst="roundRect">
            <a:avLst>
              <a:gd name="adj" fmla="val 17143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401300" y="39719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982325" y="3733800"/>
            <a:ext cx="666750" cy="714375"/>
          </a:xfrm>
          <a:prstGeom prst="roundRect">
            <a:avLst>
              <a:gd name="adj" fmla="val 17143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144250" y="39719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725275" y="3733800"/>
            <a:ext cx="838200" cy="714375"/>
          </a:xfrm>
          <a:prstGeom prst="roundRect">
            <a:avLst>
              <a:gd name="adj" fmla="val 16000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887200" y="3971925"/>
            <a:ext cx="52463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2639675" y="3733800"/>
            <a:ext cx="666750" cy="714375"/>
          </a:xfrm>
          <a:prstGeom prst="roundRect">
            <a:avLst>
              <a:gd name="adj" fmla="val 17143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801600" y="3971925"/>
            <a:ext cx="34975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经常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286875" y="4752975"/>
            <a:ext cx="8048625" cy="83820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310688" y="4752975"/>
            <a:ext cx="0" cy="838200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25000" y="5048250"/>
            <a:ext cx="7772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我平时买盒饭吃，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今天我带了三明治。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952500" y="6666905"/>
            <a:ext cx="5359301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04900" y="6885980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104900" y="7181255"/>
            <a:ext cx="51555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Frequency-adverb word bank + one worked example projected throughout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6464201" y="6666905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16601" y="688598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616601" y="7181255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additional original 但是 sentence about your own eating habits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976050" y="6666905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128450" y="688598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2128450" y="7181255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for one live "bonus" 但是 sentence created by the teacher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22447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/ Game · 36–43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81113"/>
            <a:ext cx="1957239" cy="571500"/>
          </a:xfrm>
          <a:prstGeom prst="roundRect">
            <a:avLst>
              <a:gd name="adj" fmla="val 1665000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471613"/>
            <a:ext cx="16077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/ GAME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0239" y="1352550"/>
            <a:ext cx="52047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日常饮食习惯采访 · Partner Interview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2500" y="2181225"/>
            <a:ext cx="844153" cy="571500"/>
          </a:xfrm>
          <a:prstGeom prst="roundRect">
            <a:avLst>
              <a:gd name="adj" fmla="val 1665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4425" y="2371725"/>
            <a:ext cx="530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10953" y="2209800"/>
            <a:ext cx="1988493" cy="514350"/>
          </a:xfrm>
          <a:prstGeom prst="roundRect">
            <a:avLst>
              <a:gd name="adj" fmla="val 1850000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44303" y="2381250"/>
            <a:ext cx="17562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· INTERVIEW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013746" y="2381250"/>
            <a:ext cx="54853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Based on Textbook Act. 13, p. 99 · No setup needed — projected question list as prompt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952500" y="2905125"/>
            <a:ext cx="6454080" cy="2381250"/>
          </a:xfrm>
          <a:prstGeom prst="roundRect">
            <a:avLst>
              <a:gd name="adj" fmla="val 8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71575" y="3238500"/>
            <a:ext cx="61362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71575" y="3581400"/>
            <a:ext cx="6015930" cy="135255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575"/>
              </a:lnSpc>
              <a:buSzPct val="100000"/>
              <a:buChar char="•"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interview each other using the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textbook prompts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writing brief notes on your partner's answers</a:t>
            </a:r>
            <a:endParaRPr lang="en-US" sz="1125" dirty="0"/>
          </a:p>
          <a:p>
            <a:pPr algn="l" marL="85725" indent="-85725">
              <a:lnSpc>
                <a:spcPts val="1575"/>
              </a:lnSpc>
              <a:buSzPct val="100000"/>
              <a:buChar char="•"/>
            </a:pP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pairs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report one interesting fact about their partner to the class ("Report to the class")</a:t>
            </a:r>
            <a:endParaRPr lang="en-US" sz="1125" dirty="0"/>
          </a:p>
          <a:p>
            <a:pPr algn="l" marL="85725" indent="-85725">
              <a:lnSpc>
                <a:spcPts val="1575"/>
              </a:lnSpc>
              <a:buSzPct val="100000"/>
              <a:buChar char="•"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Practises </a:t>
            </a:r>
            <a:r>
              <a:rPr lang="en-US" sz="112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of today's patterns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a communicative, personalised context — question forms, 有时候/通常/但是, food vocabulary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654230" y="2905125"/>
            <a:ext cx="9681270" cy="3581400"/>
          </a:xfrm>
          <a:prstGeom prst="roundRect">
            <a:avLst>
              <a:gd name="adj" fmla="val 5319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44730" y="3190875"/>
            <a:ext cx="9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INTERVIEW PROMPTS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44730" y="3476625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8555" y="3705225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111877" y="3690937"/>
            <a:ext cx="1461120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Wake time &amp; breakfast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12532965" y="3476625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656790" y="3705225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12800112" y="3690937"/>
            <a:ext cx="1059900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commute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7844730" y="4210050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68555" y="4438650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8111877" y="4424363"/>
            <a:ext cx="1714179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Morning/afternoon periods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12532965" y="4210050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656790" y="4438650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2800112" y="4424363"/>
            <a:ext cx="1185443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Lunch time &amp; food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7844730" y="4943475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968555" y="5172075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8111877" y="5157788"/>
            <a:ext cx="1409962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canteen habits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12532965" y="4943475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656790" y="5172075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2800112" y="5157788"/>
            <a:ext cx="1645866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Dismissal &amp; journey home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7844730" y="5676900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968555" y="5905500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8111877" y="5891213"/>
            <a:ext cx="1213223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Dinner time &amp; food</a:t>
            </a:r>
            <a:endParaRPr lang="en-US" sz="1013" dirty="0"/>
          </a:p>
        </p:txBody>
      </p:sp>
      <p:sp>
        <p:nvSpPr>
          <p:cNvPr id="41" name="Text 39"/>
          <p:cNvSpPr/>
          <p:nvPr/>
        </p:nvSpPr>
        <p:spPr>
          <a:xfrm>
            <a:off x="12532965" y="5676900"/>
            <a:ext cx="4612035" cy="657225"/>
          </a:xfrm>
          <a:prstGeom prst="roundRect">
            <a:avLst>
              <a:gd name="adj" fmla="val 17391"/>
            </a:avLst>
          </a:prstGeom>
          <a:solidFill>
            <a:srgbClr val="FAF6EE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656790" y="5905500"/>
            <a:ext cx="684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8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2800112" y="5891213"/>
            <a:ext cx="1812396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Evening activities &amp; bedtime</a:t>
            </a:r>
            <a:endParaRPr lang="en-US" sz="1013" dirty="0"/>
          </a:p>
        </p:txBody>
      </p:sp>
      <p:sp>
        <p:nvSpPr>
          <p:cNvPr id="44" name="Text 42"/>
          <p:cNvSpPr/>
          <p:nvPr/>
        </p:nvSpPr>
        <p:spPr>
          <a:xfrm>
            <a:off x="952500" y="6715125"/>
            <a:ext cx="811530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04900" y="6934200"/>
            <a:ext cx="7966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104900" y="7229475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the 8 questions fully written out (not just prompts) for students who need support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9220200" y="6715125"/>
            <a:ext cx="811530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372600" y="6934200"/>
            <a:ext cx="7966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9372600" y="7229475"/>
            <a:ext cx="79667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up your partner's answers as a short paragraph instead of notes, using 但是 to note any exception to their routine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4475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 · SHOPPING +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933081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165747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042047"/>
            <a:ext cx="1632204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300"/>
              </a:spcBef>
              <a:spcAft>
                <a:spcPts val="3300"/>
              </a:spcAft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" y="4261247"/>
            <a:ext cx="7858125" cy="3650456"/>
          </a:xfrm>
          <a:prstGeom prst="roundRect">
            <a:avLst>
              <a:gd name="adj" fmla="val 730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623197"/>
            <a:ext cx="74906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400175" y="4942284"/>
            <a:ext cx="74906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750"/>
              </a:spcAft>
              <a:buNone/>
            </a:pP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Traffic-light thumbs: </a:t>
            </a:r>
            <a:r>
              <a:rPr lang="en-US" sz="938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38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38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38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38" dirty="0"/>
          </a:p>
        </p:txBody>
      </p:sp>
      <p:sp>
        <p:nvSpPr>
          <p:cNvPr id="12" name="Text 10"/>
          <p:cNvSpPr/>
          <p:nvPr/>
        </p:nvSpPr>
        <p:spPr>
          <a:xfrm>
            <a:off x="1400175" y="52959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05248" y="5355282"/>
            <a:ext cx="7711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733550" y="52959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38325" y="5355282"/>
            <a:ext cx="7757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066925" y="5295900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84053" y="5355282"/>
            <a:ext cx="5252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466975" y="5342334"/>
            <a:ext cx="462670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Roleplay buying an item, asking to see/try it and asking the price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400175" y="587930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05248" y="5938689"/>
            <a:ext cx="7711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733550" y="587930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38325" y="5938689"/>
            <a:ext cx="7757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2066925" y="587930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84053" y="5938689"/>
            <a:ext cx="5252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2466975" y="5925741"/>
            <a:ext cx="519414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Contrast a usual habit with an exception using a frequency adverb + 但是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400175" y="64627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05248" y="6522095"/>
            <a:ext cx="77117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1733550" y="64627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38325" y="6522095"/>
            <a:ext cx="7757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2066925" y="64627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84053" y="6522095"/>
            <a:ext cx="5252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466975" y="6509147"/>
            <a:ext cx="47316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Interview a partner about their daily eating routine and report back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400175" y="6959203"/>
            <a:ext cx="7343775" cy="733425"/>
          </a:xfrm>
          <a:prstGeom prst="roundRect">
            <a:avLst>
              <a:gd name="adj" fmla="val 15584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7163991"/>
            <a:ext cx="721861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note any students showing 1 finger on criterion 2 (但是 contrast) for extra scaffolding in the next lesson's review.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86875" y="4261247"/>
            <a:ext cx="7858125" cy="3650456"/>
          </a:xfrm>
          <a:prstGeom prst="roundRect">
            <a:avLst>
              <a:gd name="adj" fmla="val 730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44050" y="4623197"/>
            <a:ext cx="74906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544050" y="4937522"/>
            <a:ext cx="7343775" cy="1158180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67863" y="4937522"/>
            <a:ext cx="0" cy="1158180"/>
          </a:xfrm>
          <a:prstGeom prst="line">
            <a:avLst/>
          </a:prstGeom>
          <a:noFill/>
          <a:ln w="47625">
            <a:solidFill>
              <a:srgbClr val="3F7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63125" y="5185172"/>
            <a:ext cx="709231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WRITE ONE SENTENCE ABOUT YOUR PARTNER (MINI WHITEBOARD, 2 MIN)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63125" y="5528072"/>
            <a:ext cx="7092315" cy="25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他/她平时____，</a:t>
            </a:r>
            <a:r>
              <a:rPr lang="en-US" sz="142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今天____。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9544050" y="6219527"/>
            <a:ext cx="7490651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Example: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他平时吃三明治，但是今天买了盒饭。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658350" y="6657677"/>
            <a:ext cx="98506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863"/>
              </a:spcBef>
              <a:spcAft>
                <a:spcPts val="863"/>
              </a:spcAft>
              <a:buNone/>
            </a:pPr>
            <a:r>
              <a:rPr lang="en-US" sz="863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 adverb</a:t>
            </a:r>
            <a:endParaRPr lang="en-US" sz="863" dirty="0"/>
          </a:p>
        </p:txBody>
      </p:sp>
      <p:sp>
        <p:nvSpPr>
          <p:cNvPr id="43" name="Text 41"/>
          <p:cNvSpPr/>
          <p:nvPr/>
        </p:nvSpPr>
        <p:spPr>
          <a:xfrm>
            <a:off x="10928896" y="6657677"/>
            <a:ext cx="114111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863"/>
              </a:spcBef>
              <a:spcAft>
                <a:spcPts val="863"/>
              </a:spcAft>
              <a:buNone/>
            </a:pPr>
            <a:r>
              <a:rPr lang="en-US" sz="863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但是 contrast clause</a:t>
            </a:r>
            <a:endParaRPr lang="en-US" sz="863" dirty="0"/>
          </a:p>
        </p:txBody>
      </p:sp>
      <p:sp>
        <p:nvSpPr>
          <p:cNvPr id="44" name="Text 42"/>
          <p:cNvSpPr/>
          <p:nvPr/>
        </p:nvSpPr>
        <p:spPr>
          <a:xfrm>
            <a:off x="12352437" y="6657677"/>
            <a:ext cx="107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863"/>
              </a:spcBef>
              <a:spcAft>
                <a:spcPts val="863"/>
              </a:spcAft>
              <a:buNone/>
            </a:pPr>
            <a:r>
              <a:rPr lang="en-US" sz="863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sentence</a:t>
            </a:r>
            <a:endParaRPr lang="en-US" sz="863" dirty="0"/>
          </a:p>
        </p:txBody>
      </p:sp>
      <p:sp>
        <p:nvSpPr>
          <p:cNvPr id="45" name="Text 43"/>
          <p:cNvSpPr/>
          <p:nvPr/>
        </p:nvSpPr>
        <p:spPr>
          <a:xfrm>
            <a:off x="9544050" y="7074396"/>
            <a:ext cx="749065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reads over shoulders.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82980" y="8216503"/>
            <a:ext cx="163220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预告 · Next up: </a:t>
            </a: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</a:t>
            </a:r>
            <a:r>
              <a:rPr lang="en-US" sz="10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下一课是复习课，我们会复习整个单元的词汇、句型，为测验做准备. The final, review lesson of this unit.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2026-08-01T06:58:28Z</dcterms:created>
  <dcterms:modified xsi:type="dcterms:W3CDTF">2026-08-01T06:58:28Z</dcterms:modified>
</cp:coreProperties>
</file>