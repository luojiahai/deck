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0" y="1714500"/>
            <a:ext cx="408051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0"/>
              </a:lnSpc>
              <a:spcBef>
                <a:spcPts val="31500"/>
              </a:spcBef>
              <a:spcAft>
                <a:spcPts val="31500"/>
              </a:spcAft>
              <a:buNone/>
            </a:pPr>
            <a:r>
              <a:rPr lang="en-US" sz="31500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复</a:t>
            </a:r>
            <a:endParaRPr lang="en-US" sz="31500" dirty="0"/>
          </a:p>
        </p:txBody>
      </p:sp>
      <p:sp>
        <p:nvSpPr>
          <p:cNvPr id="3" name="Text 1"/>
          <p:cNvSpPr/>
          <p:nvPr/>
        </p:nvSpPr>
        <p:spPr>
          <a:xfrm>
            <a:off x="4723448" y="2152650"/>
            <a:ext cx="88411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8 OF 8 · Y9 UNIT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723448" y="3371850"/>
            <a:ext cx="884110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spcBef>
                <a:spcPts val="7500"/>
              </a:spcBef>
              <a:spcAft>
                <a:spcPts val="7500"/>
              </a:spcAft>
              <a:buNone/>
            </a:pPr>
            <a:r>
              <a:rPr lang="en-US" sz="7500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📝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4723448" y="5276850"/>
            <a:ext cx="884110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0"/>
              </a:lnSpc>
              <a:spcBef>
                <a:spcPts val="6532"/>
              </a:spcBef>
              <a:spcAft>
                <a:spcPts val="600"/>
              </a:spcAft>
              <a:buNone/>
            </a:pPr>
            <a:r>
              <a:rPr lang="en-US" sz="975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复习</a:t>
            </a:r>
            <a:r>
              <a:rPr lang="en-US" sz="975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975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测验准备</a:t>
            </a:r>
            <a:endParaRPr lang="en-US" sz="9750" dirty="0"/>
          </a:p>
        </p:txBody>
      </p:sp>
      <p:sp>
        <p:nvSpPr>
          <p:cNvPr id="6" name="Text 4"/>
          <p:cNvSpPr/>
          <p:nvPr/>
        </p:nvSpPr>
        <p:spPr>
          <a:xfrm>
            <a:off x="4723448" y="6800850"/>
            <a:ext cx="884110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0"/>
              </a:spcBef>
              <a:spcAft>
                <a:spcPts val="2250"/>
              </a:spcAft>
              <a:buNone/>
            </a:pPr>
            <a:r>
              <a:rPr lang="en-US" sz="225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+ Test Prep — Fresh Market 菜市场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5649148" y="7962900"/>
            <a:ext cx="12822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9 Chinese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07688" y="7962900"/>
            <a:ext cx="6612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 mins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43828" y="7962900"/>
            <a:ext cx="14216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+ Writing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425047" y="7962900"/>
            <a:ext cx="22230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Book 3 · Unit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2344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REVIEW + TEST PREP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724126" y="280988"/>
            <a:ext cx="22644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Quick Quiz · 0–8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2573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2095500"/>
            <a:ext cx="1671066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150"/>
              </a:spcBef>
              <a:spcAft>
                <a:spcPts val="3150"/>
              </a:spcAft>
              <a:buNone/>
            </a:pPr>
            <a:r>
              <a:rPr lang="en-US" sz="31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快速问答 · Quick Quiz — 7 Lessons in 6 Questions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952500" y="3228975"/>
            <a:ext cx="8058150" cy="1685925"/>
          </a:xfrm>
          <a:prstGeom prst="roundRect">
            <a:avLst>
              <a:gd name="adj" fmla="val 6780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52525" y="3900488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89596" y="3967163"/>
            <a:ext cx="701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7825" y="3702397"/>
            <a:ext cx="73060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MARKET VOCAB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7825" y="4073872"/>
            <a:ext cx="7306056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写"新鲜"的拼音。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277350" y="3228975"/>
            <a:ext cx="8058150" cy="1685925"/>
          </a:xfrm>
          <a:prstGeom prst="roundRect">
            <a:avLst>
              <a:gd name="adj" fmla="val 6780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477375" y="3900488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600456" y="3967163"/>
            <a:ext cx="985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972675" y="3702397"/>
            <a:ext cx="73060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比 COMPARISON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972675" y="4073872"/>
            <a:ext cx="7306056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完成：牛肉___猪肉贵。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52500" y="5048250"/>
            <a:ext cx="8058150" cy="1685925"/>
          </a:xfrm>
          <a:prstGeom prst="roundRect">
            <a:avLst>
              <a:gd name="adj" fmla="val 6780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52525" y="5719763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75308" y="5786438"/>
            <a:ext cx="992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47825" y="5521672"/>
            <a:ext cx="73060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TEXT 1 · 卖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47825" y="5893147"/>
            <a:ext cx="7306056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完成：菜市场___新鲜蔬菜。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277350" y="5048250"/>
            <a:ext cx="8058150" cy="1685925"/>
          </a:xfrm>
          <a:prstGeom prst="roundRect">
            <a:avLst>
              <a:gd name="adj" fmla="val 6780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477375" y="5719763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599563" y="5786438"/>
            <a:ext cx="1003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972675" y="5521672"/>
            <a:ext cx="73060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+ L6 · SNACK VOCAB + MEASURE WORD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972675" y="5893147"/>
            <a:ext cx="7306056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一___薯片。（量词）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52500" y="6867525"/>
            <a:ext cx="8058150" cy="1685925"/>
          </a:xfrm>
          <a:prstGeom prst="roundRect">
            <a:avLst>
              <a:gd name="adj" fmla="val 6780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152525" y="7539037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275457" y="7605713"/>
            <a:ext cx="989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647825" y="7340947"/>
            <a:ext cx="73060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TEXT 2 PATTERN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647825" y="7712422"/>
            <a:ext cx="7306056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写一句用"有时候……有时候……"的句子。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9277350" y="6867525"/>
            <a:ext cx="8058150" cy="1685925"/>
          </a:xfrm>
          <a:prstGeom prst="roundRect">
            <a:avLst>
              <a:gd name="adj" fmla="val 6780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9477375" y="7539037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9599414" y="7605713"/>
            <a:ext cx="1006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972675" y="7340947"/>
            <a:ext cx="73060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但是 CONTRAST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972675" y="7712422"/>
            <a:ext cx="7306056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完成：我平时……，但是……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952500" y="8705850"/>
            <a:ext cx="16383000" cy="800100"/>
          </a:xfrm>
          <a:prstGeom prst="roundRect">
            <a:avLst>
              <a:gd name="adj" fmla="val 14286"/>
            </a:avLst>
          </a:prstGeom>
          <a:solidFill>
            <a:srgbClr val="D45A3A">
              <a:alpha val="10000"/>
            </a:srgbClr>
          </a:solidFill>
          <a:ln w="9525">
            <a:solidFill>
              <a:srgbClr val="D45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190625" y="9024938"/>
            <a:ext cx="29708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615232" y="8991600"/>
            <a:ext cx="148455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 — </a:t>
            </a:r>
            <a:r>
              <a:rPr lang="en-US" sz="127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and hold up on three.</a:t>
            </a: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Teacher scans for gaps to target in today's review. </a:t>
            </a:r>
            <a:r>
              <a:rPr lang="en-US" sz="127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过去七节课我们学了菜市场的整个单元。</a:t>
            </a: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今天我们把所有内容串起来复习，为测验做准备。</a:t>
            </a:r>
            <a:endParaRPr lang="en-US" sz="1275" dirty="0"/>
          </a:p>
        </p:txBody>
      </p:sp>
      <p:sp>
        <p:nvSpPr>
          <p:cNvPr id="42" name="Shape 4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2344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REVIEW + TEST PREP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724126" y="280988"/>
            <a:ext cx="35554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&amp; Success Criteria · 8–10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3000" y="1390650"/>
            <a:ext cx="16322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885950"/>
            <a:ext cx="16002000" cy="2190750"/>
          </a:xfrm>
          <a:prstGeom prst="rect">
            <a:avLst/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171575" y="1885950"/>
            <a:ext cx="0" cy="2190750"/>
          </a:xfrm>
          <a:prstGeom prst="line">
            <a:avLst/>
          </a:prstGeom>
          <a:noFill/>
          <a:ln w="57150">
            <a:solidFill>
              <a:srgbClr val="A843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4950" y="2266950"/>
            <a:ext cx="156419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学习目标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504950" y="2743200"/>
            <a:ext cx="1564195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2250"/>
              </a:spcBef>
              <a:spcAft>
                <a:spcPts val="2250"/>
              </a:spcAft>
              <a:buNone/>
            </a:pPr>
            <a:r>
              <a:rPr lang="en-US" sz="225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</a:t>
            </a:r>
            <a:r>
              <a:rPr lang="en-US" sz="225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consolidating everything learned</a:t>
            </a:r>
            <a:r>
              <a:rPr lang="en-US" sz="225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in the Fresh Market unit — vocabulary, 比, 有时候……有时候……, 但是 — and </a:t>
            </a:r>
            <a:r>
              <a:rPr lang="en-US" sz="225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preparing for the test</a:t>
            </a:r>
            <a:r>
              <a:rPr lang="en-US" sz="225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43000" y="4533900"/>
            <a:ext cx="163220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SUCCESS CRITERIA 成功标准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43000" y="4991100"/>
            <a:ext cx="16002000" cy="1628775"/>
          </a:xfrm>
          <a:prstGeom prst="roundRect">
            <a:avLst>
              <a:gd name="adj" fmla="val 7018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381125" y="5534025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952625" y="5419725"/>
            <a:ext cx="47886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我能正确回忆并书写本单元的重点词汇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952625" y="5991225"/>
            <a:ext cx="478867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recall and correctly write the unit's key vocabulary.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43000" y="6772275"/>
            <a:ext cx="16002000" cy="1628775"/>
          </a:xfrm>
          <a:prstGeom prst="roundRect">
            <a:avLst>
              <a:gd name="adj" fmla="val 7018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381125" y="7315200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952625" y="7200900"/>
            <a:ext cx="55112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我能准确使用"比"、"有时候……有时候……"和"但是"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952625" y="7772400"/>
            <a:ext cx="551126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use 比, 有时候……有时候…… and 但是 accurately in writing.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43000" y="8553450"/>
            <a:ext cx="16002000" cy="1628775"/>
          </a:xfrm>
          <a:prstGeom prst="roundRect">
            <a:avLst>
              <a:gd name="adj" fmla="val 7018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81125" y="9096375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952625" y="8982075"/>
            <a:ext cx="59498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我能写一篇80–100字描述自己饮食习惯的短文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952625" y="9553575"/>
            <a:ext cx="594983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write an 80–100 word passage describing my own eating habits.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2344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REVIEW + TEST PREP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724126" y="280988"/>
            <a:ext cx="37843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Vocabulary Grid Review — Part 1 · 10–20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7250" y="1009650"/>
            <a:ext cx="570679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词汇总表 · Part 1 — 菜市场 &amp; Text 1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795046" y="1228725"/>
            <a:ext cx="13257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22 items · L1–L3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71550" y="2101900"/>
            <a:ext cx="808329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MARKET VOCABULARY — MEAT, SEAFOOD &amp; TOFU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7740" y="2553891"/>
            <a:ext cx="1943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390650" y="2541538"/>
            <a:ext cx="2292251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市场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3866555" y="2560141"/>
            <a:ext cx="21639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shìchǎng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6700" y="2560141"/>
            <a:ext cx="273324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market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7740" y="3057227"/>
            <a:ext cx="1943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390650" y="3044875"/>
            <a:ext cx="2292251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菜市场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3866555" y="3063478"/>
            <a:ext cx="21639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càishìchǎng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6700" y="3063478"/>
            <a:ext cx="273324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fresh market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7740" y="3560564"/>
            <a:ext cx="1943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390650" y="3548211"/>
            <a:ext cx="2292251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新鲜（鮮）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3866555" y="3566815"/>
            <a:ext cx="21639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xīnxiān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6700" y="3566815"/>
            <a:ext cx="273324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fresh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7740" y="4063901"/>
            <a:ext cx="1943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390650" y="4051548"/>
            <a:ext cx="2292251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猪肉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3866555" y="4070152"/>
            <a:ext cx="21639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zhūròu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16700" y="4070152"/>
            <a:ext cx="273324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pork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7740" y="4567238"/>
            <a:ext cx="1943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390650" y="4554885"/>
            <a:ext cx="2292251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牛肉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3866555" y="4573488"/>
            <a:ext cx="21639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niúròu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6700" y="4573488"/>
            <a:ext cx="273324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beef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67740" y="5070574"/>
            <a:ext cx="1943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1390650" y="5058221"/>
            <a:ext cx="2292251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鸡肉</a:t>
            </a:r>
            <a:endParaRPr lang="en-US" sz="1275" dirty="0"/>
          </a:p>
        </p:txBody>
      </p:sp>
      <p:sp>
        <p:nvSpPr>
          <p:cNvPr id="32" name="Text 30"/>
          <p:cNvSpPr/>
          <p:nvPr/>
        </p:nvSpPr>
        <p:spPr>
          <a:xfrm>
            <a:off x="3866555" y="5076825"/>
            <a:ext cx="21639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jīròu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6700" y="5076825"/>
            <a:ext cx="273324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chicken meat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67740" y="5573911"/>
            <a:ext cx="1943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1390650" y="5561558"/>
            <a:ext cx="2292251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</a:t>
            </a:r>
            <a:endParaRPr lang="en-US" sz="1275" dirty="0"/>
          </a:p>
        </p:txBody>
      </p:sp>
      <p:sp>
        <p:nvSpPr>
          <p:cNvPr id="36" name="Text 34"/>
          <p:cNvSpPr/>
          <p:nvPr/>
        </p:nvSpPr>
        <p:spPr>
          <a:xfrm>
            <a:off x="3866555" y="5580162"/>
            <a:ext cx="21639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huó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16700" y="5580162"/>
            <a:ext cx="273324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alive; live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67740" y="6077248"/>
            <a:ext cx="1943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1390650" y="6064895"/>
            <a:ext cx="2292251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虾（蝦）</a:t>
            </a:r>
            <a:endParaRPr lang="en-US" sz="1275" dirty="0"/>
          </a:p>
        </p:txBody>
      </p:sp>
      <p:sp>
        <p:nvSpPr>
          <p:cNvPr id="40" name="Text 38"/>
          <p:cNvSpPr/>
          <p:nvPr/>
        </p:nvSpPr>
        <p:spPr>
          <a:xfrm>
            <a:off x="3866555" y="6083498"/>
            <a:ext cx="21639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xiā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216700" y="6083498"/>
            <a:ext cx="273324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shrimp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67740" y="6580584"/>
            <a:ext cx="1943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1125" dirty="0"/>
          </a:p>
        </p:txBody>
      </p:sp>
      <p:sp>
        <p:nvSpPr>
          <p:cNvPr id="43" name="Text 41"/>
          <p:cNvSpPr/>
          <p:nvPr/>
        </p:nvSpPr>
        <p:spPr>
          <a:xfrm>
            <a:off x="1390650" y="6568232"/>
            <a:ext cx="2292251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豆腐</a:t>
            </a:r>
            <a:endParaRPr lang="en-US" sz="1275" dirty="0"/>
          </a:p>
        </p:txBody>
      </p:sp>
      <p:sp>
        <p:nvSpPr>
          <p:cNvPr id="44" name="Text 42"/>
          <p:cNvSpPr/>
          <p:nvPr/>
        </p:nvSpPr>
        <p:spPr>
          <a:xfrm>
            <a:off x="3866555" y="6586835"/>
            <a:ext cx="21639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dòufu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216700" y="6586835"/>
            <a:ext cx="273324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tofu; bean curd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67740" y="7083921"/>
            <a:ext cx="1943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1125" dirty="0"/>
          </a:p>
        </p:txBody>
      </p:sp>
      <p:sp>
        <p:nvSpPr>
          <p:cNvPr id="47" name="Text 45"/>
          <p:cNvSpPr/>
          <p:nvPr/>
        </p:nvSpPr>
        <p:spPr>
          <a:xfrm>
            <a:off x="1390650" y="7071568"/>
            <a:ext cx="2292251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各</a:t>
            </a:r>
            <a:endParaRPr lang="en-US" sz="1275" dirty="0"/>
          </a:p>
        </p:txBody>
      </p:sp>
      <p:sp>
        <p:nvSpPr>
          <p:cNvPr id="48" name="Text 46"/>
          <p:cNvSpPr/>
          <p:nvPr/>
        </p:nvSpPr>
        <p:spPr>
          <a:xfrm>
            <a:off x="3866555" y="7090172"/>
            <a:ext cx="21639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gè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216700" y="7090172"/>
            <a:ext cx="273324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all; every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67740" y="7587258"/>
            <a:ext cx="1943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1125" dirty="0"/>
          </a:p>
        </p:txBody>
      </p:sp>
      <p:sp>
        <p:nvSpPr>
          <p:cNvPr id="51" name="Text 49"/>
          <p:cNvSpPr/>
          <p:nvPr/>
        </p:nvSpPr>
        <p:spPr>
          <a:xfrm>
            <a:off x="1390650" y="7574905"/>
            <a:ext cx="2292251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</a:t>
            </a:r>
            <a:endParaRPr lang="en-US" sz="1275" dirty="0"/>
          </a:p>
        </p:txBody>
      </p:sp>
      <p:sp>
        <p:nvSpPr>
          <p:cNvPr id="52" name="Text 50"/>
          <p:cNvSpPr/>
          <p:nvPr/>
        </p:nvSpPr>
        <p:spPr>
          <a:xfrm>
            <a:off x="3866555" y="7593509"/>
            <a:ext cx="21639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bǐ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216700" y="7593509"/>
            <a:ext cx="273324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compare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967740" y="8090595"/>
            <a:ext cx="1943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endParaRPr lang="en-US" sz="1125" dirty="0"/>
          </a:p>
        </p:txBody>
      </p:sp>
      <p:sp>
        <p:nvSpPr>
          <p:cNvPr id="55" name="Text 53"/>
          <p:cNvSpPr/>
          <p:nvPr/>
        </p:nvSpPr>
        <p:spPr>
          <a:xfrm>
            <a:off x="1390650" y="8078242"/>
            <a:ext cx="2292251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便宜</a:t>
            </a:r>
            <a:endParaRPr lang="en-US" sz="1275" dirty="0"/>
          </a:p>
        </p:txBody>
      </p:sp>
      <p:sp>
        <p:nvSpPr>
          <p:cNvPr id="56" name="Text 54"/>
          <p:cNvSpPr/>
          <p:nvPr/>
        </p:nvSpPr>
        <p:spPr>
          <a:xfrm>
            <a:off x="3866555" y="8096845"/>
            <a:ext cx="21639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piányi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216700" y="8096845"/>
            <a:ext cx="273324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cheap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967740" y="8594229"/>
            <a:ext cx="1943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</a:t>
            </a:r>
            <a:endParaRPr lang="en-US" sz="1125" dirty="0"/>
          </a:p>
        </p:txBody>
      </p:sp>
      <p:sp>
        <p:nvSpPr>
          <p:cNvPr id="59" name="Text 57"/>
          <p:cNvSpPr/>
          <p:nvPr/>
        </p:nvSpPr>
        <p:spPr>
          <a:xfrm>
            <a:off x="1390650" y="8581876"/>
            <a:ext cx="2292251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公斤</a:t>
            </a:r>
            <a:endParaRPr lang="en-US" sz="1275" dirty="0"/>
          </a:p>
        </p:txBody>
      </p:sp>
      <p:sp>
        <p:nvSpPr>
          <p:cNvPr id="60" name="Text 58"/>
          <p:cNvSpPr/>
          <p:nvPr/>
        </p:nvSpPr>
        <p:spPr>
          <a:xfrm>
            <a:off x="3866555" y="8600480"/>
            <a:ext cx="21639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gōngjīn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6216700" y="8600480"/>
            <a:ext cx="273324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kilogram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391650" y="2166491"/>
            <a:ext cx="808329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比 COMPARISON GRAMMAR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387840" y="2756446"/>
            <a:ext cx="1943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</a:t>
            </a:r>
            <a:endParaRPr lang="en-US" sz="1125" dirty="0"/>
          </a:p>
        </p:txBody>
      </p:sp>
      <p:sp>
        <p:nvSpPr>
          <p:cNvPr id="64" name="Text 62"/>
          <p:cNvSpPr/>
          <p:nvPr/>
        </p:nvSpPr>
        <p:spPr>
          <a:xfrm>
            <a:off x="9810750" y="2744093"/>
            <a:ext cx="1860822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还</a:t>
            </a:r>
            <a:endParaRPr lang="en-US" sz="1275" dirty="0"/>
          </a:p>
        </p:txBody>
      </p:sp>
      <p:sp>
        <p:nvSpPr>
          <p:cNvPr id="65" name="Text 63"/>
          <p:cNvSpPr/>
          <p:nvPr/>
        </p:nvSpPr>
        <p:spPr>
          <a:xfrm>
            <a:off x="11863685" y="2762696"/>
            <a:ext cx="20152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hái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14067979" y="2762696"/>
            <a:ext cx="33134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even more; still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9387840" y="3406676"/>
            <a:ext cx="1943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</a:t>
            </a:r>
            <a:endParaRPr lang="en-US" sz="1125" dirty="0"/>
          </a:p>
        </p:txBody>
      </p:sp>
      <p:sp>
        <p:nvSpPr>
          <p:cNvPr id="68" name="Text 66"/>
          <p:cNvSpPr/>
          <p:nvPr/>
        </p:nvSpPr>
        <p:spPr>
          <a:xfrm>
            <a:off x="9810750" y="3394323"/>
            <a:ext cx="1860822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好吃</a:t>
            </a:r>
            <a:endParaRPr lang="en-US" sz="1275" dirty="0"/>
          </a:p>
        </p:txBody>
      </p:sp>
      <p:sp>
        <p:nvSpPr>
          <p:cNvPr id="69" name="Text 67"/>
          <p:cNvSpPr/>
          <p:nvPr/>
        </p:nvSpPr>
        <p:spPr>
          <a:xfrm>
            <a:off x="11863685" y="3412927"/>
            <a:ext cx="20152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hǎochī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14067979" y="3412927"/>
            <a:ext cx="33134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tasty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9387840" y="4056906"/>
            <a:ext cx="1943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</a:t>
            </a:r>
            <a:endParaRPr lang="en-US" sz="1125" dirty="0"/>
          </a:p>
        </p:txBody>
      </p:sp>
      <p:sp>
        <p:nvSpPr>
          <p:cNvPr id="72" name="Text 70"/>
          <p:cNvSpPr/>
          <p:nvPr/>
        </p:nvSpPr>
        <p:spPr>
          <a:xfrm>
            <a:off x="9810750" y="4044553"/>
            <a:ext cx="1860822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书包</a:t>
            </a:r>
            <a:endParaRPr lang="en-US" sz="1275" dirty="0"/>
          </a:p>
        </p:txBody>
      </p:sp>
      <p:sp>
        <p:nvSpPr>
          <p:cNvPr id="73" name="Text 71"/>
          <p:cNvSpPr/>
          <p:nvPr/>
        </p:nvSpPr>
        <p:spPr>
          <a:xfrm>
            <a:off x="11863685" y="4063157"/>
            <a:ext cx="20152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shūbāo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14067979" y="4063157"/>
            <a:ext cx="33134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schoolbag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9387840" y="4707136"/>
            <a:ext cx="1943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17</a:t>
            </a:r>
            <a:endParaRPr lang="en-US" sz="1125" dirty="0"/>
          </a:p>
        </p:txBody>
      </p:sp>
      <p:sp>
        <p:nvSpPr>
          <p:cNvPr id="76" name="Text 74"/>
          <p:cNvSpPr/>
          <p:nvPr/>
        </p:nvSpPr>
        <p:spPr>
          <a:xfrm>
            <a:off x="9810750" y="4694783"/>
            <a:ext cx="1860822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铅笔盒</a:t>
            </a:r>
            <a:endParaRPr lang="en-US" sz="1275" dirty="0"/>
          </a:p>
        </p:txBody>
      </p:sp>
      <p:sp>
        <p:nvSpPr>
          <p:cNvPr id="77" name="Text 75"/>
          <p:cNvSpPr/>
          <p:nvPr/>
        </p:nvSpPr>
        <p:spPr>
          <a:xfrm>
            <a:off x="11863685" y="4713387"/>
            <a:ext cx="20152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qiānbǐhé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14067979" y="4713387"/>
            <a:ext cx="33134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pencil case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9391650" y="5331768"/>
            <a:ext cx="808329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TEXT 1 READING — 菜市场买菜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9387840" y="5919192"/>
            <a:ext cx="1943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18</a:t>
            </a:r>
            <a:endParaRPr lang="en-US" sz="1125" dirty="0"/>
          </a:p>
        </p:txBody>
      </p:sp>
      <p:sp>
        <p:nvSpPr>
          <p:cNvPr id="81" name="Text 79"/>
          <p:cNvSpPr/>
          <p:nvPr/>
        </p:nvSpPr>
        <p:spPr>
          <a:xfrm>
            <a:off x="9810750" y="5906839"/>
            <a:ext cx="1860822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附近</a:t>
            </a:r>
            <a:endParaRPr lang="en-US" sz="1275" dirty="0"/>
          </a:p>
        </p:txBody>
      </p:sp>
      <p:sp>
        <p:nvSpPr>
          <p:cNvPr id="82" name="Text 80"/>
          <p:cNvSpPr/>
          <p:nvPr/>
        </p:nvSpPr>
        <p:spPr>
          <a:xfrm>
            <a:off x="11863685" y="5925443"/>
            <a:ext cx="20152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fùjìn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14067979" y="5925443"/>
            <a:ext cx="33134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nearby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9387840" y="6569422"/>
            <a:ext cx="1943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</a:t>
            </a:r>
            <a:endParaRPr lang="en-US" sz="1125" dirty="0"/>
          </a:p>
        </p:txBody>
      </p:sp>
      <p:sp>
        <p:nvSpPr>
          <p:cNvPr id="85" name="Text 83"/>
          <p:cNvSpPr/>
          <p:nvPr/>
        </p:nvSpPr>
        <p:spPr>
          <a:xfrm>
            <a:off x="9810750" y="6557070"/>
            <a:ext cx="1860822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卖</a:t>
            </a:r>
            <a:endParaRPr lang="en-US" sz="1275" dirty="0"/>
          </a:p>
        </p:txBody>
      </p:sp>
      <p:sp>
        <p:nvSpPr>
          <p:cNvPr id="86" name="Text 84"/>
          <p:cNvSpPr/>
          <p:nvPr/>
        </p:nvSpPr>
        <p:spPr>
          <a:xfrm>
            <a:off x="11863685" y="6575673"/>
            <a:ext cx="20152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mài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14067979" y="6575673"/>
            <a:ext cx="33134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 sell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9387840" y="7219652"/>
            <a:ext cx="1943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</a:t>
            </a:r>
            <a:endParaRPr lang="en-US" sz="1125" dirty="0"/>
          </a:p>
        </p:txBody>
      </p:sp>
      <p:sp>
        <p:nvSpPr>
          <p:cNvPr id="89" name="Text 87"/>
          <p:cNvSpPr/>
          <p:nvPr/>
        </p:nvSpPr>
        <p:spPr>
          <a:xfrm>
            <a:off x="9810750" y="7207300"/>
            <a:ext cx="1860822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各种</a:t>
            </a:r>
            <a:endParaRPr lang="en-US" sz="1275" dirty="0"/>
          </a:p>
        </p:txBody>
      </p:sp>
      <p:sp>
        <p:nvSpPr>
          <p:cNvPr id="90" name="Text 88"/>
          <p:cNvSpPr/>
          <p:nvPr/>
        </p:nvSpPr>
        <p:spPr>
          <a:xfrm>
            <a:off x="11863685" y="7225903"/>
            <a:ext cx="20152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gèzhǒng</a:t>
            </a:r>
            <a:endParaRPr lang="en-US" sz="1050" dirty="0"/>
          </a:p>
        </p:txBody>
      </p:sp>
      <p:sp>
        <p:nvSpPr>
          <p:cNvPr id="91" name="Text 89"/>
          <p:cNvSpPr/>
          <p:nvPr/>
        </p:nvSpPr>
        <p:spPr>
          <a:xfrm>
            <a:off x="14067979" y="7225903"/>
            <a:ext cx="33134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kinds of</a:t>
            </a:r>
            <a:endParaRPr lang="en-US" sz="1050" dirty="0"/>
          </a:p>
        </p:txBody>
      </p:sp>
      <p:sp>
        <p:nvSpPr>
          <p:cNvPr id="92" name="Text 90"/>
          <p:cNvSpPr/>
          <p:nvPr/>
        </p:nvSpPr>
        <p:spPr>
          <a:xfrm>
            <a:off x="9387840" y="7869882"/>
            <a:ext cx="1943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21</a:t>
            </a:r>
            <a:endParaRPr lang="en-US" sz="1125" dirty="0"/>
          </a:p>
        </p:txBody>
      </p:sp>
      <p:sp>
        <p:nvSpPr>
          <p:cNvPr id="93" name="Text 91"/>
          <p:cNvSpPr/>
          <p:nvPr/>
        </p:nvSpPr>
        <p:spPr>
          <a:xfrm>
            <a:off x="9810750" y="7857530"/>
            <a:ext cx="1860822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蔬菜</a:t>
            </a:r>
            <a:endParaRPr lang="en-US" sz="1275" dirty="0"/>
          </a:p>
        </p:txBody>
      </p:sp>
      <p:sp>
        <p:nvSpPr>
          <p:cNvPr id="94" name="Text 92"/>
          <p:cNvSpPr/>
          <p:nvPr/>
        </p:nvSpPr>
        <p:spPr>
          <a:xfrm>
            <a:off x="11863685" y="7876133"/>
            <a:ext cx="20152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shūcài</a:t>
            </a:r>
            <a:endParaRPr lang="en-US" sz="1050" dirty="0"/>
          </a:p>
        </p:txBody>
      </p:sp>
      <p:sp>
        <p:nvSpPr>
          <p:cNvPr id="95" name="Text 93"/>
          <p:cNvSpPr/>
          <p:nvPr/>
        </p:nvSpPr>
        <p:spPr>
          <a:xfrm>
            <a:off x="14067979" y="7876133"/>
            <a:ext cx="33134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vegetables</a:t>
            </a:r>
            <a:endParaRPr lang="en-US" sz="1050" dirty="0"/>
          </a:p>
        </p:txBody>
      </p:sp>
      <p:sp>
        <p:nvSpPr>
          <p:cNvPr id="96" name="Text 94"/>
          <p:cNvSpPr/>
          <p:nvPr/>
        </p:nvSpPr>
        <p:spPr>
          <a:xfrm>
            <a:off x="9387840" y="8520708"/>
            <a:ext cx="1943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22</a:t>
            </a:r>
            <a:endParaRPr lang="en-US" sz="1125" dirty="0"/>
          </a:p>
        </p:txBody>
      </p:sp>
      <p:sp>
        <p:nvSpPr>
          <p:cNvPr id="97" name="Text 95"/>
          <p:cNvSpPr/>
          <p:nvPr/>
        </p:nvSpPr>
        <p:spPr>
          <a:xfrm>
            <a:off x="9810750" y="8508355"/>
            <a:ext cx="1860822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超市</a:t>
            </a:r>
            <a:endParaRPr lang="en-US" sz="1275" dirty="0"/>
          </a:p>
        </p:txBody>
      </p:sp>
      <p:sp>
        <p:nvSpPr>
          <p:cNvPr id="98" name="Text 96"/>
          <p:cNvSpPr/>
          <p:nvPr/>
        </p:nvSpPr>
        <p:spPr>
          <a:xfrm>
            <a:off x="11863685" y="8526959"/>
            <a:ext cx="20152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chāoshì</a:t>
            </a:r>
            <a:endParaRPr lang="en-US" sz="1050" dirty="0"/>
          </a:p>
        </p:txBody>
      </p:sp>
      <p:sp>
        <p:nvSpPr>
          <p:cNvPr id="99" name="Text 97"/>
          <p:cNvSpPr/>
          <p:nvPr/>
        </p:nvSpPr>
        <p:spPr>
          <a:xfrm>
            <a:off x="14067979" y="8526959"/>
            <a:ext cx="33134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supermarket</a:t>
            </a:r>
            <a:endParaRPr lang="en-US" sz="1050" dirty="0"/>
          </a:p>
        </p:txBody>
      </p:sp>
      <p:sp>
        <p:nvSpPr>
          <p:cNvPr id="100" name="Text 98"/>
          <p:cNvSpPr/>
          <p:nvPr/>
        </p:nvSpPr>
        <p:spPr>
          <a:xfrm>
            <a:off x="857250" y="9058275"/>
            <a:ext cx="16573500" cy="561975"/>
          </a:xfrm>
          <a:prstGeom prst="roundRect">
            <a:avLst>
              <a:gd name="adj" fmla="val 20339"/>
            </a:avLst>
          </a:prstGeom>
          <a:solidFill>
            <a:srgbClr val="3F7A52">
              <a:alpha val="10000"/>
            </a:srgbClr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1095375" y="9205913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🔁</a:t>
            </a:r>
            <a:endParaRPr lang="en-US" sz="1350" dirty="0"/>
          </a:p>
        </p:txBody>
      </p:sp>
      <p:sp>
        <p:nvSpPr>
          <p:cNvPr id="102" name="Text 100"/>
          <p:cNvSpPr/>
          <p:nvPr/>
        </p:nvSpPr>
        <p:spPr>
          <a:xfrm>
            <a:off x="1428750" y="9144000"/>
            <a:ext cx="61808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 read the whole grid once at speed — then a second pass with pinyin hidden.</a:t>
            </a:r>
            <a:endParaRPr lang="en-US" sz="1125" dirty="0"/>
          </a:p>
        </p:txBody>
      </p:sp>
      <p:sp>
        <p:nvSpPr>
          <p:cNvPr id="103" name="Text 101"/>
          <p:cNvSpPr/>
          <p:nvPr/>
        </p:nvSpPr>
        <p:spPr>
          <a:xfrm>
            <a:off x="1428750" y="9363075"/>
            <a:ext cx="61808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Class must produce pinyin + English from 汉字 alone on the second pass.</a:t>
            </a:r>
            <a:endParaRPr lang="en-US" sz="975" dirty="0"/>
          </a:p>
        </p:txBody>
      </p:sp>
      <p:sp>
        <p:nvSpPr>
          <p:cNvPr id="104" name="Shape 102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2344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REVIEW + TEST PREP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724126" y="280988"/>
            <a:ext cx="38122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Vocabulary Grid Review — Part 2 · 10–20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7250" y="990600"/>
            <a:ext cx="620759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词汇总表 · Part 2 — 午饭、零食 &amp; 日常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286030" y="1209675"/>
            <a:ext cx="13471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24 items · L4–L7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71550" y="2075111"/>
            <a:ext cx="8083296" cy="130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SCHOOL LUNCH &amp; SNACK VOCABULARY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967740" y="2617291"/>
            <a:ext cx="19431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90650" y="2605385"/>
            <a:ext cx="18043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三明治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8221" y="2623245"/>
            <a:ext cx="2422044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sānmíngzhì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991374" y="2623245"/>
            <a:ext cx="2963076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sandwich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967740" y="3218557"/>
            <a:ext cx="19431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90650" y="3206651"/>
            <a:ext cx="18043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平时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8221" y="3224510"/>
            <a:ext cx="2422044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píngshí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991374" y="3224510"/>
            <a:ext cx="2963076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usually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967740" y="3819823"/>
            <a:ext cx="19431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390650" y="3807916"/>
            <a:ext cx="18043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盒饭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8221" y="3825776"/>
            <a:ext cx="2422044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héfàn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991374" y="3825776"/>
            <a:ext cx="2963076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box lunch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967740" y="4421088"/>
            <a:ext cx="19431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390650" y="4409182"/>
            <a:ext cx="18043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薯片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8221" y="4427041"/>
            <a:ext cx="2422044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shǔpiàn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5991374" y="4427041"/>
            <a:ext cx="2963076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chips; crisps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967740" y="5022354"/>
            <a:ext cx="19431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390650" y="5010448"/>
            <a:ext cx="18043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薯条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8221" y="5028307"/>
            <a:ext cx="2422044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shǔtiáo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5991374" y="5028307"/>
            <a:ext cx="2963076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French fries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967740" y="5623620"/>
            <a:ext cx="19431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390650" y="5611713"/>
            <a:ext cx="18043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炸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88221" y="5629573"/>
            <a:ext cx="2422044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zhá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5991374" y="5629573"/>
            <a:ext cx="2963076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deep-fry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967740" y="6224885"/>
            <a:ext cx="19431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390650" y="6212979"/>
            <a:ext cx="18043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翅膀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88221" y="6230838"/>
            <a:ext cx="2422044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chìbǎng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5991374" y="6230838"/>
            <a:ext cx="2963076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wing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967740" y="6826151"/>
            <a:ext cx="19431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390650" y="6814245"/>
            <a:ext cx="18043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糖果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388221" y="6832104"/>
            <a:ext cx="2422044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tángguǒ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5991374" y="6832104"/>
            <a:ext cx="2963076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candy; sweets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967740" y="7427416"/>
            <a:ext cx="19431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390650" y="7415510"/>
            <a:ext cx="18043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咖喱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388221" y="7433370"/>
            <a:ext cx="2422044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gālí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5991374" y="7433370"/>
            <a:ext cx="2963076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curry</a:t>
            </a: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967740" y="8028682"/>
            <a:ext cx="19431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390650" y="8016776"/>
            <a:ext cx="18043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鱼柳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388221" y="8034635"/>
            <a:ext cx="2422044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yúliǔ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5991374" y="8034635"/>
            <a:ext cx="2963076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fish fillet</a:t>
            </a:r>
            <a:endParaRPr lang="en-US" sz="975" dirty="0"/>
          </a:p>
        </p:txBody>
      </p:sp>
      <p:sp>
        <p:nvSpPr>
          <p:cNvPr id="50" name="Text 48"/>
          <p:cNvSpPr/>
          <p:nvPr/>
        </p:nvSpPr>
        <p:spPr>
          <a:xfrm>
            <a:off x="967740" y="8630692"/>
            <a:ext cx="19431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390650" y="8618786"/>
            <a:ext cx="18043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猪排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388221" y="8636645"/>
            <a:ext cx="2422044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zhūpái</a:t>
            </a:r>
            <a:endParaRPr lang="en-US" sz="975" dirty="0"/>
          </a:p>
        </p:txBody>
      </p:sp>
      <p:sp>
        <p:nvSpPr>
          <p:cNvPr id="53" name="Text 51"/>
          <p:cNvSpPr/>
          <p:nvPr/>
        </p:nvSpPr>
        <p:spPr>
          <a:xfrm>
            <a:off x="5991374" y="8636645"/>
            <a:ext cx="2963076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pork chop</a:t>
            </a:r>
            <a:endParaRPr lang="en-US" sz="975" dirty="0"/>
          </a:p>
        </p:txBody>
      </p:sp>
      <p:sp>
        <p:nvSpPr>
          <p:cNvPr id="54" name="Text 52"/>
          <p:cNvSpPr/>
          <p:nvPr/>
        </p:nvSpPr>
        <p:spPr>
          <a:xfrm>
            <a:off x="9391650" y="2012752"/>
            <a:ext cx="8083296" cy="130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TEXT 2 DIALOGUE &amp; PATTERNS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9387840" y="2421136"/>
            <a:ext cx="19431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9810750" y="2409230"/>
            <a:ext cx="14766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通常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1487001" y="2427089"/>
            <a:ext cx="2370734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tōngcháng</a:t>
            </a:r>
            <a:endParaRPr lang="en-US" sz="975" dirty="0"/>
          </a:p>
        </p:txBody>
      </p:sp>
      <p:sp>
        <p:nvSpPr>
          <p:cNvPr id="58" name="Text 56"/>
          <p:cNvSpPr/>
          <p:nvPr/>
        </p:nvSpPr>
        <p:spPr>
          <a:xfrm>
            <a:off x="14039850" y="2427089"/>
            <a:ext cx="3342132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usually</a:t>
            </a:r>
            <a:endParaRPr lang="en-US" sz="975" dirty="0"/>
          </a:p>
        </p:txBody>
      </p:sp>
      <p:sp>
        <p:nvSpPr>
          <p:cNvPr id="59" name="Text 57"/>
          <p:cNvSpPr/>
          <p:nvPr/>
        </p:nvSpPr>
        <p:spPr>
          <a:xfrm>
            <a:off x="9387840" y="2879378"/>
            <a:ext cx="19431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9810750" y="2867471"/>
            <a:ext cx="14766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哪种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11487001" y="2885331"/>
            <a:ext cx="2370734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nǎ zhǒng</a:t>
            </a:r>
            <a:endParaRPr lang="en-US" sz="975" dirty="0"/>
          </a:p>
        </p:txBody>
      </p:sp>
      <p:sp>
        <p:nvSpPr>
          <p:cNvPr id="62" name="Text 60"/>
          <p:cNvSpPr/>
          <p:nvPr/>
        </p:nvSpPr>
        <p:spPr>
          <a:xfrm>
            <a:off x="14039850" y="2885331"/>
            <a:ext cx="3342132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kind</a:t>
            </a:r>
            <a:endParaRPr lang="en-US" sz="975" dirty="0"/>
          </a:p>
        </p:txBody>
      </p:sp>
      <p:sp>
        <p:nvSpPr>
          <p:cNvPr id="63" name="Text 61"/>
          <p:cNvSpPr/>
          <p:nvPr/>
        </p:nvSpPr>
        <p:spPr>
          <a:xfrm>
            <a:off x="9387840" y="3337620"/>
            <a:ext cx="19431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9810750" y="3325713"/>
            <a:ext cx="14766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算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11487001" y="3343573"/>
            <a:ext cx="2370734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suàn</a:t>
            </a:r>
            <a:endParaRPr lang="en-US" sz="975" dirty="0"/>
          </a:p>
        </p:txBody>
      </p:sp>
      <p:sp>
        <p:nvSpPr>
          <p:cNvPr id="66" name="Text 64"/>
          <p:cNvSpPr/>
          <p:nvPr/>
        </p:nvSpPr>
        <p:spPr>
          <a:xfrm>
            <a:off x="14039850" y="3343573"/>
            <a:ext cx="3342132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 count as</a:t>
            </a:r>
            <a:endParaRPr lang="en-US" sz="975" dirty="0"/>
          </a:p>
        </p:txBody>
      </p:sp>
      <p:sp>
        <p:nvSpPr>
          <p:cNvPr id="67" name="Text 65"/>
          <p:cNvSpPr/>
          <p:nvPr/>
        </p:nvSpPr>
        <p:spPr>
          <a:xfrm>
            <a:off x="9391650" y="3780234"/>
            <a:ext cx="8083296" cy="130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SNACK PRICES &amp; MEASURE WORDS</a:t>
            </a:r>
            <a:endParaRPr lang="en-US" sz="825" dirty="0"/>
          </a:p>
        </p:txBody>
      </p:sp>
      <p:sp>
        <p:nvSpPr>
          <p:cNvPr id="68" name="Text 66"/>
          <p:cNvSpPr/>
          <p:nvPr/>
        </p:nvSpPr>
        <p:spPr>
          <a:xfrm>
            <a:off x="9387840" y="4186982"/>
            <a:ext cx="19431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810750" y="4175075"/>
            <a:ext cx="14766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一卷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11487001" y="4192935"/>
            <a:ext cx="2370734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yī juǎn</a:t>
            </a:r>
            <a:endParaRPr lang="en-US" sz="975" dirty="0"/>
          </a:p>
        </p:txBody>
      </p:sp>
      <p:sp>
        <p:nvSpPr>
          <p:cNvPr id="71" name="Text 69"/>
          <p:cNvSpPr/>
          <p:nvPr/>
        </p:nvSpPr>
        <p:spPr>
          <a:xfrm>
            <a:off x="14039850" y="4192935"/>
            <a:ext cx="3342132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roll (of)</a:t>
            </a:r>
            <a:endParaRPr lang="en-US" sz="975" dirty="0"/>
          </a:p>
        </p:txBody>
      </p:sp>
      <p:sp>
        <p:nvSpPr>
          <p:cNvPr id="72" name="Text 70"/>
          <p:cNvSpPr/>
          <p:nvPr/>
        </p:nvSpPr>
        <p:spPr>
          <a:xfrm>
            <a:off x="9387840" y="4645223"/>
            <a:ext cx="19431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9810750" y="4633317"/>
            <a:ext cx="14766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一包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11487001" y="4651177"/>
            <a:ext cx="2370734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yī bāo</a:t>
            </a:r>
            <a:endParaRPr lang="en-US" sz="975" dirty="0"/>
          </a:p>
        </p:txBody>
      </p:sp>
      <p:sp>
        <p:nvSpPr>
          <p:cNvPr id="75" name="Text 73"/>
          <p:cNvSpPr/>
          <p:nvPr/>
        </p:nvSpPr>
        <p:spPr>
          <a:xfrm>
            <a:off x="14039850" y="4651177"/>
            <a:ext cx="3342132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bag/pack (of)</a:t>
            </a:r>
            <a:endParaRPr lang="en-US" sz="975" dirty="0"/>
          </a:p>
        </p:txBody>
      </p:sp>
      <p:sp>
        <p:nvSpPr>
          <p:cNvPr id="76" name="Text 74"/>
          <p:cNvSpPr/>
          <p:nvPr/>
        </p:nvSpPr>
        <p:spPr>
          <a:xfrm>
            <a:off x="9387840" y="5103465"/>
            <a:ext cx="19431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17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9810750" y="5091559"/>
            <a:ext cx="14766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一份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11487001" y="5109418"/>
            <a:ext cx="2370734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yī fèn</a:t>
            </a:r>
            <a:endParaRPr lang="en-US" sz="975" dirty="0"/>
          </a:p>
        </p:txBody>
      </p:sp>
      <p:sp>
        <p:nvSpPr>
          <p:cNvPr id="79" name="Text 77"/>
          <p:cNvSpPr/>
          <p:nvPr/>
        </p:nvSpPr>
        <p:spPr>
          <a:xfrm>
            <a:off x="14039850" y="5109418"/>
            <a:ext cx="3342132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portion (of)</a:t>
            </a:r>
            <a:endParaRPr lang="en-US" sz="975" dirty="0"/>
          </a:p>
        </p:txBody>
      </p:sp>
      <p:sp>
        <p:nvSpPr>
          <p:cNvPr id="80" name="Text 78"/>
          <p:cNvSpPr/>
          <p:nvPr/>
        </p:nvSpPr>
        <p:spPr>
          <a:xfrm>
            <a:off x="9387840" y="5561707"/>
            <a:ext cx="19431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18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9810750" y="5549801"/>
            <a:ext cx="14766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一块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11487001" y="5567660"/>
            <a:ext cx="2370734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yī kuài</a:t>
            </a:r>
            <a:endParaRPr lang="en-US" sz="975" dirty="0"/>
          </a:p>
        </p:txBody>
      </p:sp>
      <p:sp>
        <p:nvSpPr>
          <p:cNvPr id="83" name="Text 81"/>
          <p:cNvSpPr/>
          <p:nvPr/>
        </p:nvSpPr>
        <p:spPr>
          <a:xfrm>
            <a:off x="14039850" y="5567660"/>
            <a:ext cx="3342132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piece (of)</a:t>
            </a:r>
            <a:endParaRPr lang="en-US" sz="975" dirty="0"/>
          </a:p>
        </p:txBody>
      </p:sp>
      <p:sp>
        <p:nvSpPr>
          <p:cNvPr id="84" name="Text 82"/>
          <p:cNvSpPr/>
          <p:nvPr/>
        </p:nvSpPr>
        <p:spPr>
          <a:xfrm>
            <a:off x="9387840" y="6019949"/>
            <a:ext cx="19431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9810750" y="6008043"/>
            <a:ext cx="14766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一盒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11487001" y="6025902"/>
            <a:ext cx="2370734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yī hé</a:t>
            </a:r>
            <a:endParaRPr lang="en-US" sz="975" dirty="0"/>
          </a:p>
        </p:txBody>
      </p:sp>
      <p:sp>
        <p:nvSpPr>
          <p:cNvPr id="87" name="Text 85"/>
          <p:cNvSpPr/>
          <p:nvPr/>
        </p:nvSpPr>
        <p:spPr>
          <a:xfrm>
            <a:off x="14039850" y="6025902"/>
            <a:ext cx="3342132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box (of)</a:t>
            </a:r>
            <a:endParaRPr lang="en-US" sz="975" dirty="0"/>
          </a:p>
        </p:txBody>
      </p:sp>
      <p:sp>
        <p:nvSpPr>
          <p:cNvPr id="88" name="Text 86"/>
          <p:cNvSpPr/>
          <p:nvPr/>
        </p:nvSpPr>
        <p:spPr>
          <a:xfrm>
            <a:off x="9391650" y="6462564"/>
            <a:ext cx="8083296" cy="130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SHOPPING ROLEPLAY &amp; 但是</a:t>
            </a:r>
            <a:endParaRPr lang="en-US" sz="825" dirty="0"/>
          </a:p>
        </p:txBody>
      </p:sp>
      <p:sp>
        <p:nvSpPr>
          <p:cNvPr id="89" name="Text 87"/>
          <p:cNvSpPr/>
          <p:nvPr/>
        </p:nvSpPr>
        <p:spPr>
          <a:xfrm>
            <a:off x="9387840" y="6869311"/>
            <a:ext cx="19431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</a:t>
            </a:r>
            <a:endParaRPr lang="en-US" sz="1050" dirty="0"/>
          </a:p>
        </p:txBody>
      </p:sp>
      <p:sp>
        <p:nvSpPr>
          <p:cNvPr id="90" name="Text 88"/>
          <p:cNvSpPr/>
          <p:nvPr/>
        </p:nvSpPr>
        <p:spPr>
          <a:xfrm>
            <a:off x="9810750" y="6857405"/>
            <a:ext cx="14766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试穿</a:t>
            </a:r>
            <a:endParaRPr lang="en-US" sz="1200" dirty="0"/>
          </a:p>
        </p:txBody>
      </p:sp>
      <p:sp>
        <p:nvSpPr>
          <p:cNvPr id="91" name="Text 89"/>
          <p:cNvSpPr/>
          <p:nvPr/>
        </p:nvSpPr>
        <p:spPr>
          <a:xfrm>
            <a:off x="11487001" y="6875264"/>
            <a:ext cx="2370734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shìchuān</a:t>
            </a:r>
            <a:endParaRPr lang="en-US" sz="975" dirty="0"/>
          </a:p>
        </p:txBody>
      </p:sp>
      <p:sp>
        <p:nvSpPr>
          <p:cNvPr id="92" name="Text 90"/>
          <p:cNvSpPr/>
          <p:nvPr/>
        </p:nvSpPr>
        <p:spPr>
          <a:xfrm>
            <a:off x="14039850" y="6875264"/>
            <a:ext cx="3342132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 try on</a:t>
            </a:r>
            <a:endParaRPr lang="en-US" sz="975" dirty="0"/>
          </a:p>
        </p:txBody>
      </p:sp>
      <p:sp>
        <p:nvSpPr>
          <p:cNvPr id="93" name="Text 91"/>
          <p:cNvSpPr/>
          <p:nvPr/>
        </p:nvSpPr>
        <p:spPr>
          <a:xfrm>
            <a:off x="9387840" y="7327553"/>
            <a:ext cx="19431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21</a:t>
            </a:r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9810750" y="7315646"/>
            <a:ext cx="14766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11487001" y="7333506"/>
            <a:ext cx="2370734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kàn</a:t>
            </a:r>
            <a:endParaRPr lang="en-US" sz="975" dirty="0"/>
          </a:p>
        </p:txBody>
      </p:sp>
      <p:sp>
        <p:nvSpPr>
          <p:cNvPr id="96" name="Text 94"/>
          <p:cNvSpPr/>
          <p:nvPr/>
        </p:nvSpPr>
        <p:spPr>
          <a:xfrm>
            <a:off x="14039850" y="7333506"/>
            <a:ext cx="3342132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 look at</a:t>
            </a:r>
            <a:endParaRPr lang="en-US" sz="975" dirty="0"/>
          </a:p>
        </p:txBody>
      </p:sp>
      <p:sp>
        <p:nvSpPr>
          <p:cNvPr id="97" name="Text 95"/>
          <p:cNvSpPr/>
          <p:nvPr/>
        </p:nvSpPr>
        <p:spPr>
          <a:xfrm>
            <a:off x="9387840" y="7785795"/>
            <a:ext cx="19431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22</a:t>
            </a:r>
            <a:endParaRPr lang="en-US" sz="1050" dirty="0"/>
          </a:p>
        </p:txBody>
      </p:sp>
      <p:sp>
        <p:nvSpPr>
          <p:cNvPr id="98" name="Text 96"/>
          <p:cNvSpPr/>
          <p:nvPr/>
        </p:nvSpPr>
        <p:spPr>
          <a:xfrm>
            <a:off x="9810750" y="7773888"/>
            <a:ext cx="14766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但是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11487001" y="7791748"/>
            <a:ext cx="2370734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dànshì</a:t>
            </a:r>
            <a:endParaRPr lang="en-US" sz="975" dirty="0"/>
          </a:p>
        </p:txBody>
      </p:sp>
      <p:sp>
        <p:nvSpPr>
          <p:cNvPr id="100" name="Text 98"/>
          <p:cNvSpPr/>
          <p:nvPr/>
        </p:nvSpPr>
        <p:spPr>
          <a:xfrm>
            <a:off x="14039850" y="7791748"/>
            <a:ext cx="3342132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but</a:t>
            </a:r>
            <a:endParaRPr lang="en-US" sz="975" dirty="0"/>
          </a:p>
        </p:txBody>
      </p:sp>
      <p:sp>
        <p:nvSpPr>
          <p:cNvPr id="101" name="Text 99"/>
          <p:cNvSpPr/>
          <p:nvPr/>
        </p:nvSpPr>
        <p:spPr>
          <a:xfrm>
            <a:off x="9387840" y="8244036"/>
            <a:ext cx="19431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23</a:t>
            </a:r>
            <a:endParaRPr lang="en-US" sz="1050" dirty="0"/>
          </a:p>
        </p:txBody>
      </p:sp>
      <p:sp>
        <p:nvSpPr>
          <p:cNvPr id="102" name="Text 100"/>
          <p:cNvSpPr/>
          <p:nvPr/>
        </p:nvSpPr>
        <p:spPr>
          <a:xfrm>
            <a:off x="9810750" y="8232130"/>
            <a:ext cx="14766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一般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11487001" y="8249989"/>
            <a:ext cx="2370734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yìbān</a:t>
            </a:r>
            <a:endParaRPr lang="en-US" sz="975" dirty="0"/>
          </a:p>
        </p:txBody>
      </p:sp>
      <p:sp>
        <p:nvSpPr>
          <p:cNvPr id="104" name="Text 102"/>
          <p:cNvSpPr/>
          <p:nvPr/>
        </p:nvSpPr>
        <p:spPr>
          <a:xfrm>
            <a:off x="14039850" y="8249989"/>
            <a:ext cx="3342132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generally</a:t>
            </a:r>
            <a:endParaRPr lang="en-US" sz="975" dirty="0"/>
          </a:p>
        </p:txBody>
      </p:sp>
      <p:sp>
        <p:nvSpPr>
          <p:cNvPr id="105" name="Text 103"/>
          <p:cNvSpPr/>
          <p:nvPr/>
        </p:nvSpPr>
        <p:spPr>
          <a:xfrm>
            <a:off x="9387840" y="8702576"/>
            <a:ext cx="19431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24</a:t>
            </a:r>
            <a:endParaRPr lang="en-US" sz="1050" dirty="0"/>
          </a:p>
        </p:txBody>
      </p:sp>
      <p:sp>
        <p:nvSpPr>
          <p:cNvPr id="106" name="Text 104"/>
          <p:cNvSpPr/>
          <p:nvPr/>
        </p:nvSpPr>
        <p:spPr>
          <a:xfrm>
            <a:off x="9810750" y="8690670"/>
            <a:ext cx="14766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经常</a:t>
            </a:r>
            <a:endParaRPr lang="en-US" sz="1200" dirty="0"/>
          </a:p>
        </p:txBody>
      </p:sp>
      <p:sp>
        <p:nvSpPr>
          <p:cNvPr id="107" name="Text 105"/>
          <p:cNvSpPr/>
          <p:nvPr/>
        </p:nvSpPr>
        <p:spPr>
          <a:xfrm>
            <a:off x="11487001" y="8708529"/>
            <a:ext cx="2370734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jīngcháng</a:t>
            </a:r>
            <a:endParaRPr lang="en-US" sz="975" dirty="0"/>
          </a:p>
        </p:txBody>
      </p:sp>
      <p:sp>
        <p:nvSpPr>
          <p:cNvPr id="108" name="Text 106"/>
          <p:cNvSpPr/>
          <p:nvPr/>
        </p:nvSpPr>
        <p:spPr>
          <a:xfrm>
            <a:off x="14039850" y="8708529"/>
            <a:ext cx="3342132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often</a:t>
            </a:r>
            <a:endParaRPr lang="en-US" sz="975" dirty="0"/>
          </a:p>
        </p:txBody>
      </p:sp>
      <p:sp>
        <p:nvSpPr>
          <p:cNvPr id="109" name="Text 107"/>
          <p:cNvSpPr/>
          <p:nvPr/>
        </p:nvSpPr>
        <p:spPr>
          <a:xfrm>
            <a:off x="857250" y="9115425"/>
            <a:ext cx="16573500" cy="523875"/>
          </a:xfrm>
          <a:prstGeom prst="roundRect">
            <a:avLst>
              <a:gd name="adj" fmla="val 21818"/>
            </a:avLst>
          </a:prstGeom>
          <a:solidFill>
            <a:srgbClr val="3F7A52">
              <a:alpha val="10000"/>
            </a:srgbClr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0" name="Text 108"/>
          <p:cNvSpPr/>
          <p:nvPr/>
        </p:nvSpPr>
        <p:spPr>
          <a:xfrm>
            <a:off x="1095375" y="9244013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🔁</a:t>
            </a:r>
            <a:endParaRPr lang="en-US" sz="1350" dirty="0"/>
          </a:p>
        </p:txBody>
      </p:sp>
      <p:sp>
        <p:nvSpPr>
          <p:cNvPr id="111" name="Text 109"/>
          <p:cNvSpPr/>
          <p:nvPr/>
        </p:nvSpPr>
        <p:spPr>
          <a:xfrm>
            <a:off x="1428750" y="9191625"/>
            <a:ext cx="30219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Second pass — pinyin hidden.</a:t>
            </a:r>
            <a:endParaRPr lang="en-US" sz="1050" dirty="0"/>
          </a:p>
        </p:txBody>
      </p:sp>
      <p:sp>
        <p:nvSpPr>
          <p:cNvPr id="112" name="Text 110"/>
          <p:cNvSpPr/>
          <p:nvPr/>
        </p:nvSpPr>
        <p:spPr>
          <a:xfrm>
            <a:off x="1428750" y="9401175"/>
            <a:ext cx="30219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Class must produce pinyin + English from 汉字 alone.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2344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REVIEW + TEST PREP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724126" y="280988"/>
            <a:ext cx="38802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Pattern Recap + CFU Checkpoints · 10–20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7250" y="1143000"/>
            <a:ext cx="169049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57250" y="1847850"/>
            <a:ext cx="16904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50"/>
              </a:spcBef>
              <a:spcAft>
                <a:spcPts val="2550"/>
              </a:spcAft>
              <a:buNone/>
            </a:pPr>
            <a:r>
              <a:rPr lang="en-US" sz="25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句型总结 · 4 Key Patterns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857250" y="2762250"/>
            <a:ext cx="8220075" cy="1248519"/>
          </a:xfrm>
          <a:prstGeom prst="roundRect">
            <a:avLst>
              <a:gd name="adj" fmla="val 9155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57275" y="2924175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66515" y="2967038"/>
            <a:ext cx="684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476375" y="3086100"/>
            <a:ext cx="7548944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 + </a:t>
            </a:r>
            <a:r>
              <a:rPr lang="en-US" sz="1425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</a:t>
            </a: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+ B + adj. (+ 还 + adj.2)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1490663" y="3502223"/>
            <a:ext cx="0" cy="213271"/>
          </a:xfrm>
          <a:prstGeom prst="line">
            <a:avLst/>
          </a:prstGeom>
          <a:noFill/>
          <a:ln w="28575">
            <a:solidFill>
              <a:srgbClr val="D0BC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0200" y="3502223"/>
            <a:ext cx="74226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那里的菜</a:t>
            </a:r>
            <a:r>
              <a:rPr lang="en-US" sz="12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</a:t>
            </a:r>
            <a:r>
              <a:rPr lang="en-US" sz="1200" dirty="0">
                <a:solidFill>
                  <a:srgbClr val="6B58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超市里的新鲜，</a:t>
            </a:r>
            <a:r>
              <a:rPr lang="en-US" sz="12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还</a:t>
            </a:r>
            <a:r>
              <a:rPr lang="en-US" sz="1200" dirty="0">
                <a:solidFill>
                  <a:srgbClr val="6B58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便宜。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210675" y="2762250"/>
            <a:ext cx="8220075" cy="1248519"/>
          </a:xfrm>
          <a:prstGeom prst="roundRect">
            <a:avLst>
              <a:gd name="adj" fmla="val 9155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410700" y="2924175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519940" y="2967038"/>
            <a:ext cx="684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9829800" y="3086100"/>
            <a:ext cx="7548944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有时候……有时候……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9844088" y="3502223"/>
            <a:ext cx="0" cy="213271"/>
          </a:xfrm>
          <a:prstGeom prst="line">
            <a:avLst/>
          </a:prstGeom>
          <a:noFill/>
          <a:ln w="28575">
            <a:solidFill>
              <a:srgbClr val="D0BC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53625" y="3502223"/>
            <a:ext cx="74226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1200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有时候</a:t>
            </a:r>
            <a:r>
              <a:rPr lang="en-US" sz="1200" dirty="0">
                <a:solidFill>
                  <a:srgbClr val="6B58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从家里带三明治，</a:t>
            </a:r>
            <a:r>
              <a:rPr lang="en-US" sz="1200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有时候</a:t>
            </a:r>
            <a:r>
              <a:rPr lang="en-US" sz="1200" dirty="0">
                <a:solidFill>
                  <a:srgbClr val="6B58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在学校餐厅买东西吃。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7250" y="4144119"/>
            <a:ext cx="8220075" cy="1957090"/>
          </a:xfrm>
          <a:prstGeom prst="roundRect">
            <a:avLst>
              <a:gd name="adj" fmla="val 5840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57275" y="4306044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C68A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166515" y="4348907"/>
            <a:ext cx="684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476375" y="4467969"/>
            <a:ext cx="7548944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通常……也会……</a:t>
            </a: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/ </a:t>
            </a:r>
            <a:r>
              <a:rPr lang="en-US" sz="1425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不算太……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1490663" y="4884093"/>
            <a:ext cx="0" cy="1074241"/>
          </a:xfrm>
          <a:prstGeom prst="line">
            <a:avLst/>
          </a:prstGeom>
          <a:noFill/>
          <a:ln w="28575">
            <a:solidFill>
              <a:srgbClr val="D0BC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00200" y="5036493"/>
            <a:ext cx="74226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1200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通常</a:t>
            </a:r>
            <a:r>
              <a:rPr lang="en-US" sz="1200" dirty="0">
                <a:solidFill>
                  <a:srgbClr val="6B58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买盒饭吃，</a:t>
            </a:r>
            <a:r>
              <a:rPr lang="en-US" sz="1200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也会</a:t>
            </a:r>
            <a:r>
              <a:rPr lang="en-US" sz="1200" dirty="0">
                <a:solidFill>
                  <a:srgbClr val="6B58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买薯片。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00200" y="5592663"/>
            <a:ext cx="74226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十九块，</a:t>
            </a:r>
            <a:r>
              <a:rPr lang="en-US" sz="1200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不算太</a:t>
            </a:r>
            <a:r>
              <a:rPr lang="en-US" sz="1200" dirty="0">
                <a:solidFill>
                  <a:srgbClr val="6B58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贵。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210675" y="4144119"/>
            <a:ext cx="8220075" cy="1957090"/>
          </a:xfrm>
          <a:prstGeom prst="roundRect">
            <a:avLst>
              <a:gd name="adj" fmla="val 5840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410700" y="4306044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D45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519940" y="4348907"/>
            <a:ext cx="684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9829800" y="4467969"/>
            <a:ext cx="7548944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平时/通常/一般…… + </a:t>
            </a:r>
            <a:r>
              <a:rPr lang="en-US" sz="1425" b="1" dirty="0">
                <a:solidFill>
                  <a:srgbClr val="D45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但是</a:t>
            </a: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……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9844088" y="4884093"/>
            <a:ext cx="0" cy="213271"/>
          </a:xfrm>
          <a:prstGeom prst="line">
            <a:avLst/>
          </a:prstGeom>
          <a:noFill/>
          <a:ln w="28575">
            <a:solidFill>
              <a:srgbClr val="D0BC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53625" y="4884093"/>
            <a:ext cx="74226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我平时八点到学校，</a:t>
            </a:r>
            <a:r>
              <a:rPr lang="en-US" sz="1200" b="1" dirty="0">
                <a:solidFill>
                  <a:srgbClr val="D45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但是</a:t>
            </a:r>
            <a:r>
              <a:rPr lang="en-US" sz="1200" dirty="0">
                <a:solidFill>
                  <a:srgbClr val="6B58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今天七点就到了。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7250" y="6386959"/>
            <a:ext cx="169049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CFU CHECKPOINTS · 三个检查点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57250" y="6787009"/>
            <a:ext cx="5422850" cy="2814191"/>
          </a:xfrm>
          <a:prstGeom prst="roundRect">
            <a:avLst>
              <a:gd name="adj" fmla="val 4062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038225" y="7034659"/>
            <a:ext cx="51621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PINYIN ↔ HANZI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1038225" y="7510909"/>
            <a:ext cx="51621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characters for </a:t>
            </a:r>
            <a:r>
              <a:rPr lang="en-US" sz="12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dòufu</a:t>
            </a:r>
            <a:r>
              <a:rPr lang="en-US" sz="12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32500" y="6787009"/>
            <a:ext cx="5422850" cy="2814191"/>
          </a:xfrm>
          <a:prstGeom prst="roundRect">
            <a:avLst>
              <a:gd name="adj" fmla="val 4062"/>
            </a:avLst>
          </a:prstGeom>
          <a:solidFill>
            <a:srgbClr val="3F7A52">
              <a:alpha val="10000"/>
            </a:srgbClr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613475" y="7034659"/>
            <a:ext cx="51621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MAKE A SENTENCE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6613475" y="7501384"/>
            <a:ext cx="51621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Give me a sentence with </a:t>
            </a:r>
            <a:r>
              <a:rPr lang="en-US" sz="12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但是</a:t>
            </a:r>
            <a:r>
              <a:rPr lang="en-US" sz="12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Write it on your whiteboard.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2007751" y="6787009"/>
            <a:ext cx="5422850" cy="2814191"/>
          </a:xfrm>
          <a:prstGeom prst="roundRect">
            <a:avLst>
              <a:gd name="adj" fmla="val 4062"/>
            </a:avLst>
          </a:prstGeom>
          <a:solidFill>
            <a:srgbClr val="D45A3A">
              <a:alpha val="10000"/>
            </a:srgbClr>
          </a:solidFill>
          <a:ln w="9525">
            <a:solidFill>
              <a:srgbClr val="D45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2188726" y="7034659"/>
            <a:ext cx="51621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EXIT-STYLE CHECK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12188726" y="7501384"/>
            <a:ext cx="51621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would you say "the box lunch is not too expensive"?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2344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REVIEW + TEST PREP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724126" y="280988"/>
            <a:ext cx="48579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Activity 1: Vocabulary &amp; Dictionary Extension · 20–27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219200"/>
            <a:ext cx="167106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20–27 MIN · WE DO · BASED ON WORKBOOK EX. 20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52500" y="1943100"/>
            <a:ext cx="1671066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猜一猜 · Guess the Meaning — 12 New Words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52500" y="3095625"/>
            <a:ext cx="16710660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9"/>
              </a:lnSpc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Guess the meaning of each word </a:t>
            </a:r>
            <a:r>
              <a:rPr lang="en-US" sz="14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from known components first</a:t>
            </a:r>
            <a:r>
              <a:rPr lang="en-US" sz="14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write your guess in your exercise book. Teacher reveals the correct meaning for whole-class discussion.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952500" y="3804642"/>
            <a:ext cx="2651075" cy="1352550"/>
          </a:xfrm>
          <a:prstGeom prst="roundRect">
            <a:avLst>
              <a:gd name="adj" fmla="val 8451"/>
            </a:avLst>
          </a:prstGeom>
          <a:solidFill>
            <a:srgbClr val="F1E8D8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32860" y="4176117"/>
            <a:ext cx="249035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柳树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32860" y="4719042"/>
            <a:ext cx="24903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3698825" y="3804642"/>
            <a:ext cx="2651075" cy="1352550"/>
          </a:xfrm>
          <a:prstGeom prst="roundRect">
            <a:avLst>
              <a:gd name="adj" fmla="val 8451"/>
            </a:avLst>
          </a:prstGeom>
          <a:solidFill>
            <a:srgbClr val="F1E8D8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779185" y="4176117"/>
            <a:ext cx="249035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炸弹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79185" y="4719042"/>
            <a:ext cx="24903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6445151" y="3804642"/>
            <a:ext cx="2651224" cy="1352550"/>
          </a:xfrm>
          <a:prstGeom prst="roundRect">
            <a:avLst>
              <a:gd name="adj" fmla="val 8451"/>
            </a:avLst>
          </a:prstGeom>
          <a:solidFill>
            <a:srgbClr val="F1E8D8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525509" y="4176117"/>
            <a:ext cx="249050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壁球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25509" y="4719042"/>
            <a:ext cx="24905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9191625" y="3804642"/>
            <a:ext cx="2651075" cy="1352550"/>
          </a:xfrm>
          <a:prstGeom prst="roundRect">
            <a:avLst>
              <a:gd name="adj" fmla="val 8451"/>
            </a:avLst>
          </a:prstGeom>
          <a:solidFill>
            <a:srgbClr val="F1E8D8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271985" y="4176117"/>
            <a:ext cx="249035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肩膀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271985" y="4719042"/>
            <a:ext cx="24903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1937950" y="3804642"/>
            <a:ext cx="2651075" cy="1352550"/>
          </a:xfrm>
          <a:prstGeom prst="roundRect">
            <a:avLst>
              <a:gd name="adj" fmla="val 8451"/>
            </a:avLst>
          </a:prstGeom>
          <a:solidFill>
            <a:srgbClr val="F1E8D8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2018310" y="4176117"/>
            <a:ext cx="249035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海鲜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018310" y="4719042"/>
            <a:ext cx="24903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4684276" y="3804642"/>
            <a:ext cx="2651224" cy="1352550"/>
          </a:xfrm>
          <a:prstGeom prst="roundRect">
            <a:avLst>
              <a:gd name="adj" fmla="val 8451"/>
            </a:avLst>
          </a:prstGeom>
          <a:solidFill>
            <a:srgbClr val="F1E8D8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4764634" y="4176117"/>
            <a:ext cx="249050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龙虾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764634" y="4719042"/>
            <a:ext cx="24905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952500" y="5252442"/>
            <a:ext cx="2651075" cy="1352550"/>
          </a:xfrm>
          <a:prstGeom prst="roundRect">
            <a:avLst>
              <a:gd name="adj" fmla="val 8451"/>
            </a:avLst>
          </a:prstGeom>
          <a:solidFill>
            <a:srgbClr val="F1E8D8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32860" y="5623917"/>
            <a:ext cx="249035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水平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32860" y="6166842"/>
            <a:ext cx="24903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3698825" y="5252442"/>
            <a:ext cx="2651075" cy="1352550"/>
          </a:xfrm>
          <a:prstGeom prst="roundRect">
            <a:avLst>
              <a:gd name="adj" fmla="val 8451"/>
            </a:avLst>
          </a:prstGeom>
          <a:solidFill>
            <a:srgbClr val="F1E8D8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779185" y="5623917"/>
            <a:ext cx="249035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烤鸭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779185" y="6166842"/>
            <a:ext cx="24903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6445151" y="5252442"/>
            <a:ext cx="2651224" cy="1352550"/>
          </a:xfrm>
          <a:prstGeom prst="roundRect">
            <a:avLst>
              <a:gd name="adj" fmla="val 8451"/>
            </a:avLst>
          </a:prstGeom>
          <a:solidFill>
            <a:srgbClr val="F1E8D8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525509" y="5623917"/>
            <a:ext cx="249050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卷心菜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525509" y="6166842"/>
            <a:ext cx="24905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9191625" y="5252442"/>
            <a:ext cx="2651075" cy="1352550"/>
          </a:xfrm>
          <a:prstGeom prst="roundRect">
            <a:avLst>
              <a:gd name="adj" fmla="val 8451"/>
            </a:avLst>
          </a:prstGeom>
          <a:solidFill>
            <a:srgbClr val="F1E8D8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9271985" y="5623917"/>
            <a:ext cx="249035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胶水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271985" y="6166842"/>
            <a:ext cx="24903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11937950" y="5252442"/>
            <a:ext cx="2651075" cy="1352550"/>
          </a:xfrm>
          <a:prstGeom prst="roundRect">
            <a:avLst>
              <a:gd name="adj" fmla="val 8451"/>
            </a:avLst>
          </a:prstGeom>
          <a:solidFill>
            <a:srgbClr val="F1E8D8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2018310" y="5623917"/>
            <a:ext cx="249035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度假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2018310" y="6166842"/>
            <a:ext cx="24903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14684276" y="5252442"/>
            <a:ext cx="2651224" cy="1352550"/>
          </a:xfrm>
          <a:prstGeom prst="roundRect">
            <a:avLst>
              <a:gd name="adj" fmla="val 8451"/>
            </a:avLst>
          </a:prstGeom>
          <a:solidFill>
            <a:srgbClr val="F1E8D8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4764634" y="5623917"/>
            <a:ext cx="249050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口香糖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4764634" y="6166842"/>
            <a:ext cx="24905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952500" y="6776442"/>
            <a:ext cx="16383000" cy="1409700"/>
          </a:xfrm>
          <a:prstGeom prst="roundRect">
            <a:avLst>
              <a:gd name="adj" fmla="val 8108"/>
            </a:avLst>
          </a:prstGeom>
          <a:solidFill>
            <a:srgbClr val="C68A1E">
              <a:alpha val="12000"/>
            </a:srgbClr>
          </a:solidFill>
          <a:ln w="19050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238250" y="7214592"/>
            <a:ext cx="2720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21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</a:t>
            </a:r>
            <a:endParaRPr lang="en-US" sz="2100" dirty="0"/>
          </a:p>
        </p:txBody>
      </p:sp>
      <p:sp>
        <p:nvSpPr>
          <p:cNvPr id="48" name="Text 46"/>
          <p:cNvSpPr/>
          <p:nvPr/>
        </p:nvSpPr>
        <p:spPr>
          <a:xfrm>
            <a:off x="1657350" y="7157442"/>
            <a:ext cx="616069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 — point out a known component first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1657350" y="7652742"/>
            <a:ext cx="61606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e.g. 海鲜 contains 鲜 (already known: "fresh") — use it to narrow down the guess.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52500" y="8414742"/>
            <a:ext cx="5359301" cy="1571625"/>
          </a:xfrm>
          <a:prstGeom prst="roundRect">
            <a:avLst>
              <a:gd name="adj" fmla="val 7273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104900" y="8633817"/>
            <a:ext cx="51555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1104900" y="8929092"/>
            <a:ext cx="51555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Point out a known component in each word before guessing.</a:t>
            </a:r>
            <a:endParaRPr lang="en-US" sz="1125" dirty="0"/>
          </a:p>
        </p:txBody>
      </p:sp>
      <p:sp>
        <p:nvSpPr>
          <p:cNvPr id="53" name="Text 51"/>
          <p:cNvSpPr/>
          <p:nvPr/>
        </p:nvSpPr>
        <p:spPr>
          <a:xfrm>
            <a:off x="6464201" y="8414742"/>
            <a:ext cx="5359450" cy="1571625"/>
          </a:xfrm>
          <a:prstGeom prst="roundRect">
            <a:avLst>
              <a:gd name="adj" fmla="val 7273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616601" y="8633817"/>
            <a:ext cx="51557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6616601" y="8929092"/>
            <a:ext cx="5155743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2 of the 12 words in an original sentence. Fast finishers: </a:t>
            </a: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Workbook Ex. 12</a:t>
            </a: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cloze passage about moving home, word box 除了…以外/贵/超级市场/便宜/但是/新鲜/附近/因为 — final consolidation before the writing task.</a:t>
            </a:r>
            <a:endParaRPr lang="en-US" sz="1125" dirty="0"/>
          </a:p>
        </p:txBody>
      </p:sp>
      <p:sp>
        <p:nvSpPr>
          <p:cNvPr id="56" name="Text 54"/>
          <p:cNvSpPr/>
          <p:nvPr/>
        </p:nvSpPr>
        <p:spPr>
          <a:xfrm>
            <a:off x="11976050" y="8414742"/>
            <a:ext cx="5359450" cy="1571625"/>
          </a:xfrm>
          <a:prstGeom prst="roundRect">
            <a:avLst>
              <a:gd name="adj" fmla="val 7273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12128450" y="8633817"/>
            <a:ext cx="51557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12128450" y="8929092"/>
            <a:ext cx="51557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Pair guessing (4 min) → whole-class reveal &amp; discussion (3 min).</a:t>
            </a:r>
            <a:endParaRPr lang="en-US" sz="1125" dirty="0"/>
          </a:p>
        </p:txBody>
      </p:sp>
      <p:sp>
        <p:nvSpPr>
          <p:cNvPr id="59" name="Shape 5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2344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REVIEW + TEST PREP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724126" y="280988"/>
            <a:ext cx="42854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Activity 2a: Reading Comprehension · 27–33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47750" y="1276350"/>
            <a:ext cx="1651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27–33 MIN · BASED ON WORKBOOK EX. 23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47750" y="2019300"/>
            <a:ext cx="1651635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50"/>
              </a:spcBef>
              <a:spcAft>
                <a:spcPts val="2850"/>
              </a:spcAft>
              <a:buNone/>
            </a:pPr>
            <a:r>
              <a:rPr lang="en-US" sz="28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阅读理解 · Reading Comprehension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047750" y="3076575"/>
            <a:ext cx="7953375" cy="6391275"/>
          </a:xfrm>
          <a:prstGeom prst="roundRect">
            <a:avLst>
              <a:gd name="adj" fmla="val 2981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23975" y="3505200"/>
            <a:ext cx="75489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关于小明 · About 小明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3975" y="4248150"/>
            <a:ext cx="7548944" cy="565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8"/>
              </a:lnSpc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read the Workbook Ex. 23 passage about </a:t>
            </a:r>
            <a:r>
              <a:rPr lang="en-US" sz="135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小明</a:t>
            </a:r>
            <a:r>
              <a:rPr lang="en-US" sz="13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who </a:t>
            </a:r>
            <a:r>
              <a:rPr lang="en-US" sz="135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dislikes food</a:t>
            </a:r>
            <a:r>
              <a:rPr lang="en-US" sz="13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has a </a:t>
            </a:r>
            <a:r>
              <a:rPr lang="en-US" sz="135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thin/small build</a:t>
            </a:r>
            <a:r>
              <a:rPr lang="en-US" sz="13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323975" y="5270897"/>
            <a:ext cx="7548944" cy="282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8"/>
              </a:lnSpc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</a:t>
            </a:r>
            <a:r>
              <a:rPr lang="en-US" sz="135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individually</a:t>
            </a:r>
            <a:r>
              <a:rPr lang="en-US" sz="13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then a </a:t>
            </a:r>
            <a:r>
              <a:rPr lang="en-US" sz="135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whole-class check</a:t>
            </a:r>
            <a:r>
              <a:rPr lang="en-US" sz="13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286875" y="3076575"/>
            <a:ext cx="7953375" cy="6391275"/>
          </a:xfrm>
          <a:prstGeom prst="roundRect">
            <a:avLst>
              <a:gd name="adj" fmla="val 2981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563100" y="3505200"/>
            <a:ext cx="75489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判断对错 · 6 True/False Questions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563100" y="42386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576197" y="4286250"/>
            <a:ext cx="2453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1–6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9944100" y="4257675"/>
            <a:ext cx="56870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</a:t>
            </a:r>
            <a:r>
              <a:rPr lang="en-US" sz="127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 / F</a:t>
            </a: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 each of the 6 statements in your exercise book (6 min).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9563100" y="4914900"/>
            <a:ext cx="75489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Individual → whole-class check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2344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REVIEW + TEST PREP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724126" y="280988"/>
            <a:ext cx="34494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Activity 2b: Writing Task · 33–43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62050"/>
            <a:ext cx="167106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33–43 MIN · BASED ON WORKBOOK EX. 23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52500" y="1828800"/>
            <a:ext cx="1671066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写作任务 · Describe Your Own Eating Habits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52500" y="2695575"/>
            <a:ext cx="8884890" cy="2619375"/>
          </a:xfrm>
          <a:prstGeom prst="roundRect">
            <a:avLst>
              <a:gd name="adj" fmla="val 4364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52525" y="3028950"/>
            <a:ext cx="86545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80–100 字 · Must Include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52525" y="3590925"/>
            <a:ext cx="80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08050" y="3590925"/>
            <a:ext cx="32597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Breakfast / lunch / dinner — food &amp; drinks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52525" y="4181475"/>
            <a:ext cx="80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08050" y="4181475"/>
            <a:ext cx="18014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Favourite food / snacks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52525" y="4772025"/>
            <a:ext cx="80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08050" y="4772025"/>
            <a:ext cx="1977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Your own height and build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52500" y="5429250"/>
            <a:ext cx="8884890" cy="1504950"/>
          </a:xfrm>
          <a:prstGeom prst="roundRect">
            <a:avLst>
              <a:gd name="adj" fmla="val 7595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52525" y="5762625"/>
            <a:ext cx="86545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Required Patterns — at least one each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95400" y="6372225"/>
            <a:ext cx="1457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800225" y="6372225"/>
            <a:ext cx="14573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有时候……有时候……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3590925" y="6372225"/>
            <a:ext cx="2914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但是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952500" y="7048500"/>
            <a:ext cx="8884890" cy="728663"/>
          </a:xfrm>
          <a:prstGeom prst="rect">
            <a:avLst/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976313" y="7048500"/>
            <a:ext cx="0" cy="728662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1575" y="7305675"/>
            <a:ext cx="866425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早饭我吃</a:t>
            </a:r>
            <a:r>
              <a:rPr lang="en-US" sz="11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，午饭</a:t>
            </a:r>
            <a:r>
              <a:rPr lang="en-US" sz="11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，晚饭</a:t>
            </a:r>
            <a:r>
              <a:rPr lang="en-US" sz="11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。我最喜欢吃</a:t>
            </a:r>
            <a:r>
              <a:rPr lang="en-US" sz="11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。我</a:t>
            </a:r>
            <a:r>
              <a:rPr lang="en-US" sz="11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</a:t>
            </a:r>
            <a:r>
              <a:rPr lang="en-US" sz="11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……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10065990" y="2695575"/>
            <a:ext cx="7269510" cy="762000"/>
          </a:xfrm>
          <a:prstGeom prst="roundRect">
            <a:avLst>
              <a:gd name="adj" fmla="val 15000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0199340" y="2790825"/>
            <a:ext cx="71428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10199340" y="2981325"/>
            <a:ext cx="714286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Paragraph frame with sentence starters for each section (breakfast/lunch/dinner; favourite food; height/build) + the 3 required patterns pre-written with blanks.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065990" y="3533775"/>
            <a:ext cx="7269510" cy="571500"/>
          </a:xfrm>
          <a:prstGeom prst="roundRect">
            <a:avLst>
              <a:gd name="adj" fmla="val 20000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199340" y="3629025"/>
            <a:ext cx="71428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10199340" y="3819525"/>
            <a:ext cx="71428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Extend to 120+ words and add a comparison between two meals, e.g. 午饭比早饭好吃。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065990" y="4181475"/>
            <a:ext cx="7269510" cy="762000"/>
          </a:xfrm>
          <a:prstGeom prst="roundRect">
            <a:avLst>
              <a:gd name="adj" fmla="val 15000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0199340" y="4276725"/>
            <a:ext cx="71428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10199340" y="4467225"/>
            <a:ext cx="714286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completes independently. Cold call 2–3 volunteers to read their writing aloud. Collect books for marking.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065990" y="5057775"/>
            <a:ext cx="7269510" cy="1619250"/>
          </a:xfrm>
          <a:prstGeom prst="roundRect">
            <a:avLst>
              <a:gd name="adj" fmla="val 7059"/>
            </a:avLst>
          </a:prstGeom>
          <a:solidFill>
            <a:srgbClr val="3F7A52">
              <a:alpha val="10000"/>
            </a:srgbClr>
          </a:solidFill>
          <a:ln w="19050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351740" y="5495925"/>
            <a:ext cx="2720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21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🔗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0770840" y="5438775"/>
            <a:ext cx="64044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Links back to Activity 1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0770840" y="5934075"/>
            <a:ext cx="640448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Fast finishers' </a:t>
            </a:r>
            <a:r>
              <a:rPr lang="en-US" sz="1200" b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Workbook Ex. 12</a:t>
            </a: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cloze (附近/新鲜/便宜/但是) is the final warm-up for this writing task.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2344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REVIEW + TEST PREP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724126" y="280988"/>
            <a:ext cx="38605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Self-Assessment · Exit Ticket · 43–50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43000"/>
            <a:ext cx="167106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52500" y="1866900"/>
            <a:ext cx="1671066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50"/>
              </a:spcBef>
              <a:spcAft>
                <a:spcPts val="2850"/>
              </a:spcAft>
              <a:buNone/>
            </a:pPr>
            <a:r>
              <a:rPr lang="en-US" sz="28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Plenary + Exit Ticket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52500" y="3067050"/>
            <a:ext cx="864041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75"/>
              </a:spcBef>
              <a:spcAft>
                <a:spcPts val="1575"/>
              </a:spcAft>
              <a:buNone/>
            </a:pPr>
            <a:r>
              <a:rPr lang="en-US" sz="15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你做到了吗？ · Did You Get There?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952500" y="3676650"/>
            <a:ext cx="504825" cy="657225"/>
          </a:xfrm>
          <a:prstGeom prst="roundRect">
            <a:avLst>
              <a:gd name="adj" fmla="val 1884906"/>
            </a:avLst>
          </a:prstGeom>
          <a:solidFill>
            <a:srgbClr val="3F7A52">
              <a:alpha val="10000"/>
            </a:srgbClr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14425" y="3886200"/>
            <a:ext cx="18459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552575" y="3676650"/>
            <a:ext cx="504825" cy="657225"/>
          </a:xfrm>
          <a:prstGeom prst="roundRect">
            <a:avLst>
              <a:gd name="adj" fmla="val 1884906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714500" y="3886200"/>
            <a:ext cx="18459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2152650" y="3676650"/>
            <a:ext cx="504825" cy="657225"/>
          </a:xfrm>
          <a:prstGeom prst="roundRect">
            <a:avLst>
              <a:gd name="adj" fmla="val 1884906"/>
            </a:avLst>
          </a:prstGeom>
          <a:solidFill>
            <a:srgbClr val="D45A3A">
              <a:alpha val="10000"/>
            </a:srgbClr>
          </a:solidFill>
          <a:ln w="9525">
            <a:solidFill>
              <a:srgbClr val="D45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314575" y="3886200"/>
            <a:ext cx="18459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952500" y="4486275"/>
            <a:ext cx="8470999" cy="1059954"/>
          </a:xfrm>
          <a:prstGeom prst="roundRect">
            <a:avLst>
              <a:gd name="adj" fmla="val 10783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33475" y="4619625"/>
            <a:ext cx="266700" cy="266700"/>
          </a:xfrm>
          <a:prstGeom prst="roundRect">
            <a:avLst>
              <a:gd name="adj" fmla="val 21429"/>
            </a:avLst>
          </a:prstGeom>
          <a:noFill/>
          <a:ln w="19050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514475" y="4762500"/>
            <a:ext cx="3465853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我能正确回忆并书写本单元的重点词汇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1514475" y="5134868"/>
            <a:ext cx="346585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recall and correctly write the unit's key vocabulary.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952500" y="5622429"/>
            <a:ext cx="8470999" cy="1059954"/>
          </a:xfrm>
          <a:prstGeom prst="roundRect">
            <a:avLst>
              <a:gd name="adj" fmla="val 10783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133475" y="5755779"/>
            <a:ext cx="266700" cy="266700"/>
          </a:xfrm>
          <a:prstGeom prst="roundRect">
            <a:avLst>
              <a:gd name="adj" fmla="val 21429"/>
            </a:avLst>
          </a:prstGeom>
          <a:noFill/>
          <a:ln w="19050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514475" y="5898654"/>
            <a:ext cx="3986998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我能准确使用"比"、"有时候……有时候……"和"但是"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1514475" y="6271022"/>
            <a:ext cx="398699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use 比, 有时候……有时候…… and 但是 accurately in writing.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952500" y="6758583"/>
            <a:ext cx="8470999" cy="1059954"/>
          </a:xfrm>
          <a:prstGeom prst="roundRect">
            <a:avLst>
              <a:gd name="adj" fmla="val 10783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133475" y="6891933"/>
            <a:ext cx="266700" cy="266700"/>
          </a:xfrm>
          <a:prstGeom prst="roundRect">
            <a:avLst>
              <a:gd name="adj" fmla="val 21429"/>
            </a:avLst>
          </a:prstGeom>
          <a:noFill/>
          <a:ln w="19050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514475" y="7034808"/>
            <a:ext cx="4305485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我能写一篇80–100字描述自己饮食习惯的短文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1514475" y="7407176"/>
            <a:ext cx="430548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write an 80–100 word passage describing my own eating habits.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952500" y="7951887"/>
            <a:ext cx="8470999" cy="762000"/>
          </a:xfrm>
          <a:prstGeom prst="roundRect">
            <a:avLst>
              <a:gd name="adj" fmla="val 15000"/>
            </a:avLst>
          </a:prstGeom>
          <a:solidFill>
            <a:srgbClr val="3F7A52">
              <a:alpha val="10000"/>
            </a:srgbClr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133475" y="8228112"/>
            <a:ext cx="82712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预告：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下一个单元，我们要学一个新话题——你们准备好了吗？先祝大家测验顺利！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71149" y="2867025"/>
            <a:ext cx="7664202" cy="6734175"/>
          </a:xfrm>
          <a:prstGeom prst="roundRect">
            <a:avLst>
              <a:gd name="adj" fmla="val 2829"/>
            </a:avLst>
          </a:prstGeom>
          <a:solidFill>
            <a:srgbClr val="A8432E">
              <a:alpha val="12000"/>
            </a:srgbClr>
          </a:solidFill>
          <a:ln w="19050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9937849" y="3419475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🎫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0356949" y="3457575"/>
            <a:ext cx="229194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950"/>
              </a:spcBef>
              <a:spcAft>
                <a:spcPts val="1950"/>
              </a:spcAft>
              <a:buNone/>
            </a:pPr>
            <a:r>
              <a:rPr lang="en-US" sz="195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出门票 · Exit Ticket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9937849" y="4286250"/>
            <a:ext cx="7130802" cy="986730"/>
          </a:xfrm>
          <a:prstGeom prst="roundRect">
            <a:avLst>
              <a:gd name="adj" fmla="val 11584"/>
            </a:avLst>
          </a:prstGeom>
          <a:solidFill>
            <a:srgbClr val="FFFFFF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0090249" y="4619625"/>
            <a:ext cx="696252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1575"/>
              </a:spcBef>
              <a:spcAft>
                <a:spcPts val="1575"/>
              </a:spcAft>
              <a:buNone/>
            </a:pPr>
            <a:r>
              <a:rPr lang="en-US" sz="15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用中文写</a:t>
            </a:r>
            <a:r>
              <a:rPr lang="en-US" sz="15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ONE</a:t>
            </a:r>
            <a:r>
              <a:rPr lang="en-US" sz="15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句用今天两个句型的句子。</a:t>
            </a:r>
            <a:endParaRPr lang="en-US" sz="1575" dirty="0"/>
          </a:p>
        </p:txBody>
      </p:sp>
      <p:sp>
        <p:nvSpPr>
          <p:cNvPr id="35" name="Text 33"/>
          <p:cNvSpPr/>
          <p:nvPr/>
        </p:nvSpPr>
        <p:spPr>
          <a:xfrm>
            <a:off x="9937849" y="5406330"/>
            <a:ext cx="7130802" cy="742950"/>
          </a:xfrm>
          <a:prstGeom prst="roundRect">
            <a:avLst>
              <a:gd name="adj" fmla="val 15385"/>
            </a:avLst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0090249" y="5663505"/>
            <a:ext cx="69625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我平时吃三明治，但是有时候也会买盒饭，盒饭比三明治贵。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937849" y="6511230"/>
            <a:ext cx="7273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Combine two of today's patterns in a single sentence — e.g. 但是 + 比, as modelled above. Teacher circulates and scans mini whiteboards.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4D5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2344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REVIEW + TEST PREP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724126" y="280988"/>
            <a:ext cx="31731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Reference · Workbook Adaptations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38250" y="1181100"/>
            <a:ext cx="2087017" cy="704850"/>
          </a:xfrm>
          <a:prstGeom prst="roundRect">
            <a:avLst>
              <a:gd name="adj" fmla="val 1350000"/>
            </a:avLst>
          </a:prstGeom>
          <a:solidFill>
            <a:srgbClr val="C68A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47800" y="1409700"/>
            <a:ext cx="17012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👩‍🏫 TEACHER NOTE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8250" y="2400300"/>
            <a:ext cx="1612773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Workbook Items Adapted or Omitted for This Sequence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238250" y="3467100"/>
            <a:ext cx="1612773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Two Lesson 10 workbook exercises fall outside what a projector + mini-whiteboards classroom (no 1:1 devices) can deliver as designed, and were not scheduled into Lessons 1–8.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238250" y="4124325"/>
            <a:ext cx="15811500" cy="1746647"/>
          </a:xfrm>
          <a:prstGeom prst="roundRect">
            <a:avLst>
              <a:gd name="adj" fmla="val 10907"/>
            </a:avLst>
          </a:prstGeom>
          <a:solidFill>
            <a:srgbClr val="FAF6EE"/>
          </a:solidFill>
          <a:ln w="19050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524000" y="4543425"/>
            <a:ext cx="13736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D45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Workbook Ex. 21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61246" y="4533900"/>
            <a:ext cx="139768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Internet research — 3 traditional festival names + Chinese New Year date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3061246" y="4962525"/>
            <a:ext cx="13976809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General cultural content, not tied to Fresh Market vocabulary/grammar, and requires internet access. </a:t>
            </a:r>
            <a:r>
              <a:rPr lang="en-US" sz="127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Recommended</a:t>
            </a: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as an optional take-home extension only if devices become available, or a 2-minute teacher-fronted share if you'd like it included live.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1238250" y="6023372"/>
            <a:ext cx="15811500" cy="1487686"/>
          </a:xfrm>
          <a:prstGeom prst="roundRect">
            <a:avLst>
              <a:gd name="adj" fmla="val 12805"/>
            </a:avLst>
          </a:prstGeom>
          <a:solidFill>
            <a:srgbClr val="FAF6EE"/>
          </a:solidFill>
          <a:ln w="19050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524000" y="6442472"/>
            <a:ext cx="13736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D45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Workbook Ex. 22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061246" y="6432947"/>
            <a:ext cx="139768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Typing a passage about eating habits on a computer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3061246" y="6861572"/>
            <a:ext cx="13976809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content itself is </a:t>
            </a:r>
            <a:r>
              <a:rPr lang="en-US" sz="127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folded into Lesson 8's Activity 2 writing task</a:t>
            </a: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(handwritten instead of typed) — the same 80–100 word output is produced by hand in exercise books.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1238250" y="7873008"/>
            <a:ext cx="1612773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i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other numbered activities and workbook exercises in the Lesson 10 textbook/workbook range (pp. 90–99 / pp. 108–117) are covered across Lessons 1–8 above.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2026-08-01T06:59:55Z</dcterms:created>
  <dcterms:modified xsi:type="dcterms:W3CDTF">2026-08-01T06:59:55Z</dcterms:modified>
</cp:coreProperties>
</file>