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0" y="1714500"/>
            <a:ext cx="4080510" cy="400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0"/>
              </a:lnSpc>
              <a:spcBef>
                <a:spcPts val="31500"/>
              </a:spcBef>
              <a:spcAft>
                <a:spcPts val="31500"/>
              </a:spcAft>
              <a:buNone/>
            </a:pPr>
            <a:r>
              <a:rPr lang="en-US" sz="31500" dirty="0">
                <a:solidFill>
                  <a:srgbClr val="C68A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价</a:t>
            </a:r>
            <a:endParaRPr lang="en-US" sz="31500" dirty="0"/>
          </a:p>
        </p:txBody>
      </p:sp>
      <p:sp>
        <p:nvSpPr>
          <p:cNvPr id="3" name="Text 1"/>
          <p:cNvSpPr/>
          <p:nvPr/>
        </p:nvSpPr>
        <p:spPr>
          <a:xfrm>
            <a:off x="4723448" y="2152650"/>
            <a:ext cx="884110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LESSON 6 OF 8 · Y9 UNIT 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723448" y="3371850"/>
            <a:ext cx="8841105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500"/>
              </a:lnSpc>
              <a:spcBef>
                <a:spcPts val="7500"/>
              </a:spcBef>
              <a:spcAft>
                <a:spcPts val="7500"/>
              </a:spcAft>
              <a:buNone/>
            </a:pPr>
            <a:r>
              <a:rPr lang="en-US" sz="7500" dirty="0">
                <a:solidFill>
                  <a:srgbClr val="C68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💰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4723448" y="5276850"/>
            <a:ext cx="8841105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50"/>
              </a:lnSpc>
              <a:spcBef>
                <a:spcPts val="6532"/>
              </a:spcBef>
              <a:spcAft>
                <a:spcPts val="600"/>
              </a:spcAft>
              <a:buNone/>
            </a:pPr>
            <a:r>
              <a:rPr lang="en-US" sz="975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零食价钱</a:t>
            </a:r>
            <a:r>
              <a:rPr lang="en-US" sz="9750" b="1" dirty="0">
                <a:solidFill>
                  <a:srgbClr val="C68A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·</a:t>
            </a:r>
            <a:r>
              <a:rPr lang="en-US" sz="975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量词</a:t>
            </a:r>
            <a:endParaRPr lang="en-US" sz="9750" dirty="0"/>
          </a:p>
        </p:txBody>
      </p:sp>
      <p:sp>
        <p:nvSpPr>
          <p:cNvPr id="6" name="Text 4"/>
          <p:cNvSpPr/>
          <p:nvPr/>
        </p:nvSpPr>
        <p:spPr>
          <a:xfrm>
            <a:off x="4723448" y="6800850"/>
            <a:ext cx="884110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250"/>
              </a:spcBef>
              <a:spcAft>
                <a:spcPts val="2250"/>
              </a:spcAft>
              <a:buNone/>
            </a:pPr>
            <a:r>
              <a:rPr lang="en-US" sz="225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Snack Prices &amp; Measure Words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5628759" y="7962900"/>
            <a:ext cx="128229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Year 9 Chinese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87298" y="7962900"/>
            <a:ext cx="6612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50 mins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523033" y="7962900"/>
            <a:ext cx="146309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Grammar + Game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445288" y="7962900"/>
            <a:ext cx="22230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轻松学中文 Book 3 · Unit 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78819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PRICES &amp; MEASURE WORDS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267051" y="280988"/>
            <a:ext cx="130142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Review · 0–8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47750" y="1295400"/>
            <a:ext cx="165163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0–8 MIN · REVIEW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47750" y="2209800"/>
            <a:ext cx="16516350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600"/>
              </a:spcBef>
              <a:spcAft>
                <a:spcPts val="3600"/>
              </a:spcAft>
              <a:buNone/>
            </a:pPr>
            <a:r>
              <a:rPr lang="en-US" sz="36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回顾 · Lesson 5 Recap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1047750" y="3514725"/>
            <a:ext cx="16192500" cy="3352800"/>
          </a:xfrm>
          <a:prstGeom prst="roundRect">
            <a:avLst>
              <a:gd name="adj" fmla="val 5682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323975" y="3905250"/>
            <a:ext cx="1595285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PART A · PAIR DIALOGUE — REDO TEXT 2 FROM MEMORY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23975" y="4267200"/>
            <a:ext cx="15640050" cy="866775"/>
          </a:xfrm>
          <a:prstGeom prst="roundRect">
            <a:avLst>
              <a:gd name="adj" fmla="val 13187"/>
            </a:avLst>
          </a:prstGeom>
          <a:solidFill>
            <a:srgbClr val="E4D5B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495425" y="4562475"/>
            <a:ext cx="1560309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75"/>
              </a:spcBef>
              <a:spcAft>
                <a:spcPts val="1575"/>
              </a:spcAft>
              <a:buNone/>
            </a:pPr>
            <a:r>
              <a:rPr lang="en-US" sz="900" b="1" dirty="0">
                <a:solidFill>
                  <a:srgbClr val="3F7A5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r>
              <a:rPr lang="en-US" sz="157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你每天午饭吃什么？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1323975" y="5229225"/>
            <a:ext cx="15640050" cy="866775"/>
          </a:xfrm>
          <a:prstGeom prst="roundRect">
            <a:avLst>
              <a:gd name="adj" fmla="val 13187"/>
            </a:avLst>
          </a:prstGeom>
          <a:solidFill>
            <a:srgbClr val="E4D5B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495425" y="5524500"/>
            <a:ext cx="1560309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75"/>
              </a:spcBef>
              <a:spcAft>
                <a:spcPts val="1575"/>
              </a:spcAft>
              <a:buNone/>
            </a:pPr>
            <a:r>
              <a:rPr lang="en-US" sz="900" b="1" dirty="0">
                <a:solidFill>
                  <a:srgbClr val="3F7A5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r>
              <a:rPr lang="en-US" sz="1575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有时候……有时候……</a:t>
            </a:r>
            <a:r>
              <a:rPr lang="en-US" sz="157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，……</a:t>
            </a:r>
            <a:r>
              <a:rPr lang="en-US" sz="1575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不算太……</a:t>
            </a:r>
            <a:r>
              <a:rPr lang="en-US" sz="157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575" dirty="0"/>
          </a:p>
        </p:txBody>
      </p:sp>
      <p:sp>
        <p:nvSpPr>
          <p:cNvPr id="15" name="Text 13"/>
          <p:cNvSpPr/>
          <p:nvPr/>
        </p:nvSpPr>
        <p:spPr>
          <a:xfrm>
            <a:off x="1323975" y="6248400"/>
            <a:ext cx="159528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Students redo the Text 2 dialogue from memory in pairs — A asks, B answers using </a:t>
            </a:r>
            <a:r>
              <a:rPr lang="en-US" sz="120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有时候……有时候……</a:t>
            </a: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</a:t>
            </a:r>
            <a:r>
              <a:rPr lang="en-US" sz="120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不算太……</a:t>
            </a: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 Swap roles, then cold call one pair to perform for the class.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47750" y="7172325"/>
            <a:ext cx="16192500" cy="938213"/>
          </a:xfrm>
          <a:prstGeom prst="rect">
            <a:avLst/>
          </a:prstGeom>
          <a:solidFill>
            <a:srgbClr val="A8432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1071563" y="7172325"/>
            <a:ext cx="0" cy="938212"/>
          </a:xfrm>
          <a:prstGeom prst="line">
            <a:avLst/>
          </a:prstGeom>
          <a:noFill/>
          <a:ln w="47625">
            <a:solidFill>
              <a:srgbClr val="A843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23975" y="7505700"/>
            <a:ext cx="16001429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8"/>
              </a:lnSpc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上节课我们学了怎么说</a:t>
            </a:r>
            <a:r>
              <a:rPr lang="en-US" sz="1425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午饭习惯</a:t>
            </a:r>
            <a:r>
              <a:rPr lang="en-US" sz="14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。今天我们要学怎么说</a:t>
            </a:r>
            <a:r>
              <a:rPr lang="en-US" sz="1425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零食的价钱</a:t>
            </a:r>
            <a:r>
              <a:rPr lang="en-US" sz="14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，还要复习</a:t>
            </a:r>
            <a:r>
              <a:rPr lang="en-US" sz="1425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量词</a:t>
            </a:r>
            <a:r>
              <a:rPr lang="en-US" sz="14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——比如"</a:t>
            </a:r>
            <a:r>
              <a:rPr lang="en-US" sz="1425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一包</a:t>
            </a:r>
            <a:r>
              <a:rPr lang="en-US" sz="14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薯片"的"包"。</a:t>
            </a:r>
            <a:endParaRPr lang="en-US" sz="1425" dirty="0"/>
          </a:p>
        </p:txBody>
      </p:sp>
      <p:sp>
        <p:nvSpPr>
          <p:cNvPr id="19" name="Shape 17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2000" y="9958388"/>
            <a:ext cx="25674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4 Fresh Market 菜市场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78819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PRICES &amp; MEASURE WORDS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267051" y="280988"/>
            <a:ext cx="355541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 &amp; Success Criteria · 8–10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333500" y="501253"/>
            <a:ext cx="1593342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8–10 MIN · DISPLAY ON PROJECTOR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33500" y="1472803"/>
            <a:ext cx="15933420" cy="695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900"/>
              </a:spcBef>
              <a:spcAft>
                <a:spcPts val="3900"/>
              </a:spcAft>
              <a:buNone/>
            </a:pPr>
            <a:r>
              <a:rPr lang="en-US" sz="39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今日目标 · Today's Goal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1333500" y="3006328"/>
            <a:ext cx="15621000" cy="2021086"/>
          </a:xfrm>
          <a:prstGeom prst="rect">
            <a:avLst/>
          </a:prstGeom>
          <a:solidFill>
            <a:srgbClr val="A8432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1357313" y="3006328"/>
            <a:ext cx="0" cy="2021086"/>
          </a:xfrm>
          <a:prstGeom prst="line">
            <a:avLst/>
          </a:prstGeom>
          <a:noFill/>
          <a:ln w="47625">
            <a:solidFill>
              <a:srgbClr val="A843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85925" y="3339703"/>
            <a:ext cx="1526305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LEARNING INTENTION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685925" y="3777853"/>
            <a:ext cx="15263051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en-US" sz="21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are learning to say </a:t>
            </a:r>
            <a:r>
              <a:rPr lang="en-US" sz="21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snack prices</a:t>
            </a:r>
            <a:r>
              <a:rPr lang="en-US" sz="21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with the correct </a:t>
            </a:r>
            <a:r>
              <a:rPr lang="en-US" sz="21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measure word</a:t>
            </a:r>
            <a:r>
              <a:rPr lang="en-US" sz="21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, and to </a:t>
            </a:r>
            <a:r>
              <a:rPr lang="en-US" sz="21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match nouns</a:t>
            </a:r>
            <a:r>
              <a:rPr lang="en-US" sz="21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to their correct measure word.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33500" y="5370314"/>
            <a:ext cx="15621000" cy="1497211"/>
          </a:xfrm>
          <a:prstGeom prst="roundRect">
            <a:avLst>
              <a:gd name="adj" fmla="val 7634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571625" y="5913239"/>
            <a:ext cx="3886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Bef>
                <a:spcPts val="2700"/>
              </a:spcBef>
              <a:spcAft>
                <a:spcPts val="2700"/>
              </a:spcAft>
              <a:buNone/>
            </a:pPr>
            <a:r>
              <a:rPr lang="en-US" sz="27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2143125" y="5798939"/>
            <a:ext cx="929302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say a snack's price using the </a:t>
            </a:r>
            <a:r>
              <a:rPr lang="en-US" sz="180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correct measure word</a:t>
            </a:r>
            <a:r>
              <a:rPr lang="en-US" sz="180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能用正确的量词说零食价钱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33500" y="7038975"/>
            <a:ext cx="15621000" cy="1497211"/>
          </a:xfrm>
          <a:prstGeom prst="roundRect">
            <a:avLst>
              <a:gd name="adj" fmla="val 7634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571625" y="7581900"/>
            <a:ext cx="3886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Bef>
                <a:spcPts val="2700"/>
              </a:spcBef>
              <a:spcAft>
                <a:spcPts val="2700"/>
              </a:spcAft>
              <a:buNone/>
            </a:pPr>
            <a:r>
              <a:rPr lang="en-US" sz="27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2143125" y="7467600"/>
            <a:ext cx="106944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match at least </a:t>
            </a:r>
            <a:r>
              <a:rPr lang="en-US" sz="180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 common nouns</a:t>
            </a:r>
            <a:r>
              <a:rPr lang="en-US" sz="18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to their correct measure word </a:t>
            </a:r>
            <a:r>
              <a:rPr lang="en-US" sz="180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能把名词和正确的量词配对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33500" y="8707636"/>
            <a:ext cx="15621000" cy="1497211"/>
          </a:xfrm>
          <a:prstGeom prst="roundRect">
            <a:avLst>
              <a:gd name="adj" fmla="val 7634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571625" y="9250561"/>
            <a:ext cx="388620" cy="411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40"/>
              </a:lnSpc>
              <a:spcBef>
                <a:spcPts val="2700"/>
              </a:spcBef>
              <a:spcAft>
                <a:spcPts val="2700"/>
              </a:spcAft>
              <a:buNone/>
            </a:pPr>
            <a:r>
              <a:rPr lang="en-US" sz="270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2143125" y="9136261"/>
            <a:ext cx="1352367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800"/>
              </a:spcBef>
              <a:spcAft>
                <a:spcPts val="1800"/>
              </a:spcAft>
              <a:buNone/>
            </a:pPr>
            <a:r>
              <a:rPr lang="en-US" sz="18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can understand a </a:t>
            </a:r>
            <a:r>
              <a:rPr lang="en-US" sz="180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short listening passage</a:t>
            </a:r>
            <a:r>
              <a:rPr lang="en-US" sz="18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about school food and answer questions </a:t>
            </a:r>
            <a:r>
              <a:rPr lang="en-US" sz="1800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能听懂关于学校食物的短文并回答问题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2000" y="9958388"/>
            <a:ext cx="25674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4 Fresh Market 菜市场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78819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PRICES &amp; MEASURE WORDS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267051" y="280988"/>
            <a:ext cx="29477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Vocabulary &amp; Pattern · 10–20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133475"/>
            <a:ext cx="167106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I DO · RECAP VOCABULARY + KEY SENTENCE PATTERN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952500" y="1828800"/>
            <a:ext cx="1671066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量词 · Measure Words in Context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52500" y="2657475"/>
            <a:ext cx="4024313" cy="1143000"/>
          </a:xfrm>
          <a:prstGeom prst="roundRect">
            <a:avLst>
              <a:gd name="adj" fmla="val 16667"/>
            </a:avLst>
          </a:prstGeom>
          <a:solidFill>
            <a:srgbClr val="A8432E">
              <a:alpha val="12000"/>
            </a:srgbClr>
          </a:solidFill>
          <a:ln w="9525">
            <a:solidFill>
              <a:srgbClr val="A843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057275" y="3052763"/>
            <a:ext cx="50520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950"/>
              </a:spcBef>
              <a:spcAft>
                <a:spcPts val="1950"/>
              </a:spcAft>
              <a:buNone/>
            </a:pPr>
            <a:r>
              <a:rPr lang="en-US" sz="1950" b="1" dirty="0">
                <a:solidFill>
                  <a:srgbClr val="C68A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一卷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628775" y="2895600"/>
            <a:ext cx="60843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yī juǎn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628775" y="3371850"/>
            <a:ext cx="60843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 roll (of)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72063" y="2657475"/>
            <a:ext cx="4024313" cy="1143000"/>
          </a:xfrm>
          <a:prstGeom prst="roundRect">
            <a:avLst>
              <a:gd name="adj" fmla="val 16667"/>
            </a:avLst>
          </a:prstGeom>
          <a:solidFill>
            <a:srgbClr val="A8432E">
              <a:alpha val="12000"/>
            </a:srgbClr>
          </a:solidFill>
          <a:ln w="9525">
            <a:solidFill>
              <a:srgbClr val="A843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176838" y="3052763"/>
            <a:ext cx="50520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950"/>
              </a:spcBef>
              <a:spcAft>
                <a:spcPts val="1950"/>
              </a:spcAft>
              <a:buNone/>
            </a:pPr>
            <a:r>
              <a:rPr lang="en-US" sz="1950" b="1" dirty="0">
                <a:solidFill>
                  <a:srgbClr val="C68A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一包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5748338" y="2895600"/>
            <a:ext cx="103014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yī bāo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748338" y="3371850"/>
            <a:ext cx="103014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 bag/pack (of)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191625" y="2657475"/>
            <a:ext cx="4024313" cy="1143000"/>
          </a:xfrm>
          <a:prstGeom prst="roundRect">
            <a:avLst>
              <a:gd name="adj" fmla="val 16667"/>
            </a:avLst>
          </a:prstGeom>
          <a:solidFill>
            <a:srgbClr val="A8432E">
              <a:alpha val="12000"/>
            </a:srgbClr>
          </a:solidFill>
          <a:ln w="9525">
            <a:solidFill>
              <a:srgbClr val="A843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296400" y="3052763"/>
            <a:ext cx="50520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950"/>
              </a:spcBef>
              <a:spcAft>
                <a:spcPts val="1950"/>
              </a:spcAft>
              <a:buNone/>
            </a:pPr>
            <a:r>
              <a:rPr lang="en-US" sz="1950" b="1" dirty="0">
                <a:solidFill>
                  <a:srgbClr val="C68A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一份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9867900" y="2895600"/>
            <a:ext cx="87151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yī fèn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867900" y="3371850"/>
            <a:ext cx="87151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 portion (of)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3311188" y="2657475"/>
            <a:ext cx="4024313" cy="1143000"/>
          </a:xfrm>
          <a:prstGeom prst="roundRect">
            <a:avLst>
              <a:gd name="adj" fmla="val 16667"/>
            </a:avLst>
          </a:prstGeom>
          <a:solidFill>
            <a:srgbClr val="A8432E">
              <a:alpha val="12000"/>
            </a:srgbClr>
          </a:solidFill>
          <a:ln w="9525">
            <a:solidFill>
              <a:srgbClr val="A843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3415963" y="3052763"/>
            <a:ext cx="50520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950"/>
              </a:spcBef>
              <a:spcAft>
                <a:spcPts val="1950"/>
              </a:spcAft>
              <a:buNone/>
            </a:pPr>
            <a:r>
              <a:rPr lang="en-US" sz="1950" b="1" dirty="0">
                <a:solidFill>
                  <a:srgbClr val="C68A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一块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3987463" y="2895600"/>
            <a:ext cx="75765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yī kuài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3987463" y="3371850"/>
            <a:ext cx="75765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 piece (of)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52500" y="3895725"/>
            <a:ext cx="16383000" cy="1143000"/>
          </a:xfrm>
          <a:prstGeom prst="roundRect">
            <a:avLst>
              <a:gd name="adj" fmla="val 16667"/>
            </a:avLst>
          </a:prstGeom>
          <a:solidFill>
            <a:srgbClr val="A8432E">
              <a:alpha val="12000"/>
            </a:srgbClr>
          </a:solidFill>
          <a:ln w="9525">
            <a:solidFill>
              <a:srgbClr val="A843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057275" y="4291013"/>
            <a:ext cx="50520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950"/>
              </a:spcBef>
              <a:spcAft>
                <a:spcPts val="1950"/>
              </a:spcAft>
              <a:buNone/>
            </a:pPr>
            <a:r>
              <a:rPr lang="en-US" sz="1950" b="1" dirty="0">
                <a:solidFill>
                  <a:srgbClr val="C68A1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一盒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628775" y="4133850"/>
            <a:ext cx="64091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yī hé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628775" y="4610100"/>
            <a:ext cx="64091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 box (of)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52500" y="5133975"/>
            <a:ext cx="16383000" cy="1148655"/>
          </a:xfrm>
          <a:prstGeom prst="rect">
            <a:avLst/>
          </a:prstGeom>
          <a:solidFill>
            <a:srgbClr val="E4D5B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981075" y="5133975"/>
            <a:ext cx="0" cy="1148655"/>
          </a:xfrm>
          <a:prstGeom prst="line">
            <a:avLst/>
          </a:prstGeom>
          <a:noFill/>
          <a:ln w="57150">
            <a:solidFill>
              <a:srgbClr val="A843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57300" y="5324475"/>
            <a:ext cx="1614716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KEY SENTENCE PATTERN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257300" y="5695950"/>
            <a:ext cx="16147161" cy="300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45"/>
              </a:lnSpc>
              <a:spcBef>
                <a:spcPts val="1650"/>
              </a:spcBef>
              <a:spcAft>
                <a:spcPts val="1650"/>
              </a:spcAft>
              <a:buNone/>
            </a:pPr>
            <a:r>
              <a:rPr lang="en-US" sz="1650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 </a:t>
            </a:r>
            <a:r>
              <a:rPr lang="en-US" sz="165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量词</a:t>
            </a:r>
            <a:r>
              <a:rPr lang="en-US" sz="165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item</a:t>
            </a:r>
            <a:r>
              <a:rPr lang="en-US" sz="16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+</a:t>
            </a:r>
            <a:r>
              <a:rPr lang="en-US" sz="1650" b="1" dirty="0">
                <a:solidFill>
                  <a:srgbClr val="A8432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price</a:t>
            </a:r>
            <a:r>
              <a:rPr lang="en-US" sz="16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— "one [unit] of X costs Y"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952500" y="6511230"/>
            <a:ext cx="1671066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MODELLED EXAMPLES · TEACHER READS, CLASS REPEATS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52500" y="6835080"/>
            <a:ext cx="16383000" cy="914400"/>
          </a:xfrm>
          <a:prstGeom prst="roundRect">
            <a:avLst>
              <a:gd name="adj" fmla="val 12500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095375" y="6997005"/>
            <a:ext cx="164191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EXAMPLE 1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1095375" y="7292280"/>
            <a:ext cx="164191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一卷糖果五块八毛。</a:t>
            </a:r>
            <a:endParaRPr lang="en-US" sz="1275" dirty="0"/>
          </a:p>
        </p:txBody>
      </p:sp>
      <p:sp>
        <p:nvSpPr>
          <p:cNvPr id="37" name="Text 35"/>
          <p:cNvSpPr/>
          <p:nvPr/>
        </p:nvSpPr>
        <p:spPr>
          <a:xfrm>
            <a:off x="952500" y="7806630"/>
            <a:ext cx="16383000" cy="914400"/>
          </a:xfrm>
          <a:prstGeom prst="roundRect">
            <a:avLst>
              <a:gd name="adj" fmla="val 12500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095375" y="7968555"/>
            <a:ext cx="164191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EXAMPLE 2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095375" y="8263830"/>
            <a:ext cx="164191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一包薯片三块钱。</a:t>
            </a:r>
            <a:endParaRPr lang="en-US" sz="1275" dirty="0"/>
          </a:p>
        </p:txBody>
      </p:sp>
      <p:sp>
        <p:nvSpPr>
          <p:cNvPr id="40" name="Text 38"/>
          <p:cNvSpPr/>
          <p:nvPr/>
        </p:nvSpPr>
        <p:spPr>
          <a:xfrm>
            <a:off x="952500" y="8778180"/>
            <a:ext cx="16383000" cy="942975"/>
          </a:xfrm>
          <a:prstGeom prst="roundRect">
            <a:avLst>
              <a:gd name="adj" fmla="val 12121"/>
            </a:avLst>
          </a:prstGeom>
          <a:solidFill>
            <a:srgbClr val="D45A3A">
              <a:alpha val="10000"/>
            </a:srgbClr>
          </a:solidFill>
          <a:ln w="9525">
            <a:solidFill>
              <a:srgbClr val="D45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1095375" y="8940105"/>
            <a:ext cx="1641919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750" b="1" dirty="0">
                <a:solidFill>
                  <a:srgbClr val="D45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SILLY EXAMPLE — WAIT FOR REACTION!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1095375" y="9235380"/>
            <a:ext cx="1641919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一块三明治一百块钱！😲</a:t>
            </a:r>
            <a:endParaRPr lang="en-US" sz="1275" dirty="0"/>
          </a:p>
        </p:txBody>
      </p:sp>
      <p:sp>
        <p:nvSpPr>
          <p:cNvPr id="43" name="Shape 41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2000" y="9958388"/>
            <a:ext cx="25674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4 Fresh Market 菜市场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78819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PRICES &amp; MEASURE WORDS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267051" y="280988"/>
            <a:ext cx="26623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 Do · CFU Checkpoints · 10–20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257300"/>
            <a:ext cx="1671066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10–20 MIN · CHECK FOR UNDERSTANDING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52500" y="2152650"/>
            <a:ext cx="1671066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450"/>
              </a:spcBef>
              <a:spcAft>
                <a:spcPts val="3450"/>
              </a:spcAft>
              <a:buNone/>
            </a:pPr>
            <a:r>
              <a:rPr lang="en-US" sz="34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检查理解 · CFU Checkpoints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952500" y="3438525"/>
            <a:ext cx="5334000" cy="3321248"/>
          </a:xfrm>
          <a:prstGeom prst="roundRect">
            <a:avLst>
              <a:gd name="adj" fmla="val 8030"/>
            </a:avLst>
          </a:prstGeom>
          <a:solidFill>
            <a:srgbClr val="A8432E">
              <a:alpha val="12000"/>
            </a:srgbClr>
          </a:solidFill>
          <a:ln w="9525">
            <a:solidFill>
              <a:srgbClr val="A843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90625" y="371475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355378" y="3790950"/>
            <a:ext cx="912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90625" y="4391025"/>
            <a:ext cx="49549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THUMBS UP/DOWN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1190625" y="5029200"/>
            <a:ext cx="495490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50"/>
              </a:spcBef>
              <a:spcAft>
                <a:spcPts val="1650"/>
              </a:spcAft>
              <a:buNone/>
            </a:pPr>
            <a:r>
              <a:rPr lang="en-US" sz="16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薯片 → 一包?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190625" y="5819775"/>
            <a:ext cx="4954905" cy="250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76"/>
              </a:lnSpc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"Thumbs up if </a:t>
            </a:r>
            <a:r>
              <a:rPr lang="en-US" sz="1275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一包</a:t>
            </a:r>
            <a:r>
              <a:rPr lang="en-US" sz="12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is the right measure word for </a:t>
            </a:r>
            <a:r>
              <a:rPr lang="en-US" sz="1275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薯片</a:t>
            </a:r>
            <a:r>
              <a:rPr lang="en-US" sz="12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."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6477000" y="3438525"/>
            <a:ext cx="5334000" cy="3321248"/>
          </a:xfrm>
          <a:prstGeom prst="roundRect">
            <a:avLst>
              <a:gd name="adj" fmla="val 8030"/>
            </a:avLst>
          </a:prstGeom>
          <a:solidFill>
            <a:srgbClr val="3F7A52">
              <a:alpha val="10000"/>
            </a:srgbClr>
          </a:solidFill>
          <a:ln w="9525">
            <a:solidFill>
              <a:srgbClr val="3F7A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715125" y="371475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3F7A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879878" y="3790950"/>
            <a:ext cx="912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715125" y="4391025"/>
            <a:ext cx="49549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QUICK TRANSLATE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6715125" y="5029200"/>
            <a:ext cx="495490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50"/>
              </a:spcBef>
              <a:spcAft>
                <a:spcPts val="1650"/>
              </a:spcAft>
              <a:buNone/>
            </a:pPr>
            <a:r>
              <a:rPr lang="en-US" sz="16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"a box of"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6715125" y="5819775"/>
            <a:ext cx="4954905" cy="250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76"/>
              </a:lnSpc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"How do you say </a:t>
            </a:r>
            <a:r>
              <a:rPr lang="en-US" sz="1275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'a box of'</a:t>
            </a:r>
            <a:r>
              <a:rPr lang="en-US" sz="12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 Chinese?"</a:t>
            </a:r>
            <a:endParaRPr lang="en-US" sz="1275" dirty="0"/>
          </a:p>
        </p:txBody>
      </p:sp>
      <p:sp>
        <p:nvSpPr>
          <p:cNvPr id="21" name="Text 19"/>
          <p:cNvSpPr/>
          <p:nvPr/>
        </p:nvSpPr>
        <p:spPr>
          <a:xfrm>
            <a:off x="12001500" y="3438525"/>
            <a:ext cx="5334000" cy="3321248"/>
          </a:xfrm>
          <a:prstGeom prst="roundRect">
            <a:avLst>
              <a:gd name="adj" fmla="val 8030"/>
            </a:avLst>
          </a:prstGeom>
          <a:solidFill>
            <a:srgbClr val="C68A1E">
              <a:alpha val="12000"/>
            </a:srgbClr>
          </a:solidFill>
          <a:ln w="9525">
            <a:solidFill>
              <a:srgbClr val="C68A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2239625" y="371475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C68A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2404378" y="3790950"/>
            <a:ext cx="912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239625" y="4391025"/>
            <a:ext cx="49549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C68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12239625" y="5029200"/>
            <a:ext cx="495490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50"/>
              </a:spcBef>
              <a:spcAft>
                <a:spcPts val="1650"/>
              </a:spcAft>
              <a:buNone/>
            </a:pPr>
            <a:r>
              <a:rPr lang="en-US" sz="16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一份炸鸡翅多少钱？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2239625" y="5819775"/>
            <a:ext cx="4954905" cy="501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76"/>
              </a:lnSpc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asks: "Oscar，</a:t>
            </a:r>
            <a:r>
              <a:rPr lang="en-US" sz="1275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一份炸鸡翅多少钱？</a:t>
            </a:r>
            <a:r>
              <a:rPr lang="en-US" sz="12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 (make up a price and answer in Chinese)</a:t>
            </a:r>
            <a:endParaRPr lang="en-US" sz="1275" dirty="0"/>
          </a:p>
        </p:txBody>
      </p:sp>
      <p:sp>
        <p:nvSpPr>
          <p:cNvPr id="27" name="Text 25"/>
          <p:cNvSpPr/>
          <p:nvPr/>
        </p:nvSpPr>
        <p:spPr>
          <a:xfrm>
            <a:off x="952500" y="6988373"/>
            <a:ext cx="16383000" cy="838200"/>
          </a:xfrm>
          <a:prstGeom prst="roundRect">
            <a:avLst>
              <a:gd name="adj" fmla="val 13636"/>
            </a:avLst>
          </a:prstGeom>
          <a:solidFill>
            <a:srgbClr val="C68A1E">
              <a:alpha val="12000"/>
            </a:srgbClr>
          </a:solidFill>
          <a:ln w="9525">
            <a:solidFill>
              <a:srgbClr val="C68A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190625" y="7293173"/>
            <a:ext cx="162248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b="1" dirty="0">
                <a:solidFill>
                  <a:srgbClr val="C68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note:</a:t>
            </a:r>
            <a:r>
              <a:rPr lang="en-US" sz="12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Aim for 100% participation on checks 1 and 2. For the cold call, pre-identify 2–3 students who need a stretch — ask them to extend with a second snack.</a:t>
            </a:r>
            <a:endParaRPr lang="en-US" sz="1275" dirty="0"/>
          </a:p>
        </p:txBody>
      </p:sp>
      <p:sp>
        <p:nvSpPr>
          <p:cNvPr id="29" name="Shape 27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2000" y="9958388"/>
            <a:ext cx="25674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4 Fresh Market 菜市场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78819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PRICES &amp; MEASURE WORDS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267051" y="280988"/>
            <a:ext cx="352687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 · Activity 1: Price Sentences · 20–27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433513"/>
            <a:ext cx="1259681" cy="571500"/>
          </a:xfrm>
          <a:prstGeom prst="roundRect">
            <a:avLst>
              <a:gd name="adj" fmla="val 1665000"/>
            </a:avLst>
          </a:prstGeom>
          <a:solidFill>
            <a:srgbClr val="3F7A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43000" y="1624013"/>
            <a:ext cx="8962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402681" y="1466850"/>
            <a:ext cx="2294528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850"/>
              </a:spcBef>
              <a:spcAft>
                <a:spcPts val="2850"/>
              </a:spcAft>
              <a:buNone/>
            </a:pPr>
            <a:r>
              <a:rPr lang="en-US" sz="28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Price Sentences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952500" y="2390775"/>
            <a:ext cx="956518" cy="657225"/>
          </a:xfrm>
          <a:prstGeom prst="roundRect">
            <a:avLst>
              <a:gd name="adj" fmla="val 1447826"/>
            </a:avLst>
          </a:prstGeom>
          <a:solidFill>
            <a:srgbClr val="C68A1E">
              <a:alpha val="12000"/>
            </a:srgbClr>
          </a:solidFill>
          <a:ln w="9525">
            <a:solidFill>
              <a:srgbClr val="C68A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33475" y="2609850"/>
            <a:ext cx="60646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C68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7 min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23318" y="2443163"/>
            <a:ext cx="794891" cy="552450"/>
          </a:xfrm>
          <a:prstGeom prst="roundRect">
            <a:avLst>
              <a:gd name="adj" fmla="val 1722414"/>
            </a:avLst>
          </a:prstGeom>
          <a:solidFill>
            <a:srgbClr val="D45A3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156668" y="2624138"/>
            <a:ext cx="53875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D45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 DO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52500" y="3219450"/>
            <a:ext cx="8058150" cy="2843213"/>
          </a:xfrm>
          <a:prstGeom prst="roundRect">
            <a:avLst>
              <a:gd name="adj" fmla="val 6700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209675" y="3581400"/>
            <a:ext cx="76946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900"/>
              </a:spcAft>
              <a:buNone/>
            </a:pPr>
            <a:r>
              <a:rPr lang="en-US" sz="1125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INSTRUCTIONS (ACT. 8, P.96 + WB EX.13)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1209675" y="3933825"/>
            <a:ext cx="7543800" cy="1757363"/>
          </a:xfrm>
          <a:prstGeom prst="rect">
            <a:avLst/>
          </a:prstGeom>
          <a:noFill/>
          <a:ln/>
        </p:spPr>
        <p:txBody>
          <a:bodyPr wrap="square" lIns="104775" tIns="0" rIns="0" bIns="0" rtlCol="0" anchor="t"/>
          <a:lstStyle/>
          <a:p>
            <a:pPr algn="l" marL="104775" indent="-104775">
              <a:lnSpc>
                <a:spcPts val="1856"/>
              </a:lnSpc>
              <a:buSzPct val="100000"/>
              <a:buChar char="•"/>
            </a:pPr>
            <a:r>
              <a:rPr lang="en-US" sz="1238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 </a:t>
            </a:r>
            <a:r>
              <a:rPr lang="en-US" sz="1238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 food items with price tags</a:t>
            </a:r>
            <a:r>
              <a:rPr lang="en-US" sz="1238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: 三明治、薯条、咖喱牛肉盒饭、炸鸡腿、炸鸡翅、薯片、鱼柳盒饭、猪排盒饭</a:t>
            </a:r>
            <a:endParaRPr lang="en-US" sz="1238" dirty="0"/>
          </a:p>
          <a:p>
            <a:pPr algn="l" marL="104775" indent="-104775">
              <a:lnSpc>
                <a:spcPts val="1856"/>
              </a:lnSpc>
              <a:buSzPct val="100000"/>
              <a:buChar char="•"/>
            </a:pPr>
            <a:r>
              <a:rPr lang="en-US" sz="1238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</a:t>
            </a:r>
            <a:r>
              <a:rPr lang="en-US" sz="1238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models 2 price sentences</a:t>
            </a:r>
            <a:r>
              <a:rPr lang="en-US" sz="1238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using the pattern from the last slide</a:t>
            </a:r>
            <a:endParaRPr lang="en-US" sz="1238" dirty="0"/>
          </a:p>
          <a:p>
            <a:pPr algn="l" marL="104775" indent="-104775">
              <a:lnSpc>
                <a:spcPts val="1856"/>
              </a:lnSpc>
              <a:buSzPct val="100000"/>
              <a:buChar char="•"/>
            </a:pPr>
            <a:r>
              <a:rPr lang="en-US" sz="1238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Students write the </a:t>
            </a:r>
            <a:r>
              <a:rPr lang="en-US" sz="1238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remaining 6</a:t>
            </a:r>
            <a:r>
              <a:rPr lang="en-US" sz="1238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in their exercise books</a:t>
            </a:r>
            <a:endParaRPr lang="en-US" sz="1238" dirty="0"/>
          </a:p>
          <a:p>
            <a:pPr algn="l" marL="104775" indent="-104775">
              <a:lnSpc>
                <a:spcPts val="1856"/>
              </a:lnSpc>
              <a:buSzPct val="100000"/>
              <a:buChar char="•"/>
            </a:pPr>
            <a:r>
              <a:rPr lang="en-US" sz="1238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Also complete </a:t>
            </a:r>
            <a:r>
              <a:rPr lang="en-US" sz="1238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Workbook Ex.13</a:t>
            </a:r>
            <a:r>
              <a:rPr lang="en-US" sz="1238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12 more food items with prices, e.g. </a:t>
            </a:r>
            <a:r>
              <a:rPr lang="en-US" sz="1238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一斤羊肉十八元</a:t>
            </a:r>
            <a:endParaRPr lang="en-US" sz="1238" dirty="0"/>
          </a:p>
          <a:p>
            <a:pPr algn="l" marL="104775" indent="-104775">
              <a:lnSpc>
                <a:spcPts val="1856"/>
              </a:lnSpc>
              <a:buSzPct val="100000"/>
              <a:buChar char="•"/>
            </a:pPr>
            <a:r>
              <a:rPr lang="en-US" sz="1238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Cold call to check answers</a:t>
            </a:r>
            <a:endParaRPr lang="en-US" sz="1238" dirty="0"/>
          </a:p>
        </p:txBody>
      </p:sp>
      <p:sp>
        <p:nvSpPr>
          <p:cNvPr id="17" name="Text 15"/>
          <p:cNvSpPr/>
          <p:nvPr/>
        </p:nvSpPr>
        <p:spPr>
          <a:xfrm>
            <a:off x="9277350" y="3219450"/>
            <a:ext cx="8058150" cy="2071688"/>
          </a:xfrm>
          <a:prstGeom prst="roundRect">
            <a:avLst>
              <a:gd name="adj" fmla="val 9195"/>
            </a:avLst>
          </a:prstGeom>
          <a:solidFill>
            <a:srgbClr val="E4D5B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467850" y="3495675"/>
            <a:ext cx="783069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C68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 FOOD ITEMS · P.96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9610725" y="3990975"/>
            <a:ext cx="4954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b="1" dirty="0">
                <a:solidFill>
                  <a:srgbClr val="3F7A5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三明治</a:t>
            </a:r>
            <a:endParaRPr lang="en-US" sz="1275" dirty="0"/>
          </a:p>
        </p:txBody>
      </p:sp>
      <p:sp>
        <p:nvSpPr>
          <p:cNvPr id="20" name="Text 18"/>
          <p:cNvSpPr/>
          <p:nvPr/>
        </p:nvSpPr>
        <p:spPr>
          <a:xfrm>
            <a:off x="10458450" y="3990975"/>
            <a:ext cx="3303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b="1" dirty="0">
                <a:solidFill>
                  <a:srgbClr val="3F7A5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薯条</a:t>
            </a:r>
            <a:endParaRPr lang="en-US" sz="1275" dirty="0"/>
          </a:p>
        </p:txBody>
      </p:sp>
      <p:sp>
        <p:nvSpPr>
          <p:cNvPr id="21" name="Text 19"/>
          <p:cNvSpPr/>
          <p:nvPr/>
        </p:nvSpPr>
        <p:spPr>
          <a:xfrm>
            <a:off x="11144250" y="3990975"/>
            <a:ext cx="9909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咖喱牛肉盒饭</a:t>
            </a:r>
            <a:endParaRPr lang="en-US" sz="1275" dirty="0"/>
          </a:p>
        </p:txBody>
      </p:sp>
      <p:sp>
        <p:nvSpPr>
          <p:cNvPr id="22" name="Text 20"/>
          <p:cNvSpPr/>
          <p:nvPr/>
        </p:nvSpPr>
        <p:spPr>
          <a:xfrm>
            <a:off x="12477750" y="3990975"/>
            <a:ext cx="4954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炸鸡腿</a:t>
            </a:r>
            <a:endParaRPr lang="en-US" sz="1275" dirty="0"/>
          </a:p>
        </p:txBody>
      </p:sp>
      <p:sp>
        <p:nvSpPr>
          <p:cNvPr id="23" name="Text 21"/>
          <p:cNvSpPr/>
          <p:nvPr/>
        </p:nvSpPr>
        <p:spPr>
          <a:xfrm>
            <a:off x="13325475" y="3990975"/>
            <a:ext cx="4954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炸鸡翅</a:t>
            </a:r>
            <a:endParaRPr lang="en-US" sz="1275" dirty="0"/>
          </a:p>
        </p:txBody>
      </p:sp>
      <p:sp>
        <p:nvSpPr>
          <p:cNvPr id="24" name="Text 22"/>
          <p:cNvSpPr/>
          <p:nvPr/>
        </p:nvSpPr>
        <p:spPr>
          <a:xfrm>
            <a:off x="14173200" y="3990975"/>
            <a:ext cx="3303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薯片</a:t>
            </a:r>
            <a:endParaRPr lang="en-US" sz="1275" dirty="0"/>
          </a:p>
        </p:txBody>
      </p:sp>
      <p:sp>
        <p:nvSpPr>
          <p:cNvPr id="25" name="Text 23"/>
          <p:cNvSpPr/>
          <p:nvPr/>
        </p:nvSpPr>
        <p:spPr>
          <a:xfrm>
            <a:off x="14859000" y="3990975"/>
            <a:ext cx="6606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鱼柳盒饭</a:t>
            </a:r>
            <a:endParaRPr lang="en-US" sz="1275" dirty="0"/>
          </a:p>
        </p:txBody>
      </p:sp>
      <p:sp>
        <p:nvSpPr>
          <p:cNvPr id="26" name="Text 24"/>
          <p:cNvSpPr/>
          <p:nvPr/>
        </p:nvSpPr>
        <p:spPr>
          <a:xfrm>
            <a:off x="15868650" y="3990975"/>
            <a:ext cx="6606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猪排盒饭</a:t>
            </a:r>
            <a:endParaRPr lang="en-US" sz="1275" dirty="0"/>
          </a:p>
        </p:txBody>
      </p:sp>
      <p:sp>
        <p:nvSpPr>
          <p:cNvPr id="27" name="Text 25"/>
          <p:cNvSpPr/>
          <p:nvPr/>
        </p:nvSpPr>
        <p:spPr>
          <a:xfrm>
            <a:off x="9467850" y="4586288"/>
            <a:ext cx="7830693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1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Teacher-modelled (green):</a:t>
            </a:r>
            <a:r>
              <a:rPr lang="en-US" sz="1088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三明治、薯条 — remaining 6 are student independent work, plus WB Ex.13 (12 items, e.g. 一斤羊肉十八元).</a:t>
            </a:r>
            <a:endParaRPr lang="en-US" sz="1088" dirty="0"/>
          </a:p>
        </p:txBody>
      </p:sp>
      <p:sp>
        <p:nvSpPr>
          <p:cNvPr id="28" name="Text 26"/>
          <p:cNvSpPr/>
          <p:nvPr/>
        </p:nvSpPr>
        <p:spPr>
          <a:xfrm>
            <a:off x="952500" y="6291263"/>
            <a:ext cx="5359301" cy="1171575"/>
          </a:xfrm>
          <a:prstGeom prst="roundRect">
            <a:avLst>
              <a:gd name="adj" fmla="val 9756"/>
            </a:avLst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104900" y="6510338"/>
            <a:ext cx="51555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1104900" y="6805613"/>
            <a:ext cx="515559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Provide the correct measure word next to each picture</a:t>
            </a:r>
            <a:endParaRPr lang="en-US" sz="1125" dirty="0"/>
          </a:p>
        </p:txBody>
      </p:sp>
      <p:sp>
        <p:nvSpPr>
          <p:cNvPr id="31" name="Text 29"/>
          <p:cNvSpPr/>
          <p:nvPr/>
        </p:nvSpPr>
        <p:spPr>
          <a:xfrm>
            <a:off x="6464201" y="6291263"/>
            <a:ext cx="5359450" cy="1171575"/>
          </a:xfrm>
          <a:prstGeom prst="roundRect">
            <a:avLst>
              <a:gd name="adj" fmla="val 9756"/>
            </a:avLst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616601" y="6510338"/>
            <a:ext cx="515574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b="1" dirty="0">
                <a:solidFill>
                  <a:srgbClr val="C68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6616601" y="6805613"/>
            <a:ext cx="515574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"It is your turn" — list 4 of your own food/drink items, each with a price tag and correct measure word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11976050" y="6291263"/>
            <a:ext cx="5359450" cy="1171575"/>
          </a:xfrm>
          <a:prstGeom prst="roundRect">
            <a:avLst>
              <a:gd name="adj" fmla="val 9756"/>
            </a:avLst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2128450" y="6510338"/>
            <a:ext cx="515574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b="1" dirty="0">
                <a:solidFill>
                  <a:srgbClr val="D45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12128450" y="6805613"/>
            <a:ext cx="51557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Mini whiteboards for 2 spot-check items</a:t>
            </a:r>
            <a:endParaRPr lang="en-US" sz="1125" dirty="0"/>
          </a:p>
        </p:txBody>
      </p:sp>
      <p:sp>
        <p:nvSpPr>
          <p:cNvPr id="37" name="Shape 35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2000" y="9958388"/>
            <a:ext cx="25674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4 Fresh Market 菜市场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78819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PRICES &amp; MEASURE WORDS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267051" y="280988"/>
            <a:ext cx="33518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Game · Measure-Word Matching · 27–37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981075"/>
            <a:ext cx="1331119" cy="552450"/>
          </a:xfrm>
          <a:prstGeom prst="roundRect">
            <a:avLst>
              <a:gd name="adj" fmla="val 1722414"/>
            </a:avLst>
          </a:prstGeom>
          <a:solidFill>
            <a:srgbClr val="C68A1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43000" y="1162050"/>
            <a:ext cx="96912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Group Game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436019" y="971550"/>
            <a:ext cx="950268" cy="571500"/>
          </a:xfrm>
          <a:prstGeom prst="roundRect">
            <a:avLst>
              <a:gd name="adj" fmla="val 1665000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616994" y="1162050"/>
            <a:ext cx="60008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10 min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538686" y="981075"/>
            <a:ext cx="1581745" cy="552450"/>
          </a:xfrm>
          <a:prstGeom prst="roundRect">
            <a:avLst>
              <a:gd name="adj" fmla="val 1722414"/>
            </a:avLst>
          </a:prstGeom>
          <a:solidFill>
            <a:srgbClr val="C68A1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710136" y="1162050"/>
            <a:ext cx="126362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C68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Team Competition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52500" y="1905000"/>
            <a:ext cx="1671066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量词配对比赛 · Measure-Word Matching Competition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52500" y="2809875"/>
            <a:ext cx="167106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The textbook's own Group Game (Act. 9, p.97) — race to match nouns to the correct measure word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952500" y="3248025"/>
            <a:ext cx="7522518" cy="3512939"/>
          </a:xfrm>
          <a:prstGeom prst="roundRect">
            <a:avLst>
              <a:gd name="adj" fmla="val 5423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152525" y="3505200"/>
            <a:ext cx="726491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675"/>
              </a:spcAft>
              <a:buNone/>
            </a:pPr>
            <a:r>
              <a:rPr lang="en-US" sz="900" b="1" dirty="0">
                <a:solidFill>
                  <a:srgbClr val="C68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HOW TO PLAY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525" y="3886200"/>
            <a:ext cx="174879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1️⃣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409700" y="3890962"/>
            <a:ext cx="6851553" cy="186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8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Split the class into </a:t>
            </a:r>
            <a:r>
              <a:rPr lang="en-US" sz="1088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small groups</a:t>
            </a:r>
            <a:r>
              <a:rPr lang="en-US" sz="1088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 Each group gets a list of </a:t>
            </a:r>
            <a:r>
              <a:rPr lang="en-US" sz="1088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30 nouns</a:t>
            </a:r>
            <a:r>
              <a:rPr lang="en-US" sz="1088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and a bank of measure words.</a:t>
            </a:r>
            <a:endParaRPr lang="en-US" sz="1088" dirty="0"/>
          </a:p>
        </p:txBody>
      </p:sp>
      <p:sp>
        <p:nvSpPr>
          <p:cNvPr id="19" name="Text 17"/>
          <p:cNvSpPr/>
          <p:nvPr/>
        </p:nvSpPr>
        <p:spPr>
          <a:xfrm>
            <a:off x="1152525" y="4405908"/>
            <a:ext cx="174879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2️⃣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409700" y="4410670"/>
            <a:ext cx="7002598" cy="372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8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Groups </a:t>
            </a:r>
            <a:r>
              <a:rPr lang="en-US" sz="1088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race</a:t>
            </a:r>
            <a:r>
              <a:rPr lang="en-US" sz="1088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to match each noun to its correct measure word, writing the pairs in their exercise books.</a:t>
            </a:r>
            <a:endParaRPr lang="en-US" sz="1088" dirty="0"/>
          </a:p>
        </p:txBody>
      </p:sp>
      <p:sp>
        <p:nvSpPr>
          <p:cNvPr id="21" name="Text 19"/>
          <p:cNvSpPr/>
          <p:nvPr/>
        </p:nvSpPr>
        <p:spPr>
          <a:xfrm>
            <a:off x="1152525" y="5111948"/>
            <a:ext cx="174879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3️⃣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409700" y="5116711"/>
            <a:ext cx="7002598" cy="372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8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First group with the </a:t>
            </a:r>
            <a:r>
              <a:rPr lang="en-US" sz="1088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most correct matches after 6 minutes wins</a:t>
            </a:r>
            <a:r>
              <a:rPr lang="en-US" sz="1088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. Teacher reveals the answer key on the projector for whole-class checking.</a:t>
            </a:r>
            <a:endParaRPr lang="en-US" sz="1088" dirty="0"/>
          </a:p>
        </p:txBody>
      </p:sp>
      <p:sp>
        <p:nvSpPr>
          <p:cNvPr id="23" name="Text 21"/>
          <p:cNvSpPr/>
          <p:nvPr/>
        </p:nvSpPr>
        <p:spPr>
          <a:xfrm>
            <a:off x="1152525" y="5713214"/>
            <a:ext cx="7122468" cy="904875"/>
          </a:xfrm>
          <a:prstGeom prst="roundRect">
            <a:avLst>
              <a:gd name="adj" fmla="val 12632"/>
            </a:avLst>
          </a:prstGeom>
          <a:solidFill>
            <a:srgbClr val="C68A1E">
              <a:alpha val="12000"/>
            </a:srgbClr>
          </a:solidFill>
          <a:ln w="19050">
            <a:solidFill>
              <a:srgbClr val="C68A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323975" y="6041827"/>
            <a:ext cx="19431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🖥️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609725" y="5937052"/>
            <a:ext cx="488978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13"/>
              </a:spcBef>
              <a:spcAft>
                <a:spcPts val="1013"/>
              </a:spcAft>
              <a:buNone/>
            </a:pPr>
            <a:r>
              <a:rPr lang="en-US" sz="1013" b="1" dirty="0">
                <a:solidFill>
                  <a:srgbClr val="C68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Setup Needed</a:t>
            </a:r>
            <a:endParaRPr lang="en-US" sz="1013" dirty="0"/>
          </a:p>
        </p:txBody>
      </p:sp>
      <p:sp>
        <p:nvSpPr>
          <p:cNvPr id="26" name="Text 24"/>
          <p:cNvSpPr/>
          <p:nvPr/>
        </p:nvSpPr>
        <p:spPr>
          <a:xfrm>
            <a:off x="1609725" y="6246614"/>
            <a:ext cx="488978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Printed noun lists per group, or projected list with groups copying into exercise books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684568" y="3248025"/>
            <a:ext cx="8650784" cy="4995863"/>
          </a:xfrm>
          <a:prstGeom prst="roundRect">
            <a:avLst>
              <a:gd name="adj" fmla="val 3813"/>
            </a:avLst>
          </a:prstGeom>
          <a:solidFill>
            <a:srgbClr val="E4D5B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8856018" y="3495675"/>
            <a:ext cx="282189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NOUN LIST · REPRESENTATIVE SAMPLE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877348" y="4076700"/>
            <a:ext cx="26820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办公室</a:t>
            </a:r>
            <a:endParaRPr lang="en-US" sz="1275" dirty="0"/>
          </a:p>
        </p:txBody>
      </p:sp>
      <p:sp>
        <p:nvSpPr>
          <p:cNvPr id="30" name="Text 28"/>
          <p:cNvSpPr/>
          <p:nvPr/>
        </p:nvSpPr>
        <p:spPr>
          <a:xfrm>
            <a:off x="11668766" y="4076700"/>
            <a:ext cx="26822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西装</a:t>
            </a:r>
            <a:endParaRPr lang="en-US" sz="1275" dirty="0"/>
          </a:p>
        </p:txBody>
      </p:sp>
      <p:sp>
        <p:nvSpPr>
          <p:cNvPr id="31" name="Text 29"/>
          <p:cNvSpPr/>
          <p:nvPr/>
        </p:nvSpPr>
        <p:spPr>
          <a:xfrm>
            <a:off x="14460337" y="4076700"/>
            <a:ext cx="26820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领带</a:t>
            </a:r>
            <a:endParaRPr lang="en-US" sz="1275" dirty="0"/>
          </a:p>
        </p:txBody>
      </p:sp>
      <p:sp>
        <p:nvSpPr>
          <p:cNvPr id="32" name="Text 30"/>
          <p:cNvSpPr/>
          <p:nvPr/>
        </p:nvSpPr>
        <p:spPr>
          <a:xfrm>
            <a:off x="8877348" y="4829175"/>
            <a:ext cx="26820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耳环</a:t>
            </a:r>
            <a:endParaRPr lang="en-US" sz="1275" dirty="0"/>
          </a:p>
        </p:txBody>
      </p:sp>
      <p:sp>
        <p:nvSpPr>
          <p:cNvPr id="33" name="Text 31"/>
          <p:cNvSpPr/>
          <p:nvPr/>
        </p:nvSpPr>
        <p:spPr>
          <a:xfrm>
            <a:off x="11668766" y="4829175"/>
            <a:ext cx="26822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足球</a:t>
            </a:r>
            <a:endParaRPr lang="en-US" sz="1275" dirty="0"/>
          </a:p>
        </p:txBody>
      </p:sp>
      <p:sp>
        <p:nvSpPr>
          <p:cNvPr id="34" name="Text 32"/>
          <p:cNvSpPr/>
          <p:nvPr/>
        </p:nvSpPr>
        <p:spPr>
          <a:xfrm>
            <a:off x="14460337" y="4829175"/>
            <a:ext cx="26820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计算器</a:t>
            </a:r>
            <a:endParaRPr lang="en-US" sz="1275" dirty="0"/>
          </a:p>
        </p:txBody>
      </p:sp>
      <p:sp>
        <p:nvSpPr>
          <p:cNvPr id="35" name="Text 33"/>
          <p:cNvSpPr/>
          <p:nvPr/>
        </p:nvSpPr>
        <p:spPr>
          <a:xfrm>
            <a:off x="8877348" y="5581650"/>
            <a:ext cx="26820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帽子</a:t>
            </a:r>
            <a:endParaRPr lang="en-US" sz="1275" dirty="0"/>
          </a:p>
        </p:txBody>
      </p:sp>
      <p:sp>
        <p:nvSpPr>
          <p:cNvPr id="36" name="Text 34"/>
          <p:cNvSpPr/>
          <p:nvPr/>
        </p:nvSpPr>
        <p:spPr>
          <a:xfrm>
            <a:off x="11668766" y="5581650"/>
            <a:ext cx="26822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电冰箱</a:t>
            </a:r>
            <a:endParaRPr lang="en-US" sz="1275" dirty="0"/>
          </a:p>
        </p:txBody>
      </p:sp>
      <p:sp>
        <p:nvSpPr>
          <p:cNvPr id="37" name="Text 35"/>
          <p:cNvSpPr/>
          <p:nvPr/>
        </p:nvSpPr>
        <p:spPr>
          <a:xfrm>
            <a:off x="14460337" y="5581650"/>
            <a:ext cx="26820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三明治</a:t>
            </a:r>
            <a:endParaRPr lang="en-US" sz="1275" dirty="0"/>
          </a:p>
        </p:txBody>
      </p:sp>
      <p:sp>
        <p:nvSpPr>
          <p:cNvPr id="38" name="Text 36"/>
          <p:cNvSpPr/>
          <p:nvPr/>
        </p:nvSpPr>
        <p:spPr>
          <a:xfrm>
            <a:off x="8877348" y="6334125"/>
            <a:ext cx="26820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汽车</a:t>
            </a:r>
            <a:endParaRPr lang="en-US" sz="1275" dirty="0"/>
          </a:p>
        </p:txBody>
      </p:sp>
      <p:sp>
        <p:nvSpPr>
          <p:cNvPr id="39" name="Text 37"/>
          <p:cNvSpPr/>
          <p:nvPr/>
        </p:nvSpPr>
        <p:spPr>
          <a:xfrm>
            <a:off x="11668766" y="6334125"/>
            <a:ext cx="26822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游泳池</a:t>
            </a:r>
            <a:endParaRPr lang="en-US" sz="1275" dirty="0"/>
          </a:p>
        </p:txBody>
      </p:sp>
      <p:sp>
        <p:nvSpPr>
          <p:cNvPr id="40" name="Text 38"/>
          <p:cNvSpPr/>
          <p:nvPr/>
        </p:nvSpPr>
        <p:spPr>
          <a:xfrm>
            <a:off x="14460337" y="6334125"/>
            <a:ext cx="26820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钢琴</a:t>
            </a:r>
            <a:endParaRPr lang="en-US" sz="1275" dirty="0"/>
          </a:p>
        </p:txBody>
      </p:sp>
      <p:sp>
        <p:nvSpPr>
          <p:cNvPr id="41" name="Text 39"/>
          <p:cNvSpPr/>
          <p:nvPr/>
        </p:nvSpPr>
        <p:spPr>
          <a:xfrm>
            <a:off x="8877348" y="7086600"/>
            <a:ext cx="26820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烤箱</a:t>
            </a:r>
            <a:endParaRPr lang="en-US" sz="1275" dirty="0"/>
          </a:p>
        </p:txBody>
      </p:sp>
      <p:sp>
        <p:nvSpPr>
          <p:cNvPr id="42" name="Text 40"/>
          <p:cNvSpPr/>
          <p:nvPr/>
        </p:nvSpPr>
        <p:spPr>
          <a:xfrm>
            <a:off x="11668766" y="7086600"/>
            <a:ext cx="26822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围巾</a:t>
            </a:r>
            <a:endParaRPr lang="en-US" sz="1275" dirty="0"/>
          </a:p>
        </p:txBody>
      </p:sp>
      <p:sp>
        <p:nvSpPr>
          <p:cNvPr id="43" name="Text 41"/>
          <p:cNvSpPr/>
          <p:nvPr/>
        </p:nvSpPr>
        <p:spPr>
          <a:xfrm>
            <a:off x="14460337" y="7086600"/>
            <a:ext cx="26820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豆腐</a:t>
            </a:r>
            <a:endParaRPr lang="en-US" sz="1275" dirty="0"/>
          </a:p>
        </p:txBody>
      </p:sp>
      <p:sp>
        <p:nvSpPr>
          <p:cNvPr id="44" name="Shape 42"/>
          <p:cNvSpPr/>
          <p:nvPr/>
        </p:nvSpPr>
        <p:spPr>
          <a:xfrm>
            <a:off x="8856018" y="7624763"/>
            <a:ext cx="8307884" cy="0"/>
          </a:xfrm>
          <a:prstGeom prst="line">
            <a:avLst/>
          </a:prstGeom>
          <a:noFill/>
          <a:ln w="9525">
            <a:solidFill>
              <a:srgbClr val="D0BC9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856018" y="7824787"/>
            <a:ext cx="8474041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spcBef>
                <a:spcPts val="938"/>
              </a:spcBef>
              <a:spcAft>
                <a:spcPts val="938"/>
              </a:spcAft>
              <a:buNone/>
            </a:pPr>
            <a:r>
              <a:rPr lang="en-US" sz="938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+ 15 more</a:t>
            </a:r>
            <a:r>
              <a:rPr lang="en-US" sz="938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nouns on the printed group list — full set is 30 nouns spanning clothing, electronics, food, animals &amp; buildings.</a:t>
            </a:r>
            <a:endParaRPr lang="en-US" sz="938" dirty="0"/>
          </a:p>
        </p:txBody>
      </p:sp>
      <p:sp>
        <p:nvSpPr>
          <p:cNvPr id="46" name="Text 44"/>
          <p:cNvSpPr/>
          <p:nvPr/>
        </p:nvSpPr>
        <p:spPr>
          <a:xfrm>
            <a:off x="952500" y="8377238"/>
            <a:ext cx="8124825" cy="833438"/>
          </a:xfrm>
          <a:prstGeom prst="roundRect">
            <a:avLst>
              <a:gd name="adj" fmla="val 13714"/>
            </a:avLst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1085850" y="8562975"/>
            <a:ext cx="80152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88"/>
              </a:spcBef>
              <a:spcAft>
                <a:spcPts val="788"/>
              </a:spcAft>
              <a:buNone/>
            </a:pPr>
            <a:r>
              <a:rPr lang="en-US" sz="788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788" dirty="0"/>
          </a:p>
        </p:txBody>
      </p:sp>
      <p:sp>
        <p:nvSpPr>
          <p:cNvPr id="48" name="Text 46"/>
          <p:cNvSpPr/>
          <p:nvPr/>
        </p:nvSpPr>
        <p:spPr>
          <a:xfrm>
            <a:off x="1085850" y="8829675"/>
            <a:ext cx="80152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Give struggling groups a shortened list of 15 nouns</a:t>
            </a:r>
            <a:endParaRPr lang="en-US" sz="975" dirty="0"/>
          </a:p>
        </p:txBody>
      </p:sp>
      <p:sp>
        <p:nvSpPr>
          <p:cNvPr id="49" name="Text 47"/>
          <p:cNvSpPr/>
          <p:nvPr/>
        </p:nvSpPr>
        <p:spPr>
          <a:xfrm>
            <a:off x="9210675" y="8377238"/>
            <a:ext cx="8124825" cy="833438"/>
          </a:xfrm>
          <a:prstGeom prst="roundRect">
            <a:avLst>
              <a:gd name="adj" fmla="val 13714"/>
            </a:avLst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9344025" y="8562975"/>
            <a:ext cx="801528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788"/>
              </a:spcBef>
              <a:spcAft>
                <a:spcPts val="788"/>
              </a:spcAft>
              <a:buNone/>
            </a:pPr>
            <a:r>
              <a:rPr lang="en-US" sz="788" b="1" dirty="0">
                <a:solidFill>
                  <a:srgbClr val="C68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788" dirty="0"/>
          </a:p>
        </p:txBody>
      </p:sp>
      <p:sp>
        <p:nvSpPr>
          <p:cNvPr id="51" name="Text 49"/>
          <p:cNvSpPr/>
          <p:nvPr/>
        </p:nvSpPr>
        <p:spPr>
          <a:xfrm>
            <a:off x="9344025" y="8829675"/>
            <a:ext cx="80152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Groups that finish early write one full sentence for 3 of their matched pairs</a:t>
            </a:r>
            <a:endParaRPr lang="en-US" sz="975" dirty="0"/>
          </a:p>
        </p:txBody>
      </p:sp>
      <p:sp>
        <p:nvSpPr>
          <p:cNvPr id="52" name="Shape 50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62000" y="9958388"/>
            <a:ext cx="25674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4 Fresh Market 菜市场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78819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PRICES &amp; MEASURE WORDS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267051" y="280988"/>
            <a:ext cx="36941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 · Activity 2: Listen and Match · 37–42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952500" y="1433513"/>
            <a:ext cx="1283940" cy="571500"/>
          </a:xfrm>
          <a:prstGeom prst="roundRect">
            <a:avLst>
              <a:gd name="adj" fmla="val 1665000"/>
            </a:avLst>
          </a:prstGeom>
          <a:solidFill>
            <a:srgbClr val="3F7A5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43000" y="1624013"/>
            <a:ext cx="92099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ACTIVITY 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426940" y="1466850"/>
            <a:ext cx="2690738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850"/>
              </a:spcBef>
              <a:spcAft>
                <a:spcPts val="2850"/>
              </a:spcAft>
              <a:buNone/>
            </a:pPr>
            <a:r>
              <a:rPr lang="en-US" sz="28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Listen and Match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952500" y="2390775"/>
            <a:ext cx="963662" cy="657225"/>
          </a:xfrm>
          <a:prstGeom prst="roundRect">
            <a:avLst>
              <a:gd name="adj" fmla="val 1447826"/>
            </a:avLst>
          </a:prstGeom>
          <a:solidFill>
            <a:srgbClr val="C68A1E">
              <a:alpha val="12000"/>
            </a:srgbClr>
          </a:solidFill>
          <a:ln w="9525">
            <a:solidFill>
              <a:srgbClr val="C68A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33475" y="2609850"/>
            <a:ext cx="61374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C68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30462" y="2443163"/>
            <a:ext cx="890736" cy="552450"/>
          </a:xfrm>
          <a:prstGeom prst="roundRect">
            <a:avLst>
              <a:gd name="adj" fmla="val 1722414"/>
            </a:avLst>
          </a:prstGeom>
          <a:solidFill>
            <a:srgbClr val="D45A3A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163812" y="2624138"/>
            <a:ext cx="63651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D45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YOU DO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035498" y="2424113"/>
            <a:ext cx="1186755" cy="590550"/>
          </a:xfrm>
          <a:prstGeom prst="roundRect">
            <a:avLst>
              <a:gd name="adj" fmla="val 1611290"/>
            </a:avLst>
          </a:prstGeom>
          <a:solidFill>
            <a:srgbClr val="A8432E">
              <a:alpha val="12000"/>
            </a:srgbClr>
          </a:solidFill>
          <a:ln w="19050">
            <a:solidFill>
              <a:srgbClr val="A843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206948" y="2624138"/>
            <a:ext cx="86073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 Track 40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52500" y="3219450"/>
            <a:ext cx="8058150" cy="2607469"/>
          </a:xfrm>
          <a:prstGeom prst="roundRect">
            <a:avLst>
              <a:gd name="adj" fmla="val 7306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209675" y="3581400"/>
            <a:ext cx="769467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900"/>
              </a:spcAft>
              <a:buNone/>
            </a:pPr>
            <a:r>
              <a:rPr lang="en-US" sz="1125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INSTRUCTIONS (ACT. 10, P.97)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1209675" y="3933825"/>
            <a:ext cx="7543800" cy="1521619"/>
          </a:xfrm>
          <a:prstGeom prst="rect">
            <a:avLst/>
          </a:prstGeom>
          <a:noFill/>
          <a:ln/>
        </p:spPr>
        <p:txBody>
          <a:bodyPr wrap="square" lIns="104775" tIns="0" rIns="0" bIns="0" rtlCol="0" anchor="t"/>
          <a:lstStyle/>
          <a:p>
            <a:pPr algn="l" marL="104775" indent="-104775">
              <a:lnSpc>
                <a:spcPts val="1856"/>
              </a:lnSpc>
              <a:buSzPct val="100000"/>
              <a:buChar char="•"/>
            </a:pPr>
            <a:r>
              <a:rPr lang="en-US" sz="1238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 </a:t>
            </a:r>
            <a:r>
              <a:rPr lang="en-US" sz="1238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Track 40</a:t>
            </a:r>
            <a:r>
              <a:rPr lang="en-US" sz="1238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(or teacher reads the script)</a:t>
            </a:r>
            <a:endParaRPr lang="en-US" sz="1238" dirty="0"/>
          </a:p>
          <a:p>
            <a:pPr algn="l" marL="104775" indent="-104775">
              <a:lnSpc>
                <a:spcPts val="1856"/>
              </a:lnSpc>
              <a:buSzPct val="100000"/>
              <a:buChar char="•"/>
            </a:pPr>
            <a:r>
              <a:rPr lang="en-US" sz="1238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Students match </a:t>
            </a:r>
            <a:r>
              <a:rPr lang="en-US" sz="1238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 prompts</a:t>
            </a:r>
            <a:r>
              <a:rPr lang="en-US" sz="1238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to </a:t>
            </a:r>
            <a:r>
              <a:rPr lang="en-US" sz="1238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 lettered options (A–I)</a:t>
            </a:r>
            <a:r>
              <a:rPr lang="en-US" sz="1238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about school food/drink</a:t>
            </a:r>
            <a:endParaRPr lang="en-US" sz="1238" dirty="0"/>
          </a:p>
          <a:p>
            <a:pPr algn="l" marL="104775" indent="-104775">
              <a:lnSpc>
                <a:spcPts val="1856"/>
              </a:lnSpc>
              <a:buSzPct val="100000"/>
              <a:buChar char="•"/>
            </a:pPr>
            <a:r>
              <a:rPr lang="en-US" sz="1238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matches in exercise books</a:t>
            </a:r>
            <a:endParaRPr lang="en-US" sz="1238" dirty="0"/>
          </a:p>
          <a:p>
            <a:pPr algn="l" marL="104775" indent="-104775">
              <a:lnSpc>
                <a:spcPts val="1856"/>
              </a:lnSpc>
              <a:buSzPct val="100000"/>
              <a:buChar char="•"/>
            </a:pPr>
            <a:r>
              <a:rPr lang="en-US" sz="1238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Play/read the passage </a:t>
            </a:r>
            <a:r>
              <a:rPr lang="en-US" sz="1238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twice</a:t>
            </a:r>
            <a:r>
              <a:rPr lang="en-US" sz="1238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 students write individually</a:t>
            </a:r>
            <a:endParaRPr lang="en-US" sz="1238" dirty="0"/>
          </a:p>
          <a:p>
            <a:pPr algn="l" marL="104775" indent="-104775">
              <a:lnSpc>
                <a:spcPts val="1856"/>
              </a:lnSpc>
              <a:buSzPct val="100000"/>
              <a:buChar char="•"/>
            </a:pPr>
            <a:r>
              <a:rPr lang="en-US" sz="1238" b="1" dirty="0">
                <a:solidFill>
                  <a:srgbClr val="2B201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Pair-check</a:t>
            </a:r>
            <a:r>
              <a:rPr lang="en-US" sz="1238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before the reveal</a:t>
            </a:r>
            <a:endParaRPr lang="en-US" sz="1238" dirty="0"/>
          </a:p>
        </p:txBody>
      </p:sp>
      <p:sp>
        <p:nvSpPr>
          <p:cNvPr id="19" name="Text 17"/>
          <p:cNvSpPr/>
          <p:nvPr/>
        </p:nvSpPr>
        <p:spPr>
          <a:xfrm>
            <a:off x="9277350" y="3219450"/>
            <a:ext cx="8058150" cy="6848475"/>
          </a:xfrm>
          <a:prstGeom prst="roundRect">
            <a:avLst>
              <a:gd name="adj" fmla="val 2782"/>
            </a:avLst>
          </a:prstGeom>
          <a:solidFill>
            <a:srgbClr val="E4D5B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486900" y="3514725"/>
            <a:ext cx="779183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6 PROMPTS TO MATCH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9486900" y="3781425"/>
            <a:ext cx="7639050" cy="78105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9648825" y="4048125"/>
            <a:ext cx="746150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学校有 </a:t>
            </a:r>
            <a:r>
              <a:rPr lang="en-US" sz="1050" dirty="0">
                <a:solidFill>
                  <a:srgbClr val="9C8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→ ?</a:t>
            </a:r>
            <a:endParaRPr lang="en-US" sz="1425" dirty="0"/>
          </a:p>
        </p:txBody>
      </p:sp>
      <p:sp>
        <p:nvSpPr>
          <p:cNvPr id="23" name="Text 21"/>
          <p:cNvSpPr/>
          <p:nvPr/>
        </p:nvSpPr>
        <p:spPr>
          <a:xfrm>
            <a:off x="9486900" y="4629150"/>
            <a:ext cx="7639050" cy="78105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648825" y="4895850"/>
            <a:ext cx="746150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餐厅卖 </a:t>
            </a:r>
            <a:r>
              <a:rPr lang="en-US" sz="1050" dirty="0">
                <a:solidFill>
                  <a:srgbClr val="9C8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→ ?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9486900" y="5476875"/>
            <a:ext cx="7639050" cy="78105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9648825" y="5743575"/>
            <a:ext cx="746150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午饭有 </a:t>
            </a:r>
            <a:r>
              <a:rPr lang="en-US" sz="1050" dirty="0">
                <a:solidFill>
                  <a:srgbClr val="9C8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→ ?</a:t>
            </a:r>
            <a:endParaRPr lang="en-US" sz="1425" dirty="0"/>
          </a:p>
        </p:txBody>
      </p:sp>
      <p:sp>
        <p:nvSpPr>
          <p:cNvPr id="27" name="Text 25"/>
          <p:cNvSpPr/>
          <p:nvPr/>
        </p:nvSpPr>
        <p:spPr>
          <a:xfrm>
            <a:off x="9486900" y="6324600"/>
            <a:ext cx="7639050" cy="78105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9648825" y="6591300"/>
            <a:ext cx="746150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盒饭 </a:t>
            </a:r>
            <a:r>
              <a:rPr lang="en-US" sz="1050" dirty="0">
                <a:solidFill>
                  <a:srgbClr val="9C8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→ ?</a:t>
            </a:r>
            <a:endParaRPr lang="en-US" sz="1425" dirty="0"/>
          </a:p>
        </p:txBody>
      </p:sp>
      <p:sp>
        <p:nvSpPr>
          <p:cNvPr id="29" name="Text 27"/>
          <p:cNvSpPr/>
          <p:nvPr/>
        </p:nvSpPr>
        <p:spPr>
          <a:xfrm>
            <a:off x="9486900" y="7172325"/>
            <a:ext cx="7639050" cy="78105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9648825" y="7439025"/>
            <a:ext cx="746150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她午饭常吃 </a:t>
            </a:r>
            <a:r>
              <a:rPr lang="en-US" sz="1050" dirty="0">
                <a:solidFill>
                  <a:srgbClr val="9C8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→ ?</a:t>
            </a:r>
            <a:endParaRPr lang="en-US" sz="1425" dirty="0"/>
          </a:p>
        </p:txBody>
      </p:sp>
      <p:sp>
        <p:nvSpPr>
          <p:cNvPr id="31" name="Text 29"/>
          <p:cNvSpPr/>
          <p:nvPr/>
        </p:nvSpPr>
        <p:spPr>
          <a:xfrm>
            <a:off x="9486900" y="8020050"/>
            <a:ext cx="7639050" cy="781050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9525">
            <a:solidFill>
              <a:srgbClr val="D0BC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9648825" y="8286750"/>
            <a:ext cx="746150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425"/>
              </a:spcBef>
              <a:spcAft>
                <a:spcPts val="1425"/>
              </a:spcAft>
              <a:buNone/>
            </a:pPr>
            <a:r>
              <a:rPr lang="en-US" sz="1425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她常喝 </a:t>
            </a:r>
            <a:r>
              <a:rPr lang="en-US" sz="1050" dirty="0">
                <a:solidFill>
                  <a:srgbClr val="9C8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→ ?</a:t>
            </a:r>
            <a:endParaRPr lang="en-US" sz="1425" dirty="0"/>
          </a:p>
        </p:txBody>
      </p:sp>
      <p:sp>
        <p:nvSpPr>
          <p:cNvPr id="33" name="Text 31"/>
          <p:cNvSpPr/>
          <p:nvPr/>
        </p:nvSpPr>
        <p:spPr>
          <a:xfrm>
            <a:off x="9486900" y="8934450"/>
            <a:ext cx="7639050" cy="962025"/>
          </a:xfrm>
          <a:prstGeom prst="roundRect">
            <a:avLst>
              <a:gd name="adj" fmla="val 11881"/>
            </a:avLst>
          </a:prstGeom>
          <a:solidFill>
            <a:srgbClr val="A8432E">
              <a:alpha val="12000"/>
            </a:srgbClr>
          </a:solidFill>
          <a:ln w="9525">
            <a:solidFill>
              <a:srgbClr val="A843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9667875" y="9201150"/>
            <a:ext cx="742264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 lettered options (A–I)</a:t>
            </a: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about school food/drink are printed on the worksheet (p.97) — students choose the matching letter for each of the 6 prompts.</a:t>
            </a:r>
            <a:endParaRPr lang="en-US" sz="1125" dirty="0"/>
          </a:p>
        </p:txBody>
      </p:sp>
      <p:sp>
        <p:nvSpPr>
          <p:cNvPr id="35" name="Text 33"/>
          <p:cNvSpPr/>
          <p:nvPr/>
        </p:nvSpPr>
        <p:spPr>
          <a:xfrm>
            <a:off x="952500" y="10296525"/>
            <a:ext cx="5359301" cy="1171575"/>
          </a:xfrm>
          <a:prstGeom prst="roundRect">
            <a:avLst>
              <a:gd name="adj" fmla="val 9756"/>
            </a:avLst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104900" y="10515600"/>
            <a:ext cx="51555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SCAFFOLD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1104900" y="10810875"/>
            <a:ext cx="515559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Pause after each relevant section and repeat if needed</a:t>
            </a:r>
            <a:endParaRPr lang="en-US" sz="1125" dirty="0"/>
          </a:p>
        </p:txBody>
      </p:sp>
      <p:sp>
        <p:nvSpPr>
          <p:cNvPr id="38" name="Text 36"/>
          <p:cNvSpPr/>
          <p:nvPr/>
        </p:nvSpPr>
        <p:spPr>
          <a:xfrm>
            <a:off x="6464201" y="10296525"/>
            <a:ext cx="5359450" cy="1171575"/>
          </a:xfrm>
          <a:prstGeom prst="roundRect">
            <a:avLst>
              <a:gd name="adj" fmla="val 9756"/>
            </a:avLst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616601" y="10515600"/>
            <a:ext cx="515574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b="1" dirty="0">
                <a:solidFill>
                  <a:srgbClr val="C68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EXTENSION</a:t>
            </a:r>
            <a:endParaRPr lang="en-US" sz="825" dirty="0"/>
          </a:p>
        </p:txBody>
      </p:sp>
      <p:sp>
        <p:nvSpPr>
          <p:cNvPr id="40" name="Text 38"/>
          <p:cNvSpPr/>
          <p:nvPr/>
        </p:nvSpPr>
        <p:spPr>
          <a:xfrm>
            <a:off x="6616601" y="10810875"/>
            <a:ext cx="515574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Write one summary sentence in Chinese about what the speaker eats for lunch</a:t>
            </a:r>
            <a:endParaRPr lang="en-US" sz="1125" dirty="0"/>
          </a:p>
        </p:txBody>
      </p:sp>
      <p:sp>
        <p:nvSpPr>
          <p:cNvPr id="41" name="Text 39"/>
          <p:cNvSpPr/>
          <p:nvPr/>
        </p:nvSpPr>
        <p:spPr>
          <a:xfrm>
            <a:off x="11976050" y="10296525"/>
            <a:ext cx="5359450" cy="1171575"/>
          </a:xfrm>
          <a:prstGeom prst="roundRect">
            <a:avLst>
              <a:gd name="adj" fmla="val 9756"/>
            </a:avLst>
          </a:prstGeom>
          <a:solidFill>
            <a:srgbClr val="F1E8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12128450" y="10515600"/>
            <a:ext cx="515574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b="1" dirty="0">
                <a:solidFill>
                  <a:srgbClr val="D45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OTR</a:t>
            </a:r>
            <a:endParaRPr lang="en-US" sz="825" dirty="0"/>
          </a:p>
        </p:txBody>
      </p:sp>
      <p:sp>
        <p:nvSpPr>
          <p:cNvPr id="43" name="Text 41"/>
          <p:cNvSpPr/>
          <p:nvPr/>
        </p:nvSpPr>
        <p:spPr>
          <a:xfrm>
            <a:off x="12128450" y="10810875"/>
            <a:ext cx="51557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All students complete the matching individually</a:t>
            </a:r>
            <a:endParaRPr lang="en-US" sz="1125" dirty="0"/>
          </a:p>
        </p:txBody>
      </p:sp>
      <p:sp>
        <p:nvSpPr>
          <p:cNvPr id="44" name="Shape 42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2000" y="9958388"/>
            <a:ext cx="25674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4 Fresh Market 菜市场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8288000" cy="771525"/>
          </a:xfrm>
          <a:prstGeom prst="rect">
            <a:avLst/>
          </a:prstGeom>
          <a:solidFill>
            <a:srgbClr val="FEFCF7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766763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2000" y="285750"/>
            <a:ext cx="278819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L6 · PRICES &amp; MEASURE WORDS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267051" y="280988"/>
            <a:ext cx="15052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Plenary · 43–50 min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762000" y="0"/>
            <a:ext cx="16764000" cy="38100"/>
          </a:xfrm>
          <a:prstGeom prst="rect">
            <a:avLst/>
          </a:prstGeom>
          <a:solidFill>
            <a:srgbClr val="A843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143000" y="1775520"/>
            <a:ext cx="1632204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43–50 MIN · PLENARY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43000" y="2670870"/>
            <a:ext cx="1632204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450"/>
              </a:spcBef>
              <a:spcAft>
                <a:spcPts val="3450"/>
              </a:spcAft>
              <a:buNone/>
            </a:pPr>
            <a:r>
              <a:rPr lang="en-US" sz="3450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总结 · Wrap-Up</a:t>
            </a:r>
            <a:endParaRPr lang="en-US" sz="3450" dirty="0"/>
          </a:p>
        </p:txBody>
      </p:sp>
      <p:sp>
        <p:nvSpPr>
          <p:cNvPr id="9" name="Text 7"/>
          <p:cNvSpPr/>
          <p:nvPr/>
        </p:nvSpPr>
        <p:spPr>
          <a:xfrm>
            <a:off x="1143000" y="3956745"/>
            <a:ext cx="7867650" cy="3687812"/>
          </a:xfrm>
          <a:prstGeom prst="roundRect">
            <a:avLst>
              <a:gd name="adj" fmla="val 7232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400175" y="4328220"/>
            <a:ext cx="750036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050"/>
              </a:spcAft>
              <a:buNone/>
            </a:pPr>
            <a:r>
              <a:rPr lang="en-US" sz="12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REVISIT SUCCESS CRITERIA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00175" y="4671120"/>
            <a:ext cx="750036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00"/>
              </a:spcAft>
              <a:buNone/>
            </a:pPr>
            <a:r>
              <a:rPr lang="en-US" sz="975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Traffic-light thumbs: </a:t>
            </a:r>
            <a:r>
              <a:rPr lang="en-US" sz="975" b="1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r>
              <a:rPr lang="en-US" sz="975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完全可以 · </a:t>
            </a:r>
            <a:r>
              <a:rPr lang="en-US" sz="975" b="1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r>
              <a:rPr lang="en-US" sz="975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差不多 · </a:t>
            </a:r>
            <a:r>
              <a:rPr lang="en-US" sz="975" b="1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r>
              <a:rPr lang="en-US" sz="975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= 还不行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400175" y="5063430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3F7A52">
              <a:alpha val="10000"/>
            </a:srgbClr>
          </a:solidFill>
          <a:ln w="9525">
            <a:solidFill>
              <a:srgbClr val="3F7A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511796" y="5122515"/>
            <a:ext cx="8303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752600" y="5063430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C68A1E">
              <a:alpha val="12000"/>
            </a:srgbClr>
          </a:solidFill>
          <a:ln w="9525">
            <a:solidFill>
              <a:srgbClr val="C68A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864072" y="5122515"/>
            <a:ext cx="8349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105025" y="5063430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D45A3A">
              <a:alpha val="10000"/>
            </a:srgbClr>
          </a:solidFill>
          <a:ln w="9525">
            <a:solidFill>
              <a:srgbClr val="D45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229743" y="5122515"/>
            <a:ext cx="5647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543175" y="5109270"/>
            <a:ext cx="383276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Say a snack's price with the correct measure word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00175" y="5686276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3F7A52">
              <a:alpha val="10000"/>
            </a:srgbClr>
          </a:solidFill>
          <a:ln w="9525">
            <a:solidFill>
              <a:srgbClr val="3F7A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511796" y="5745361"/>
            <a:ext cx="8303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752600" y="5686276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C68A1E">
              <a:alpha val="12000"/>
            </a:srgbClr>
          </a:solidFill>
          <a:ln w="9525">
            <a:solidFill>
              <a:srgbClr val="C68A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864072" y="5745361"/>
            <a:ext cx="8349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105025" y="5686276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D45A3A">
              <a:alpha val="10000"/>
            </a:srgbClr>
          </a:solidFill>
          <a:ln w="9525">
            <a:solidFill>
              <a:srgbClr val="D45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229743" y="5745361"/>
            <a:ext cx="5647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543175" y="5732115"/>
            <a:ext cx="4112389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Match at least 10 nouns to their correct measure word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400175" y="6309122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3F7A52">
              <a:alpha val="10000"/>
            </a:srgbClr>
          </a:solidFill>
          <a:ln w="9525">
            <a:solidFill>
              <a:srgbClr val="3F7A5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511796" y="6368207"/>
            <a:ext cx="83037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752600" y="6309122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C68A1E">
              <a:alpha val="12000"/>
            </a:srgbClr>
          </a:solidFill>
          <a:ln w="9525">
            <a:solidFill>
              <a:srgbClr val="C68A1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864072" y="6368207"/>
            <a:ext cx="8349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105025" y="6309122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D45A3A">
              <a:alpha val="10000"/>
            </a:srgbClr>
          </a:solidFill>
          <a:ln w="9525">
            <a:solidFill>
              <a:srgbClr val="D45A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2229743" y="6368207"/>
            <a:ext cx="56471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543175" y="6354961"/>
            <a:ext cx="423398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Understand a short listening passage about school food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400175" y="6834932"/>
            <a:ext cx="7353300" cy="590550"/>
          </a:xfrm>
          <a:prstGeom prst="roundRect">
            <a:avLst>
              <a:gd name="adj" fmla="val 19355"/>
            </a:avLst>
          </a:prstGeom>
          <a:solidFill>
            <a:srgbClr val="C68A1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533525" y="7044482"/>
            <a:ext cx="72283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C68A1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Teacher note:</a:t>
            </a:r>
            <a:r>
              <a:rPr lang="en-US" sz="975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Project and choral-read the three Success Criteria before the thumb check.</a:t>
            </a:r>
            <a:endParaRPr lang="en-US" sz="975" dirty="0"/>
          </a:p>
        </p:txBody>
      </p:sp>
      <p:sp>
        <p:nvSpPr>
          <p:cNvPr id="35" name="Text 33"/>
          <p:cNvSpPr/>
          <p:nvPr/>
        </p:nvSpPr>
        <p:spPr>
          <a:xfrm>
            <a:off x="9277350" y="3956745"/>
            <a:ext cx="7867650" cy="3687812"/>
          </a:xfrm>
          <a:prstGeom prst="roundRect">
            <a:avLst>
              <a:gd name="adj" fmla="val 7232"/>
            </a:avLst>
          </a:prstGeom>
          <a:solidFill>
            <a:srgbClr val="F1E8D8"/>
          </a:solidFill>
          <a:ln w="9525">
            <a:solidFill>
              <a:srgbClr val="E4D5B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9534525" y="4328220"/>
            <a:ext cx="750036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050"/>
              </a:spcAft>
              <a:buNone/>
            </a:pPr>
            <a:r>
              <a:rPr lang="en-US" sz="1200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EXIT TICKET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534525" y="4671120"/>
            <a:ext cx="7353300" cy="1222921"/>
          </a:xfrm>
          <a:prstGeom prst="rect">
            <a:avLst/>
          </a:prstGeom>
          <a:solidFill>
            <a:srgbClr val="E4D5B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9558338" y="4671120"/>
            <a:ext cx="0" cy="1222921"/>
          </a:xfrm>
          <a:prstGeom prst="line">
            <a:avLst/>
          </a:prstGeom>
          <a:noFill/>
          <a:ln w="47625">
            <a:solidFill>
              <a:srgbClr val="3F7A5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753600" y="4918770"/>
            <a:ext cx="710203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3F7A5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TASK — MINI WHITEBOARDS (2 MIN)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753600" y="5280720"/>
            <a:ext cx="7102031" cy="279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5"/>
              </a:lnSpc>
              <a:spcBef>
                <a:spcPts val="1575"/>
              </a:spcBef>
              <a:spcAft>
                <a:spcPts val="1575"/>
              </a:spcAft>
              <a:buNone/>
            </a:pPr>
            <a:r>
              <a:rPr lang="en-US" sz="1575" b="1" dirty="0">
                <a:solidFill>
                  <a:srgbClr val="2B2018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写一句价钱句子：一 + 量词 + 零食 + 价钱</a:t>
            </a:r>
            <a:endParaRPr lang="en-US" sz="1575" dirty="0"/>
          </a:p>
        </p:txBody>
      </p:sp>
      <p:sp>
        <p:nvSpPr>
          <p:cNvPr id="41" name="Text 39"/>
          <p:cNvSpPr/>
          <p:nvPr/>
        </p:nvSpPr>
        <p:spPr>
          <a:xfrm>
            <a:off x="9534525" y="6017865"/>
            <a:ext cx="7500366" cy="383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1"/>
              </a:lnSpc>
              <a:spcBef>
                <a:spcPts val="975"/>
              </a:spcBef>
              <a:spcAft>
                <a:spcPts val="975"/>
              </a:spcAft>
              <a:buNone/>
            </a:pPr>
            <a:r>
              <a:rPr lang="en-US" sz="975" b="1" dirty="0">
                <a:solidFill>
                  <a:srgbClr val="D45A3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Must include:</a:t>
            </a:r>
            <a:r>
              <a:rPr lang="en-US" sz="975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the correct measure word for a snack of your choice. Teacher circulates and checks for the correct measure word.</a:t>
            </a:r>
            <a:endParaRPr lang="en-US" sz="975" dirty="0"/>
          </a:p>
        </p:txBody>
      </p:sp>
      <p:sp>
        <p:nvSpPr>
          <p:cNvPr id="42" name="Text 40"/>
          <p:cNvSpPr/>
          <p:nvPr/>
        </p:nvSpPr>
        <p:spPr>
          <a:xfrm>
            <a:off x="1143000" y="7854107"/>
            <a:ext cx="16002000" cy="1076325"/>
          </a:xfrm>
          <a:prstGeom prst="rect">
            <a:avLst/>
          </a:prstGeom>
          <a:solidFill>
            <a:srgbClr val="A8432E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1166813" y="7854107"/>
            <a:ext cx="0" cy="1076325"/>
          </a:xfrm>
          <a:prstGeom prst="line">
            <a:avLst/>
          </a:prstGeom>
          <a:noFill/>
          <a:ln w="47625">
            <a:solidFill>
              <a:srgbClr val="A8432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419225" y="8101757"/>
            <a:ext cx="158071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预告 · PREVIEW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419225" y="8416082"/>
            <a:ext cx="158071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"下一课，我们要做</a:t>
            </a:r>
            <a:r>
              <a:rPr lang="en-US" sz="12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买东西</a:t>
            </a: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的角色扮演，还要学一个新句型——</a:t>
            </a:r>
            <a:r>
              <a:rPr lang="en-US" sz="1200" b="1" dirty="0">
                <a:solidFill>
                  <a:srgbClr val="A8432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'但是'</a:t>
            </a:r>
            <a:r>
              <a:rPr lang="en-US" sz="1200" dirty="0">
                <a:solidFill>
                  <a:srgbClr val="6B58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，来对比不同的习惯。"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0" y="9786938"/>
            <a:ext cx="18288000" cy="0"/>
          </a:xfrm>
          <a:prstGeom prst="line">
            <a:avLst/>
          </a:prstGeom>
          <a:noFill/>
          <a:ln w="9525">
            <a:solidFill>
              <a:srgbClr val="E4D5B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2000" y="9958388"/>
            <a:ext cx="256747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9C8A7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Y9 Chinese · Unit 4 Fresh Market 菜市场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2026-08-01T06:57:13Z</dcterms:created>
  <dcterms:modified xsi:type="dcterms:W3CDTF">2026-08-01T06:57:13Z</dcterms:modified>
</cp:coreProperties>
</file>