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0" y="5715000"/>
            <a:ext cx="408051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0"/>
              </a:lnSpc>
              <a:buNone/>
            </a:pPr>
            <a:r>
              <a:rPr lang="en-US" sz="31500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比</a:t>
            </a:r>
            <a:endParaRPr lang="en-US" sz="31500" dirty="0"/>
          </a:p>
        </p:txBody>
      </p:sp>
      <p:sp>
        <p:nvSpPr>
          <p:cNvPr id="3" name="Text 1"/>
          <p:cNvSpPr/>
          <p:nvPr/>
        </p:nvSpPr>
        <p:spPr>
          <a:xfrm>
            <a:off x="4772025" y="2578894"/>
            <a:ext cx="874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2 OF 8 · Y9 UNIT 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772025" y="3074194"/>
            <a:ext cx="87439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00"/>
              </a:lnSpc>
              <a:buNone/>
            </a:pPr>
            <a:r>
              <a:rPr lang="en-US" sz="7500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⚖️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4772025" y="4983956"/>
            <a:ext cx="87439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50"/>
              </a:lnSpc>
              <a:spcBef>
                <a:spcPts val="7538"/>
              </a:spcBef>
              <a:spcAft>
                <a:spcPts val="600"/>
              </a:spcAft>
              <a:buNone/>
            </a:pPr>
            <a:r>
              <a:rPr lang="en-US" sz="1125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比字句</a:t>
            </a:r>
            <a:r>
              <a:rPr lang="en-US" sz="1125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r>
              <a:rPr lang="en-US" sz="1125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比较</a:t>
            </a:r>
            <a:endParaRPr lang="en-US" sz="11250" dirty="0"/>
          </a:p>
        </p:txBody>
      </p:sp>
      <p:sp>
        <p:nvSpPr>
          <p:cNvPr id="6" name="Text 4"/>
          <p:cNvSpPr/>
          <p:nvPr/>
        </p:nvSpPr>
        <p:spPr>
          <a:xfrm>
            <a:off x="4772025" y="6488906"/>
            <a:ext cx="87439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比 Comparison Grammar — Comparing Two Things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5564614" y="7498556"/>
            <a:ext cx="12822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9 Chinese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23153" y="7498556"/>
            <a:ext cx="6612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 mins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57605" y="7498556"/>
            <a:ext cx="15939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Grammar + Writing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09433" y="7498556"/>
            <a:ext cx="22230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轻松学中文 Book 3 · Unit 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7770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比 COMPARISON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275707" y="280988"/>
            <a:ext cx="13014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0–8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47750" y="1028700"/>
            <a:ext cx="165163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1047750" y="1285875"/>
            <a:ext cx="165163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回顾 · L1 Market Vocab + Price Recap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047750" y="1876425"/>
            <a:ext cx="16192500" cy="1081980"/>
          </a:xfrm>
          <a:prstGeom prst="roundRect">
            <a:avLst>
              <a:gd name="adj" fmla="val 17607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85875" y="2000250"/>
            <a:ext cx="16030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A · FLASHCARD RAPID FIRE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285875" y="2266950"/>
            <a:ext cx="552450" cy="304800"/>
          </a:xfrm>
          <a:prstGeom prst="roundRect">
            <a:avLst>
              <a:gd name="adj" fmla="val 18750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409700" y="2314575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猪肉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95475" y="2266950"/>
            <a:ext cx="552450" cy="304800"/>
          </a:xfrm>
          <a:prstGeom prst="roundRect">
            <a:avLst>
              <a:gd name="adj" fmla="val 18750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019300" y="2314575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05075" y="2266950"/>
            <a:ext cx="552450" cy="304800"/>
          </a:xfrm>
          <a:prstGeom prst="roundRect">
            <a:avLst>
              <a:gd name="adj" fmla="val 18750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628900" y="2314575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鸡肉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14675" y="2266950"/>
            <a:ext cx="552450" cy="304800"/>
          </a:xfrm>
          <a:prstGeom prst="roundRect">
            <a:avLst>
              <a:gd name="adj" fmla="val 18750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238500" y="2314575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豆腐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24275" y="2266950"/>
            <a:ext cx="552450" cy="304800"/>
          </a:xfrm>
          <a:prstGeom prst="roundRect">
            <a:avLst>
              <a:gd name="adj" fmla="val 18750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848100" y="2314575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新鲜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33875" y="2266950"/>
            <a:ext cx="552450" cy="304800"/>
          </a:xfrm>
          <a:prstGeom prst="roundRect">
            <a:avLst>
              <a:gd name="adj" fmla="val 18750"/>
            </a:avLst>
          </a:prstGeom>
          <a:solidFill>
            <a:srgbClr val="E4D5BC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457700" y="2314575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市场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85875" y="2647950"/>
            <a:ext cx="1603057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shows a market item (</a:t>
            </a:r>
            <a:r>
              <a:rPr lang="en-US" sz="105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汉字</a:t>
            </a: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side), class chorally says pinyin + English.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47750" y="3072705"/>
            <a:ext cx="16192500" cy="1396305"/>
          </a:xfrm>
          <a:prstGeom prst="roundRect">
            <a:avLst>
              <a:gd name="adj" fmla="val 13643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285875" y="3196530"/>
            <a:ext cx="16030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B · 哪个贵？哪个便宜？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285875" y="3463230"/>
            <a:ext cx="7762875" cy="619125"/>
          </a:xfrm>
          <a:prstGeom prst="roundRect">
            <a:avLst>
              <a:gd name="adj" fmla="val 18462"/>
            </a:avLst>
          </a:prstGeom>
          <a:solidFill>
            <a:srgbClr val="C68A1E">
              <a:alpha val="12000"/>
            </a:srgbClr>
          </a:solidFill>
          <a:ln w="9525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392841" y="3539430"/>
            <a:ext cx="754894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猪肉十五块一斤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1392841" y="3834705"/>
            <a:ext cx="75489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Pork — $15 per jin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9239250" y="3463230"/>
            <a:ext cx="7762875" cy="619125"/>
          </a:xfrm>
          <a:prstGeom prst="roundRect">
            <a:avLst>
              <a:gd name="adj" fmla="val 18462"/>
            </a:avLst>
          </a:prstGeom>
          <a:solidFill>
            <a:srgbClr val="C68A1E">
              <a:alpha val="12000"/>
            </a:srgbClr>
          </a:solidFill>
          <a:ln w="9525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9346216" y="3539430"/>
            <a:ext cx="754894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牛肉二十块一斤</a:t>
            </a:r>
            <a:endParaRPr lang="en-US" sz="1575" dirty="0"/>
          </a:p>
        </p:txBody>
      </p:sp>
      <p:sp>
        <p:nvSpPr>
          <p:cNvPr id="31" name="Text 29"/>
          <p:cNvSpPr/>
          <p:nvPr/>
        </p:nvSpPr>
        <p:spPr>
          <a:xfrm>
            <a:off x="9346216" y="3834705"/>
            <a:ext cx="75489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Beef — $20 per jin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1285875" y="4158555"/>
            <a:ext cx="1603057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the two price pictures side by side and ask: </a:t>
            </a:r>
            <a:r>
              <a:rPr lang="en-US" sz="105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"哪个贵？哪个便宜？"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47750" y="4583311"/>
            <a:ext cx="16192500" cy="1131391"/>
          </a:xfrm>
          <a:prstGeom prst="rect">
            <a:avLst/>
          </a:prstGeom>
          <a:solidFill>
            <a:srgbClr val="A8432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1076325" y="4583311"/>
            <a:ext cx="0" cy="1131391"/>
          </a:xfrm>
          <a:prstGeom prst="line">
            <a:avLst/>
          </a:prstGeom>
          <a:noFill/>
          <a:ln w="57150">
            <a:solidFill>
              <a:srgbClr val="A843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52550" y="4697611"/>
            <a:ext cx="159528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CONNECTION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352550" y="4916686"/>
            <a:ext cx="15952851" cy="253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95"/>
              </a:lnSpc>
              <a:buNone/>
            </a:pPr>
            <a:r>
              <a:rPr lang="en-US" sz="142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上节课我们学了怎么说价钱。牛肉二十块，猪肉十五块——</a:t>
            </a:r>
            <a:r>
              <a:rPr lang="en-US" sz="1425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牛肉比猪肉贵</a:t>
            </a:r>
            <a:r>
              <a:rPr lang="en-US" sz="142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425" dirty="0"/>
          </a:p>
        </p:txBody>
      </p:sp>
      <p:sp>
        <p:nvSpPr>
          <p:cNvPr id="37" name="Text 35"/>
          <p:cNvSpPr/>
          <p:nvPr/>
        </p:nvSpPr>
        <p:spPr>
          <a:xfrm>
            <a:off x="1352550" y="5227141"/>
            <a:ext cx="1595285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今天我们学怎么用</a:t>
            </a: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"比"</a:t>
            </a: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字句来比较两样东西。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Today we learn how to use the 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比</a:t>
            </a: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sentence pattern to compare two things.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7770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比 COMPARISON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275707" y="280988"/>
            <a:ext cx="21595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 · 8–10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33500" y="2509093"/>
            <a:ext cx="159334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33500" y="2832943"/>
            <a:ext cx="15933420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1333500" y="3871168"/>
            <a:ext cx="15621000" cy="1053405"/>
          </a:xfrm>
          <a:prstGeom prst="rect">
            <a:avLst/>
          </a:prstGeom>
          <a:solidFill>
            <a:srgbClr val="A8432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357313" y="3871168"/>
            <a:ext cx="0" cy="1053405"/>
          </a:xfrm>
          <a:prstGeom prst="line">
            <a:avLst/>
          </a:prstGeom>
          <a:noFill/>
          <a:ln w="47625">
            <a:solidFill>
              <a:srgbClr val="A843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85925" y="4080718"/>
            <a:ext cx="1526305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685925" y="4328368"/>
            <a:ext cx="15263051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</a:t>
            </a:r>
            <a:r>
              <a:rPr lang="en-US" sz="21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compare two things</a:t>
            </a:r>
            <a:r>
              <a:rPr lang="en-US" sz="21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Chinese using </a:t>
            </a:r>
            <a:r>
              <a:rPr lang="en-US" sz="21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比</a:t>
            </a:r>
            <a:r>
              <a:rPr lang="en-US" sz="21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33500" y="5267474"/>
            <a:ext cx="15621000" cy="811411"/>
          </a:xfrm>
          <a:prstGeom prst="roundRect">
            <a:avLst>
              <a:gd name="adj" fmla="val 14087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571625" y="5467499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2143125" y="5467499"/>
            <a:ext cx="95787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build a comparison sentence: </a:t>
            </a:r>
            <a:r>
              <a:rPr lang="en-US" sz="18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+ 比 + B + adjective</a:t>
            </a:r>
            <a:r>
              <a:rPr lang="en-US" sz="18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能用"A比B……"比较两样东西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33500" y="6250335"/>
            <a:ext cx="15621000" cy="811411"/>
          </a:xfrm>
          <a:prstGeom prst="roundRect">
            <a:avLst>
              <a:gd name="adj" fmla="val 14087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571625" y="6450360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2143125" y="6450360"/>
            <a:ext cx="911435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extend a 比 sentence with </a:t>
            </a:r>
            <a:r>
              <a:rPr lang="en-US" sz="18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还</a:t>
            </a:r>
            <a:r>
              <a:rPr lang="en-US" sz="18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say "even more" </a:t>
            </a:r>
            <a:r>
              <a:rPr lang="en-US" sz="18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能用"比……还……"加强比较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33500" y="7233196"/>
            <a:ext cx="15621000" cy="811411"/>
          </a:xfrm>
          <a:prstGeom prst="roundRect">
            <a:avLst>
              <a:gd name="adj" fmla="val 14087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571625" y="7433221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2143125" y="7433221"/>
            <a:ext cx="98188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write correct 比 sentences about </a:t>
            </a:r>
            <a:r>
              <a:rPr lang="en-US" sz="18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market and shopping items</a:t>
            </a:r>
            <a:r>
              <a:rPr lang="en-US" sz="18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能写出正确的"比"字句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7770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比 COMPARISON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275707" y="280988"/>
            <a:ext cx="363010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New Vocabulary &amp; Key Pattern · 10–20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028700"/>
            <a:ext cx="167106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952500" y="1285875"/>
            <a:ext cx="1671066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生词 · 比字句 Comparison Pattern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952500" y="1924050"/>
            <a:ext cx="2857500" cy="552450"/>
          </a:xfrm>
          <a:prstGeom prst="roundRect">
            <a:avLst>
              <a:gd name="adj" fmla="val 34483"/>
            </a:avLst>
          </a:prstGeom>
          <a:solidFill>
            <a:srgbClr val="A8432E">
              <a:alpha val="12000"/>
            </a:srgbClr>
          </a:solidFill>
          <a:ln w="9525">
            <a:solidFill>
              <a:srgbClr val="A843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95375" y="2043113"/>
            <a:ext cx="54406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比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24025" y="2019300"/>
            <a:ext cx="53025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bǐ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724025" y="2209800"/>
            <a:ext cx="53025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compare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952500" y="2543175"/>
            <a:ext cx="2857500" cy="552450"/>
          </a:xfrm>
          <a:prstGeom prst="roundRect">
            <a:avLst>
              <a:gd name="adj" fmla="val 34483"/>
            </a:avLst>
          </a:prstGeom>
          <a:solidFill>
            <a:srgbClr val="A8432E">
              <a:alpha val="12000"/>
            </a:srgbClr>
          </a:solidFill>
          <a:ln w="9525">
            <a:solidFill>
              <a:srgbClr val="A843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95375" y="2662238"/>
            <a:ext cx="54406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还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24025" y="2638425"/>
            <a:ext cx="9293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hái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1724025" y="2828925"/>
            <a:ext cx="9293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even more; still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952500" y="3162300"/>
            <a:ext cx="2857500" cy="552450"/>
          </a:xfrm>
          <a:prstGeom prst="roundRect">
            <a:avLst>
              <a:gd name="adj" fmla="val 34483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095375" y="3281363"/>
            <a:ext cx="54406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好吃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724025" y="3257550"/>
            <a:ext cx="4238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hǎochī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1724025" y="3448050"/>
            <a:ext cx="4238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tasty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952500" y="3781425"/>
            <a:ext cx="2857500" cy="552450"/>
          </a:xfrm>
          <a:prstGeom prst="roundRect">
            <a:avLst>
              <a:gd name="adj" fmla="val 34483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095375" y="3900488"/>
            <a:ext cx="54406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书包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724025" y="3876675"/>
            <a:ext cx="6237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shūbāo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1724025" y="4067175"/>
            <a:ext cx="6237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schoolbag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952500" y="4400550"/>
            <a:ext cx="2857500" cy="552450"/>
          </a:xfrm>
          <a:prstGeom prst="roundRect">
            <a:avLst>
              <a:gd name="adj" fmla="val 34483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095375" y="4519613"/>
            <a:ext cx="69951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铅笔盒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876425" y="4495800"/>
            <a:ext cx="6902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qiānbǐhé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1876425" y="4686300"/>
            <a:ext cx="6902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pencil case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4038600" y="1924050"/>
            <a:ext cx="13296900" cy="1123950"/>
          </a:xfrm>
          <a:prstGeom prst="rect">
            <a:avLst/>
          </a:prstGeom>
          <a:solidFill>
            <a:srgbClr val="E4D5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067175" y="1924050"/>
            <a:ext cx="0" cy="1123950"/>
          </a:xfrm>
          <a:prstGeom prst="line">
            <a:avLst/>
          </a:prstGeom>
          <a:noFill/>
          <a:ln w="57150">
            <a:solidFill>
              <a:srgbClr val="A843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05300" y="2019300"/>
            <a:ext cx="130770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STRUCTURE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305300" y="2238375"/>
            <a:ext cx="2861816" cy="504825"/>
          </a:xfrm>
          <a:prstGeom prst="roundRect">
            <a:avLst>
              <a:gd name="adj" fmla="val 22642"/>
            </a:avLst>
          </a:prstGeom>
          <a:solidFill>
            <a:srgbClr val="E4D5BC"/>
          </a:solidFill>
          <a:ln w="19050">
            <a:solidFill>
              <a:srgbClr val="A843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514850" y="2333625"/>
            <a:ext cx="17442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762054" y="2371725"/>
            <a:ext cx="57321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 比 +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400229" y="2333625"/>
            <a:ext cx="17609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649069" y="2371725"/>
            <a:ext cx="12205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5844927" y="2333625"/>
            <a:ext cx="113489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adjective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305300" y="2781300"/>
            <a:ext cx="130770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"A is more [adjective] than B."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4038600" y="3143250"/>
            <a:ext cx="13296900" cy="1123950"/>
          </a:xfrm>
          <a:prstGeom prst="rect">
            <a:avLst/>
          </a:prstGeom>
          <a:solidFill>
            <a:srgbClr val="E4D5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4067175" y="3143250"/>
            <a:ext cx="0" cy="1123950"/>
          </a:xfrm>
          <a:prstGeom prst="line">
            <a:avLst/>
          </a:prstGeom>
          <a:noFill/>
          <a:ln w="57150">
            <a:solidFill>
              <a:srgbClr val="A843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05300" y="3238500"/>
            <a:ext cx="130770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STACKED STRUCTURE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305300" y="3457575"/>
            <a:ext cx="3367683" cy="504825"/>
          </a:xfrm>
          <a:prstGeom prst="roundRect">
            <a:avLst>
              <a:gd name="adj" fmla="val 22642"/>
            </a:avLst>
          </a:prstGeom>
          <a:solidFill>
            <a:srgbClr val="E4D5BC"/>
          </a:solidFill>
          <a:ln w="19050">
            <a:solidFill>
              <a:srgbClr val="A843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514850" y="3552825"/>
            <a:ext cx="17442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4762054" y="3590925"/>
            <a:ext cx="57321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 比 +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5400229" y="3552825"/>
            <a:ext cx="17609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649069" y="3590925"/>
            <a:ext cx="12205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5844927" y="3552825"/>
            <a:ext cx="38345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adj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6297067" y="3590925"/>
            <a:ext cx="57321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 还 +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6935242" y="3552825"/>
            <a:ext cx="53875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adj2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4305300" y="4000500"/>
            <a:ext cx="130770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"A is more [adj] than B, and even more [adj2]."</a:t>
            </a:r>
            <a:endParaRPr lang="en-US" sz="975" dirty="0"/>
          </a:p>
        </p:txBody>
      </p:sp>
      <p:sp>
        <p:nvSpPr>
          <p:cNvPr id="51" name="Text 49"/>
          <p:cNvSpPr/>
          <p:nvPr/>
        </p:nvSpPr>
        <p:spPr>
          <a:xfrm>
            <a:off x="952500" y="5181600"/>
            <a:ext cx="16383000" cy="676275"/>
          </a:xfrm>
          <a:prstGeom prst="roundRect">
            <a:avLst>
              <a:gd name="adj" fmla="val 16901"/>
            </a:avLst>
          </a:prstGeom>
          <a:solidFill>
            <a:srgbClr val="3F7A52">
              <a:alpha val="10000"/>
            </a:srgbClr>
          </a:solidFill>
          <a:ln w="19050">
            <a:solidFill>
              <a:srgbClr val="3F7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1181100" y="5295900"/>
            <a:ext cx="27203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📖</a:t>
            </a:r>
            <a:endParaRPr lang="en-US" sz="2100" dirty="0"/>
          </a:p>
        </p:txBody>
      </p:sp>
      <p:sp>
        <p:nvSpPr>
          <p:cNvPr id="53" name="Text 51"/>
          <p:cNvSpPr/>
          <p:nvPr/>
        </p:nvSpPr>
        <p:spPr>
          <a:xfrm>
            <a:off x="1600200" y="5295900"/>
            <a:ext cx="362555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NOTE · 比 is used to compare two nouns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1600200" y="5553075"/>
            <a:ext cx="362555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e.g. 我比弟弟高。/ 我的头发比妹妹的长。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52500" y="5953125"/>
            <a:ext cx="167106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MODELLED EXAMPLES · 例子 (TEACHER READS ALOUD, CLASS REPEATS)</a:t>
            </a:r>
            <a:endParaRPr lang="en-US" sz="975" dirty="0"/>
          </a:p>
        </p:txBody>
      </p:sp>
      <p:sp>
        <p:nvSpPr>
          <p:cNvPr id="56" name="Text 54"/>
          <p:cNvSpPr/>
          <p:nvPr/>
        </p:nvSpPr>
        <p:spPr>
          <a:xfrm>
            <a:off x="952500" y="6181725"/>
            <a:ext cx="16383000" cy="710952"/>
          </a:xfrm>
          <a:prstGeom prst="roundRect">
            <a:avLst>
              <a:gd name="adj" fmla="val 16077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1152525" y="6257925"/>
            <a:ext cx="163026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 1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1152525" y="6400800"/>
            <a:ext cx="16302609" cy="244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42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牛肉</a:t>
            </a:r>
            <a:r>
              <a:rPr lang="en-US" sz="1425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比</a:t>
            </a:r>
            <a:r>
              <a:rPr lang="en-US" sz="142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猪肉好吃。</a:t>
            </a:r>
            <a:endParaRPr lang="en-US" sz="1425" dirty="0"/>
          </a:p>
        </p:txBody>
      </p:sp>
      <p:sp>
        <p:nvSpPr>
          <p:cNvPr id="59" name="Text 57"/>
          <p:cNvSpPr/>
          <p:nvPr/>
        </p:nvSpPr>
        <p:spPr>
          <a:xfrm>
            <a:off x="1152525" y="6654552"/>
            <a:ext cx="163026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Beef tastes better than pork.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952500" y="6949827"/>
            <a:ext cx="16383000" cy="710952"/>
          </a:xfrm>
          <a:prstGeom prst="roundRect">
            <a:avLst>
              <a:gd name="adj" fmla="val 16077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1152525" y="7026027"/>
            <a:ext cx="163026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 2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1152525" y="7168902"/>
            <a:ext cx="16302609" cy="244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42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我的书包</a:t>
            </a:r>
            <a:r>
              <a:rPr lang="en-US" sz="1425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比</a:t>
            </a:r>
            <a:r>
              <a:rPr lang="en-US" sz="142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铅笔盒便宜。</a:t>
            </a:r>
            <a:endParaRPr lang="en-US" sz="1425" dirty="0"/>
          </a:p>
        </p:txBody>
      </p:sp>
      <p:sp>
        <p:nvSpPr>
          <p:cNvPr id="63" name="Text 61"/>
          <p:cNvSpPr/>
          <p:nvPr/>
        </p:nvSpPr>
        <p:spPr>
          <a:xfrm>
            <a:off x="1152525" y="7422654"/>
            <a:ext cx="163026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My schoolbag is cheaper than my pencil case.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952500" y="7717929"/>
            <a:ext cx="16383000" cy="710952"/>
          </a:xfrm>
          <a:prstGeom prst="roundRect">
            <a:avLst>
              <a:gd name="adj" fmla="val 16077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1152525" y="7794129"/>
            <a:ext cx="163026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 3 — STACKED 比……还……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1152525" y="7937004"/>
            <a:ext cx="16302609" cy="244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42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那里的菜</a:t>
            </a:r>
            <a:r>
              <a:rPr lang="en-US" sz="1425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比</a:t>
            </a:r>
            <a:r>
              <a:rPr lang="en-US" sz="142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超市里的新鲜，</a:t>
            </a:r>
            <a:r>
              <a:rPr lang="en-US" sz="1425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还</a:t>
            </a:r>
            <a:r>
              <a:rPr lang="en-US" sz="142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便宜。</a:t>
            </a:r>
            <a:endParaRPr lang="en-US" sz="1425" dirty="0"/>
          </a:p>
        </p:txBody>
      </p:sp>
      <p:sp>
        <p:nvSpPr>
          <p:cNvPr id="67" name="Text 65"/>
          <p:cNvSpPr/>
          <p:nvPr/>
        </p:nvSpPr>
        <p:spPr>
          <a:xfrm>
            <a:off x="1152525" y="8190756"/>
            <a:ext cx="163026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vegetables there are fresher than the supermarket's, and even cheaper.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7770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比 COMPARISON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275707" y="280988"/>
            <a:ext cx="26623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Checkpoints · 10–20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1049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CHECK FOR UNDERSTANDING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1409700"/>
            <a:ext cx="1671066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检查理解 · CFU Checkpoints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952500" y="2257425"/>
            <a:ext cx="5334000" cy="3255615"/>
          </a:xfrm>
          <a:prstGeom prst="roundRect">
            <a:avLst>
              <a:gd name="adj" fmla="val 8192"/>
            </a:avLst>
          </a:prstGeom>
          <a:solidFill>
            <a:srgbClr val="D45A3A">
              <a:alpha val="10000"/>
            </a:srgbClr>
          </a:solidFill>
          <a:ln w="9525">
            <a:solidFill>
              <a:srgbClr val="D45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71575" y="251460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D45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36328" y="259080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71575" y="3048000"/>
            <a:ext cx="499376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CORRECTION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171575" y="3333750"/>
            <a:ext cx="499376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What's Wrong?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1171575" y="3752850"/>
            <a:ext cx="4993767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projects: </a:t>
            </a:r>
            <a:r>
              <a:rPr lang="en-US" sz="15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我比高弟弟。</a:t>
            </a:r>
            <a:endParaRPr lang="en-US" sz="12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"What's wrong with this sentence?" — word order.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71575" y="4436715"/>
            <a:ext cx="4895850" cy="819150"/>
          </a:xfrm>
          <a:prstGeom prst="roundRect">
            <a:avLst>
              <a:gd name="adj" fmla="val 13953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304925" y="4531965"/>
            <a:ext cx="10687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D45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我比高弟弟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304925" y="4874865"/>
            <a:ext cx="10687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F7A5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我比弟弟高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477000" y="2257425"/>
            <a:ext cx="5334000" cy="3255615"/>
          </a:xfrm>
          <a:prstGeom prst="roundRect">
            <a:avLst>
              <a:gd name="adj" fmla="val 8192"/>
            </a:avLst>
          </a:prstGeom>
          <a:solidFill>
            <a:srgbClr val="3F7A52">
              <a:alpha val="10000"/>
            </a:srgbClr>
          </a:solidFill>
          <a:ln w="9525">
            <a:solidFill>
              <a:srgbClr val="3F7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696075" y="251460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3F7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860828" y="259080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96075" y="3048000"/>
            <a:ext cx="499376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MAKE A SENTENCE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6696075" y="3333750"/>
            <a:ext cx="499376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Whiteboard Check</a:t>
            </a:r>
            <a:endParaRPr lang="en-US" sz="1725" dirty="0"/>
          </a:p>
        </p:txBody>
      </p:sp>
      <p:sp>
        <p:nvSpPr>
          <p:cNvPr id="23" name="Text 21"/>
          <p:cNvSpPr/>
          <p:nvPr/>
        </p:nvSpPr>
        <p:spPr>
          <a:xfrm>
            <a:off x="6696075" y="3752850"/>
            <a:ext cx="4993767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"Give me a sentence with </a:t>
            </a:r>
            <a:r>
              <a:rPr lang="en-US" sz="12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比</a:t>
            </a: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 Write it on your whiteboard."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001500" y="2257425"/>
            <a:ext cx="5334000" cy="3255615"/>
          </a:xfrm>
          <a:prstGeom prst="roundRect">
            <a:avLst>
              <a:gd name="adj" fmla="val 8192"/>
            </a:avLst>
          </a:prstGeom>
          <a:solidFill>
            <a:srgbClr val="A8432E">
              <a:alpha val="12000"/>
            </a:srgbClr>
          </a:solidFill>
          <a:ln w="9525">
            <a:solidFill>
              <a:srgbClr val="A843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2220575" y="251460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2385328" y="259080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220575" y="3048000"/>
            <a:ext cx="499376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12220575" y="3333750"/>
            <a:ext cx="499376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Compare Two Fruits</a:t>
            </a:r>
            <a:endParaRPr lang="en-US" sz="1725" dirty="0"/>
          </a:p>
        </p:txBody>
      </p:sp>
      <p:sp>
        <p:nvSpPr>
          <p:cNvPr id="29" name="Text 27"/>
          <p:cNvSpPr/>
          <p:nvPr/>
        </p:nvSpPr>
        <p:spPr>
          <a:xfrm>
            <a:off x="12220575" y="3752850"/>
            <a:ext cx="499376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"Sam，用</a:t>
            </a:r>
            <a:r>
              <a:rPr lang="en-US" sz="12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'比'</a:t>
            </a: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比较</a:t>
            </a:r>
            <a:r>
              <a:rPr lang="en-US" sz="15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'苹果'</a:t>
            </a: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和</a:t>
            </a:r>
            <a:r>
              <a:rPr lang="en-US" sz="15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'香蕉'</a:t>
            </a: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。"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52500" y="5722590"/>
            <a:ext cx="16383000" cy="476250"/>
          </a:xfrm>
          <a:prstGeom prst="roundRect">
            <a:avLst>
              <a:gd name="adj" fmla="val 24000"/>
            </a:avLst>
          </a:prstGeom>
          <a:solidFill>
            <a:srgbClr val="C68A1E">
              <a:alpha val="12000"/>
            </a:srgbClr>
          </a:solidFill>
          <a:ln w="9525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190625" y="5846415"/>
            <a:ext cx="162248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note:</a:t>
            </a: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Aim for 100% participation on checks 2 and 3 (whiteboards up on three). For the error correction, listen for students correctly naming it as a word-order error, not just fixing it by instinct.</a:t>
            </a:r>
            <a:endParaRPr lang="en-US" sz="1275" dirty="0"/>
          </a:p>
        </p:txBody>
      </p:sp>
      <p:sp>
        <p:nvSpPr>
          <p:cNvPr id="32" name="Shape 30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7770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比 COMPARISON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275707" y="280988"/>
            <a:ext cx="31763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Warm-Up + We Do · Activity 1 · 20–29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009650"/>
            <a:ext cx="167106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20–29 MIN · FLEXIBLE PRACTICE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952500" y="1266825"/>
            <a:ext cx="16710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活动一 · 比字句填空 Guided Completion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52500" y="1838325"/>
            <a:ext cx="16383000" cy="438150"/>
          </a:xfrm>
          <a:prstGeom prst="roundRect">
            <a:avLst>
              <a:gd name="adj" fmla="val 26087"/>
            </a:avLst>
          </a:prstGeom>
          <a:solidFill>
            <a:srgbClr val="E4D5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43000" y="1976438"/>
            <a:ext cx="14967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WARM-UP · 3–4 MIN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62845" y="1976438"/>
            <a:ext cx="48062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Component Recall (Workbook Ex. 3) — write the matching 汉字 on mini whiteboards: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808268" y="1971675"/>
            <a:ext cx="6979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1/30 metre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8797379" y="1971675"/>
            <a:ext cx="2406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rice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9338072" y="1971675"/>
            <a:ext cx="2609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foot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9898707" y="1971675"/>
            <a:ext cx="2967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fight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10494466" y="1971675"/>
            <a:ext cx="5304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strength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11319272" y="1971675"/>
            <a:ext cx="696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blue/green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12306449" y="1971675"/>
            <a:ext cx="3614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arrow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12965609" y="1971675"/>
            <a:ext cx="4245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utensil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13686681" y="1971675"/>
            <a:ext cx="3388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down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952500" y="2409825"/>
            <a:ext cx="16383000" cy="4238625"/>
          </a:xfrm>
          <a:prstGeom prst="roundRect">
            <a:avLst>
              <a:gd name="adj" fmla="val 4494"/>
            </a:avLst>
          </a:prstGeom>
          <a:solidFill>
            <a:srgbClr val="F1E8D8"/>
          </a:solidFill>
          <a:ln w="19050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238250" y="2295525"/>
            <a:ext cx="3598218" cy="266700"/>
          </a:xfrm>
          <a:prstGeom prst="roundRect">
            <a:avLst>
              <a:gd name="adj" fmla="val 3567857"/>
            </a:avLst>
          </a:prstGeom>
          <a:solidFill>
            <a:srgbClr val="3F7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409700" y="2333625"/>
            <a:ext cx="33204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Act. 4, p.93 — 6 min · 23–29 min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219200" y="2752725"/>
            <a:ext cx="15849600" cy="428625"/>
          </a:xfrm>
          <a:prstGeom prst="roundRect">
            <a:avLst>
              <a:gd name="adj" fmla="val 26667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390650" y="2843213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3F7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486495" y="2881313"/>
            <a:ext cx="570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1771650" y="2871788"/>
            <a:ext cx="11658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牛肉／猪肉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048000" y="2828925"/>
            <a:ext cx="204997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牛肉</a:t>
            </a:r>
            <a:r>
              <a:rPr lang="en-US" sz="157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猪肉好吃。</a:t>
            </a:r>
            <a:endParaRPr lang="en-US" sz="1575" dirty="0"/>
          </a:p>
        </p:txBody>
      </p:sp>
      <p:sp>
        <p:nvSpPr>
          <p:cNvPr id="29" name="Text 27"/>
          <p:cNvSpPr/>
          <p:nvPr/>
        </p:nvSpPr>
        <p:spPr>
          <a:xfrm>
            <a:off x="1219200" y="3257550"/>
            <a:ext cx="15849600" cy="428625"/>
          </a:xfrm>
          <a:prstGeom prst="roundRect">
            <a:avLst>
              <a:gd name="adj" fmla="val 26667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390650" y="3348038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3F7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475184" y="3386138"/>
            <a:ext cx="800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1771650" y="3376613"/>
            <a:ext cx="11658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书包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048000" y="3333750"/>
            <a:ext cx="286607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我的书包</a:t>
            </a:r>
            <a:r>
              <a:rPr lang="en-US" sz="157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你的书包便宜。</a:t>
            </a:r>
            <a:endParaRPr lang="en-US" sz="1575" dirty="0"/>
          </a:p>
        </p:txBody>
      </p:sp>
      <p:sp>
        <p:nvSpPr>
          <p:cNvPr id="34" name="Text 32"/>
          <p:cNvSpPr/>
          <p:nvPr/>
        </p:nvSpPr>
        <p:spPr>
          <a:xfrm>
            <a:off x="1219200" y="3762375"/>
            <a:ext cx="15849600" cy="428625"/>
          </a:xfrm>
          <a:prstGeom prst="roundRect">
            <a:avLst>
              <a:gd name="adj" fmla="val 26667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390650" y="3852863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3F7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474887" y="3890962"/>
            <a:ext cx="806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1771650" y="3881438"/>
            <a:ext cx="11658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夏天热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048000" y="3838575"/>
            <a:ext cx="225399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今年夏天</a:t>
            </a:r>
            <a:r>
              <a:rPr lang="en-US" sz="157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去年热。</a:t>
            </a:r>
            <a:endParaRPr lang="en-US" sz="1575" dirty="0"/>
          </a:p>
        </p:txBody>
      </p:sp>
      <p:sp>
        <p:nvSpPr>
          <p:cNvPr id="39" name="Text 37"/>
          <p:cNvSpPr/>
          <p:nvPr/>
        </p:nvSpPr>
        <p:spPr>
          <a:xfrm>
            <a:off x="1219200" y="4267200"/>
            <a:ext cx="15849600" cy="428625"/>
          </a:xfrm>
          <a:prstGeom prst="roundRect">
            <a:avLst>
              <a:gd name="adj" fmla="val 26667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390650" y="4357688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3F7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474440" y="4395788"/>
            <a:ext cx="815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1771650" y="4386263"/>
            <a:ext cx="11658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凉鞋舒服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048000" y="4343400"/>
            <a:ext cx="204997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凉鞋</a:t>
            </a:r>
            <a:r>
              <a:rPr lang="en-US" sz="157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皮鞋舒服。</a:t>
            </a:r>
            <a:endParaRPr lang="en-US" sz="1575" dirty="0"/>
          </a:p>
        </p:txBody>
      </p:sp>
      <p:sp>
        <p:nvSpPr>
          <p:cNvPr id="44" name="Text 42"/>
          <p:cNvSpPr/>
          <p:nvPr/>
        </p:nvSpPr>
        <p:spPr>
          <a:xfrm>
            <a:off x="1219200" y="4772025"/>
            <a:ext cx="15849600" cy="428625"/>
          </a:xfrm>
          <a:prstGeom prst="roundRect">
            <a:avLst>
              <a:gd name="adj" fmla="val 26667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1390650" y="4862513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3F7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1475036" y="4900613"/>
            <a:ext cx="804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975" dirty="0"/>
          </a:p>
        </p:txBody>
      </p:sp>
      <p:sp>
        <p:nvSpPr>
          <p:cNvPr id="47" name="Text 45"/>
          <p:cNvSpPr/>
          <p:nvPr/>
        </p:nvSpPr>
        <p:spPr>
          <a:xfrm>
            <a:off x="1771650" y="4891088"/>
            <a:ext cx="11658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空调小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3048000" y="4848225"/>
            <a:ext cx="266204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这台空调</a:t>
            </a:r>
            <a:r>
              <a:rPr lang="en-US" sz="157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那台空调小。</a:t>
            </a:r>
            <a:endParaRPr lang="en-US" sz="1575" dirty="0"/>
          </a:p>
        </p:txBody>
      </p:sp>
      <p:sp>
        <p:nvSpPr>
          <p:cNvPr id="49" name="Text 47"/>
          <p:cNvSpPr/>
          <p:nvPr/>
        </p:nvSpPr>
        <p:spPr>
          <a:xfrm>
            <a:off x="1219200" y="5295900"/>
            <a:ext cx="4814590" cy="228600"/>
          </a:xfrm>
          <a:prstGeom prst="roundRect">
            <a:avLst>
              <a:gd name="adj" fmla="val 4162500"/>
            </a:avLst>
          </a:prstGeom>
          <a:solidFill>
            <a:srgbClr val="D45A3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1352550" y="5324475"/>
            <a:ext cx="46388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 · all students write all 5 sentences; whole-class check via cold call</a:t>
            </a:r>
            <a:endParaRPr lang="en-US" sz="975" dirty="0"/>
          </a:p>
        </p:txBody>
      </p:sp>
      <p:sp>
        <p:nvSpPr>
          <p:cNvPr id="51" name="Text 49"/>
          <p:cNvSpPr/>
          <p:nvPr/>
        </p:nvSpPr>
        <p:spPr>
          <a:xfrm>
            <a:off x="1219200" y="5657850"/>
            <a:ext cx="5181600" cy="819150"/>
          </a:xfrm>
          <a:prstGeom prst="roundRect">
            <a:avLst>
              <a:gd name="adj" fmla="val 13953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1371600" y="5772150"/>
            <a:ext cx="49743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53" name="Text 51"/>
          <p:cNvSpPr/>
          <p:nvPr/>
        </p:nvSpPr>
        <p:spPr>
          <a:xfrm>
            <a:off x="1371600" y="5962650"/>
            <a:ext cx="497433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Keep the NOTE box example sentence (我比弟弟高。) projected as a model.</a:t>
            </a:r>
            <a:endParaRPr lang="en-US" sz="1125" dirty="0"/>
          </a:p>
        </p:txBody>
      </p:sp>
      <p:sp>
        <p:nvSpPr>
          <p:cNvPr id="54" name="Text 52"/>
          <p:cNvSpPr/>
          <p:nvPr/>
        </p:nvSpPr>
        <p:spPr>
          <a:xfrm>
            <a:off x="6553200" y="5657850"/>
            <a:ext cx="5181600" cy="819150"/>
          </a:xfrm>
          <a:prstGeom prst="roundRect">
            <a:avLst>
              <a:gd name="adj" fmla="val 13953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6705600" y="5772150"/>
            <a:ext cx="49743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56" name="Text 54"/>
          <p:cNvSpPr/>
          <p:nvPr/>
        </p:nvSpPr>
        <p:spPr>
          <a:xfrm>
            <a:off x="6705600" y="5962650"/>
            <a:ext cx="497433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"It is your turn" — write 2 more original 比 sentences about market items not given in the textbook.</a:t>
            </a:r>
            <a:endParaRPr lang="en-US" sz="1125" dirty="0"/>
          </a:p>
        </p:txBody>
      </p:sp>
      <p:sp>
        <p:nvSpPr>
          <p:cNvPr id="57" name="Text 55"/>
          <p:cNvSpPr/>
          <p:nvPr/>
        </p:nvSpPr>
        <p:spPr>
          <a:xfrm>
            <a:off x="11887200" y="5657850"/>
            <a:ext cx="5181600" cy="819150"/>
          </a:xfrm>
          <a:prstGeom prst="roundRect">
            <a:avLst>
              <a:gd name="adj" fmla="val 13953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12039600" y="5772150"/>
            <a:ext cx="49743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25" dirty="0"/>
          </a:p>
        </p:txBody>
      </p:sp>
      <p:sp>
        <p:nvSpPr>
          <p:cNvPr id="59" name="Text 57"/>
          <p:cNvSpPr/>
          <p:nvPr/>
        </p:nvSpPr>
        <p:spPr>
          <a:xfrm>
            <a:off x="12039600" y="5962650"/>
            <a:ext cx="497433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models the first 2 as a think-aloud; students complete the remaining 3 independently.</a:t>
            </a:r>
            <a:endParaRPr lang="en-US" sz="1125" dirty="0"/>
          </a:p>
        </p:txBody>
      </p:sp>
      <p:sp>
        <p:nvSpPr>
          <p:cNvPr id="60" name="Shape 58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7770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比 COMPARISON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275707" y="280988"/>
            <a:ext cx="30122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/ You Do · Activity 2 · 29–34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0668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29–34 MIN · ACT. 5, P.93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1352550"/>
            <a:ext cx="1671066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活动二 · 我的比你的… Ownership Roleplay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952500" y="2085975"/>
            <a:ext cx="8431857" cy="3748980"/>
          </a:xfrm>
          <a:prstGeom prst="roundRect">
            <a:avLst>
              <a:gd name="adj" fmla="val 5081"/>
            </a:avLst>
          </a:prstGeom>
          <a:solidFill>
            <a:srgbClr val="F1E8D8"/>
          </a:solidFill>
          <a:ln w="19050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38250" y="1971675"/>
            <a:ext cx="2483048" cy="266700"/>
          </a:xfrm>
          <a:prstGeom prst="roundRect">
            <a:avLst>
              <a:gd name="adj" fmla="val 3567857"/>
            </a:avLst>
          </a:prstGeom>
          <a:solidFill>
            <a:srgbClr val="3F7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409700" y="2009775"/>
            <a:ext cx="218295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/ YOU DO · Roleplay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19200" y="246697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3F7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324570" y="2514600"/>
            <a:ext cx="570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1619250" y="2486025"/>
            <a:ext cx="56730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models the sneaker dialogue with a confident student at the front.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19200" y="282892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3F7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313259" y="2876550"/>
            <a:ext cx="800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1619250" y="2847975"/>
            <a:ext cx="72662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Pairs pick </a:t>
            </a:r>
            <a:r>
              <a:rPr lang="en-US" sz="12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of the 6</a:t>
            </a: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item prompts and practise their own version, swapping roles after 3 items.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19200" y="319087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3F7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312962" y="3238500"/>
            <a:ext cx="806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1619250" y="3209925"/>
            <a:ext cx="30418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</a:t>
            </a:r>
            <a:r>
              <a:rPr lang="en-US" sz="12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pair</a:t>
            </a: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perform for the class.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19200" y="3571875"/>
            <a:ext cx="3261420" cy="228600"/>
          </a:xfrm>
          <a:prstGeom prst="roundRect">
            <a:avLst>
              <a:gd name="adj" fmla="val 4162500"/>
            </a:avLst>
          </a:prstGeom>
          <a:solidFill>
            <a:srgbClr val="D45A3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352550" y="3600450"/>
            <a:ext cx="30546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 · every pair performs at least 3 exchanges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1219200" y="4029075"/>
            <a:ext cx="2531120" cy="1019175"/>
          </a:xfrm>
          <a:prstGeom prst="roundRect">
            <a:avLst>
              <a:gd name="adj" fmla="val 11215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371600" y="4143375"/>
            <a:ext cx="22708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1371600" y="4333875"/>
            <a:ext cx="2270846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Dialogue frame on the projector: "这___是我的。" / "我的比这个___。"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3902720" y="4029075"/>
            <a:ext cx="2531269" cy="1019175"/>
          </a:xfrm>
          <a:prstGeom prst="roundRect">
            <a:avLst>
              <a:gd name="adj" fmla="val 11215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055120" y="4143375"/>
            <a:ext cx="22709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055120" y="4333875"/>
            <a:ext cx="227099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a second comparison with 还 — e.g. 我的比这个新，还便宜。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9670107" y="2085975"/>
            <a:ext cx="7665393" cy="996255"/>
          </a:xfrm>
          <a:prstGeom prst="roundRect">
            <a:avLst>
              <a:gd name="adj" fmla="val 11473"/>
            </a:avLst>
          </a:prstGeom>
          <a:solidFill>
            <a:srgbClr val="E4D5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9841557" y="2200275"/>
            <a:ext cx="74689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 DIALOGUE — 运动鞋 SNEAKERS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841557" y="2419350"/>
            <a:ext cx="746894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3F7A5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A:</a:t>
            </a:r>
            <a:r>
              <a:rPr lang="en-US" sz="135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这双运动鞋是我的。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841557" y="2693640"/>
            <a:ext cx="746894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3F7A5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B:</a:t>
            </a:r>
            <a:r>
              <a:rPr lang="en-US" sz="135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我的比这双新。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9670107" y="3215580"/>
            <a:ext cx="2491532" cy="828675"/>
          </a:xfrm>
          <a:prstGeom prst="roundRect">
            <a:avLst>
              <a:gd name="adj" fmla="val 22989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0799213" y="3339405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☂️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750635" y="3691830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雨伞</a:t>
            </a:r>
            <a:endParaRPr lang="en-US" sz="1275" dirty="0"/>
          </a:p>
        </p:txBody>
      </p:sp>
      <p:sp>
        <p:nvSpPr>
          <p:cNvPr id="36" name="Text 34"/>
          <p:cNvSpPr/>
          <p:nvPr/>
        </p:nvSpPr>
        <p:spPr>
          <a:xfrm>
            <a:off x="12256889" y="3215580"/>
            <a:ext cx="2491680" cy="828675"/>
          </a:xfrm>
          <a:prstGeom prst="roundRect">
            <a:avLst>
              <a:gd name="adj" fmla="val 22989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3386143" y="3339405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🧥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3337566" y="3691830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外套</a:t>
            </a:r>
            <a:endParaRPr lang="en-US" sz="1275" dirty="0"/>
          </a:p>
        </p:txBody>
      </p:sp>
      <p:sp>
        <p:nvSpPr>
          <p:cNvPr id="39" name="Text 37"/>
          <p:cNvSpPr/>
          <p:nvPr/>
        </p:nvSpPr>
        <p:spPr>
          <a:xfrm>
            <a:off x="14843820" y="3215580"/>
            <a:ext cx="2491532" cy="828675"/>
          </a:xfrm>
          <a:prstGeom prst="roundRect">
            <a:avLst>
              <a:gd name="adj" fmla="val 22989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5972925" y="3339405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📐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5841766" y="3691830"/>
            <a:ext cx="4954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铅笔盒</a:t>
            </a:r>
            <a:endParaRPr lang="en-US" sz="1275" dirty="0"/>
          </a:p>
        </p:txBody>
      </p:sp>
      <p:sp>
        <p:nvSpPr>
          <p:cNvPr id="42" name="Text 40"/>
          <p:cNvSpPr/>
          <p:nvPr/>
        </p:nvSpPr>
        <p:spPr>
          <a:xfrm>
            <a:off x="9670107" y="4139505"/>
            <a:ext cx="2491532" cy="828675"/>
          </a:xfrm>
          <a:prstGeom prst="roundRect">
            <a:avLst>
              <a:gd name="adj" fmla="val 22989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0799213" y="4263330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👖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0750635" y="4615755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裤子</a:t>
            </a:r>
            <a:endParaRPr lang="en-US" sz="1275" dirty="0"/>
          </a:p>
        </p:txBody>
      </p:sp>
      <p:sp>
        <p:nvSpPr>
          <p:cNvPr id="45" name="Text 43"/>
          <p:cNvSpPr/>
          <p:nvPr/>
        </p:nvSpPr>
        <p:spPr>
          <a:xfrm>
            <a:off x="12256889" y="4139505"/>
            <a:ext cx="2491680" cy="828675"/>
          </a:xfrm>
          <a:prstGeom prst="roundRect">
            <a:avLst>
              <a:gd name="adj" fmla="val 22989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13386143" y="4263330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📱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3337566" y="4615755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手机</a:t>
            </a:r>
            <a:endParaRPr lang="en-US" sz="1275" dirty="0"/>
          </a:p>
        </p:txBody>
      </p:sp>
      <p:sp>
        <p:nvSpPr>
          <p:cNvPr id="48" name="Text 46"/>
          <p:cNvSpPr/>
          <p:nvPr/>
        </p:nvSpPr>
        <p:spPr>
          <a:xfrm>
            <a:off x="14843820" y="4139505"/>
            <a:ext cx="2491532" cy="828675"/>
          </a:xfrm>
          <a:prstGeom prst="roundRect">
            <a:avLst>
              <a:gd name="adj" fmla="val 22989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15972925" y="4263330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👡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5924347" y="4615755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凉鞋</a:t>
            </a:r>
            <a:endParaRPr lang="en-US" sz="1275" dirty="0"/>
          </a:p>
        </p:txBody>
      </p:sp>
      <p:sp>
        <p:nvSpPr>
          <p:cNvPr id="51" name="Text 49"/>
          <p:cNvSpPr/>
          <p:nvPr/>
        </p:nvSpPr>
        <p:spPr>
          <a:xfrm>
            <a:off x="9670107" y="5101530"/>
            <a:ext cx="7665393" cy="733425"/>
          </a:xfrm>
          <a:prstGeom prst="rect">
            <a:avLst/>
          </a:prstGeom>
          <a:solidFill>
            <a:srgbClr val="E4D5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9693920" y="5101530"/>
            <a:ext cx="0" cy="733425"/>
          </a:xfrm>
          <a:prstGeom prst="line">
            <a:avLst/>
          </a:prstGeom>
          <a:noFill/>
          <a:ln w="47625">
            <a:solidFill>
              <a:srgbClr val="A8432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946332" y="5253930"/>
            <a:ext cx="730377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</a:t>
            </a:r>
            <a:r>
              <a:rPr lang="en-US" sz="24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是我的。／我的比这个</a:t>
            </a:r>
            <a:r>
              <a:rPr lang="en-US" sz="24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400" dirty="0"/>
          </a:p>
        </p:txBody>
      </p:sp>
      <p:sp>
        <p:nvSpPr>
          <p:cNvPr id="54" name="Shape 52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7770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比 COMPARISON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275707" y="280988"/>
            <a:ext cx="2358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Activity 3 · 34–40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04775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34–40 MIN · WORKBOOK EX. 10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1333500"/>
            <a:ext cx="1671066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活动三 · Workbook 比 Practice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52500" y="2019300"/>
            <a:ext cx="7852172" cy="3552825"/>
          </a:xfrm>
          <a:prstGeom prst="roundRect">
            <a:avLst>
              <a:gd name="adj" fmla="val 5362"/>
            </a:avLst>
          </a:prstGeom>
          <a:solidFill>
            <a:srgbClr val="F1E8D8"/>
          </a:solidFill>
          <a:ln w="19050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38250" y="1905000"/>
            <a:ext cx="2649587" cy="266700"/>
          </a:xfrm>
          <a:prstGeom prst="roundRect">
            <a:avLst>
              <a:gd name="adj" fmla="val 3567857"/>
            </a:avLst>
          </a:prstGeom>
          <a:solidFill>
            <a:srgbClr val="3F7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409700" y="1943100"/>
            <a:ext cx="23528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Independent Writing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19200" y="2381250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D45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317129" y="2424113"/>
            <a:ext cx="52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00200" y="2390775"/>
            <a:ext cx="582869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complete as many of the </a:t>
            </a:r>
            <a:r>
              <a:rPr lang="en-US" sz="1125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 比 sentences</a:t>
            </a: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as they can in exercise books.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219200" y="2714625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D45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306711" y="2757488"/>
            <a:ext cx="73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00200" y="2724150"/>
            <a:ext cx="549730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Pair-swap books to check </a:t>
            </a:r>
            <a:r>
              <a:rPr lang="en-US" sz="1125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sentences</a:t>
            </a: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each before teacher reveals answers.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219200" y="3048000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D45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306413" y="3090863"/>
            <a:ext cx="745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00200" y="3057525"/>
            <a:ext cx="707652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Any unfinished items are completed as a quick 2-minute consolidation at the start of next lesson's Review.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1219200" y="3581400"/>
            <a:ext cx="74651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ADJECTIVE BANK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343025" y="3838575"/>
            <a:ext cx="1360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贵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781175" y="3838575"/>
            <a:ext cx="27203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便宜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352675" y="3838575"/>
            <a:ext cx="1360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新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790825" y="3838575"/>
            <a:ext cx="1360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旧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28975" y="3838575"/>
            <a:ext cx="1360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长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67125" y="3838575"/>
            <a:ext cx="1360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短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105275" y="3838575"/>
            <a:ext cx="1360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大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43425" y="3838575"/>
            <a:ext cx="1360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981575" y="3838575"/>
            <a:ext cx="27203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好吃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553075" y="3838575"/>
            <a:ext cx="27203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好看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219200" y="4181475"/>
            <a:ext cx="2337941" cy="1219200"/>
          </a:xfrm>
          <a:prstGeom prst="roundRect">
            <a:avLst>
              <a:gd name="adj" fmla="val 9375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371600" y="4295775"/>
            <a:ext cx="20738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1371600" y="4486275"/>
            <a:ext cx="2073804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Adjective bank above stays on the board for students who need support choosing the comparison word.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3709541" y="4181475"/>
            <a:ext cx="2337941" cy="1219200"/>
          </a:xfrm>
          <a:prstGeom prst="roundRect">
            <a:avLst>
              <a:gd name="adj" fmla="val 9375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861941" y="4295775"/>
            <a:ext cx="20738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3861941" y="4486275"/>
            <a:ext cx="2073804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Fluent speakers add 还 to stack a second comparison onto at least 2 of their sentences.</a:t>
            </a:r>
            <a:endParaRPr lang="en-US" sz="1125" dirty="0"/>
          </a:p>
        </p:txBody>
      </p:sp>
      <p:sp>
        <p:nvSpPr>
          <p:cNvPr id="38" name="Text 36"/>
          <p:cNvSpPr/>
          <p:nvPr/>
        </p:nvSpPr>
        <p:spPr>
          <a:xfrm>
            <a:off x="9090422" y="2019300"/>
            <a:ext cx="2697510" cy="714375"/>
          </a:xfrm>
          <a:prstGeom prst="roundRect">
            <a:avLst>
              <a:gd name="adj" fmla="val 16000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0332232" y="2124075"/>
            <a:ext cx="21374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🚗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0293370" y="2428875"/>
            <a:ext cx="2914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汽车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11864132" y="2019300"/>
            <a:ext cx="2697510" cy="714375"/>
          </a:xfrm>
          <a:prstGeom prst="roundRect">
            <a:avLst>
              <a:gd name="adj" fmla="val 16000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3105942" y="2124075"/>
            <a:ext cx="21374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🥬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3139946" y="2428875"/>
            <a:ext cx="1457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菜</a:t>
            </a:r>
            <a:endParaRPr lang="en-US" sz="1125" dirty="0"/>
          </a:p>
        </p:txBody>
      </p:sp>
      <p:sp>
        <p:nvSpPr>
          <p:cNvPr id="44" name="Text 42"/>
          <p:cNvSpPr/>
          <p:nvPr/>
        </p:nvSpPr>
        <p:spPr>
          <a:xfrm>
            <a:off x="14637841" y="2019300"/>
            <a:ext cx="2697659" cy="714375"/>
          </a:xfrm>
          <a:prstGeom prst="roundRect">
            <a:avLst>
              <a:gd name="adj" fmla="val 16000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15879800" y="2124075"/>
            <a:ext cx="21374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💻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15840938" y="2428875"/>
            <a:ext cx="2914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电脑</a:t>
            </a:r>
            <a:endParaRPr lang="en-US" sz="1125" dirty="0"/>
          </a:p>
        </p:txBody>
      </p:sp>
      <p:sp>
        <p:nvSpPr>
          <p:cNvPr id="47" name="Text 45"/>
          <p:cNvSpPr/>
          <p:nvPr/>
        </p:nvSpPr>
        <p:spPr>
          <a:xfrm>
            <a:off x="9090422" y="2809875"/>
            <a:ext cx="2697510" cy="714375"/>
          </a:xfrm>
          <a:prstGeom prst="roundRect">
            <a:avLst>
              <a:gd name="adj" fmla="val 16000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0332232" y="2914650"/>
            <a:ext cx="21374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🧑‍🎓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0293370" y="3219450"/>
            <a:ext cx="2914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学生</a:t>
            </a:r>
            <a:endParaRPr lang="en-US" sz="1125" dirty="0"/>
          </a:p>
        </p:txBody>
      </p:sp>
      <p:sp>
        <p:nvSpPr>
          <p:cNvPr id="50" name="Text 48"/>
          <p:cNvSpPr/>
          <p:nvPr/>
        </p:nvSpPr>
        <p:spPr>
          <a:xfrm>
            <a:off x="11864132" y="2809875"/>
            <a:ext cx="2697510" cy="714375"/>
          </a:xfrm>
          <a:prstGeom prst="roundRect">
            <a:avLst>
              <a:gd name="adj" fmla="val 16000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13105942" y="2914650"/>
            <a:ext cx="21374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🧢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13067080" y="3219450"/>
            <a:ext cx="2914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帽子</a:t>
            </a:r>
            <a:endParaRPr lang="en-US" sz="1125" dirty="0"/>
          </a:p>
        </p:txBody>
      </p:sp>
      <p:sp>
        <p:nvSpPr>
          <p:cNvPr id="53" name="Text 51"/>
          <p:cNvSpPr/>
          <p:nvPr/>
        </p:nvSpPr>
        <p:spPr>
          <a:xfrm>
            <a:off x="14637841" y="2809875"/>
            <a:ext cx="2697659" cy="714375"/>
          </a:xfrm>
          <a:prstGeom prst="roundRect">
            <a:avLst>
              <a:gd name="adj" fmla="val 16000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15879800" y="2914650"/>
            <a:ext cx="21374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📿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15840938" y="3219450"/>
            <a:ext cx="2914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项链</a:t>
            </a:r>
            <a:endParaRPr lang="en-US" sz="1125" dirty="0"/>
          </a:p>
        </p:txBody>
      </p:sp>
      <p:sp>
        <p:nvSpPr>
          <p:cNvPr id="56" name="Text 54"/>
          <p:cNvSpPr/>
          <p:nvPr/>
        </p:nvSpPr>
        <p:spPr>
          <a:xfrm>
            <a:off x="9090422" y="3600450"/>
            <a:ext cx="2697510" cy="714375"/>
          </a:xfrm>
          <a:prstGeom prst="roundRect">
            <a:avLst>
              <a:gd name="adj" fmla="val 16000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10332232" y="3705225"/>
            <a:ext cx="21374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👢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10293370" y="4010025"/>
            <a:ext cx="2914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皮靴</a:t>
            </a:r>
            <a:endParaRPr lang="en-US" sz="1125" dirty="0"/>
          </a:p>
        </p:txBody>
      </p:sp>
      <p:sp>
        <p:nvSpPr>
          <p:cNvPr id="59" name="Text 57"/>
          <p:cNvSpPr/>
          <p:nvPr/>
        </p:nvSpPr>
        <p:spPr>
          <a:xfrm>
            <a:off x="11864132" y="3600450"/>
            <a:ext cx="2697510" cy="714375"/>
          </a:xfrm>
          <a:prstGeom prst="roundRect">
            <a:avLst>
              <a:gd name="adj" fmla="val 16000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13105942" y="3705225"/>
            <a:ext cx="21374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💎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13067080" y="4010025"/>
            <a:ext cx="2914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耳环</a:t>
            </a:r>
            <a:endParaRPr lang="en-US" sz="1125" dirty="0"/>
          </a:p>
        </p:txBody>
      </p:sp>
      <p:sp>
        <p:nvSpPr>
          <p:cNvPr id="62" name="Text 60"/>
          <p:cNvSpPr/>
          <p:nvPr/>
        </p:nvSpPr>
        <p:spPr>
          <a:xfrm>
            <a:off x="14637841" y="3600450"/>
            <a:ext cx="2697659" cy="714375"/>
          </a:xfrm>
          <a:prstGeom prst="roundRect">
            <a:avLst>
              <a:gd name="adj" fmla="val 16000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15879800" y="3705225"/>
            <a:ext cx="21374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👔</a:t>
            </a:r>
            <a:endParaRPr lang="en-US" sz="1500" dirty="0"/>
          </a:p>
        </p:txBody>
      </p:sp>
      <p:sp>
        <p:nvSpPr>
          <p:cNvPr id="64" name="Text 62"/>
          <p:cNvSpPr/>
          <p:nvPr/>
        </p:nvSpPr>
        <p:spPr>
          <a:xfrm>
            <a:off x="15840938" y="4010025"/>
            <a:ext cx="2914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衬衫</a:t>
            </a:r>
            <a:endParaRPr lang="en-US" sz="1125" dirty="0"/>
          </a:p>
        </p:txBody>
      </p:sp>
      <p:sp>
        <p:nvSpPr>
          <p:cNvPr id="65" name="Text 63"/>
          <p:cNvSpPr/>
          <p:nvPr/>
        </p:nvSpPr>
        <p:spPr>
          <a:xfrm>
            <a:off x="9090422" y="4429125"/>
            <a:ext cx="8245078" cy="714375"/>
          </a:xfrm>
          <a:prstGeom prst="roundRect">
            <a:avLst>
              <a:gd name="adj" fmla="val 16000"/>
            </a:avLst>
          </a:prstGeom>
          <a:solidFill>
            <a:srgbClr val="E4D5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9261872" y="4543425"/>
            <a:ext cx="80602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 GIVEN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9261872" y="4762500"/>
            <a:ext cx="80602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我的头发比姐姐的长。</a:t>
            </a:r>
            <a:endParaRPr lang="en-US" sz="1500" dirty="0"/>
          </a:p>
        </p:txBody>
      </p:sp>
      <p:sp>
        <p:nvSpPr>
          <p:cNvPr id="68" name="Shape 66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7770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比 COMPARISON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275707" y="280988"/>
            <a:ext cx="24595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比字句拼句子 · 40–43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09650" y="1066800"/>
            <a:ext cx="43325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815405" y="1066800"/>
            <a:ext cx="7980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40–43 min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2969270" y="1066800"/>
            <a:ext cx="18846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Pairs Race · Whiteboards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857250" y="1390650"/>
            <a:ext cx="1690497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比字句拼句子 · Sentence Jumble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857250" y="2124075"/>
            <a:ext cx="8701832" cy="3181350"/>
          </a:xfrm>
          <a:prstGeom prst="roundRect">
            <a:avLst>
              <a:gd name="adj" fmla="val 5988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114425" y="2466975"/>
            <a:ext cx="83512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1050"/>
              </a:spcAft>
              <a:buNone/>
            </a:pPr>
            <a:r>
              <a:rPr lang="en-US" sz="975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 PLAY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114425" y="279082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D45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202829" y="2824163"/>
            <a:ext cx="52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57325" y="2771775"/>
            <a:ext cx="4022369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</a:t>
            </a:r>
            <a:r>
              <a:rPr lang="en-US" sz="12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sets</a:t>
            </a: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of scrambled words for a 比 sentence.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4425" y="314325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D45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192411" y="3176588"/>
            <a:ext cx="73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57325" y="3124200"/>
            <a:ext cx="6962522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 pairs, students race to reorder the words into a correct 比 sentence on their whiteboards.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4425" y="349567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D45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192113" y="3529013"/>
            <a:ext cx="745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57325" y="3476625"/>
            <a:ext cx="6845481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First pair</a:t>
            </a: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with the correct sentence holds it up and reads it aloud for the class to confirm.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863882" y="2124075"/>
            <a:ext cx="7566720" cy="1266825"/>
          </a:xfrm>
          <a:prstGeom prst="roundRect">
            <a:avLst>
              <a:gd name="adj" fmla="val 15038"/>
            </a:avLst>
          </a:prstGeom>
          <a:solidFill>
            <a:srgbClr val="A8432E">
              <a:alpha val="12000"/>
            </a:srgbClr>
          </a:solidFill>
          <a:ln w="9525">
            <a:solidFill>
              <a:srgbClr val="A843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0082957" y="2419350"/>
            <a:ext cx="72711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SETUP NEEDED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225832" y="2705100"/>
            <a:ext cx="151273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whiteboards only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082957" y="3019425"/>
            <a:ext cx="72711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Practises:</a:t>
            </a: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比 sentence word order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863882" y="3524250"/>
            <a:ext cx="7566720" cy="1781175"/>
          </a:xfrm>
          <a:prstGeom prst="roundRect">
            <a:avLst>
              <a:gd name="adj" fmla="val 10695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0082957" y="3819525"/>
            <a:ext cx="72711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 SCRAMBLED SET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225832" y="4143375"/>
            <a:ext cx="34975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新鲜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0930682" y="4143375"/>
            <a:ext cx="1748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比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1464082" y="4143375"/>
            <a:ext cx="34975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超市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2168932" y="4143375"/>
            <a:ext cx="52463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菜市场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3045232" y="4143375"/>
            <a:ext cx="34975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的菜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3750082" y="4143375"/>
            <a:ext cx="34975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的菜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10082957" y="4586288"/>
            <a:ext cx="7128570" cy="0"/>
          </a:xfrm>
          <a:prstGeom prst="line">
            <a:avLst/>
          </a:prstGeom>
          <a:noFill/>
          <a:ln w="9525">
            <a:solidFill>
              <a:srgbClr val="D0BC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82957" y="4686300"/>
            <a:ext cx="727114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CORRECT ANSWER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10082957" y="4876800"/>
            <a:ext cx="727114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3F7A5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菜市场的菜比超市的菜新鲜。</a:t>
            </a:r>
            <a:endParaRPr lang="en-US" sz="1425" dirty="0"/>
          </a:p>
        </p:txBody>
      </p:sp>
      <p:sp>
        <p:nvSpPr>
          <p:cNvPr id="37" name="Text 35"/>
          <p:cNvSpPr/>
          <p:nvPr/>
        </p:nvSpPr>
        <p:spPr>
          <a:xfrm>
            <a:off x="857250" y="5476875"/>
            <a:ext cx="8210550" cy="619125"/>
          </a:xfrm>
          <a:prstGeom prst="roundRect">
            <a:avLst>
              <a:gd name="adj" fmla="val 18462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009650" y="5591175"/>
            <a:ext cx="80638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1009650" y="5781675"/>
            <a:ext cx="80638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Give the sentence's English translation alongside the scrambled words.</a:t>
            </a:r>
            <a:endParaRPr lang="en-US" sz="1125" dirty="0"/>
          </a:p>
        </p:txBody>
      </p:sp>
      <p:sp>
        <p:nvSpPr>
          <p:cNvPr id="40" name="Text 38"/>
          <p:cNvSpPr/>
          <p:nvPr/>
        </p:nvSpPr>
        <p:spPr>
          <a:xfrm>
            <a:off x="9220200" y="5476875"/>
            <a:ext cx="8210550" cy="619125"/>
          </a:xfrm>
          <a:prstGeom prst="roundRect">
            <a:avLst>
              <a:gd name="adj" fmla="val 18462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9372600" y="5591175"/>
            <a:ext cx="80638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42" name="Text 40"/>
          <p:cNvSpPr/>
          <p:nvPr/>
        </p:nvSpPr>
        <p:spPr>
          <a:xfrm>
            <a:off x="9372600" y="5781675"/>
            <a:ext cx="80638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After solving, pairs write one additional original 比 sentence using the same adjective.</a:t>
            </a:r>
            <a:endParaRPr lang="en-US" sz="1125" dirty="0"/>
          </a:p>
        </p:txBody>
      </p:sp>
      <p:sp>
        <p:nvSpPr>
          <p:cNvPr id="43" name="Shape 41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7770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比 COMPARISON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275707" y="280988"/>
            <a:ext cx="1505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43–50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43000" y="3084909"/>
            <a:ext cx="163220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43–50 MIN · PLENARY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3408759"/>
            <a:ext cx="1632204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Wrap-Up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143000" y="4294584"/>
            <a:ext cx="7848600" cy="3174206"/>
          </a:xfrm>
          <a:prstGeom prst="roundRect">
            <a:avLst>
              <a:gd name="adj" fmla="val 8402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19225" y="4685109"/>
            <a:ext cx="74420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19225" y="5028009"/>
            <a:ext cx="74420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975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the three Success Criteria; students read them chorally. "今天我们做到了吗？" Then traffic-light thumbs for each.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419225" y="531375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3F7A52">
              <a:alpha val="10000"/>
            </a:srgbClr>
          </a:solidFill>
          <a:ln w="9525">
            <a:solidFill>
              <a:srgbClr val="3F7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485900" y="5372844"/>
            <a:ext cx="17487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771650" y="531375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68A1E">
              <a:alpha val="12000"/>
            </a:srgbClr>
          </a:solidFill>
          <a:ln w="9525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838325" y="5372844"/>
            <a:ext cx="17487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😐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124075" y="531375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D45A3A">
              <a:alpha val="10000"/>
            </a:srgbClr>
          </a:solidFill>
          <a:ln w="9525">
            <a:solidFill>
              <a:srgbClr val="D45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190750" y="5372844"/>
            <a:ext cx="17487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562225" y="5359450"/>
            <a:ext cx="293225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Build a comparison sentence A比B+adj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19225" y="5723334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3F7A52">
              <a:alpha val="10000"/>
            </a:srgbClr>
          </a:solidFill>
          <a:ln w="9525">
            <a:solidFill>
              <a:srgbClr val="3F7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485900" y="5782419"/>
            <a:ext cx="17487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771650" y="5723334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68A1E">
              <a:alpha val="12000"/>
            </a:srgbClr>
          </a:solidFill>
          <a:ln w="9525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838325" y="5782419"/>
            <a:ext cx="17487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😐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124075" y="5723334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D45A3A">
              <a:alpha val="10000"/>
            </a:srgbClr>
          </a:solidFill>
          <a:ln w="9525">
            <a:solidFill>
              <a:srgbClr val="D45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190750" y="5782419"/>
            <a:ext cx="17487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562225" y="5769025"/>
            <a:ext cx="23459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Extend with 还 for "even more"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19225" y="613290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3F7A52">
              <a:alpha val="10000"/>
            </a:srgbClr>
          </a:solidFill>
          <a:ln w="9525">
            <a:solidFill>
              <a:srgbClr val="3F7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485900" y="6191994"/>
            <a:ext cx="17487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771650" y="613290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68A1E">
              <a:alpha val="12000"/>
            </a:srgbClr>
          </a:solidFill>
          <a:ln w="9525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838325" y="6191994"/>
            <a:ext cx="17487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😐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124075" y="613290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D45A3A">
              <a:alpha val="10000"/>
            </a:srgbClr>
          </a:solidFill>
          <a:ln w="9525">
            <a:solidFill>
              <a:srgbClr val="D45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190750" y="6191994"/>
            <a:ext cx="17487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562225" y="6178600"/>
            <a:ext cx="353963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correct 比 sentences about market items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419225" y="6552009"/>
            <a:ext cx="7296150" cy="371475"/>
          </a:xfrm>
          <a:prstGeom prst="roundRect">
            <a:avLst>
              <a:gd name="adj" fmla="val 30769"/>
            </a:avLst>
          </a:prstGeom>
          <a:solidFill>
            <a:srgbClr val="C68A1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571625" y="6637734"/>
            <a:ext cx="71311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Self-assessment:</a:t>
            </a: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traffic-light thumbs 👍/😐/👎 for each criterion.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9296400" y="4294584"/>
            <a:ext cx="7848600" cy="3174206"/>
          </a:xfrm>
          <a:prstGeom prst="roundRect">
            <a:avLst>
              <a:gd name="adj" fmla="val 8402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9572625" y="4685109"/>
            <a:ext cx="74420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 · CORRECT THE TEACHER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572625" y="5028009"/>
            <a:ext cx="7296150" cy="1614488"/>
          </a:xfrm>
          <a:prstGeom prst="rect">
            <a:avLst/>
          </a:prstGeom>
          <a:solidFill>
            <a:srgbClr val="E4D5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9596438" y="5028009"/>
            <a:ext cx="0" cy="1614488"/>
          </a:xfrm>
          <a:prstGeom prst="line">
            <a:avLst/>
          </a:prstGeom>
          <a:noFill/>
          <a:ln w="47625">
            <a:solidFill>
              <a:srgbClr val="3F7A5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10750" y="5161359"/>
            <a:ext cx="70048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 — MINI WHITEBOARDS, 2 MIN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810750" y="5399484"/>
            <a:ext cx="7004876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projects a sentence with the wrong word order. Fix it and write the corrected sentence.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9810750" y="5689997"/>
            <a:ext cx="6867525" cy="819150"/>
          </a:xfrm>
          <a:prstGeom prst="roundRect">
            <a:avLst>
              <a:gd name="adj" fmla="val 13953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9963150" y="5785247"/>
            <a:ext cx="192366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D45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我豆腐比便宜牛肉。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9963150" y="6128147"/>
            <a:ext cx="213741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F7A5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我的豆腐比牛肉便宜。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9572625" y="6794897"/>
            <a:ext cx="7296150" cy="435769"/>
          </a:xfrm>
          <a:prstGeom prst="roundRect">
            <a:avLst>
              <a:gd name="adj" fmla="val 26229"/>
            </a:avLst>
          </a:prstGeom>
          <a:solidFill>
            <a:srgbClr val="A8432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9763125" y="6909197"/>
            <a:ext cx="705345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088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Preview:</a:t>
            </a:r>
            <a:r>
              <a:rPr lang="en-US" sz="108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"下一课，我们要读一篇关于菜市场的短文，还要学怎么描述自己去市场买菜的经历。"</a:t>
            </a:r>
            <a:endParaRPr lang="en-US" sz="1088" dirty="0"/>
          </a:p>
        </p:txBody>
      </p:sp>
      <p:sp>
        <p:nvSpPr>
          <p:cNvPr id="46" name="Shape 44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2026-08-01T06:56:12Z</dcterms:created>
  <dcterms:modified xsi:type="dcterms:W3CDTF">2026-08-01T06:56:12Z</dcterms:modified>
</cp:coreProperties>
</file>