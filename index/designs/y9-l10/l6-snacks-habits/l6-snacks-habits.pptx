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66323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Y9 · L10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43633" y="166688"/>
            <a:ext cx="14108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菜市场 Fresh Market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316593" y="176213"/>
            <a:ext cx="37480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133600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3 · 第四单元 · 第十课 · PP.97–99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447925"/>
            <a:ext cx="11192256" cy="905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28"/>
              </a:lnSpc>
              <a:spcBef>
                <a:spcPts val="900"/>
              </a:spcBef>
              <a:buNone/>
            </a:pPr>
            <a:r>
              <a:rPr lang="en-US" sz="66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平时……，但是……</a:t>
            </a:r>
            <a:endParaRPr lang="en-US" sz="6600" dirty="0"/>
          </a:p>
        </p:txBody>
      </p:sp>
      <p:sp>
        <p:nvSpPr>
          <p:cNvPr id="10" name="Text 8"/>
          <p:cNvSpPr/>
          <p:nvPr/>
        </p:nvSpPr>
        <p:spPr>
          <a:xfrm>
            <a:off x="609600" y="3416498"/>
            <a:ext cx="11192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Bef>
                <a:spcPts val="500"/>
              </a:spcBef>
              <a:buNone/>
            </a:pPr>
            <a:r>
              <a:rPr lang="en-US" sz="30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Snacks &amp; Habits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09600" y="4089499"/>
            <a:ext cx="111922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700"/>
              </a:spcBef>
              <a:buNone/>
            </a:pPr>
            <a:r>
              <a:rPr lang="en-US" sz="18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6 of 6 · 炸鸡翅、糖果 + 平时……但是……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9600" y="4521250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7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六个新词 · 三个学习环 · 最后一节 · 50 分钟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67037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0–8 MIN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50628" y="166688"/>
            <a:ext cx="8370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复习 Review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1441" y="176213"/>
            <a:ext cx="4004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845320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REVIEW · 上节课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121545"/>
            <a:ext cx="11192256" cy="365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5"/>
              </a:lnSpc>
              <a:spcBef>
                <a:spcPts val="600"/>
              </a:spcBef>
              <a:buNone/>
            </a:pPr>
            <a:r>
              <a:rPr lang="en-US" sz="2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Lesson 5 · 学校餐厅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609600" y="2651671"/>
            <a:ext cx="10972800" cy="2386310"/>
          </a:xfrm>
          <a:prstGeom prst="roundRect">
            <a:avLst>
              <a:gd name="adj" fmla="val 5322"/>
            </a:avLst>
          </a:prstGeom>
          <a:solidFill>
            <a:srgbClr val="F1E8D8"/>
          </a:solidFill>
          <a:ln w="19050">
            <a:solidFill>
              <a:srgbClr val="C9B39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33450" y="2899321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两人一组，各说 30 秒：</a:t>
            </a:r>
            <a:r>
              <a:rPr lang="en-US" sz="17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你平时午饭吃什么？多少钱？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3244751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然后小白板三题：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3450" y="3590181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1. 写「盒饭」。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33450" y="3990231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2. 翻译：Crisps are cheaper than fries.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933450" y="4390281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3. 「不算太贵」是什么意思？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74171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8–10 MIN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520577" y="166688"/>
            <a:ext cx="190514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学习目标 Learning Intention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1888" y="176213"/>
            <a:ext cx="40000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20744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 ARE LEARNING TO…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496318"/>
            <a:ext cx="9715500" cy="730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5"/>
              </a:lnSpc>
              <a:spcBef>
                <a:spcPts val="700"/>
              </a:spcBef>
              <a:buNone/>
            </a:pPr>
            <a:r>
              <a:rPr lang="en-US" sz="2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name the rest of the canteen's food and contrast what we usually do with what happened today.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609600" y="2442270"/>
            <a:ext cx="10972800" cy="976312"/>
          </a:xfrm>
          <a:prstGeom prst="roundRect">
            <a:avLst>
              <a:gd name="adj" fmla="val 7805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22275" y="2629495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1279327" y="2629495"/>
            <a:ext cx="7104004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name fried chicken wings, sweets, curry, fish fillet and pork chop.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79327" y="2964656"/>
            <a:ext cx="71040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能说出「炸鸡翅」「糖果」「咖喱」「鱼柳」「猪排」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09600" y="3570982"/>
            <a:ext cx="10972800" cy="976312"/>
          </a:xfrm>
          <a:prstGeom prst="roundRect">
            <a:avLst>
              <a:gd name="adj" fmla="val 7805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22275" y="3758208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1279327" y="3758208"/>
            <a:ext cx="6193631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contrast a habit with an exception: 我平时……，但是……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79327" y="4093369"/>
            <a:ext cx="619363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能用「平时……，但是……」说两件事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09600" y="4699695"/>
            <a:ext cx="10972800" cy="976312"/>
          </a:xfrm>
          <a:prstGeom prst="roundRect">
            <a:avLst>
              <a:gd name="adj" fmla="val 7805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22275" y="4886920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1279327" y="4886920"/>
            <a:ext cx="4644161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write a short paragraph about what I eat.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79327" y="5222081"/>
            <a:ext cx="46441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能写一段话，说说自己平时吃什么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4087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1 · Cycle 1 of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1292" y="176213"/>
            <a:ext cx="40061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1555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457027"/>
            <a:ext cx="5308550" cy="4270921"/>
          </a:xfrm>
          <a:prstGeom prst="roundRect">
            <a:avLst>
              <a:gd name="adj" fmla="val 2974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Users/luojiahai/code/deck/index/designs/y9-l10/img/zh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1301" y="1847552"/>
            <a:ext cx="1905000" cy="1905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078659" y="3866852"/>
            <a:ext cx="37784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zhá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2959001" y="4285952"/>
            <a:ext cx="621792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炸</a:t>
            </a:r>
            <a:endParaRPr lang="en-US" sz="4800" dirty="0"/>
          </a:p>
        </p:txBody>
      </p:sp>
      <p:sp>
        <p:nvSpPr>
          <p:cNvPr id="13" name="Text 10"/>
          <p:cNvSpPr/>
          <p:nvPr/>
        </p:nvSpPr>
        <p:spPr>
          <a:xfrm>
            <a:off x="2856905" y="5070723"/>
            <a:ext cx="8302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deep-fry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273701" y="1457027"/>
            <a:ext cx="5308699" cy="4270921"/>
          </a:xfrm>
          <a:prstGeom prst="roundRect">
            <a:avLst>
              <a:gd name="adj" fmla="val 2974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1" descr="/Users/luojiahai/code/deck/index/designs/y9-l10/img/zhajich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5550" y="1847552"/>
            <a:ext cx="1905000" cy="1905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502551" y="3866852"/>
            <a:ext cx="86786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chìbǎng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8318450" y="4285952"/>
            <a:ext cx="1243584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翅膀</a:t>
            </a:r>
            <a:endParaRPr lang="en-US" sz="4800" dirty="0"/>
          </a:p>
        </p:txBody>
      </p:sp>
      <p:sp>
        <p:nvSpPr>
          <p:cNvPr id="18" name="Text 14"/>
          <p:cNvSpPr/>
          <p:nvPr/>
        </p:nvSpPr>
        <p:spPr>
          <a:xfrm>
            <a:off x="8714482" y="5070723"/>
            <a:ext cx="43552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wing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2097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1 · See them used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1441" y="176213"/>
            <a:ext cx="4004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38261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读一遍，再一起读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58838"/>
            <a:ext cx="10972800" cy="1052066"/>
          </a:xfrm>
          <a:prstGeom prst="rect">
            <a:avLst/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33412" y="1658838"/>
            <a:ext cx="0" cy="1052066"/>
          </a:xfrm>
          <a:prstGeom prst="line">
            <a:avLst/>
          </a:prstGeom>
          <a:noFill/>
          <a:ln w="47625">
            <a:solidFill>
              <a:srgbClr val="2F6B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5825" y="1811238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我有时候买</a:t>
            </a:r>
            <a:r>
              <a:rPr lang="en-US" sz="26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炸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薯条。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85825" y="2320379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sometimes buy fries.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9600" y="2863304"/>
            <a:ext cx="10972800" cy="1052066"/>
          </a:xfrm>
          <a:prstGeom prst="rect">
            <a:avLst/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33412" y="2863304"/>
            <a:ext cx="0" cy="1052066"/>
          </a:xfrm>
          <a:prstGeom prst="line">
            <a:avLst/>
          </a:prstGeom>
          <a:noFill/>
          <a:ln w="47625">
            <a:solidFill>
              <a:srgbClr val="2F6B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5825" y="3015704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我也会买</a:t>
            </a:r>
            <a:r>
              <a:rPr lang="en-US" sz="26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炸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鸡</a:t>
            </a:r>
            <a:r>
              <a:rPr lang="en-US" sz="26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翅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85825" y="3524845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also buy fried chicken wings.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09600" y="4067770"/>
            <a:ext cx="10972800" cy="1052066"/>
          </a:xfrm>
          <a:prstGeom prst="rect">
            <a:avLst/>
          </a:prstGeom>
          <a:solidFill>
            <a:srgbClr val="A8432E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33412" y="4067770"/>
            <a:ext cx="0" cy="1052066"/>
          </a:xfrm>
          <a:prstGeom prst="line">
            <a:avLst/>
          </a:prstGeom>
          <a:noFill/>
          <a:ln w="47625">
            <a:solidFill>
              <a:srgbClr val="A843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5825" y="4220170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炸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鸡</a:t>
            </a:r>
            <a:r>
              <a:rPr lang="en-US" sz="26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翅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十块，比炸鸡腿贵。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85825" y="4729311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Fried wings are 10 kuai — dearer than drumsticks.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09600" y="5272236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问：炸鸡翅和炸鸡腿，哪个贵？（课本 96 页：¥10.00 / ¥8.40）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78583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1 · Write your own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0697" y="176213"/>
            <a:ext cx="40122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056358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60 秒 · 写在小白板上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383334"/>
            <a:ext cx="10972800" cy="1314450"/>
          </a:xfrm>
          <a:prstGeom prst="roundRect">
            <a:avLst>
              <a:gd name="adj" fmla="val 9662"/>
            </a:avLst>
          </a:prstGeom>
          <a:solidFill>
            <a:srgbClr val="E4D5BC"/>
          </a:solidFill>
          <a:ln w="19050">
            <a:solidFill>
              <a:srgbClr val="A8700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707184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我喜欢／不喜欢吃＿＿＿＿。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09600" y="3875484"/>
            <a:ext cx="10972800" cy="951458"/>
          </a:xfrm>
          <a:prstGeom prst="roundRect">
            <a:avLst>
              <a:gd name="adj" fmla="val 8009"/>
            </a:avLst>
          </a:prstGeom>
          <a:solidFill>
            <a:srgbClr val="2F6B44">
              <a:alpha val="10000"/>
            </a:srgbClr>
          </a:solidFill>
          <a:ln w="19050">
            <a:solidFill>
              <a:srgbClr val="2F6B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57250" y="4072235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· 加分题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57250" y="4335661"/>
            <a:ext cx="10687050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用「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炸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」写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两样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东西，再用「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比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」说哪个贵。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4633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2 · Cycle 2 of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7245" y="176213"/>
            <a:ext cx="39454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1555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457027"/>
            <a:ext cx="5308550" cy="4270921"/>
          </a:xfrm>
          <a:prstGeom prst="roundRect">
            <a:avLst>
              <a:gd name="adj" fmla="val 2974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Users/luojiahai/code/deck/index/designs/y9-l10/img/tanggu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1301" y="1847552"/>
            <a:ext cx="1905000" cy="1905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823121" y="3866852"/>
            <a:ext cx="89898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tángguǒ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2654201" y="4285952"/>
            <a:ext cx="1243584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糖果</a:t>
            </a:r>
            <a:endParaRPr lang="en-US" sz="4800" dirty="0"/>
          </a:p>
        </p:txBody>
      </p:sp>
      <p:sp>
        <p:nvSpPr>
          <p:cNvPr id="13" name="Text 10"/>
          <p:cNvSpPr/>
          <p:nvPr/>
        </p:nvSpPr>
        <p:spPr>
          <a:xfrm>
            <a:off x="2613422" y="5070723"/>
            <a:ext cx="132677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candy; sweets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273701" y="1457027"/>
            <a:ext cx="5308699" cy="4270921"/>
          </a:xfrm>
          <a:prstGeom prst="roundRect">
            <a:avLst>
              <a:gd name="adj" fmla="val 2974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1" descr="/Users/luojiahai/code/deck/index/designs/y9-l10/img/gal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5550" y="1847552"/>
            <a:ext cx="1905000" cy="1905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734871" y="3866852"/>
            <a:ext cx="39393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gālí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8318450" y="4285952"/>
            <a:ext cx="1243584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咖喱</a:t>
            </a:r>
            <a:endParaRPr lang="en-US" sz="4800" dirty="0"/>
          </a:p>
        </p:txBody>
      </p:sp>
      <p:sp>
        <p:nvSpPr>
          <p:cNvPr id="18" name="Text 14"/>
          <p:cNvSpPr/>
          <p:nvPr/>
        </p:nvSpPr>
        <p:spPr>
          <a:xfrm>
            <a:off x="8696176" y="5070723"/>
            <a:ext cx="4728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curry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482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2 · See them used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1143" y="176213"/>
            <a:ext cx="40076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38261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读一遍，再一起读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58838"/>
            <a:ext cx="10972800" cy="1052066"/>
          </a:xfrm>
          <a:prstGeom prst="rect">
            <a:avLst/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33412" y="1658838"/>
            <a:ext cx="0" cy="1052066"/>
          </a:xfrm>
          <a:prstGeom prst="line">
            <a:avLst/>
          </a:prstGeom>
          <a:noFill/>
          <a:ln w="47625">
            <a:solidFill>
              <a:srgbClr val="2F6B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5825" y="1811238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我有时候买</a:t>
            </a:r>
            <a:r>
              <a:rPr lang="en-US" sz="26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糖果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85825" y="2320379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sometimes buy sweets.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9600" y="2863304"/>
            <a:ext cx="10972800" cy="1052066"/>
          </a:xfrm>
          <a:prstGeom prst="rect">
            <a:avLst/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33412" y="2863304"/>
            <a:ext cx="0" cy="1052066"/>
          </a:xfrm>
          <a:prstGeom prst="line">
            <a:avLst/>
          </a:prstGeom>
          <a:noFill/>
          <a:ln w="47625">
            <a:solidFill>
              <a:srgbClr val="2F6B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5825" y="3015704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咖喱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牛肉饭十五块。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85825" y="3524845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Curry beef rice is 15 kuai.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09600" y="4067770"/>
            <a:ext cx="10972800" cy="1052066"/>
          </a:xfrm>
          <a:prstGeom prst="rect">
            <a:avLst/>
          </a:prstGeom>
          <a:solidFill>
            <a:srgbClr val="A8432E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33412" y="4067770"/>
            <a:ext cx="0" cy="1052066"/>
          </a:xfrm>
          <a:prstGeom prst="line">
            <a:avLst/>
          </a:prstGeom>
          <a:noFill/>
          <a:ln w="47625">
            <a:solidFill>
              <a:srgbClr val="A843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5825" y="4220170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我买了</a:t>
            </a:r>
            <a:r>
              <a:rPr lang="en-US" sz="26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咖喱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牛肉饭，还买了</a:t>
            </a:r>
            <a:r>
              <a:rPr lang="en-US" sz="26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糖果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85825" y="4729311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bought curry beef rice, and sweets too.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09600" y="5272236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问：吃太多糖果好不好？为什么？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8131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2 · Write your own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0548" y="176213"/>
            <a:ext cx="40137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056358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60 秒 · 写在小白板上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383334"/>
            <a:ext cx="10972800" cy="1314450"/>
          </a:xfrm>
          <a:prstGeom prst="roundRect">
            <a:avLst>
              <a:gd name="adj" fmla="val 9662"/>
            </a:avLst>
          </a:prstGeom>
          <a:solidFill>
            <a:srgbClr val="E4D5BC"/>
          </a:solidFill>
          <a:ln w="19050">
            <a:solidFill>
              <a:srgbClr val="A8700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707184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我买了＿＿＿＿，还买了＿＿＿＿。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09600" y="3875484"/>
            <a:ext cx="10972800" cy="951458"/>
          </a:xfrm>
          <a:prstGeom prst="roundRect">
            <a:avLst>
              <a:gd name="adj" fmla="val 8009"/>
            </a:avLst>
          </a:prstGeom>
          <a:solidFill>
            <a:srgbClr val="2F6B44">
              <a:alpha val="10000"/>
            </a:srgbClr>
          </a:solidFill>
          <a:ln w="19050">
            <a:solidFill>
              <a:srgbClr val="2F6B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57250" y="4072235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· 加分题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57250" y="4335661"/>
            <a:ext cx="10687050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再加一句说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为什么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，用「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因为……所以……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」。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4633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3 · Cycle 3 of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4440" y="176213"/>
            <a:ext cx="45860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1555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457027"/>
            <a:ext cx="5308550" cy="4270921"/>
          </a:xfrm>
          <a:prstGeom prst="roundRect">
            <a:avLst>
              <a:gd name="adj" fmla="val 2974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Users/luojiahai/code/deck/index/designs/y9-l10/img/yuli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1301" y="1847552"/>
            <a:ext cx="1905000" cy="1905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004691" y="3866852"/>
            <a:ext cx="52858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yúliǔ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2654201" y="4285952"/>
            <a:ext cx="1243584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鱼柳</a:t>
            </a:r>
            <a:endParaRPr lang="en-US" sz="4800" dirty="0"/>
          </a:p>
        </p:txBody>
      </p:sp>
      <p:sp>
        <p:nvSpPr>
          <p:cNvPr id="13" name="Text 10"/>
          <p:cNvSpPr/>
          <p:nvPr/>
        </p:nvSpPr>
        <p:spPr>
          <a:xfrm>
            <a:off x="2859137" y="5070723"/>
            <a:ext cx="8256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fish fillet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273701" y="1457027"/>
            <a:ext cx="5308699" cy="4270921"/>
          </a:xfrm>
          <a:prstGeom prst="roundRect">
            <a:avLst>
              <a:gd name="adj" fmla="val 2974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1" descr="/Users/luojiahai/code/deck/index/designs/y9-l10/img/zhupa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5550" y="1847552"/>
            <a:ext cx="1905000" cy="1905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573839" y="3866852"/>
            <a:ext cx="72259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zhūpái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8318450" y="4285952"/>
            <a:ext cx="1243584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猪排</a:t>
            </a:r>
            <a:endParaRPr lang="en-US" sz="4800" dirty="0"/>
          </a:p>
        </p:txBody>
      </p:sp>
      <p:sp>
        <p:nvSpPr>
          <p:cNvPr id="18" name="Text 14"/>
          <p:cNvSpPr/>
          <p:nvPr/>
        </p:nvSpPr>
        <p:spPr>
          <a:xfrm>
            <a:off x="8465939" y="5070723"/>
            <a:ext cx="94270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pork chop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482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3 · See them used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58848" y="176213"/>
            <a:ext cx="43370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11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38261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读一遍，再一起读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58838"/>
            <a:ext cx="10972800" cy="1052066"/>
          </a:xfrm>
          <a:prstGeom prst="rect">
            <a:avLst/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33412" y="1658838"/>
            <a:ext cx="0" cy="1052066"/>
          </a:xfrm>
          <a:prstGeom prst="line">
            <a:avLst/>
          </a:prstGeom>
          <a:noFill/>
          <a:ln w="47625">
            <a:solidFill>
              <a:srgbClr val="2F6B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5825" y="1811238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鱼柳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饭十六块。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85825" y="2320379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Fish fillet rice is 16 kuai.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9600" y="2863304"/>
            <a:ext cx="10972800" cy="1052066"/>
          </a:xfrm>
          <a:prstGeom prst="rect">
            <a:avLst/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33412" y="2863304"/>
            <a:ext cx="0" cy="1052066"/>
          </a:xfrm>
          <a:prstGeom prst="line">
            <a:avLst/>
          </a:prstGeom>
          <a:noFill/>
          <a:ln w="47625">
            <a:solidFill>
              <a:srgbClr val="2F6B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5825" y="3015704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我常买</a:t>
            </a:r>
            <a:r>
              <a:rPr lang="en-US" sz="26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猪排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饭。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85825" y="3524845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often buy pork chop rice.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09600" y="4067770"/>
            <a:ext cx="10972800" cy="1052066"/>
          </a:xfrm>
          <a:prstGeom prst="rect">
            <a:avLst/>
          </a:prstGeom>
          <a:solidFill>
            <a:srgbClr val="A8432E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33412" y="4067770"/>
            <a:ext cx="0" cy="1052066"/>
          </a:xfrm>
          <a:prstGeom prst="line">
            <a:avLst/>
          </a:prstGeom>
          <a:noFill/>
          <a:ln w="47625">
            <a:solidFill>
              <a:srgbClr val="A843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5825" y="4220170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鱼柳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饭比</a:t>
            </a:r>
            <a:r>
              <a:rPr lang="en-US" sz="26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猪排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饭贵两块。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85825" y="4729311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Fish fillet rice is 2 kuai more than pork chop rice.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09600" y="5272236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问：三种盒饭里，哪种最贵？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8131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3 · Write your own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3696" y="176213"/>
            <a:ext cx="4593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12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056358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60 秒 · 写在小白板上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383334"/>
            <a:ext cx="10972800" cy="1314450"/>
          </a:xfrm>
          <a:prstGeom prst="roundRect">
            <a:avLst>
              <a:gd name="adj" fmla="val 9662"/>
            </a:avLst>
          </a:prstGeom>
          <a:solidFill>
            <a:srgbClr val="E4D5BC"/>
          </a:solidFill>
          <a:ln w="19050">
            <a:solidFill>
              <a:srgbClr val="A8700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707184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＿＿饭比＿＿饭贵／便宜＿＿块。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09600" y="3875484"/>
            <a:ext cx="10972800" cy="951458"/>
          </a:xfrm>
          <a:prstGeom prst="roundRect">
            <a:avLst>
              <a:gd name="adj" fmla="val 8009"/>
            </a:avLst>
          </a:prstGeom>
          <a:solidFill>
            <a:srgbClr val="2F6B44">
              <a:alpha val="10000"/>
            </a:srgbClr>
          </a:solidFill>
          <a:ln w="19050">
            <a:solidFill>
              <a:srgbClr val="2F6B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57250" y="4072235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· 加分题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57250" y="4335661"/>
            <a:ext cx="10687050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三种盒饭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排价钱，写成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两句话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的一小段，中间用「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还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」连起来。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02392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CHECKPOINT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797248" y="166688"/>
            <a:ext cx="160670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认字 · Read them back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4142" y="176213"/>
            <a:ext cx="45890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13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69723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只看汉字 · 一起读 · 说拼音和英文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062311"/>
            <a:ext cx="3522166" cy="1460302"/>
          </a:xfrm>
          <a:prstGeom prst="roundRect">
            <a:avLst>
              <a:gd name="adj" fmla="val 869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13583" y="2401937"/>
            <a:ext cx="33142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炸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334917" y="2062311"/>
            <a:ext cx="3522166" cy="1460302"/>
          </a:xfrm>
          <a:prstGeom prst="roundRect">
            <a:avLst>
              <a:gd name="adj" fmla="val 869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438900" y="2401937"/>
            <a:ext cx="33142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翅膀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8060234" y="2062311"/>
            <a:ext cx="3522166" cy="1460302"/>
          </a:xfrm>
          <a:prstGeom prst="roundRect">
            <a:avLst>
              <a:gd name="adj" fmla="val 869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164217" y="2401937"/>
            <a:ext cx="33142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糖果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609600" y="3725763"/>
            <a:ext cx="3522166" cy="1460302"/>
          </a:xfrm>
          <a:prstGeom prst="roundRect">
            <a:avLst>
              <a:gd name="adj" fmla="val 869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13583" y="4065389"/>
            <a:ext cx="33142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咖喱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4334917" y="3725763"/>
            <a:ext cx="3522166" cy="1460302"/>
          </a:xfrm>
          <a:prstGeom prst="roundRect">
            <a:avLst>
              <a:gd name="adj" fmla="val 869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438900" y="4065389"/>
            <a:ext cx="33142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鱼柳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8060234" y="3725763"/>
            <a:ext cx="3522166" cy="1460302"/>
          </a:xfrm>
          <a:prstGeom prst="roundRect">
            <a:avLst>
              <a:gd name="adj" fmla="val 869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164217" y="4065389"/>
            <a:ext cx="33142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猪排</a:t>
            </a:r>
            <a:endParaRPr lang="en-US" sz="4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7727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平时……，但是……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3547" y="176213"/>
            <a:ext cx="45951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14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595908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今天的句型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922883"/>
            <a:ext cx="10972800" cy="1098352"/>
          </a:xfrm>
          <a:prstGeom prst="roundRect">
            <a:avLst>
              <a:gd name="adj" fmla="val 11563"/>
            </a:avLst>
          </a:prstGeom>
          <a:solidFill>
            <a:srgbClr val="E4D5BC"/>
          </a:solidFill>
          <a:ln w="19050">
            <a:solidFill>
              <a:srgbClr val="A843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30199" y="1195834"/>
            <a:ext cx="10531602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 平时 …… ，但是 …… 。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609600" y="2237036"/>
            <a:ext cx="10972800" cy="975866"/>
          </a:xfrm>
          <a:prstGeom prst="rect">
            <a:avLst/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33412" y="2237036"/>
            <a:ext cx="0" cy="975866"/>
          </a:xfrm>
          <a:prstGeom prst="line">
            <a:avLst/>
          </a:prstGeom>
          <a:noFill/>
          <a:ln w="47625">
            <a:solidFill>
              <a:srgbClr val="2F6B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5825" y="2351336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我平时八点到学校，但是今天七点就到了。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85825" y="2860477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课本 99 页 练习十二 的例句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09600" y="3314402"/>
            <a:ext cx="10972800" cy="674340"/>
          </a:xfrm>
          <a:prstGeom prst="rect">
            <a:avLst/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33412" y="3314402"/>
            <a:ext cx="0" cy="674340"/>
          </a:xfrm>
          <a:prstGeom prst="line">
            <a:avLst/>
          </a:prstGeom>
          <a:noFill/>
          <a:ln w="47625">
            <a:solidFill>
              <a:srgbClr val="2F6B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5825" y="3428702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我通常买盒饭，但是今天带了三明治。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09600" y="4090243"/>
            <a:ext cx="10972800" cy="674340"/>
          </a:xfrm>
          <a:prstGeom prst="rect">
            <a:avLst/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633412" y="4090243"/>
            <a:ext cx="0" cy="674340"/>
          </a:xfrm>
          <a:prstGeom prst="line">
            <a:avLst/>
          </a:prstGeom>
          <a:noFill/>
          <a:ln w="47625">
            <a:solidFill>
              <a:srgbClr val="2F6B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5825" y="4204543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我一般不吃零食，但是昨天吃了三包薯片。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09600" y="4866084"/>
            <a:ext cx="10972800" cy="1421606"/>
          </a:xfrm>
          <a:prstGeom prst="rect">
            <a:avLst/>
          </a:prstGeom>
          <a:solidFill>
            <a:srgbClr val="A8432E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633412" y="4866084"/>
            <a:ext cx="0" cy="1421606"/>
          </a:xfrm>
          <a:prstGeom prst="line">
            <a:avLst/>
          </a:prstGeom>
          <a:noFill/>
          <a:ln w="47625">
            <a:solidFill>
              <a:srgbClr val="A843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5825" y="4980384"/>
            <a:ext cx="10677335" cy="89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我平时在学校餐厅买午饭，但是这个星期餐厅关门，所以我从家里带饭。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885825" y="5935266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Habit, exception and a reason — this is the one to aim for.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83720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614190" y="166688"/>
            <a:ext cx="153550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听力 · CD 40 学校餐厅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3696" y="176213"/>
            <a:ext cx="4593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15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018109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课本 97 页 练习十 · 放两遍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294334"/>
            <a:ext cx="11192256" cy="365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5"/>
              </a:lnSpc>
              <a:spcBef>
                <a:spcPts val="600"/>
              </a:spcBef>
              <a:buNone/>
            </a:pPr>
            <a:r>
              <a:rPr lang="en-US" sz="2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听一听，选字母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609600" y="2824460"/>
            <a:ext cx="10972800" cy="2040880"/>
          </a:xfrm>
          <a:prstGeom prst="roundRect">
            <a:avLst>
              <a:gd name="adj" fmla="val 6223"/>
            </a:avLst>
          </a:prstGeom>
          <a:solidFill>
            <a:srgbClr val="F1E8D8"/>
          </a:solidFill>
          <a:ln w="19050">
            <a:solidFill>
              <a:srgbClr val="C9B39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33450" y="3072110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学校有＿ · 餐厅卖＿ · 午饭有＿ · 盒饭＿ · 她午饭常吃＿ · 她常喝＿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33450" y="3472160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 各种饮料。 B 炸鸡翅。 C 一家餐厅。 D 十九块一盒。 E 热狗。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33450" y="3872210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F 饮料。 G 盒饭。 H 炸鸡腿。 I 三明治。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33450" y="4272260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放两遍，然后全班一起对答案。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86103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637556" y="166688"/>
            <a:ext cx="16739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词汇总览 Today's Words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2952" y="176213"/>
            <a:ext cx="46012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16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935534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今天的词 · 这块板一直留在屏幕上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224409"/>
            <a:ext cx="3488234" cy="2234803"/>
          </a:xfrm>
          <a:prstGeom prst="roundRect">
            <a:avLst>
              <a:gd name="adj" fmla="val 5683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Users/luojiahai/code/deck/index/designs/y9-l10/img/zh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9566" y="1411635"/>
            <a:ext cx="1168301" cy="1168301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144167" y="2681436"/>
            <a:ext cx="42748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炸</a:t>
            </a:r>
            <a:endParaRPr lang="en-US" sz="3300" dirty="0"/>
          </a:p>
        </p:txBody>
      </p:sp>
      <p:sp>
        <p:nvSpPr>
          <p:cNvPr id="12" name="Text 9"/>
          <p:cNvSpPr/>
          <p:nvPr/>
        </p:nvSpPr>
        <p:spPr>
          <a:xfrm>
            <a:off x="4351734" y="1224409"/>
            <a:ext cx="3488382" cy="2234803"/>
          </a:xfrm>
          <a:prstGeom prst="roundRect">
            <a:avLst>
              <a:gd name="adj" fmla="val 5683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1" descr="/Users/luojiahai/code/deck/index/designs/y9-l10/img/zhajich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1701" y="1411635"/>
            <a:ext cx="1168301" cy="116830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76751" y="2681436"/>
            <a:ext cx="85496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翅膀</a:t>
            </a:r>
            <a:endParaRPr lang="en-US" sz="3300" dirty="0"/>
          </a:p>
        </p:txBody>
      </p:sp>
      <p:sp>
        <p:nvSpPr>
          <p:cNvPr id="15" name="Text 11"/>
          <p:cNvSpPr/>
          <p:nvPr/>
        </p:nvSpPr>
        <p:spPr>
          <a:xfrm>
            <a:off x="8094018" y="1224409"/>
            <a:ext cx="3488234" cy="2234803"/>
          </a:xfrm>
          <a:prstGeom prst="roundRect">
            <a:avLst>
              <a:gd name="adj" fmla="val 5683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6" name="Image 2" descr="/Users/luojiahai/code/deck/index/designs/y9-l10/img/tanggu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3984" y="1411635"/>
            <a:ext cx="1168301" cy="116830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419034" y="2681436"/>
            <a:ext cx="85496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糖果</a:t>
            </a:r>
            <a:endParaRPr lang="en-US" sz="3300" dirty="0"/>
          </a:p>
        </p:txBody>
      </p:sp>
      <p:sp>
        <p:nvSpPr>
          <p:cNvPr id="18" name="Text 13"/>
          <p:cNvSpPr/>
          <p:nvPr/>
        </p:nvSpPr>
        <p:spPr>
          <a:xfrm>
            <a:off x="609600" y="3713113"/>
            <a:ext cx="3488234" cy="2234803"/>
          </a:xfrm>
          <a:prstGeom prst="roundRect">
            <a:avLst>
              <a:gd name="adj" fmla="val 5683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9" name="Image 3" descr="/Users/luojiahai/code/deck/index/designs/y9-l10/img/gali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9566" y="3900339"/>
            <a:ext cx="1168301" cy="1168301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934617" y="5170140"/>
            <a:ext cx="85496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咖喱</a:t>
            </a:r>
            <a:endParaRPr lang="en-US" sz="3300" dirty="0"/>
          </a:p>
        </p:txBody>
      </p:sp>
      <p:sp>
        <p:nvSpPr>
          <p:cNvPr id="21" name="Text 15"/>
          <p:cNvSpPr/>
          <p:nvPr/>
        </p:nvSpPr>
        <p:spPr>
          <a:xfrm>
            <a:off x="4351734" y="3713113"/>
            <a:ext cx="3488382" cy="2234803"/>
          </a:xfrm>
          <a:prstGeom prst="roundRect">
            <a:avLst>
              <a:gd name="adj" fmla="val 5683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2" name="Image 4" descr="/Users/luojiahai/code/deck/index/designs/y9-l10/img/yuliu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1701" y="3900339"/>
            <a:ext cx="1168301" cy="1168301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676751" y="5170140"/>
            <a:ext cx="85496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鱼柳</a:t>
            </a:r>
            <a:endParaRPr lang="en-US" sz="3300" dirty="0"/>
          </a:p>
        </p:txBody>
      </p:sp>
      <p:sp>
        <p:nvSpPr>
          <p:cNvPr id="24" name="Text 17"/>
          <p:cNvSpPr/>
          <p:nvPr/>
        </p:nvSpPr>
        <p:spPr>
          <a:xfrm>
            <a:off x="8094018" y="3713113"/>
            <a:ext cx="3488234" cy="2234803"/>
          </a:xfrm>
          <a:prstGeom prst="roundRect">
            <a:avLst>
              <a:gd name="adj" fmla="val 5683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5" name="Image 5" descr="/Users/luojiahai/code/deck/index/designs/y9-l10/img/zhupai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53984" y="3900339"/>
            <a:ext cx="1168301" cy="1168301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9419034" y="5170140"/>
            <a:ext cx="85496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猪排</a:t>
            </a:r>
            <a:endParaRPr lang="en-US" sz="3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58453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WE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346871" y="166688"/>
            <a:ext cx="191805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活动一 · 平时……，但是……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9500" y="176213"/>
            <a:ext cx="45344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17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731639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课本 99 页 练习十二 · 7 分钟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007864"/>
            <a:ext cx="11192256" cy="365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5"/>
              </a:lnSpc>
              <a:spcBef>
                <a:spcPts val="600"/>
              </a:spcBef>
              <a:buNone/>
            </a:pPr>
            <a:r>
              <a:rPr lang="en-US" sz="2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完成五句 — 每句都说吃的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609600" y="1537990"/>
            <a:ext cx="10972800" cy="2895600"/>
          </a:xfrm>
          <a:prstGeom prst="roundRect">
            <a:avLst>
              <a:gd name="adj" fmla="val 4386"/>
            </a:avLst>
          </a:prstGeom>
          <a:solidFill>
            <a:srgbClr val="F1E8D8"/>
          </a:solidFill>
          <a:ln w="19050">
            <a:solidFill>
              <a:srgbClr val="C9B39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33450" y="1785640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例：我平时八点到学校，但是今天七点就到了。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33450" y="2185690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我平时＿＿＿＿，但是＿＿＿＿。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33450" y="2585740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我通常＿＿＿＿，但是＿＿＿＿。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33450" y="2985790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我一般＿＿＿＿，但是＿＿＿＿。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933450" y="3385840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我有时候＿＿＿＿，但是＿＿＿＿。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33450" y="3785890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我经常＿＿＿＿，但是＿＿＿＿。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09600" y="4611291"/>
            <a:ext cx="10972800" cy="1540520"/>
          </a:xfrm>
          <a:prstGeom prst="roundRect">
            <a:avLst>
              <a:gd name="adj" fmla="val 4946"/>
            </a:avLst>
          </a:prstGeom>
          <a:solidFill>
            <a:srgbClr val="2F6B44">
              <a:alpha val="10000"/>
            </a:srgbClr>
          </a:solidFill>
          <a:ln w="19050">
            <a:solidFill>
              <a:srgbClr val="2F6B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57250" y="4808041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· 加分题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57250" y="5071467"/>
            <a:ext cx="10687050" cy="88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五句全写完，再把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其中两句改成说别人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（第三人称），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加上原因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：我哥哥平时不吃零食，但是考试的时候他一直吃糖果，因为他说糖果让他不紧张。 然后问同桌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一个问题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，逼他说出一个「平时……但是……」的句子，再向全班报告他的答案。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68017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YOU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440632" y="166688"/>
            <a:ext cx="119166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活动二 · 商店对话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3398" y="176213"/>
            <a:ext cx="45966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18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131689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课本 98 页 练习十一 · 两人一组 · 6 分钟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407914"/>
            <a:ext cx="11192256" cy="365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5"/>
              </a:lnSpc>
              <a:spcBef>
                <a:spcPts val="600"/>
              </a:spcBef>
              <a:buNone/>
            </a:pPr>
            <a:r>
              <a:rPr lang="en-US" sz="2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售货员 / 顾客 — 做四组对话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609600" y="1938040"/>
            <a:ext cx="10972800" cy="2095500"/>
          </a:xfrm>
          <a:prstGeom prst="roundRect">
            <a:avLst>
              <a:gd name="adj" fmla="val 6061"/>
            </a:avLst>
          </a:prstGeom>
          <a:solidFill>
            <a:srgbClr val="F1E8D8"/>
          </a:solidFill>
          <a:ln w="19050">
            <a:solidFill>
              <a:srgbClr val="C9B39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33450" y="2185690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例：</a:t>
            </a:r>
            <a:r>
              <a:rPr lang="en-US" sz="21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售货员：</a:t>
            </a:r>
            <a:r>
              <a:rPr lang="en-US" sz="21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你想看哪块手表？ </a:t>
            </a:r>
            <a:r>
              <a:rPr lang="en-US" sz="21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顾客：</a:t>
            </a:r>
            <a:r>
              <a:rPr lang="en-US" sz="21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这块，一千五百块的。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33450" y="2585740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金鱼 ¥10.00/条 · 西瓜 ¥2.18/斤 · 计算器 ¥65 / ¥85 个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33450" y="2985790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牛仔裤 ¥186/条 · 耳环 ¥130/副 · 项链 ¥145/条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33450" y="3385840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书 ¥55 / ¥75 本 · 运动鞋 ¥580 / ¥465 双 · 皮带 ¥126 / ¥150 条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09600" y="4211241"/>
            <a:ext cx="10972800" cy="1540520"/>
          </a:xfrm>
          <a:prstGeom prst="roundRect">
            <a:avLst>
              <a:gd name="adj" fmla="val 4946"/>
            </a:avLst>
          </a:prstGeom>
          <a:solidFill>
            <a:srgbClr val="2F6B44">
              <a:alpha val="10000"/>
            </a:srgbClr>
          </a:solidFill>
          <a:ln w="19050">
            <a:solidFill>
              <a:srgbClr val="2F6B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57250" y="4407991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· 加分题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57250" y="4671417"/>
            <a:ext cx="10687050" cy="88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顾客有 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200 块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，必须从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三组不同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的图里买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三样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。每一样都要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出声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用「比」说明理由（这本比那本便宜，所以我买这本），最后报告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一共多少钱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和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买不起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的一样。售货员的任务是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每次都劝他买贵的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。做完的组接着做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作业本练习十九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：中式菜单 A 和西式菜单 B 的六个问题，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用完整的中文句子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回答。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86103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637556" y="166688"/>
            <a:ext cx="215365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游戏 · 排句子 Sentence Jumble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2803" y="176213"/>
            <a:ext cx="46027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19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078855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作业本练习十六 · GAME · 4 分钟 · 两人一组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355080"/>
            <a:ext cx="11192256" cy="365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5"/>
              </a:lnSpc>
              <a:spcBef>
                <a:spcPts val="600"/>
              </a:spcBef>
              <a:buNone/>
            </a:pPr>
            <a:r>
              <a:rPr lang="en-US" sz="2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排句子 — Sentence Jumble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609600" y="1885206"/>
            <a:ext cx="10972800" cy="2495550"/>
          </a:xfrm>
          <a:prstGeom prst="roundRect">
            <a:avLst>
              <a:gd name="adj" fmla="val 5089"/>
            </a:avLst>
          </a:prstGeom>
          <a:solidFill>
            <a:srgbClr val="F1E8D8"/>
          </a:solidFill>
          <a:ln w="19050">
            <a:solidFill>
              <a:srgbClr val="C9B39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33450" y="2132856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1. 吃 / 每天 / 在学校餐厅 / 我 / 午饭 / 买 。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33450" y="2532906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2. 觉得 / 猪排饭 / 我 / 贵 / 有一点儿 。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33450" y="2932956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3. 通常 / 晚饭 / 我们家 / 吃 / 中餐 。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33450" y="3333006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4. 羊肉 / 我 / 喜欢 / 或者 / 都 / 牛肉，/ 吃 。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933450" y="3733056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5. 差不多 / 每天 / 我 / 炒菜、/ 都 / 米饭 / 吃 。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609600" y="4558457"/>
            <a:ext cx="10972800" cy="1245989"/>
          </a:xfrm>
          <a:prstGeom prst="roundRect">
            <a:avLst>
              <a:gd name="adj" fmla="val 6116"/>
            </a:avLst>
          </a:prstGeom>
          <a:solidFill>
            <a:srgbClr val="2F6B44">
              <a:alpha val="10000"/>
            </a:srgbClr>
          </a:solidFill>
          <a:ln w="19050">
            <a:solidFill>
              <a:srgbClr val="2F6B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57250" y="4755207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· 加分题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57250" y="5018633"/>
            <a:ext cx="10687050" cy="589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排对以后，还要用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同一个句型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说一句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真的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句子才算分。第 4、5 题的新句子必须用上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同一个副词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（或者……都 / 差不多……都）。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68017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YOU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440632" y="166688"/>
            <a:ext cx="119166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活动三 · 写一段话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9288" y="176213"/>
            <a:ext cx="48425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160859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作业本练习十八 + 练习二十三 · 6 分钟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437084"/>
            <a:ext cx="11192256" cy="365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5"/>
              </a:lnSpc>
              <a:spcBef>
                <a:spcPts val="600"/>
              </a:spcBef>
              <a:buNone/>
            </a:pPr>
            <a:r>
              <a:rPr lang="en-US" sz="2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写一段话 — 说说你吃什么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609600" y="1967210"/>
            <a:ext cx="10972800" cy="2331690"/>
          </a:xfrm>
          <a:prstGeom prst="roundRect">
            <a:avLst>
              <a:gd name="adj" fmla="val 5447"/>
            </a:avLst>
          </a:prstGeom>
          <a:solidFill>
            <a:srgbClr val="F1E8D8"/>
          </a:solidFill>
          <a:ln w="19050">
            <a:solidFill>
              <a:srgbClr val="C9B39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33450" y="2214860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先问一圈：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你喜欢吃哪种饭菜？ 你喜欢喝什么饮料？ 每个人都先</a:t>
            </a:r>
            <a:r>
              <a:rPr lang="en-US" sz="17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说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一遍再写。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2560290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然后写五到六句：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3450" y="2905720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1. 早饭  2. 午饭  3. 晚饭 —— 各一句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33450" y="3305770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4. 你最喜欢的零食  5. 一句「平时……，但是……」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933450" y="3705820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词汇板留在屏幕上。小结的时候念两篇。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09600" y="4476601"/>
            <a:ext cx="10972800" cy="1245989"/>
          </a:xfrm>
          <a:prstGeom prst="roundRect">
            <a:avLst>
              <a:gd name="adj" fmla="val 6116"/>
            </a:avLst>
          </a:prstGeom>
          <a:solidFill>
            <a:srgbClr val="2F6B44">
              <a:alpha val="10000"/>
            </a:srgbClr>
          </a:solidFill>
          <a:ln w="19050">
            <a:solidFill>
              <a:srgbClr val="2F6B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57250" y="4673352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· 加分题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57250" y="4936778"/>
            <a:ext cx="10687050" cy="589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写作业本要求的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整整 80–100 字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不看词汇板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，还要写上零食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在哪里、什么时候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吃，以及你的饮食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均衡不均衡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。这几乎就是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单元测验的作文题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。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86149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43–50 MIN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638002" y="166688"/>
            <a:ext cx="161535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小结 Plenary · 回顾整课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3696" y="176213"/>
            <a:ext cx="4593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21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350169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PLENARY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26394"/>
            <a:ext cx="11192256" cy="365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5"/>
              </a:lnSpc>
              <a:spcBef>
                <a:spcPts val="600"/>
              </a:spcBef>
              <a:buNone/>
            </a:pPr>
            <a:r>
              <a:rPr lang="en-US" sz="2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今天学会了吗？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609600" y="2143869"/>
            <a:ext cx="10972800" cy="1186160"/>
          </a:xfrm>
          <a:prstGeom prst="roundRect">
            <a:avLst>
              <a:gd name="adj" fmla="val 10707"/>
            </a:avLst>
          </a:prstGeom>
          <a:solidFill>
            <a:srgbClr val="F1E8D8"/>
          </a:solidFill>
          <a:ln w="19050">
            <a:solidFill>
              <a:srgbClr val="C9B39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33450" y="2391519"/>
            <a:ext cx="10531602" cy="690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回顾六节课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 说一样菜市场的东西 · 说一个「比」句 · 说一个带量词的价钱 · 说你平时吃什么。每样举手：会 / 差不多 / 还不会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09600" y="3495080"/>
            <a:ext cx="10972800" cy="1577876"/>
          </a:xfrm>
          <a:prstGeom prst="roundRect">
            <a:avLst>
              <a:gd name="adj" fmla="val 8049"/>
            </a:avLst>
          </a:prstGeom>
          <a:solidFill>
            <a:srgbClr val="E4D5BC"/>
          </a:solidFill>
          <a:ln w="19050">
            <a:solidFill>
              <a:srgbClr val="A8700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58751" y="3818930"/>
            <a:ext cx="104799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EXIT TICKET · 出门条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58751" y="4082355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spcBef>
                <a:spcPts val="500"/>
              </a:spcBef>
              <a:buNone/>
            </a:pPr>
            <a:r>
              <a:rPr lang="en-US" sz="30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用「</a:t>
            </a: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平时……，但是……</a:t>
            </a:r>
            <a:r>
              <a:rPr lang="en-US" sz="30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」写一句话，说说你吃的东西。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09600" y="5238006"/>
            <a:ext cx="1119225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5"/>
              </a:lnSpc>
              <a:spcBef>
                <a:spcPts val="1300"/>
              </a:spcBef>
              <a:buNone/>
            </a:pPr>
            <a:r>
              <a:rPr lang="en-US" sz="1500" b="1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下节课：</a:t>
            </a:r>
            <a:r>
              <a:rPr lang="en-US" sz="15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第十一课 —— 零食。你们已经会说糖果和薯片了，开头会很快。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2026-09-14T03:48:38Z</dcterms:created>
  <dcterms:modified xsi:type="dcterms:W3CDTF">2026-09-14T03:48:38Z</dcterms:modified>
</cp:coreProperties>
</file>