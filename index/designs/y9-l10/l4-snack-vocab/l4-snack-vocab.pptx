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17145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spcBef>
                <a:spcPts val="31500"/>
              </a:spcBef>
              <a:spcAft>
                <a:spcPts val="31500"/>
              </a:spcAft>
              <a:buNone/>
            </a:pPr>
            <a:r>
              <a:rPr lang="en-US" sz="31500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零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4091940" y="2171700"/>
            <a:ext cx="101041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4 OF 8 · Y9 UNIT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091940" y="3390900"/>
            <a:ext cx="1010412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spcBef>
                <a:spcPts val="7500"/>
              </a:spcBef>
              <a:spcAft>
                <a:spcPts val="7500"/>
              </a:spcAft>
              <a:buNone/>
            </a:pPr>
            <a:r>
              <a:rPr lang="en-US" sz="7500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🍟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4091940" y="5295900"/>
            <a:ext cx="1010412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0"/>
              </a:lnSpc>
              <a:spcBef>
                <a:spcPts val="6532"/>
              </a:spcBef>
              <a:spcAft>
                <a:spcPts val="600"/>
              </a:spcAft>
              <a:buNone/>
            </a:pPr>
            <a:r>
              <a:rPr lang="en-US" sz="97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午饭和零食</a:t>
            </a:r>
            <a:r>
              <a:rPr lang="en-US" sz="975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97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词汇</a:t>
            </a:r>
            <a:endParaRPr lang="en-US" sz="9750" dirty="0"/>
          </a:p>
        </p:txBody>
      </p:sp>
      <p:sp>
        <p:nvSpPr>
          <p:cNvPr id="6" name="Text 4"/>
          <p:cNvSpPr/>
          <p:nvPr/>
        </p:nvSpPr>
        <p:spPr>
          <a:xfrm>
            <a:off x="4091940" y="6800850"/>
            <a:ext cx="10104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School Lunch &amp; Snack Vocabulary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81109" y="7943850"/>
            <a:ext cx="12822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9 Chinese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9648" y="7943850"/>
            <a:ext cx="6612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70428" y="7943850"/>
            <a:ext cx="19684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Vocab + Word-Building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93086" y="7943850"/>
            <a:ext cx="22230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 · Unit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6502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SNACK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151436" y="280988"/>
            <a:ext cx="1301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47750" y="1209675"/>
            <a:ext cx="165163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 · BINGO WARM-UP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047750" y="2009775"/>
            <a:ext cx="16516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L3 Text 1 Vocab + 卖 Pattern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47750" y="3076575"/>
            <a:ext cx="16192500" cy="3705374"/>
          </a:xfrm>
          <a:prstGeom prst="roundRect">
            <a:avLst>
              <a:gd name="adj" fmla="val 5141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04925" y="3400425"/>
            <a:ext cx="159917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BINGO · 3×3 GRIDS (LESSON 3 TEXT 1 WORDS)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304925" y="3743325"/>
            <a:ext cx="1473101" cy="742950"/>
          </a:xfrm>
          <a:prstGeom prst="roundRect">
            <a:avLst>
              <a:gd name="adj" fmla="val 7692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97064" y="3990975"/>
            <a:ext cx="12888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猪肉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54226" y="3743325"/>
            <a:ext cx="1473250" cy="742950"/>
          </a:xfrm>
          <a:prstGeom prst="roundRect">
            <a:avLst>
              <a:gd name="adj" fmla="val 7692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946364" y="3990975"/>
            <a:ext cx="12889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牛肉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03675" y="3743325"/>
            <a:ext cx="1473250" cy="742950"/>
          </a:xfrm>
          <a:prstGeom prst="roundRect">
            <a:avLst>
              <a:gd name="adj" fmla="val 7692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95813" y="3990975"/>
            <a:ext cx="12889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鸡肉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04925" y="4562475"/>
            <a:ext cx="1473101" cy="742950"/>
          </a:xfrm>
          <a:prstGeom prst="roundRect">
            <a:avLst>
              <a:gd name="adj" fmla="val 7692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97064" y="4810125"/>
            <a:ext cx="12888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豆腐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54226" y="4562475"/>
            <a:ext cx="1473250" cy="742950"/>
          </a:xfrm>
          <a:prstGeom prst="roundRect">
            <a:avLst>
              <a:gd name="adj" fmla="val 7692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46364" y="4810125"/>
            <a:ext cx="12889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03675" y="4562475"/>
            <a:ext cx="1473250" cy="742950"/>
          </a:xfrm>
          <a:prstGeom prst="roundRect">
            <a:avLst>
              <a:gd name="adj" fmla="val 7692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495813" y="4810125"/>
            <a:ext cx="12889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便宜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04925" y="5381625"/>
            <a:ext cx="1473101" cy="742950"/>
          </a:xfrm>
          <a:prstGeom prst="roundRect">
            <a:avLst>
              <a:gd name="adj" fmla="val 7692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397064" y="5629275"/>
            <a:ext cx="12888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附近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54226" y="5381625"/>
            <a:ext cx="1473250" cy="742950"/>
          </a:xfrm>
          <a:prstGeom prst="roundRect">
            <a:avLst>
              <a:gd name="adj" fmla="val 7692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946364" y="5629275"/>
            <a:ext cx="12889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卖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03675" y="5381625"/>
            <a:ext cx="1473250" cy="742950"/>
          </a:xfrm>
          <a:prstGeom prst="roundRect">
            <a:avLst>
              <a:gd name="adj" fmla="val 7692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495813" y="5629275"/>
            <a:ext cx="12889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各种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04925" y="6262688"/>
            <a:ext cx="15991713" cy="20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7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Pre-made 3×3 grids with these 9 market/Text 1 words. Teacher calls </a:t>
            </a:r>
            <a:r>
              <a:rPr lang="en-US" sz="108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 meanings</a:t>
            </a: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; students cross off the matching 汉字. First to complete a line calls </a:t>
            </a:r>
            <a:r>
              <a:rPr lang="en-US" sz="108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"Bingo!"</a:t>
            </a: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reads the line aloud.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1047750" y="6934349"/>
            <a:ext cx="16192500" cy="1857375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1076325" y="6934349"/>
            <a:ext cx="0" cy="1857375"/>
          </a:xfrm>
          <a:prstGeom prst="line">
            <a:avLst/>
          </a:prstGeom>
          <a:noFill/>
          <a:ln w="57150">
            <a:solidFill>
              <a:srgbClr val="A843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7210574"/>
            <a:ext cx="159139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CONNECTION · 承上启下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371600" y="7582049"/>
            <a:ext cx="1591398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上节课我们学了</a:t>
            </a:r>
            <a:r>
              <a:rPr lang="en-US" sz="157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菜市场卖什么</a:t>
            </a:r>
            <a:r>
              <a:rPr lang="en-US" sz="15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1371600" y="8082111"/>
            <a:ext cx="1591398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今天我们学另一种"吃的"——学校午饭和零食，比如</a:t>
            </a: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三明治</a:t>
            </a: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薯片</a:t>
            </a: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125" dirty="0"/>
          </a:p>
          <a:p>
            <a:pPr algn="l" indent="0" marL="0">
              <a:lnSpc>
                <a:spcPts val="1631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 we learn another kind of food — school lunch and snacks, like sandwiches and chips.</a:t>
            </a:r>
            <a:endParaRPr lang="en-US" sz="1125" dirty="0"/>
          </a:p>
        </p:txBody>
      </p:sp>
      <p:sp>
        <p:nvSpPr>
          <p:cNvPr id="35" name="Shape 3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6502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SNACK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151436" y="280988"/>
            <a:ext cx="2159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· 8–10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1369814"/>
            <a:ext cx="159334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333500" y="2227064"/>
            <a:ext cx="159334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300"/>
              </a:spcBef>
              <a:spcAft>
                <a:spcPts val="3300"/>
              </a:spcAft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333500" y="3446264"/>
            <a:ext cx="15621000" cy="1293465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357313" y="3446264"/>
            <a:ext cx="0" cy="1293465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7825" y="3712964"/>
            <a:ext cx="15340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47825" y="4084439"/>
            <a:ext cx="1534077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16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school lunch and snack foods</a:t>
            </a:r>
            <a:r>
              <a:rPr lang="en-US" sz="16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 and </a:t>
            </a:r>
            <a:r>
              <a:rPr lang="en-US" sz="16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sort them into categories</a:t>
            </a:r>
            <a:r>
              <a:rPr lang="en-US" sz="16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33500" y="4949279"/>
            <a:ext cx="15621000" cy="1382911"/>
          </a:xfrm>
          <a:prstGeom prst="roundRect">
            <a:avLst>
              <a:gd name="adj" fmla="val 8265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52575" y="5435054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24075" y="5273129"/>
            <a:ext cx="440233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name key lunch and snack items in Chinese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333500" y="6446490"/>
            <a:ext cx="15621000" cy="1382911"/>
          </a:xfrm>
          <a:prstGeom prst="roundRect">
            <a:avLst>
              <a:gd name="adj" fmla="val 8265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52575" y="6932265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2124075" y="6770340"/>
            <a:ext cx="463641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sort food into categories: </a:t>
            </a:r>
            <a:r>
              <a:rPr lang="en-US" sz="14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中餐/快餐/零食/饮料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333500" y="7943701"/>
            <a:ext cx="15621000" cy="1382911"/>
          </a:xfrm>
          <a:prstGeom prst="roundRect">
            <a:avLst>
              <a:gd name="adj" fmla="val 8265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52575" y="8429476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2124075" y="8267551"/>
            <a:ext cx="532105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build new words by adding a character, e.g. </a:t>
            </a:r>
            <a:r>
              <a:rPr lang="en-US" sz="14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薯片/薯条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6502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SNACK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151436" y="280988"/>
            <a:ext cx="25357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 · 10–17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90625"/>
            <a:ext cx="16710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10–17 MIN · I DO · NEW VOCABULARY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52500" y="1933575"/>
            <a:ext cx="167106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午饭和零食 · Lunch &amp; Snack Vocabulary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52500" y="2867025"/>
            <a:ext cx="5403800" cy="1162050"/>
          </a:xfrm>
          <a:prstGeom prst="roundRect">
            <a:avLst>
              <a:gd name="adj" fmla="val 16393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85850" y="333375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三明治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790700" y="3095625"/>
            <a:ext cx="7977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sānmíngzhì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790700" y="3600450"/>
            <a:ext cx="7977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sandwich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6442025" y="2867025"/>
            <a:ext cx="5403949" cy="1162050"/>
          </a:xfrm>
          <a:prstGeom prst="roundRect">
            <a:avLst>
              <a:gd name="adj" fmla="val 16393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75375" y="3257550"/>
            <a:ext cx="6217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平时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280225" y="3095625"/>
            <a:ext cx="513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píngshí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7280225" y="3600450"/>
            <a:ext cx="513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usually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1931700" y="2867025"/>
            <a:ext cx="5403800" cy="1162050"/>
          </a:xfrm>
          <a:prstGeom prst="roundRect">
            <a:avLst>
              <a:gd name="adj" fmla="val 16393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065050" y="3257550"/>
            <a:ext cx="6217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盒饭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769900" y="3095625"/>
            <a:ext cx="6788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héfàn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2769900" y="3600450"/>
            <a:ext cx="6788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box lunch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952500" y="4114800"/>
            <a:ext cx="5403800" cy="1162050"/>
          </a:xfrm>
          <a:prstGeom prst="roundRect">
            <a:avLst>
              <a:gd name="adj" fmla="val 16393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85850" y="4505325"/>
            <a:ext cx="6217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薯片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790700" y="4343400"/>
            <a:ext cx="8863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shǔpiàn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790700" y="4848225"/>
            <a:ext cx="8863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chips; crisps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6442025" y="4114800"/>
            <a:ext cx="5403949" cy="1162050"/>
          </a:xfrm>
          <a:prstGeom prst="roundRect">
            <a:avLst>
              <a:gd name="adj" fmla="val 16393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575375" y="4505325"/>
            <a:ext cx="6217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薯条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280225" y="4343400"/>
            <a:ext cx="8444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shǔtiáo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7280225" y="4848225"/>
            <a:ext cx="8444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French fries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1931700" y="4114800"/>
            <a:ext cx="5403800" cy="1162050"/>
          </a:xfrm>
          <a:prstGeom prst="roundRect">
            <a:avLst>
              <a:gd name="adj" fmla="val 16393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2065050" y="4505325"/>
            <a:ext cx="6217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炸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2769900" y="4343400"/>
            <a:ext cx="6237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zhá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12769900" y="4848225"/>
            <a:ext cx="6237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deep-fry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952500" y="5362575"/>
            <a:ext cx="5403800" cy="1162050"/>
          </a:xfrm>
          <a:prstGeom prst="roundRect">
            <a:avLst>
              <a:gd name="adj" fmla="val 16393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085850" y="5753100"/>
            <a:ext cx="6217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翅膀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790700" y="5591175"/>
            <a:ext cx="5592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chìbǎng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790700" y="6096000"/>
            <a:ext cx="5592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wing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6442025" y="5362575"/>
            <a:ext cx="5403949" cy="1162050"/>
          </a:xfrm>
          <a:prstGeom prst="roundRect">
            <a:avLst>
              <a:gd name="adj" fmla="val 16393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575375" y="5753100"/>
            <a:ext cx="6217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糖果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7280225" y="5591175"/>
            <a:ext cx="9970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tángguǒ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7280225" y="6096000"/>
            <a:ext cx="9970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candy; sweets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11931700" y="5362575"/>
            <a:ext cx="5403800" cy="1162050"/>
          </a:xfrm>
          <a:prstGeom prst="roundRect">
            <a:avLst>
              <a:gd name="adj" fmla="val 16393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2065050" y="5753100"/>
            <a:ext cx="6217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咖喱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2769900" y="5591175"/>
            <a:ext cx="3553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gālí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12769900" y="6096000"/>
            <a:ext cx="3553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curry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952500" y="6610350"/>
            <a:ext cx="8148638" cy="1162050"/>
          </a:xfrm>
          <a:prstGeom prst="roundRect">
            <a:avLst>
              <a:gd name="adj" fmla="val 16393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085850" y="7000875"/>
            <a:ext cx="6217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鱼柳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1790700" y="6838950"/>
            <a:ext cx="6208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yúliǔ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1790700" y="7343775"/>
            <a:ext cx="6208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fish fillet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9186863" y="6610350"/>
            <a:ext cx="8148638" cy="1162050"/>
          </a:xfrm>
          <a:prstGeom prst="roundRect">
            <a:avLst>
              <a:gd name="adj" fmla="val 16393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9320213" y="7000875"/>
            <a:ext cx="6217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猪排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10025063" y="6838950"/>
            <a:ext cx="7083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zhūpái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10025063" y="7343775"/>
            <a:ext cx="7083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pork chop</a:t>
            </a:r>
            <a:endParaRPr lang="en-US" sz="1125" dirty="0"/>
          </a:p>
        </p:txBody>
      </p:sp>
      <p:sp>
        <p:nvSpPr>
          <p:cNvPr id="53" name="Text 51"/>
          <p:cNvSpPr/>
          <p:nvPr/>
        </p:nvSpPr>
        <p:spPr>
          <a:xfrm>
            <a:off x="952500" y="7886700"/>
            <a:ext cx="16383000" cy="698153"/>
          </a:xfrm>
          <a:prstGeom prst="roundRect">
            <a:avLst>
              <a:gd name="adj" fmla="val 16372"/>
            </a:avLst>
          </a:prstGeom>
          <a:solidFill>
            <a:srgbClr val="A8432E">
              <a:alpha val="12000"/>
            </a:srgbClr>
          </a:solidFill>
          <a:ln w="19050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181100" y="8139112"/>
            <a:ext cx="12153939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字形小知识 · Word-building note:</a:t>
            </a: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88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薯</a:t>
            </a: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(potato/yam) + </a:t>
            </a:r>
            <a:r>
              <a:rPr lang="en-US" sz="1088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片</a:t>
            </a: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(slice) = </a:t>
            </a:r>
            <a:r>
              <a:rPr lang="en-US" sz="1088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薯片</a:t>
            </a: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"chips" · </a:t>
            </a:r>
            <a:r>
              <a:rPr lang="en-US" sz="1088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薯</a:t>
            </a: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</a:t>
            </a:r>
            <a:r>
              <a:rPr lang="en-US" sz="1088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</a:t>
            </a: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(strip) = </a:t>
            </a:r>
            <a:r>
              <a:rPr lang="en-US" sz="1088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薯条</a:t>
            </a: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"fries" — same root, different shape. Point this out as you present the pair.</a:t>
            </a:r>
            <a:endParaRPr lang="en-US" sz="1088" dirty="0"/>
          </a:p>
        </p:txBody>
      </p:sp>
      <p:sp>
        <p:nvSpPr>
          <p:cNvPr id="55" name="Shape 5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6502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SNACK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151436" y="280988"/>
            <a:ext cx="2450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Pattern &amp; CFU · 17–20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23825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17–20 MIN · I DO · KEY SENTENCE PATTERN + CFU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2057400"/>
            <a:ext cx="16710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炸 + 食物 · Deep-Fried X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52500" y="3143250"/>
            <a:ext cx="4908203" cy="1304925"/>
          </a:xfrm>
          <a:prstGeom prst="roundRect">
            <a:avLst>
              <a:gd name="adj" fmla="val 8759"/>
            </a:avLst>
          </a:prstGeom>
          <a:solidFill>
            <a:srgbClr val="E4D5BC"/>
          </a:solidFill>
          <a:ln w="19050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38250" y="3581400"/>
            <a:ext cx="32622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炸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34282" y="3638550"/>
            <a:ext cx="16121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68537" y="3581400"/>
            <a:ext cx="100585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[food]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930872" y="3638550"/>
            <a:ext cx="16121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65128" y="3581400"/>
            <a:ext cx="245802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"deep-fried X"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52500" y="4600575"/>
            <a:ext cx="8421886" cy="952500"/>
          </a:xfrm>
          <a:prstGeom prst="roundRect">
            <a:avLst>
              <a:gd name="adj" fmla="val 1200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33475" y="4991100"/>
            <a:ext cx="730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19361" y="4933950"/>
            <a:ext cx="17099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我喜欢吃炸鸡翅。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186261" y="5010150"/>
            <a:ext cx="22075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like eating fried chicken wings.</a:t>
            </a:r>
            <a:endParaRPr lang="en-US" sz="1088" dirty="0"/>
          </a:p>
        </p:txBody>
      </p:sp>
      <p:sp>
        <p:nvSpPr>
          <p:cNvPr id="19" name="Text 17"/>
          <p:cNvSpPr/>
          <p:nvPr/>
        </p:nvSpPr>
        <p:spPr>
          <a:xfrm>
            <a:off x="952500" y="5648325"/>
            <a:ext cx="8421886" cy="952500"/>
          </a:xfrm>
          <a:prstGeom prst="roundRect">
            <a:avLst>
              <a:gd name="adj" fmla="val 1200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33475" y="6038850"/>
            <a:ext cx="730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19361" y="5981700"/>
            <a:ext cx="32061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盒饭里有咖喱牛肉、鱼柳和猪排。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653111" y="6057900"/>
            <a:ext cx="37935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box lunch has curry beef, fish fillet, and pork chop.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952500" y="6696075"/>
            <a:ext cx="8421886" cy="952500"/>
          </a:xfrm>
          <a:prstGeom prst="roundRect">
            <a:avLst>
              <a:gd name="adj" fmla="val 12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33475" y="7086600"/>
            <a:ext cx="730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19361" y="7029450"/>
            <a:ext cx="17099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我早饭吃炸薯条！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3186261" y="7105650"/>
            <a:ext cx="25240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(Silly example — wait for reaction!)</a:t>
            </a:r>
            <a:endParaRPr lang="en-US" sz="1088" dirty="0"/>
          </a:p>
        </p:txBody>
      </p:sp>
      <p:sp>
        <p:nvSpPr>
          <p:cNvPr id="27" name="Text 25"/>
          <p:cNvSpPr/>
          <p:nvPr/>
        </p:nvSpPr>
        <p:spPr>
          <a:xfrm>
            <a:off x="9679186" y="3267075"/>
            <a:ext cx="78094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CHECKPOINTS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9679186" y="3695700"/>
            <a:ext cx="7656314" cy="1261021"/>
          </a:xfrm>
          <a:prstGeom prst="roundRect">
            <a:avLst>
              <a:gd name="adj" fmla="val 15107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860161" y="3957638"/>
            <a:ext cx="74402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 / DOWN</a:t>
            </a:r>
            <a:endParaRPr lang="en-US" sz="938" dirty="0"/>
          </a:p>
        </p:txBody>
      </p:sp>
      <p:sp>
        <p:nvSpPr>
          <p:cNvPr id="30" name="Text 28"/>
          <p:cNvSpPr/>
          <p:nvPr/>
        </p:nvSpPr>
        <p:spPr>
          <a:xfrm>
            <a:off x="9860161" y="4448175"/>
            <a:ext cx="74402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"Thumbs up if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盒饭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means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'box lunch'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."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79186" y="5071021"/>
            <a:ext cx="7656314" cy="1261021"/>
          </a:xfrm>
          <a:prstGeom prst="roundRect">
            <a:avLst>
              <a:gd name="adj" fmla="val 15107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860161" y="5332958"/>
            <a:ext cx="74402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</a:t>
            </a:r>
            <a:endParaRPr lang="en-US" sz="938" dirty="0"/>
          </a:p>
        </p:txBody>
      </p:sp>
      <p:sp>
        <p:nvSpPr>
          <p:cNvPr id="33" name="Text 31"/>
          <p:cNvSpPr/>
          <p:nvPr/>
        </p:nvSpPr>
        <p:spPr>
          <a:xfrm>
            <a:off x="9860161" y="5823496"/>
            <a:ext cx="74402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"Write the Chinese for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'chips'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Hold it up."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79186" y="6446341"/>
            <a:ext cx="7656314" cy="1261021"/>
          </a:xfrm>
          <a:prstGeom prst="roundRect">
            <a:avLst>
              <a:gd name="adj" fmla="val 15107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860161" y="6708279"/>
            <a:ext cx="74402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38" dirty="0"/>
          </a:p>
        </p:txBody>
      </p:sp>
      <p:sp>
        <p:nvSpPr>
          <p:cNvPr id="36" name="Text 34"/>
          <p:cNvSpPr/>
          <p:nvPr/>
        </p:nvSpPr>
        <p:spPr>
          <a:xfrm>
            <a:off x="9860161" y="7198816"/>
            <a:ext cx="74402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"Leo，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'candy'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用中文怎么说？" → "Mia，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'curry'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呢？"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6502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SNACK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151436" y="280988"/>
            <a:ext cx="22700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20–27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42988"/>
            <a:ext cx="1153120" cy="600075"/>
          </a:xfrm>
          <a:prstGeom prst="roundRect">
            <a:avLst>
              <a:gd name="adj" fmla="val 1585714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243013"/>
            <a:ext cx="787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258020" y="1028700"/>
            <a:ext cx="919311" cy="628650"/>
          </a:xfrm>
          <a:prstGeom prst="roundRect">
            <a:avLst>
              <a:gd name="adj" fmla="val 151363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38995" y="1238250"/>
            <a:ext cx="5685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329732" y="1042988"/>
            <a:ext cx="2251323" cy="600075"/>
          </a:xfrm>
          <a:prstGeom prst="roundRect">
            <a:avLst>
              <a:gd name="adj" fmla="val 1585714"/>
            </a:avLst>
          </a:prstGeom>
          <a:solidFill>
            <a:srgbClr val="3F7A5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01182" y="1243013"/>
            <a:ext cx="19465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Add-a-Character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2057400"/>
            <a:ext cx="16710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50"/>
              </a:spcBef>
              <a:spcAft>
                <a:spcPts val="2550"/>
              </a:spcAft>
              <a:buNone/>
            </a:pPr>
            <a:r>
              <a:rPr lang="en-US" sz="25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活动一 · 加字组词 (WB Ex.14 + Ex.9)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52500" y="2952750"/>
            <a:ext cx="8441829" cy="6109246"/>
          </a:xfrm>
          <a:prstGeom prst="roundRect">
            <a:avLst>
              <a:gd name="adj" fmla="val 3118"/>
            </a:avLst>
          </a:prstGeom>
          <a:solidFill>
            <a:srgbClr val="F1E8D8"/>
          </a:solidFill>
          <a:ln w="19050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81100" y="3300413"/>
            <a:ext cx="8144321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Step 1 — Add-a-Character:</a:t>
            </a: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project 4 word-building prompts. Students complete each with the correct character in their exercise books.</a:t>
            </a:r>
            <a:endParaRPr lang="en-US" sz="1088" dirty="0"/>
          </a:p>
        </p:txBody>
      </p:sp>
      <p:sp>
        <p:nvSpPr>
          <p:cNvPr id="16" name="Text 14"/>
          <p:cNvSpPr/>
          <p:nvPr/>
        </p:nvSpPr>
        <p:spPr>
          <a:xfrm>
            <a:off x="1181100" y="3852863"/>
            <a:ext cx="3954214" cy="781050"/>
          </a:xfrm>
          <a:prstGeom prst="roundRect">
            <a:avLst>
              <a:gd name="adj" fmla="val 14634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14450" y="4157663"/>
            <a:ext cx="57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446609" y="4119562"/>
            <a:ext cx="540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(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899642" y="4119562"/>
            <a:ext cx="2386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)肉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5211514" y="3852863"/>
            <a:ext cx="3954214" cy="781050"/>
          </a:xfrm>
          <a:prstGeom prst="roundRect">
            <a:avLst>
              <a:gd name="adj" fmla="val 14634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344864" y="4157663"/>
            <a:ext cx="80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499497" y="4119562"/>
            <a:ext cx="2386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薯(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6133505" y="4119562"/>
            <a:ext cx="540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)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181100" y="4710113"/>
            <a:ext cx="3954214" cy="781050"/>
          </a:xfrm>
          <a:prstGeom prst="roundRect">
            <a:avLst>
              <a:gd name="adj" fmla="val 14634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314450" y="5014913"/>
            <a:ext cx="80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469678" y="4976813"/>
            <a:ext cx="540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(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1922711" y="4976813"/>
            <a:ext cx="2386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)果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5211514" y="4710113"/>
            <a:ext cx="3954214" cy="781050"/>
          </a:xfrm>
          <a:prstGeom prst="roundRect">
            <a:avLst>
              <a:gd name="adj" fmla="val 14634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44864" y="5014913"/>
            <a:ext cx="815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5500985" y="4976813"/>
            <a:ext cx="540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(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5954018" y="4976813"/>
            <a:ext cx="2386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)常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1181100" y="5605463"/>
            <a:ext cx="7984629" cy="657225"/>
          </a:xfrm>
          <a:prstGeom prst="roundRect">
            <a:avLst>
              <a:gd name="adj" fmla="val 17391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343025" y="5838825"/>
            <a:ext cx="78139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(scaffold):</a:t>
            </a: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猪/鸡/牛 · 片/条 · 糖/水 · 平/正</a:t>
            </a:r>
            <a:endParaRPr lang="en-US" sz="1088" dirty="0"/>
          </a:p>
        </p:txBody>
      </p:sp>
      <p:sp>
        <p:nvSpPr>
          <p:cNvPr id="34" name="Text 32"/>
          <p:cNvSpPr/>
          <p:nvPr/>
        </p:nvSpPr>
        <p:spPr>
          <a:xfrm>
            <a:off x="1181100" y="6400800"/>
            <a:ext cx="8144321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Step 2 — Rooster diagram:</a:t>
            </a: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label the 5 parts, guessing meaning first, then checking against the projected answer key (right panel).</a:t>
            </a:r>
            <a:endParaRPr lang="en-US" sz="1088" dirty="0"/>
          </a:p>
        </p:txBody>
      </p:sp>
      <p:sp>
        <p:nvSpPr>
          <p:cNvPr id="35" name="Text 33"/>
          <p:cNvSpPr/>
          <p:nvPr/>
        </p:nvSpPr>
        <p:spPr>
          <a:xfrm>
            <a:off x="1181100" y="6953250"/>
            <a:ext cx="814432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 the first item; students complete the rest independently, then pair-check before whole-class reveal.</a:t>
            </a:r>
            <a:endParaRPr lang="en-US" sz="1088" dirty="0"/>
          </a:p>
        </p:txBody>
      </p:sp>
      <p:sp>
        <p:nvSpPr>
          <p:cNvPr id="36" name="Text 34"/>
          <p:cNvSpPr/>
          <p:nvPr/>
        </p:nvSpPr>
        <p:spPr>
          <a:xfrm>
            <a:off x="1181100" y="7298531"/>
            <a:ext cx="2597944" cy="1009650"/>
          </a:xfrm>
          <a:prstGeom prst="roundRect">
            <a:avLst>
              <a:gd name="adj" fmla="val 11321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304925" y="7498556"/>
            <a:ext cx="2397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1304925" y="7770019"/>
            <a:ext cx="2397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provided (above) for the add-a-character task</a:t>
            </a:r>
            <a:endParaRPr lang="en-US" sz="938" dirty="0"/>
          </a:p>
        </p:txBody>
      </p:sp>
      <p:sp>
        <p:nvSpPr>
          <p:cNvPr id="39" name="Text 37"/>
          <p:cNvSpPr/>
          <p:nvPr/>
        </p:nvSpPr>
        <p:spPr>
          <a:xfrm>
            <a:off x="3874294" y="7298531"/>
            <a:ext cx="2598093" cy="1009650"/>
          </a:xfrm>
          <a:prstGeom prst="roundRect">
            <a:avLst>
              <a:gd name="adj" fmla="val 11321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998119" y="7498556"/>
            <a:ext cx="23974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3998119" y="7770019"/>
            <a:ext cx="239745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each completed word in an original sentence</a:t>
            </a:r>
            <a:endParaRPr lang="en-US" sz="938" dirty="0"/>
          </a:p>
        </p:txBody>
      </p:sp>
      <p:sp>
        <p:nvSpPr>
          <p:cNvPr id="42" name="Text 40"/>
          <p:cNvSpPr/>
          <p:nvPr/>
        </p:nvSpPr>
        <p:spPr>
          <a:xfrm>
            <a:off x="6567636" y="7298531"/>
            <a:ext cx="2597944" cy="1009650"/>
          </a:xfrm>
          <a:prstGeom prst="roundRect">
            <a:avLst>
              <a:gd name="adj" fmla="val 11321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91461" y="7498556"/>
            <a:ext cx="2397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6691461" y="7770019"/>
            <a:ext cx="2397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for 2 of the 4 word-building items</a:t>
            </a:r>
            <a:endParaRPr lang="en-US" sz="938" dirty="0"/>
          </a:p>
        </p:txBody>
      </p:sp>
      <p:sp>
        <p:nvSpPr>
          <p:cNvPr id="45" name="Text 43"/>
          <p:cNvSpPr/>
          <p:nvPr/>
        </p:nvSpPr>
        <p:spPr>
          <a:xfrm>
            <a:off x="9661029" y="3067050"/>
            <a:ext cx="78279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鸡的图 · LABEL THE ROOSTER DIAGRAM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661029" y="3419475"/>
            <a:ext cx="7674471" cy="5642521"/>
          </a:xfrm>
          <a:prstGeom prst="roundRect">
            <a:avLst>
              <a:gd name="adj" fmla="val 337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3231564" y="4076700"/>
            <a:ext cx="54406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spcBef>
                <a:spcPts val="4200"/>
              </a:spcBef>
              <a:spcAft>
                <a:spcPts val="4200"/>
              </a:spcAft>
              <a:buNone/>
            </a:pPr>
            <a:r>
              <a:rPr lang="en-US" sz="42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🐓</a:t>
            </a:r>
            <a:endParaRPr lang="en-US" sz="4200" dirty="0"/>
          </a:p>
        </p:txBody>
      </p:sp>
      <p:sp>
        <p:nvSpPr>
          <p:cNvPr id="48" name="Text 46"/>
          <p:cNvSpPr/>
          <p:nvPr/>
        </p:nvSpPr>
        <p:spPr>
          <a:xfrm>
            <a:off x="9842004" y="5219700"/>
            <a:ext cx="3627686" cy="1057275"/>
          </a:xfrm>
          <a:prstGeom prst="roundRect">
            <a:avLst>
              <a:gd name="adj" fmla="val 5405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9893167" y="5419725"/>
            <a:ext cx="35253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鸡冠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9893167" y="5762625"/>
            <a:ext cx="35253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jīguān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9893167" y="5991225"/>
            <a:ext cx="35253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comb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3526839" y="5219700"/>
            <a:ext cx="3627686" cy="1057275"/>
          </a:xfrm>
          <a:prstGeom prst="roundRect">
            <a:avLst>
              <a:gd name="adj" fmla="val 5405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3578002" y="5419725"/>
            <a:ext cx="35253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尾巴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13578002" y="5762625"/>
            <a:ext cx="35253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wěiba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3578002" y="5991225"/>
            <a:ext cx="35253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tail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9842004" y="6334125"/>
            <a:ext cx="3627686" cy="1057275"/>
          </a:xfrm>
          <a:prstGeom prst="roundRect">
            <a:avLst>
              <a:gd name="adj" fmla="val 5405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9893167" y="6534150"/>
            <a:ext cx="35253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羽毛</a:t>
            </a:r>
            <a:endParaRPr lang="en-US" sz="1125" dirty="0"/>
          </a:p>
        </p:txBody>
      </p:sp>
      <p:sp>
        <p:nvSpPr>
          <p:cNvPr id="58" name="Text 56"/>
          <p:cNvSpPr/>
          <p:nvPr/>
        </p:nvSpPr>
        <p:spPr>
          <a:xfrm>
            <a:off x="9893167" y="6877050"/>
            <a:ext cx="35253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yǔmáo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9893167" y="7105650"/>
            <a:ext cx="35253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feather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3526839" y="6334125"/>
            <a:ext cx="3627686" cy="1057275"/>
          </a:xfrm>
          <a:prstGeom prst="roundRect">
            <a:avLst>
              <a:gd name="adj" fmla="val 5405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13578002" y="6534150"/>
            <a:ext cx="35253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翅膀</a:t>
            </a:r>
            <a:endParaRPr lang="en-US" sz="1125" dirty="0"/>
          </a:p>
        </p:txBody>
      </p:sp>
      <p:sp>
        <p:nvSpPr>
          <p:cNvPr id="62" name="Text 60"/>
          <p:cNvSpPr/>
          <p:nvPr/>
        </p:nvSpPr>
        <p:spPr>
          <a:xfrm>
            <a:off x="13578002" y="6877050"/>
            <a:ext cx="35253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chìbǎng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3578002" y="7105650"/>
            <a:ext cx="35253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wing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9842004" y="7448550"/>
            <a:ext cx="7312521" cy="1057275"/>
          </a:xfrm>
          <a:prstGeom prst="roundRect">
            <a:avLst>
              <a:gd name="adj" fmla="val 5405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9856318" y="7648575"/>
            <a:ext cx="72838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爪子</a:t>
            </a:r>
            <a:endParaRPr lang="en-US" sz="1125" dirty="0"/>
          </a:p>
        </p:txBody>
      </p:sp>
      <p:sp>
        <p:nvSpPr>
          <p:cNvPr id="66" name="Text 64"/>
          <p:cNvSpPr/>
          <p:nvPr/>
        </p:nvSpPr>
        <p:spPr>
          <a:xfrm>
            <a:off x="9856318" y="7991475"/>
            <a:ext cx="72838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zhuǎzi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9856318" y="8220075"/>
            <a:ext cx="72838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claw / foot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0462779" y="8686800"/>
            <a:ext cx="60708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Based on the chicken diagram in Workbook Ex. 9 — use the printed workbook page for the actual labelling diagram.</a:t>
            </a:r>
            <a:endParaRPr lang="en-US" sz="825" dirty="0"/>
          </a:p>
        </p:txBody>
      </p:sp>
      <p:sp>
        <p:nvSpPr>
          <p:cNvPr id="69" name="Shape 6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6502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SNACK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151436" y="280988"/>
            <a:ext cx="23443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27–37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42988"/>
            <a:ext cx="1179165" cy="600075"/>
          </a:xfrm>
          <a:prstGeom prst="roundRect">
            <a:avLst>
              <a:gd name="adj" fmla="val 1585714"/>
            </a:avLst>
          </a:prstGeom>
          <a:solidFill>
            <a:srgbClr val="D45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243013"/>
            <a:ext cx="8141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284065" y="1028700"/>
            <a:ext cx="992237" cy="628650"/>
          </a:xfrm>
          <a:prstGeom prst="roundRect">
            <a:avLst>
              <a:gd name="adj" fmla="val 151363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65040" y="1238250"/>
            <a:ext cx="6428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10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428702" y="1042988"/>
            <a:ext cx="1831032" cy="600075"/>
          </a:xfrm>
          <a:prstGeom prst="roundRect">
            <a:avLst>
              <a:gd name="adj" fmla="val 1585714"/>
            </a:avLst>
          </a:prstGeom>
          <a:solidFill>
            <a:srgbClr val="D45A3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00152" y="1243013"/>
            <a:ext cx="15178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Categorise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2076450"/>
            <a:ext cx="167106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活动二 · 食物分类 (WB Ex.15)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52500" y="3028950"/>
            <a:ext cx="3995738" cy="1352550"/>
          </a:xfrm>
          <a:prstGeom prst="roundRect">
            <a:avLst>
              <a:gd name="adj" fmla="val 14085"/>
            </a:avLst>
          </a:prstGeom>
          <a:solidFill>
            <a:srgbClr val="F1E8D8"/>
          </a:solidFill>
          <a:ln w="19050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23950" y="3390900"/>
            <a:ext cx="372589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中餐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23950" y="3886200"/>
            <a:ext cx="37258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Chinese food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081588" y="3028950"/>
            <a:ext cx="3995738" cy="1352550"/>
          </a:xfrm>
          <a:prstGeom prst="roundRect">
            <a:avLst>
              <a:gd name="adj" fmla="val 14085"/>
            </a:avLst>
          </a:prstGeom>
          <a:solidFill>
            <a:srgbClr val="F1E8D8"/>
          </a:solidFill>
          <a:ln w="19050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53038" y="3390900"/>
            <a:ext cx="372589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253038" y="3886200"/>
            <a:ext cx="37258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 food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9210675" y="3028950"/>
            <a:ext cx="3995738" cy="1352550"/>
          </a:xfrm>
          <a:prstGeom prst="roundRect">
            <a:avLst>
              <a:gd name="adj" fmla="val 14085"/>
            </a:avLst>
          </a:prstGeom>
          <a:solidFill>
            <a:srgbClr val="F1E8D8"/>
          </a:solidFill>
          <a:ln w="19050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382125" y="3390900"/>
            <a:ext cx="372589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零食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382125" y="3886200"/>
            <a:ext cx="37258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snacks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3339763" y="3028950"/>
            <a:ext cx="3995738" cy="1352550"/>
          </a:xfrm>
          <a:prstGeom prst="roundRect">
            <a:avLst>
              <a:gd name="adj" fmla="val 14085"/>
            </a:avLst>
          </a:prstGeom>
          <a:solidFill>
            <a:srgbClr val="F1E8D8"/>
          </a:solidFill>
          <a:ln w="19050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3511213" y="3390900"/>
            <a:ext cx="372589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饮料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3511213" y="3886200"/>
            <a:ext cx="37258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drinks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952500" y="4667250"/>
            <a:ext cx="167106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— SORT EACH ITEM INTO ITS CATEGORY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52500" y="5086350"/>
            <a:ext cx="723900" cy="781050"/>
          </a:xfrm>
          <a:prstGeom prst="roundRect">
            <a:avLst>
              <a:gd name="adj" fmla="val 1314474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33475" y="535305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炒菜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762125" y="5086350"/>
            <a:ext cx="723900" cy="781050"/>
          </a:xfrm>
          <a:prstGeom prst="roundRect">
            <a:avLst>
              <a:gd name="adj" fmla="val 1314474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943100" y="535305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炒面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2571750" y="5086350"/>
            <a:ext cx="723900" cy="781050"/>
          </a:xfrm>
          <a:prstGeom prst="roundRect">
            <a:avLst>
              <a:gd name="adj" fmla="val 1314474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752725" y="535305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糖果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3381375" y="5086350"/>
            <a:ext cx="904875" cy="781050"/>
          </a:xfrm>
          <a:prstGeom prst="roundRect">
            <a:avLst>
              <a:gd name="adj" fmla="val 1218293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562350" y="5353050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炸鸡翅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4371975" y="5086350"/>
            <a:ext cx="904875" cy="781050"/>
          </a:xfrm>
          <a:prstGeom prst="roundRect">
            <a:avLst>
              <a:gd name="adj" fmla="val 1218293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52950" y="5353050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比萨饼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5362575" y="5086350"/>
            <a:ext cx="723900" cy="781050"/>
          </a:xfrm>
          <a:prstGeom prst="roundRect">
            <a:avLst>
              <a:gd name="adj" fmla="val 1314474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543550" y="535305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可乐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6172200" y="5086350"/>
            <a:ext cx="723900" cy="781050"/>
          </a:xfrm>
          <a:prstGeom prst="roundRect">
            <a:avLst>
              <a:gd name="adj" fmla="val 1314474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353175" y="535305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汽水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6981825" y="5086350"/>
            <a:ext cx="904875" cy="781050"/>
          </a:xfrm>
          <a:prstGeom prst="roundRect">
            <a:avLst>
              <a:gd name="adj" fmla="val 1218293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162800" y="5353050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炒青菜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7972425" y="5086350"/>
            <a:ext cx="904875" cy="781050"/>
          </a:xfrm>
          <a:prstGeom prst="roundRect">
            <a:avLst>
              <a:gd name="adj" fmla="val 1218293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8153400" y="5353050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炒大虾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8963025" y="5086350"/>
            <a:ext cx="1085850" cy="781050"/>
          </a:xfrm>
          <a:prstGeom prst="roundRect">
            <a:avLst>
              <a:gd name="adj" fmla="val 1218293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9144000" y="5353050"/>
            <a:ext cx="7383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红烧豆腐</a:t>
            </a:r>
            <a:endParaRPr lang="en-US" sz="1425" dirty="0"/>
          </a:p>
        </p:txBody>
      </p:sp>
      <p:sp>
        <p:nvSpPr>
          <p:cNvPr id="47" name="Text 45"/>
          <p:cNvSpPr/>
          <p:nvPr/>
        </p:nvSpPr>
        <p:spPr>
          <a:xfrm>
            <a:off x="10134600" y="5086350"/>
            <a:ext cx="723900" cy="781050"/>
          </a:xfrm>
          <a:prstGeom prst="roundRect">
            <a:avLst>
              <a:gd name="adj" fmla="val 1314474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0315575" y="535305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热狗</a:t>
            </a:r>
            <a:endParaRPr lang="en-US" sz="1425" dirty="0"/>
          </a:p>
        </p:txBody>
      </p:sp>
      <p:sp>
        <p:nvSpPr>
          <p:cNvPr id="49" name="Text 47"/>
          <p:cNvSpPr/>
          <p:nvPr/>
        </p:nvSpPr>
        <p:spPr>
          <a:xfrm>
            <a:off x="10944225" y="5086350"/>
            <a:ext cx="723900" cy="781050"/>
          </a:xfrm>
          <a:prstGeom prst="roundRect">
            <a:avLst>
              <a:gd name="adj" fmla="val 1314474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1125200" y="535305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薯片</a:t>
            </a:r>
            <a:endParaRPr lang="en-US" sz="1425" dirty="0"/>
          </a:p>
        </p:txBody>
      </p:sp>
      <p:sp>
        <p:nvSpPr>
          <p:cNvPr id="51" name="Text 49"/>
          <p:cNvSpPr/>
          <p:nvPr/>
        </p:nvSpPr>
        <p:spPr>
          <a:xfrm>
            <a:off x="11753850" y="5086350"/>
            <a:ext cx="904875" cy="781050"/>
          </a:xfrm>
          <a:prstGeom prst="roundRect">
            <a:avLst>
              <a:gd name="adj" fmla="val 1218293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1934825" y="5353050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汉堡包</a:t>
            </a:r>
            <a:endParaRPr lang="en-US" sz="1425" dirty="0"/>
          </a:p>
        </p:txBody>
      </p:sp>
      <p:sp>
        <p:nvSpPr>
          <p:cNvPr id="53" name="Text 51"/>
          <p:cNvSpPr/>
          <p:nvPr/>
        </p:nvSpPr>
        <p:spPr>
          <a:xfrm>
            <a:off x="12744450" y="5086350"/>
            <a:ext cx="904875" cy="781050"/>
          </a:xfrm>
          <a:prstGeom prst="roundRect">
            <a:avLst>
              <a:gd name="adj" fmla="val 1218293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2925425" y="5353050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三明治</a:t>
            </a:r>
            <a:endParaRPr lang="en-US" sz="1425" dirty="0"/>
          </a:p>
        </p:txBody>
      </p:sp>
      <p:sp>
        <p:nvSpPr>
          <p:cNvPr id="55" name="Text 53"/>
          <p:cNvSpPr/>
          <p:nvPr/>
        </p:nvSpPr>
        <p:spPr>
          <a:xfrm>
            <a:off x="13735050" y="5086350"/>
            <a:ext cx="1085850" cy="781050"/>
          </a:xfrm>
          <a:prstGeom prst="roundRect">
            <a:avLst>
              <a:gd name="adj" fmla="val 1218293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3916025" y="5353050"/>
            <a:ext cx="7383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咖喱牛肉</a:t>
            </a:r>
            <a:endParaRPr lang="en-US" sz="1425" dirty="0"/>
          </a:p>
        </p:txBody>
      </p:sp>
      <p:sp>
        <p:nvSpPr>
          <p:cNvPr id="57" name="Text 55"/>
          <p:cNvSpPr/>
          <p:nvPr/>
        </p:nvSpPr>
        <p:spPr>
          <a:xfrm>
            <a:off x="952500" y="6148388"/>
            <a:ext cx="16710660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How:</a:t>
            </a:r>
            <a:r>
              <a:rPr lang="en-US" sz="1163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Independent sorting (6 min), then pair-check with a neighbour, then whole-class reveal with reasoning for any disputed items (e.g. 咖喱牛肉 could be 中餐 or arguably other — accept justified answers).</a:t>
            </a:r>
            <a:endParaRPr lang="en-US" sz="1163" dirty="0"/>
          </a:p>
        </p:txBody>
      </p:sp>
      <p:sp>
        <p:nvSpPr>
          <p:cNvPr id="58" name="Text 56"/>
          <p:cNvSpPr/>
          <p:nvPr/>
        </p:nvSpPr>
        <p:spPr>
          <a:xfrm>
            <a:off x="952500" y="6688931"/>
            <a:ext cx="8124825" cy="971550"/>
          </a:xfrm>
          <a:prstGeom prst="roundRect">
            <a:avLst>
              <a:gd name="adj" fmla="val 11765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104900" y="6908006"/>
            <a:ext cx="79764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1104900" y="7203281"/>
            <a:ext cx="79764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Provide the 4 category headers with one worked example already placed in each</a:t>
            </a:r>
            <a:endParaRPr lang="en-US" sz="1125" dirty="0"/>
          </a:p>
        </p:txBody>
      </p:sp>
      <p:sp>
        <p:nvSpPr>
          <p:cNvPr id="61" name="Text 59"/>
          <p:cNvSpPr/>
          <p:nvPr/>
        </p:nvSpPr>
        <p:spPr>
          <a:xfrm>
            <a:off x="9210675" y="6688931"/>
            <a:ext cx="8124825" cy="971550"/>
          </a:xfrm>
          <a:prstGeom prst="roundRect">
            <a:avLst>
              <a:gd name="adj" fmla="val 11765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9363075" y="6908006"/>
            <a:ext cx="79764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63" name="Text 61"/>
          <p:cNvSpPr/>
          <p:nvPr/>
        </p:nvSpPr>
        <p:spPr>
          <a:xfrm>
            <a:off x="9363075" y="7203281"/>
            <a:ext cx="79764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2 more food items of their own choosing to each category</a:t>
            </a:r>
            <a:endParaRPr lang="en-US" sz="1125" dirty="0"/>
          </a:p>
        </p:txBody>
      </p:sp>
      <p:sp>
        <p:nvSpPr>
          <p:cNvPr id="64" name="Shape 6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6502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SNACK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151436" y="280988"/>
            <a:ext cx="25046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Odd One Out · 37–42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2038"/>
            <a:ext cx="840879" cy="600075"/>
          </a:xfrm>
          <a:prstGeom prst="roundRect">
            <a:avLst>
              <a:gd name="adj" fmla="val 1585714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262063"/>
            <a:ext cx="469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945779" y="1047750"/>
            <a:ext cx="926157" cy="628650"/>
          </a:xfrm>
          <a:prstGeom prst="roundRect">
            <a:avLst>
              <a:gd name="adj" fmla="val 151363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26754" y="1257300"/>
            <a:ext cx="5754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024336" y="1062038"/>
            <a:ext cx="1232297" cy="600075"/>
          </a:xfrm>
          <a:prstGeom prst="roundRect">
            <a:avLst>
              <a:gd name="adj" fmla="val 1585714"/>
            </a:avLst>
          </a:prstGeom>
          <a:solidFill>
            <a:srgbClr val="C68A1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95786" y="1262063"/>
            <a:ext cx="9071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 Class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2114550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50"/>
              </a:spcBef>
              <a:spcAft>
                <a:spcPts val="2850"/>
              </a:spcAft>
              <a:buNone/>
            </a:pPr>
            <a:r>
              <a:rPr lang="en-US" sz="28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找不同 · Odd One Out — 零食 Edition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52500" y="3171825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3 sets of 4 words; students write the odd one out and a one-sentence reason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2500" y="3686175"/>
            <a:ext cx="16383000" cy="1028700"/>
          </a:xfrm>
          <a:prstGeom prst="roundRect">
            <a:avLst>
              <a:gd name="adj" fmla="val 18519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71575" y="4057650"/>
            <a:ext cx="6217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Set 1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952625" y="3810000"/>
            <a:ext cx="685800" cy="781050"/>
          </a:xfrm>
          <a:prstGeom prst="roundRect">
            <a:avLst>
              <a:gd name="adj" fmla="val 1387500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114550" y="407670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薯片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2724150" y="3810000"/>
            <a:ext cx="685800" cy="781050"/>
          </a:xfrm>
          <a:prstGeom prst="roundRect">
            <a:avLst>
              <a:gd name="adj" fmla="val 1387500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886075" y="407670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薯条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3495675" y="3810000"/>
            <a:ext cx="685800" cy="781050"/>
          </a:xfrm>
          <a:prstGeom prst="roundRect">
            <a:avLst>
              <a:gd name="adj" fmla="val 1387500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57600" y="407670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糖果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4267200" y="3810000"/>
            <a:ext cx="685800" cy="781050"/>
          </a:xfrm>
          <a:prstGeom prst="roundRect">
            <a:avLst>
              <a:gd name="adj" fmla="val 1387500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429125" y="407670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猪排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14305211" y="3948112"/>
            <a:ext cx="0" cy="504825"/>
          </a:xfrm>
          <a:prstGeom prst="line">
            <a:avLst/>
          </a:prstGeom>
          <a:noFill/>
          <a:ln w="19050">
            <a:solidFill>
              <a:srgbClr val="E4D5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467136" y="4086225"/>
            <a:ext cx="2702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Odd: </a:t>
            </a:r>
            <a:r>
              <a:rPr lang="en-US" sz="127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猪排</a:t>
            </a:r>
            <a:r>
              <a:rPr lang="en-US" sz="1088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 main dish, not a snack</a:t>
            </a:r>
            <a:endParaRPr lang="en-US" sz="1088" dirty="0"/>
          </a:p>
        </p:txBody>
      </p:sp>
      <p:sp>
        <p:nvSpPr>
          <p:cNvPr id="27" name="Text 25"/>
          <p:cNvSpPr/>
          <p:nvPr/>
        </p:nvSpPr>
        <p:spPr>
          <a:xfrm>
            <a:off x="952500" y="4810125"/>
            <a:ext cx="16383000" cy="1028700"/>
          </a:xfrm>
          <a:prstGeom prst="roundRect">
            <a:avLst>
              <a:gd name="adj" fmla="val 18519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71575" y="5181600"/>
            <a:ext cx="6217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Set 2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952625" y="4933950"/>
            <a:ext cx="866775" cy="781050"/>
          </a:xfrm>
          <a:prstGeom prst="roundRect">
            <a:avLst>
              <a:gd name="adj" fmla="val 1218293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114550" y="5200650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三明治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2905125" y="4933950"/>
            <a:ext cx="685800" cy="781050"/>
          </a:xfrm>
          <a:prstGeom prst="roundRect">
            <a:avLst>
              <a:gd name="adj" fmla="val 1387500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067050" y="520065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盒饭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3676650" y="4933950"/>
            <a:ext cx="866775" cy="781050"/>
          </a:xfrm>
          <a:prstGeom prst="roundRect">
            <a:avLst>
              <a:gd name="adj" fmla="val 1218293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838575" y="5200650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汉堡包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4629150" y="4933950"/>
            <a:ext cx="685800" cy="781050"/>
          </a:xfrm>
          <a:prstGeom prst="roundRect">
            <a:avLst>
              <a:gd name="adj" fmla="val 1387500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91075" y="520065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可乐</a:t>
            </a:r>
            <a:endParaRPr lang="en-US" sz="1425" dirty="0"/>
          </a:p>
        </p:txBody>
      </p:sp>
      <p:sp>
        <p:nvSpPr>
          <p:cNvPr id="37" name="Shape 35"/>
          <p:cNvSpPr/>
          <p:nvPr/>
        </p:nvSpPr>
        <p:spPr>
          <a:xfrm>
            <a:off x="14848433" y="5072063"/>
            <a:ext cx="0" cy="504825"/>
          </a:xfrm>
          <a:prstGeom prst="line">
            <a:avLst/>
          </a:prstGeom>
          <a:noFill/>
          <a:ln w="19050">
            <a:solidFill>
              <a:srgbClr val="E4D5B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10358" y="5210175"/>
            <a:ext cx="2148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Odd: </a:t>
            </a:r>
            <a:r>
              <a:rPr lang="en-US" sz="127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可乐</a:t>
            </a:r>
            <a:r>
              <a:rPr lang="en-US" sz="1088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 drink, not food</a:t>
            </a:r>
            <a:endParaRPr lang="en-US" sz="1088" dirty="0"/>
          </a:p>
        </p:txBody>
      </p:sp>
      <p:sp>
        <p:nvSpPr>
          <p:cNvPr id="39" name="Text 37"/>
          <p:cNvSpPr/>
          <p:nvPr/>
        </p:nvSpPr>
        <p:spPr>
          <a:xfrm>
            <a:off x="952500" y="5934075"/>
            <a:ext cx="16383000" cy="1028700"/>
          </a:xfrm>
          <a:prstGeom prst="roundRect">
            <a:avLst>
              <a:gd name="adj" fmla="val 18519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171575" y="6305550"/>
            <a:ext cx="6217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Set 3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952625" y="6057900"/>
            <a:ext cx="866775" cy="781050"/>
          </a:xfrm>
          <a:prstGeom prst="roundRect">
            <a:avLst>
              <a:gd name="adj" fmla="val 1218293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114550" y="6324600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炸鸡翅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2905125" y="6057900"/>
            <a:ext cx="685800" cy="781050"/>
          </a:xfrm>
          <a:prstGeom prst="roundRect">
            <a:avLst>
              <a:gd name="adj" fmla="val 1387500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067050" y="632460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鱼柳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3676650" y="6057900"/>
            <a:ext cx="1047750" cy="781050"/>
          </a:xfrm>
          <a:prstGeom prst="roundRect">
            <a:avLst>
              <a:gd name="adj" fmla="val 1218293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838575" y="6324600"/>
            <a:ext cx="7383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咖喱牛肉</a:t>
            </a:r>
            <a:endParaRPr lang="en-US" sz="1425" dirty="0"/>
          </a:p>
        </p:txBody>
      </p:sp>
      <p:sp>
        <p:nvSpPr>
          <p:cNvPr id="47" name="Text 45"/>
          <p:cNvSpPr/>
          <p:nvPr/>
        </p:nvSpPr>
        <p:spPr>
          <a:xfrm>
            <a:off x="4810125" y="6057900"/>
            <a:ext cx="685800" cy="781050"/>
          </a:xfrm>
          <a:prstGeom prst="roundRect">
            <a:avLst>
              <a:gd name="adj" fmla="val 1387500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972050" y="632460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薯片</a:t>
            </a:r>
            <a:endParaRPr lang="en-US" sz="1425" dirty="0"/>
          </a:p>
        </p:txBody>
      </p:sp>
      <p:sp>
        <p:nvSpPr>
          <p:cNvPr id="49" name="Shape 47"/>
          <p:cNvSpPr/>
          <p:nvPr/>
        </p:nvSpPr>
        <p:spPr>
          <a:xfrm>
            <a:off x="13966627" y="6196013"/>
            <a:ext cx="0" cy="504825"/>
          </a:xfrm>
          <a:prstGeom prst="line">
            <a:avLst/>
          </a:prstGeom>
          <a:noFill/>
          <a:ln w="19050">
            <a:solidFill>
              <a:srgbClr val="E4D5B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128552" y="6334125"/>
            <a:ext cx="30476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Odd: </a:t>
            </a:r>
            <a:r>
              <a:rPr lang="en-US" sz="127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薯片</a:t>
            </a:r>
            <a:r>
              <a:rPr lang="en-US" sz="1088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not part of a box lunch filling</a:t>
            </a:r>
            <a:endParaRPr lang="en-US" sz="1088" dirty="0"/>
          </a:p>
        </p:txBody>
      </p:sp>
      <p:sp>
        <p:nvSpPr>
          <p:cNvPr id="51" name="Text 49"/>
          <p:cNvSpPr/>
          <p:nvPr/>
        </p:nvSpPr>
        <p:spPr>
          <a:xfrm>
            <a:off x="952500" y="7096125"/>
            <a:ext cx="16383000" cy="1090613"/>
          </a:xfrm>
          <a:prstGeom prst="roundRect">
            <a:avLst>
              <a:gd name="adj" fmla="val 10480"/>
            </a:avLst>
          </a:prstGeom>
          <a:solidFill>
            <a:srgbClr val="C68A1E">
              <a:alpha val="12000"/>
            </a:srgbClr>
          </a:solidFill>
          <a:ln w="19050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162050" y="7503319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🧰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1504950" y="7381875"/>
            <a:ext cx="33044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Setup: mini whiteboards only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504950" y="7743825"/>
            <a:ext cx="330448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Practises rapid categorisation and vocabulary recall</a:t>
            </a:r>
            <a:endParaRPr lang="en-US" sz="1013" dirty="0"/>
          </a:p>
        </p:txBody>
      </p:sp>
      <p:sp>
        <p:nvSpPr>
          <p:cNvPr id="55" name="Text 53"/>
          <p:cNvSpPr/>
          <p:nvPr/>
        </p:nvSpPr>
        <p:spPr>
          <a:xfrm>
            <a:off x="952500" y="8339137"/>
            <a:ext cx="8124825" cy="971550"/>
          </a:xfrm>
          <a:prstGeom prst="roundRect">
            <a:avLst>
              <a:gd name="adj" fmla="val 11765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104900" y="8558213"/>
            <a:ext cx="79764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1104900" y="8853488"/>
            <a:ext cx="79764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Give English glosses for Set 1</a:t>
            </a:r>
            <a:endParaRPr lang="en-US" sz="1125" dirty="0"/>
          </a:p>
        </p:txBody>
      </p:sp>
      <p:sp>
        <p:nvSpPr>
          <p:cNvPr id="58" name="Text 56"/>
          <p:cNvSpPr/>
          <p:nvPr/>
        </p:nvSpPr>
        <p:spPr>
          <a:xfrm>
            <a:off x="9210675" y="8339137"/>
            <a:ext cx="8124825" cy="971550"/>
          </a:xfrm>
          <a:prstGeom prst="roundRect">
            <a:avLst>
              <a:gd name="adj" fmla="val 11765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9363075" y="8558213"/>
            <a:ext cx="79764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9363075" y="8853488"/>
            <a:ext cx="79764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Justify the answer in a full Chinese sentence</a:t>
            </a:r>
            <a:endParaRPr lang="en-US" sz="1125" dirty="0"/>
          </a:p>
        </p:txBody>
      </p:sp>
      <p:sp>
        <p:nvSpPr>
          <p:cNvPr id="61" name="Shape 5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6502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SNACK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151436" y="280988"/>
            <a:ext cx="1505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2033290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947690"/>
            <a:ext cx="1632204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450"/>
              </a:spcBef>
              <a:spcAft>
                <a:spcPts val="3450"/>
              </a:spcAft>
              <a:buNone/>
            </a:pPr>
            <a:r>
              <a:rPr lang="en-US" sz="34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143000" y="4233565"/>
            <a:ext cx="7848600" cy="3539133"/>
          </a:xfrm>
          <a:prstGeom prst="roundRect">
            <a:avLst>
              <a:gd name="adj" fmla="val 753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00175" y="4595515"/>
            <a:ext cx="74809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400175" y="4914602"/>
            <a:ext cx="74809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750"/>
              </a:spcAft>
              <a:buNone/>
            </a:pPr>
            <a:r>
              <a:rPr lang="en-US" sz="938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Traffic-light thumbs: </a:t>
            </a:r>
            <a:r>
              <a:rPr lang="en-US" sz="938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r>
              <a:rPr lang="en-US" sz="938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完全可以 · </a:t>
            </a:r>
            <a:r>
              <a:rPr lang="en-US" sz="938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938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差不多 · </a:t>
            </a:r>
            <a:r>
              <a:rPr lang="en-US" sz="938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r>
              <a:rPr lang="en-US" sz="938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还不行</a:t>
            </a:r>
            <a:endParaRPr lang="en-US" sz="938" dirty="0"/>
          </a:p>
        </p:txBody>
      </p:sp>
      <p:sp>
        <p:nvSpPr>
          <p:cNvPr id="12" name="Text 10"/>
          <p:cNvSpPr/>
          <p:nvPr/>
        </p:nvSpPr>
        <p:spPr>
          <a:xfrm>
            <a:off x="1400175" y="5279827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05248" y="5336084"/>
            <a:ext cx="771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733550" y="5279827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838325" y="5336084"/>
            <a:ext cx="775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2066925" y="5279827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84053" y="5336084"/>
            <a:ext cx="525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2486025" y="5319415"/>
            <a:ext cx="3217197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key lunch and snack items in Chinese</a:t>
            </a:r>
            <a:endParaRPr lang="en-US" sz="1163" dirty="0"/>
          </a:p>
        </p:txBody>
      </p:sp>
      <p:sp>
        <p:nvSpPr>
          <p:cNvPr id="19" name="Text 17"/>
          <p:cNvSpPr/>
          <p:nvPr/>
        </p:nvSpPr>
        <p:spPr>
          <a:xfrm>
            <a:off x="1400175" y="5886450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05248" y="5942707"/>
            <a:ext cx="771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733550" y="5886450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838325" y="5942707"/>
            <a:ext cx="775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2066925" y="5886450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184053" y="5942707"/>
            <a:ext cx="525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2486025" y="5926038"/>
            <a:ext cx="3391924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Sort food into categories: 中餐/快餐/零食/饮料</a:t>
            </a:r>
            <a:endParaRPr lang="en-US" sz="1163" dirty="0"/>
          </a:p>
        </p:txBody>
      </p:sp>
      <p:sp>
        <p:nvSpPr>
          <p:cNvPr id="26" name="Text 24"/>
          <p:cNvSpPr/>
          <p:nvPr/>
        </p:nvSpPr>
        <p:spPr>
          <a:xfrm>
            <a:off x="1400175" y="649307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505248" y="6549330"/>
            <a:ext cx="771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733550" y="649307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838325" y="6549330"/>
            <a:ext cx="775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2066925" y="649307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184053" y="6549330"/>
            <a:ext cx="525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2486025" y="6532662"/>
            <a:ext cx="3953905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 new words by adding a character, e.g. 薯片/薯条</a:t>
            </a:r>
            <a:endParaRPr lang="en-US" sz="1163" dirty="0"/>
          </a:p>
        </p:txBody>
      </p:sp>
      <p:sp>
        <p:nvSpPr>
          <p:cNvPr id="33" name="Text 31"/>
          <p:cNvSpPr/>
          <p:nvPr/>
        </p:nvSpPr>
        <p:spPr>
          <a:xfrm>
            <a:off x="1400175" y="6982123"/>
            <a:ext cx="7334250" cy="571500"/>
          </a:xfrm>
          <a:prstGeom prst="roundRect">
            <a:avLst>
              <a:gd name="adj" fmla="val 20000"/>
            </a:avLst>
          </a:prstGeom>
          <a:solidFill>
            <a:srgbClr val="C68A1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43050" y="7186910"/>
            <a:ext cx="71894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9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note any students showing 1 finger for follow-up practice next lesson.</a:t>
            </a:r>
            <a:endParaRPr lang="en-US" sz="938" dirty="0"/>
          </a:p>
        </p:txBody>
      </p:sp>
      <p:sp>
        <p:nvSpPr>
          <p:cNvPr id="35" name="Text 33"/>
          <p:cNvSpPr/>
          <p:nvPr/>
        </p:nvSpPr>
        <p:spPr>
          <a:xfrm>
            <a:off x="9296400" y="4233565"/>
            <a:ext cx="7848600" cy="3539133"/>
          </a:xfrm>
          <a:prstGeom prst="roundRect">
            <a:avLst>
              <a:gd name="adj" fmla="val 753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553575" y="4595515"/>
            <a:ext cx="74809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9553575" y="4909840"/>
            <a:ext cx="7334250" cy="1590675"/>
          </a:xfrm>
          <a:prstGeom prst="rect">
            <a:avLst/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9577387" y="4909840"/>
            <a:ext cx="0" cy="1590675"/>
          </a:xfrm>
          <a:prstGeom prst="line">
            <a:avLst/>
          </a:prstGeom>
          <a:noFill/>
          <a:ln w="47625">
            <a:solidFill>
              <a:srgbClr val="3F7A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91700" y="5157490"/>
            <a:ext cx="70437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MINI WHITEBOARDS, 2 MIN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791700" y="5528965"/>
            <a:ext cx="704373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写一句关于你最喜欢零食的句子</a:t>
            </a:r>
            <a:endParaRPr lang="en-US" sz="1650" dirty="0"/>
          </a:p>
          <a:p>
            <a:pPr algn="l" indent="0" marL="0">
              <a:lnSpc>
                <a:spcPts val="2475"/>
              </a:lnSpc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e.g. 我最喜欢吃薯条。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9553575" y="6629102"/>
            <a:ext cx="7480935" cy="39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Prompt:</a:t>
            </a:r>
            <a:r>
              <a:rPr lang="en-US" sz="1013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name your favourite snack from today's list in a full Chinese sentence.</a:t>
            </a:r>
            <a:endParaRPr lang="en-US" sz="1013" dirty="0"/>
          </a:p>
          <a:p>
            <a:pPr algn="l" indent="0" marL="0">
              <a:lnSpc>
                <a:spcPts val="1569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Teacher circulates and scans held-up whiteboards.</a:t>
            </a:r>
            <a:endParaRPr lang="en-US" sz="1013" dirty="0"/>
          </a:p>
        </p:txBody>
      </p:sp>
      <p:sp>
        <p:nvSpPr>
          <p:cNvPr id="42" name="Text 40"/>
          <p:cNvSpPr/>
          <p:nvPr/>
        </p:nvSpPr>
        <p:spPr>
          <a:xfrm>
            <a:off x="1143000" y="7944148"/>
            <a:ext cx="16002000" cy="728663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1166813" y="7944148"/>
            <a:ext cx="0" cy="728663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00175" y="8201323"/>
            <a:ext cx="1584598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预告 · Preview:</a:t>
            </a: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下一课，我们要读一篇关于学校午饭的对话，还要学"有时候……有时候……"这个句型。 Next lesson: a dialogue about school lunch, plus the "sometimes… sometimes…" pattern.</a:t>
            </a:r>
            <a:endParaRPr lang="en-US" sz="1125" dirty="0"/>
          </a:p>
        </p:txBody>
      </p:sp>
      <p:sp>
        <p:nvSpPr>
          <p:cNvPr id="45" name="Shape 4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2026-08-01T06:58:41Z</dcterms:created>
  <dcterms:modified xsi:type="dcterms:W3CDTF">2026-08-01T06:58:41Z</dcterms:modified>
</cp:coreProperties>
</file>