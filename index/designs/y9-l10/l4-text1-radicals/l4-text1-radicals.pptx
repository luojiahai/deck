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63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43633" y="166688"/>
            <a:ext cx="1410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295" y="176213"/>
            <a:ext cx="375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第四单元 · 第十课 · PP.90, 92, 94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1 &amp; Radicals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6 · 课文一整篇 + 部首和组词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六个字 · 三个学习环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0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0628" y="166688"/>
            <a:ext cx="837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81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作业本练习十二 · 填空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943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上节课 · 比 / 新鲜 / 便宜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824460"/>
            <a:ext cx="10972800" cy="2040880"/>
          </a:xfrm>
          <a:prstGeom prst="roundRect">
            <a:avLst>
              <a:gd name="adj" fmla="val 622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307211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一个空一个空来，写在小白板上，举起来。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175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词库：除了……以外 · 贵 · 超级市场 · 便宜 · 但是 · 新鲜 · 附近 · 因为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81759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我们的新家＿＿没有菜市场，所以我们要去＿＿买东西。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4217640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＿＿，妈妈说那里的蔬菜不＿＿，还比菜市场上卖的＿＿很多。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074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96318"/>
            <a:ext cx="9715500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 Text 1 in full, and see how this unit's characters are built from their radicals.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42270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62949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2629495"/>
            <a:ext cx="567628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Text 1 aloud and answer questions in Chinese.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964656"/>
            <a:ext cx="5676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能读完课文一，用中文回答问题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3570982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582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3758208"/>
            <a:ext cx="61312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radical in 鲜, 活, 虾, 猪 and say what it means.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4093369"/>
            <a:ext cx="6131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能说出「鲜、活、虾、猪」的部首和意思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699695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88692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886920"/>
            <a:ext cx="60125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build a new word by adding a character to 肉, 果 or 常.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5222081"/>
            <a:ext cx="60125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能给「肉」「果」「常」加字组词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846" y="176213"/>
            <a:ext cx="40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看字 · 拆开 · 部首告诉你意思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23679" y="2668042"/>
            <a:ext cx="1510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xiān  =  鱼 + 羊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7401" y="3150543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鲜（鮮）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300139" y="4250234"/>
            <a:ext cx="1965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— fish + sheep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18140" y="2668042"/>
            <a:ext cx="1448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zhū  =  犭 + 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8950" y="315054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7800826" y="4250234"/>
            <a:ext cx="22995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pig — the animal radical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152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385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076"/>
            <a:ext cx="10972800" cy="1061591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00076"/>
            <a:ext cx="0" cy="1061591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95247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菜市场的鱼很新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461617"/>
            <a:ext cx="10677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「鲜」= 鱼 + 羊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014067"/>
            <a:ext cx="10972800" cy="1061591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014067"/>
            <a:ext cx="0" cy="1061591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16646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那里卖新鲜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675608"/>
            <a:ext cx="10677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「猪」的部首是「犭」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228058"/>
            <a:ext cx="10972800" cy="75054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228058"/>
            <a:ext cx="0" cy="75054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8045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肉比超市的便宜。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600" y="513099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问：「鲜」为什么有「鱼」？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939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1 · Write them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写「鲜」和「猪」，一笔一笔写。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再写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一句话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，两个字都要用上。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两个有「鱼」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的字和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两个有「犭」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的字，每个写出意思。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799" y="176213"/>
            <a:ext cx="394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看字 · 拆开 · 部首告诉你意思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46003" y="2668042"/>
            <a:ext cx="1464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huó  =  氵 + 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44701" y="3150543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349252" y="4250234"/>
            <a:ext cx="1865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alive — water is life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53561" y="2668042"/>
            <a:ext cx="1375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xiā  =  虫 + 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51650" y="3150543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虾（蝦）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7713018" y="4250234"/>
            <a:ext cx="2478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shrimp — a small creature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3337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9601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09601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96200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菜市场卖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47114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「活」的部首是「氵」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014067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014067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16646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那里的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又大又新鲜。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675608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「虾」的部首是「虫」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218533"/>
            <a:ext cx="10972800" cy="75054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218533"/>
            <a:ext cx="0" cy="75054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7093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活虾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十五块一斤。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600" y="51214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问：「活」为什么有三点水？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21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2 · Write them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写「活」和「虾」，圈出部首。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再写一个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价钱句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，用上「活虾」。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氵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」和「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虫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」各写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字。不看书。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看字 · 拆开 · 部首告诉你意思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zhajic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83954" y="3866852"/>
            <a:ext cx="13870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chì  =  羽 + 支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507159" y="5070723"/>
            <a:ext cx="1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wing — feathers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145066" y="2406253"/>
            <a:ext cx="15971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bǎng  =  月 + 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8950" y="28887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膀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7689205" y="3988445"/>
            <a:ext cx="25272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shoulder — 月 means flesh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550" y="176213"/>
            <a:ext cx="4340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3337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9601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09601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96200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鸡有两个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47114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3014067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014067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16646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我喜欢吃炸鸡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675608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下节课再学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218533"/>
            <a:ext cx="10972800" cy="75054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218533"/>
            <a:ext cx="0" cy="75054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7093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鸡的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翅膀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很好吃。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600" y="512147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问：「膀」的「月」是什么意思？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21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3 · Write them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写「翅膀」，把两个部首标出来。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」是身体的意思。再写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三个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有「月」的字（脸、腿、脑……），写出意思。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97248" y="166688"/>
            <a:ext cx="18079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认部首 · Name the radical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72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只看汉字 · 说出部首和它的意思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翅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膀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085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课文一整篇 CD 37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100" y="176213"/>
            <a:ext cx="4599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119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90 页 · 只看汉字 · 先听，再一起读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88182"/>
            <a:ext cx="10972800" cy="119628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88182"/>
            <a:ext cx="0" cy="119628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2040582"/>
            <a:ext cx="1067733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我家附近有一个菜市场，那里卖新鲜猪肉、牛肉、鸡肉、活鱼、活虾、豆腐，还卖各种新鲜蔬菜和水果。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236863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3236863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825" y="338926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我妈妈特别喜欢去市场买菜。她说那里的菜比超市里的新鲜，还便宜。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4139803"/>
            <a:ext cx="10972800" cy="750540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412" y="4139803"/>
            <a:ext cx="0" cy="75054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4292203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在菜市场，一公斤苹果八块钱，在超市要卖十二块钱。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504274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问：菜市场卖几种肉？ 妈妈为什么喜欢去那里？ 苹果在超市贵多少？ —— 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部首表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08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作业本练习十七 + 练习三 · 9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37059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写出每个部首和简单字的意思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767185"/>
            <a:ext cx="10972800" cy="2731740"/>
          </a:xfrm>
          <a:prstGeom prst="roundRect">
            <a:avLst>
              <a:gd name="adj" fmla="val 464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01483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治 → 台 / 氵  ·  翅 → 羽 / 支  ·  膀 → 旁 / 月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41488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鲜 → 羊 / 鱼  ·  时 → 寸 / 日  ·  活 → 舌 / 氵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281493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虾 → 下 / 虫  ·  新 → 斤 / 亲  ·  猪 → 者 / 犭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21498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老师先在黑板上做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前两个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，剩下七个自己写在练习本上。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3450" y="3560415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作业本练习三 —— 九个简单字：1/30 metre · rice · foot · fight · strength · blue/green · arrow · utensil · down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600" y="4676626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87337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513680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十七和三都做完，再做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作业本练习九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给公鸡贴标签（鸡冠、尾巴、羽毛、翅膀、爪子），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先只看部首猜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意思写下来，再查字典，把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猜错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的圈出来，想想为什么错。小结时报告一个。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9267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组词 Word building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335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作业本练习十四 + 练习二 · 8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0972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加字组词 — Build the words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39851"/>
            <a:ext cx="10972800" cy="1986260"/>
          </a:xfrm>
          <a:prstGeom prst="roundRect">
            <a:avLst>
              <a:gd name="adj" fmla="val 639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8750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练习十四：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在下面四个字旁边加字，组成真正的词。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293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＿肉  ·  薯＿  ·  ＿果  ·  ＿常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13298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练习二：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五乘五的字格里圈出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词，写出意思。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347841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 牛 羊 新 鲜 / 鸡 肉 活 鱼 土 / 卷 片 虾 豆 腐 / 便 心 青 冻 南 / 宜 蔬 菜 黄 瓜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303812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0056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6398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十个不是上限 —— 把字格里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所有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的词都找出来（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竖着读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的也算），每个写上意思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和量词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。再做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作业本练习二十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：柳树、炸弹、壁球、肩膀、海鲜、龙虾…… 先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只靠部首猜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，再查字典，标出哪些部首帮上了忙，哪些没有。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2034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汉字接力 Writing Relay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054" y="176213"/>
            <a:ext cx="4538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335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92 页 练习二 · GAME · 6 分钟 · 四队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0972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汉字接力 — Writing Relay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39851"/>
            <a:ext cx="10972800" cy="1986260"/>
          </a:xfrm>
          <a:prstGeom prst="roundRect">
            <a:avLst>
              <a:gd name="adj" fmla="val 639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8750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先看两分钟，把这十二个字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记住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，然后屏幕关掉。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293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金   匕   亡   尸   丁   入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132981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户   井   弓   方   习   皿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53303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老师说一个字的意思，每队第一个同学跑上来写，写完拍下一个同学。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303812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00563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6398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什么都不说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直接在黑板上写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一个这一课的整字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。跑上来的同学要写出它的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，再写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另一个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用同样部首的字。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两个都对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才算分。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859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28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90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316510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5641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三个目标，每个举手：会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322290"/>
            <a:ext cx="10972800" cy="1577876"/>
          </a:xfrm>
          <a:prstGeom prst="roundRect">
            <a:avLst>
              <a:gd name="adj" fmla="val 8049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751" y="3646140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3909566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500"/>
              </a:spcBef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一个字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，圈出部首，写出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部首的意思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5065216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离开菜市场，去学校餐厅 —— 午饭你们平时吃什么？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2026-09-14T03:47:51Z</dcterms:created>
  <dcterms:modified xsi:type="dcterms:W3CDTF">2026-09-14T03:47:51Z</dcterms:modified>
</cp:coreProperties>
</file>