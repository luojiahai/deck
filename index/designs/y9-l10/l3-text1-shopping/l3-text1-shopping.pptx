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23448" y="2171700"/>
            <a:ext cx="8841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23448" y="3390900"/>
            <a:ext cx="884110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🛒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23448" y="5295900"/>
            <a:ext cx="884110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r>
              <a:rPr lang="en-US" sz="97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4723448" y="6800850"/>
            <a:ext cx="88411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Reading + Market Shopping Talk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04648" y="7943850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63188" y="7943850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98440" y="7943850"/>
            <a:ext cx="15122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+ Writing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69398" y="7943850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954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209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比字句 + 市场词汇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3514725"/>
            <a:ext cx="7924800" cy="2867025"/>
          </a:xfrm>
          <a:prstGeom prst="roundRect">
            <a:avLst>
              <a:gd name="adj" fmla="val 664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39052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L2 比 COMPARISON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4267200"/>
            <a:ext cx="466725" cy="1114425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66850" y="45339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513731" y="5067300"/>
            <a:ext cx="88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bǐ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66900" y="4267200"/>
            <a:ext cx="466725" cy="1114425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09775" y="453390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027486" y="5067300"/>
            <a:ext cx="148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guì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09825" y="4267200"/>
            <a:ext cx="647700" cy="1114425"/>
          </a:xfrm>
          <a:prstGeom prst="roundRect">
            <a:avLst>
              <a:gd name="adj" fmla="val 882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52700" y="45339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2591842" y="5067300"/>
            <a:ext cx="2891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piányi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133725" y="4267200"/>
            <a:ext cx="647700" cy="1114425"/>
          </a:xfrm>
          <a:prstGeom prst="roundRect">
            <a:avLst>
              <a:gd name="adj" fmla="val 882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76600" y="453390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283148" y="5067300"/>
            <a:ext cx="3556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xīnxiān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323975" y="5534025"/>
            <a:ext cx="751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Structure: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+ 比 + B + adjective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"A is more ___ than B". Recap with the market vocab from Lesson 1: 猪肉、牛肉、活鱼、豆腐 etc.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15450" y="3514725"/>
            <a:ext cx="7924800" cy="3924300"/>
          </a:xfrm>
          <a:prstGeom prst="roundRect">
            <a:avLst>
              <a:gd name="adj" fmla="val 485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591675" y="39052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QUICK QUIZ (MINI WHITEBOARDS)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91675" y="4267200"/>
            <a:ext cx="7372350" cy="1152525"/>
          </a:xfrm>
          <a:prstGeom prst="roundRect">
            <a:avLst>
              <a:gd name="adj" fmla="val 9917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63125" y="4495800"/>
            <a:ext cx="71700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BLANK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63125" y="4848225"/>
            <a:ext cx="71700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猪肉贵。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91675" y="5514975"/>
            <a:ext cx="7372350" cy="1152525"/>
          </a:xfrm>
          <a:prstGeom prst="roundRect">
            <a:avLst>
              <a:gd name="adj" fmla="val 9917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763125" y="5743575"/>
            <a:ext cx="71700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FULL SENTENCE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63125" y="6096000"/>
            <a:ext cx="71700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写一句比较"苹果"和"香蕉"的句子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91675" y="6819900"/>
            <a:ext cx="7519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4 prompts one at a time. Students write and hold up on three: "一、二、三，举起来！"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7750" y="7648575"/>
            <a:ext cx="16192500" cy="938213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71563" y="7648575"/>
            <a:ext cx="0" cy="938212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3975" y="7981950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"比"字句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。今天我们要读一篇关于菜市场的短文，里面就用到了"比"——比如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"那里的菜比超市里的新鲜"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547985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519535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00"/>
              </a:spcBef>
              <a:spcAft>
                <a:spcPts val="3900"/>
              </a:spcAft>
              <a:buNone/>
            </a:pPr>
            <a:r>
              <a:rPr lang="en-US" sz="3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053060"/>
            <a:ext cx="15621000" cy="1927622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053060"/>
            <a:ext cx="0" cy="1927622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3386435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3805535"/>
            <a:ext cx="15263051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a passage</a:t>
            </a: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shopping at a fresh market, and to </a:t>
            </a:r>
            <a:r>
              <a:rPr lang="en-US" sz="19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our own shopping experience</a:t>
            </a: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writing.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323582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866507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752207"/>
            <a:ext cx="98559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and understand the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1 passage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the fresh market 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能读懂关于菜市场的短文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992243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753516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7420868"/>
            <a:ext cx="59390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what a shop sells 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能用"卖"说商店卖什么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8660904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920382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9089529"/>
            <a:ext cx="12888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short passage describing a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shopping trip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including items bought and total price </a:t>
            </a:r>
            <a:r>
              <a:rPr lang="en-US" sz="13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能写一段描述买菜经历的短文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3288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+ Pattern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0967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 (TEXT 1, P.90)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971675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新单词 + "卖"字句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2971800"/>
            <a:ext cx="3185071" cy="1409700"/>
          </a:xfrm>
          <a:prstGeom prst="roundRect">
            <a:avLst>
              <a:gd name="adj" fmla="val 1351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343852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52625" y="3276600"/>
            <a:ext cx="53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fùjìn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952625" y="3848100"/>
            <a:ext cx="53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nearby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251871" y="2971800"/>
            <a:ext cx="3185220" cy="1409700"/>
          </a:xfrm>
          <a:prstGeom prst="roundRect">
            <a:avLst>
              <a:gd name="adj" fmla="val 1351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94746" y="3438525"/>
            <a:ext cx="7772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251996" y="32766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mài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251996" y="38481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sell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7551390" y="2971800"/>
            <a:ext cx="3185071" cy="1409700"/>
          </a:xfrm>
          <a:prstGeom prst="roundRect">
            <a:avLst>
              <a:gd name="adj" fmla="val 1351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94265" y="3500438"/>
            <a:ext cx="7772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551515" y="3276600"/>
            <a:ext cx="879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gèzhǒng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8551515" y="3848100"/>
            <a:ext cx="8797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kinds of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0850761" y="2971800"/>
            <a:ext cx="3185220" cy="1409700"/>
          </a:xfrm>
          <a:prstGeom prst="roundRect">
            <a:avLst>
              <a:gd name="adj" fmla="val 1351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93636" y="3500438"/>
            <a:ext cx="7772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850886" y="3276600"/>
            <a:ext cx="8543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shūcài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1850886" y="3848100"/>
            <a:ext cx="8543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4150280" y="2971800"/>
            <a:ext cx="3185220" cy="1409700"/>
          </a:xfrm>
          <a:prstGeom prst="roundRect">
            <a:avLst>
              <a:gd name="adj" fmla="val 1351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293155" y="3500438"/>
            <a:ext cx="7772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150405" y="3276600"/>
            <a:ext cx="991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chāoshì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5150405" y="3848100"/>
            <a:ext cx="991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supermarket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52500" y="4986338"/>
            <a:ext cx="1041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PATTERN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2125712" y="4533900"/>
            <a:ext cx="5933480" cy="1076325"/>
          </a:xfrm>
          <a:prstGeom prst="roundRect">
            <a:avLst>
              <a:gd name="adj" fmla="val 10619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54312" y="4895850"/>
            <a:ext cx="8532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[shop]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3267075" y="4948238"/>
            <a:ext cx="1290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3469779" y="4895850"/>
            <a:ext cx="2661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卖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3806875" y="4948238"/>
            <a:ext cx="1290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4009579" y="4895850"/>
            <a:ext cx="38974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[items] — "The shop sells…"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52500" y="5743575"/>
            <a:ext cx="9726811" cy="2021086"/>
          </a:xfrm>
          <a:prstGeom prst="roundRect">
            <a:avLst>
              <a:gd name="adj" fmla="val 942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52525" y="6000750"/>
            <a:ext cx="951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525" y="6486525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19361" y="6457950"/>
            <a:ext cx="2399728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这家水果店卖各种新鲜水果。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152525" y="7158930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19361" y="7130355"/>
            <a:ext cx="6645402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菜市场卖新鲜猪肉、牛肉、鸡肉、活鱼、活虾、豆腐，还卖各种新鲜蔬菜和水果。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0850761" y="5743575"/>
            <a:ext cx="6484590" cy="2021086"/>
          </a:xfrm>
          <a:prstGeom prst="roundRect">
            <a:avLst>
              <a:gd name="adj" fmla="val 942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050786" y="6215955"/>
            <a:ext cx="62062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50786" y="6568380"/>
            <a:ext cx="6084540" cy="838200"/>
          </a:xfrm>
          <a:prstGeom prst="roundRect">
            <a:avLst>
              <a:gd name="adj" fmla="val 1363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203186" y="6854130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这家书店卖猪肉！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860536" y="6868418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3165336" y="685413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这家书店卖各种书！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52500" y="7898011"/>
            <a:ext cx="16383000" cy="1790700"/>
          </a:xfrm>
          <a:prstGeom prst="roundRect">
            <a:avLst>
              <a:gd name="adj" fmla="val 6383"/>
            </a:avLst>
          </a:prstGeom>
          <a:solidFill>
            <a:srgbClr val="3F7A52">
              <a:alpha val="10000"/>
            </a:srgbClr>
          </a:solidFill>
          <a:ln w="19050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181100" y="8298061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🎤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581150" y="8202811"/>
            <a:ext cx="90020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Oral Practice (Textbook Act. 3, p.92)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581150" y="8612386"/>
            <a:ext cx="9002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6 shop-type pictures. Cold call one student per picture to say a 卖 sentence aloud, e.g. 这家服装店卖各种衣服。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724025" y="9164836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服装店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2514600" y="9164836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3305175" y="9164836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中药店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4095750" y="9164836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4743450" y="9164836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电器店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5534025" y="9164836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1565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1 · 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209675"/>
            <a:ext cx="16904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PRESENTATION · 课文一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57250" y="1971675"/>
            <a:ext cx="1690497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 · 我家附近的菜市场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57250" y="3538538"/>
            <a:ext cx="1601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PATTERN IN USE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560588" y="2971800"/>
            <a:ext cx="4012853" cy="1304925"/>
          </a:xfrm>
          <a:prstGeom prst="roundRect">
            <a:avLst>
              <a:gd name="adj" fmla="val 8759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46338" y="3409950"/>
            <a:ext cx="35101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那里的菜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</a:t>
            </a:r>
            <a:r>
              <a:rPr lang="en-US" sz="24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超市里的新鲜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7250" y="4429125"/>
            <a:ext cx="16573500" cy="2209800"/>
          </a:xfrm>
          <a:prstGeom prst="roundRect">
            <a:avLst>
              <a:gd name="adj" fmla="val 12069"/>
            </a:avLst>
          </a:prstGeom>
          <a:solidFill>
            <a:srgbClr val="F1E8D8"/>
          </a:solidFill>
          <a:ln w="19050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1100" y="4643438"/>
            <a:ext cx="1838027" cy="542925"/>
          </a:xfrm>
          <a:prstGeom prst="roundRect">
            <a:avLst>
              <a:gd name="adj" fmla="val 1752632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23975" y="4814888"/>
            <a:ext cx="1583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🎵 CD Track 37 · p.90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152477" y="480060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6B58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课文一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181100" y="5429250"/>
            <a:ext cx="162443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1875"/>
              </a:spcBef>
              <a:spcAft>
                <a:spcPts val="1875"/>
              </a:spcAft>
              <a:buNone/>
            </a:pP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有一个菜市场，那里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新鲜猪肉、牛肉、鸡肉、活鱼、活虾、豆腐，还卖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和水果。我妈妈特别喜欢去菜市场买菜。她说那里的菜比</a:t>
            </a:r>
            <a:r>
              <a:rPr lang="en-US" sz="18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里的新鲜，还便宜。在菜市场，一公斤苹果</a:t>
            </a:r>
            <a:r>
              <a:rPr lang="en-US" sz="187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八块钱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，在超市要卖</a:t>
            </a:r>
            <a:r>
              <a:rPr lang="en-US" sz="187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十二块钱</a:t>
            </a:r>
            <a:r>
              <a:rPr lang="en-US" sz="18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57250" y="6810375"/>
            <a:ext cx="5422850" cy="1828800"/>
          </a:xfrm>
          <a:prstGeom prst="roundRect">
            <a:avLst>
              <a:gd name="adj" fmla="val 1041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57275" y="69723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75296" y="7019925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7275" y="7458075"/>
            <a:ext cx="5123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菜市场卖什么？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057275" y="7886700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the fresh market sell? (Name 4 items.)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57275" y="8181975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i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432500" y="6810375"/>
            <a:ext cx="5422850" cy="1828800"/>
          </a:xfrm>
          <a:prstGeom prst="roundRect">
            <a:avLst>
              <a:gd name="adj" fmla="val 1041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32525" y="69723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36556" y="7019925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32525" y="7458075"/>
            <a:ext cx="5123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妈妈为什么喜欢去菜市场买菜？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6632525" y="7886700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does Mum like shopping at the fresh market?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632525" y="8181975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i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2007751" y="6810375"/>
            <a:ext cx="5422850" cy="1828800"/>
          </a:xfrm>
          <a:prstGeom prst="roundRect">
            <a:avLst>
              <a:gd name="adj" fmla="val 1041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207776" y="69723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311509" y="7019925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207776" y="7458075"/>
            <a:ext cx="5123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苹果在菜市场和超市分别多少钱一公斤？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207776" y="7886700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much per kg is the apple at the market vs. the supermarket?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2207776" y="8181975"/>
            <a:ext cx="5123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i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 on next slide →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1745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1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15265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Text 1 Comprehension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3476625"/>
            <a:ext cx="16383000" cy="1859161"/>
          </a:xfrm>
          <a:prstGeom prst="roundRect">
            <a:avLst>
              <a:gd name="adj" fmla="val 1024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09675" y="3657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72642" y="372427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19275" y="3829050"/>
            <a:ext cx="15564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菜市场卖什么？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19275" y="4286250"/>
            <a:ext cx="15564231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spcBef>
                <a:spcPts val="1725"/>
              </a:spcBef>
              <a:spcAft>
                <a:spcPts val="1725"/>
              </a:spcAft>
              <a:buNone/>
            </a:pPr>
            <a:r>
              <a:rPr lang="en-US" sz="17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菜市场卖新鲜猪肉、牛肉、鸡肉、活鱼、活虾、豆腐，还卖各种新鲜蔬菜和水果。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819275" y="4811911"/>
            <a:ext cx="15564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fresh market sells fresh pork, beef, chicken, live fish, live shrimp, tofu, plus all kinds of fresh vegetables and fruit — any 4 items are acceptable.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52500" y="5507236"/>
            <a:ext cx="16383000" cy="1859161"/>
          </a:xfrm>
          <a:prstGeom prst="roundRect">
            <a:avLst>
              <a:gd name="adj" fmla="val 1024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9675" y="5688211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53592" y="5754886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19275" y="5859661"/>
            <a:ext cx="15564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妈妈为什么喜欢去菜市场买菜？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819275" y="6316861"/>
            <a:ext cx="15564231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spcBef>
                <a:spcPts val="1725"/>
              </a:spcBef>
              <a:spcAft>
                <a:spcPts val="1725"/>
              </a:spcAft>
              <a:buNone/>
            </a:pPr>
            <a:r>
              <a:rPr lang="en-US" sz="17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因为那里的菜比超市里的新鲜，还便宜。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819275" y="6842522"/>
            <a:ext cx="15564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Because the market's produce is fresher and cheaper than the supermarket's.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2500" y="7537847"/>
            <a:ext cx="16383000" cy="1859161"/>
          </a:xfrm>
          <a:prstGeom prst="roundRect">
            <a:avLst>
              <a:gd name="adj" fmla="val 1024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09675" y="771882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52996" y="7785497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819275" y="7890272"/>
            <a:ext cx="155642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苹果在菜市场和超市分别多少钱一公斤？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819275" y="8347472"/>
            <a:ext cx="15564231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spcBef>
                <a:spcPts val="1725"/>
              </a:spcBef>
              <a:spcAft>
                <a:spcPts val="1725"/>
              </a:spcAft>
              <a:buNone/>
            </a:pPr>
            <a:r>
              <a:rPr lang="en-US" sz="1725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菜市场一公斤八块钱，超市一公斤十二块钱。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819275" y="8873133"/>
            <a:ext cx="15564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yuan/kg at the market vs. 12 yuan/kg at the supermarket.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2386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15265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3438525"/>
            <a:ext cx="5334000" cy="3935016"/>
          </a:xfrm>
          <a:prstGeom prst="roundRect">
            <a:avLst>
              <a:gd name="adj" fmla="val 6778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5038725"/>
            <a:ext cx="4954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25"/>
              </a:spcBef>
              <a:spcAft>
                <a:spcPts val="1725"/>
              </a:spcAft>
              <a:buNone/>
            </a:pPr>
            <a:r>
              <a:rPr lang="en-US" sz="17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 = "Nearby"?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90625" y="58578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says: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"附近的意思是'nearby'。"</a:t>
            </a:r>
            <a:endParaRPr lang="en-US" sz="1275" dirty="0"/>
          </a:p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"对不对？大拇指向上表示对，向下表示错。" Every student shows a thumbs-up or thumbs-down.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3438525"/>
            <a:ext cx="5334000" cy="3935016"/>
          </a:xfrm>
          <a:prstGeom prst="roundRect">
            <a:avLst>
              <a:gd name="adj" fmla="val 6778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5038725"/>
            <a:ext cx="4954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25"/>
              </a:spcBef>
              <a:spcAft>
                <a:spcPts val="1725"/>
              </a:spcAft>
              <a:buNone/>
            </a:pPr>
            <a:r>
              <a:rPr lang="en-US" sz="17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"All Kinds Of"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6715125" y="5857875"/>
            <a:ext cx="4954905" cy="107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do you say 'all kinds of' in Chinese?"</a:t>
            </a:r>
            <a:endParaRPr lang="en-US" sz="1275" dirty="0"/>
          </a:p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endParaRPr lang="en-US" sz="1275" dirty="0"/>
          </a:p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respond chorally or write </a:t>
            </a:r>
            <a:endParaRPr lang="en-US" sz="1275" dirty="0"/>
          </a:p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6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各种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mini whiteboards.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3438525"/>
            <a:ext cx="5334000" cy="3935016"/>
          </a:xfrm>
          <a:prstGeom prst="roundRect">
            <a:avLst>
              <a:gd name="adj" fmla="val 6778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5038725"/>
            <a:ext cx="4954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725"/>
              </a:spcBef>
              <a:spcAft>
                <a:spcPts val="1725"/>
              </a:spcAft>
              <a:buNone/>
            </a:pPr>
            <a:r>
              <a:rPr lang="en-US" sz="17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Price Comparison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2239625" y="5857875"/>
            <a:ext cx="4954905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endParaRPr lang="en-US" sz="1275" dirty="0"/>
          </a:p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endParaRPr lang="en-US" sz="1275" dirty="0"/>
          </a:p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"Priya，</a:t>
            </a:r>
            <a:endParaRPr lang="en-US" sz="1275" dirty="0"/>
          </a:p>
          <a:p>
            <a:pPr algn="l" indent="0" marL="0">
              <a:lnSpc>
                <a:spcPts val="2558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6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菜市场里的苹果比超市便宜还是贵？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7564041"/>
            <a:ext cx="16383000" cy="800100"/>
          </a:xfrm>
          <a:prstGeom prst="roundRect">
            <a:avLst>
              <a:gd name="adj" fmla="val 1428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7849791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check 3, pre-identify 2–3 students who need a stretch and follow up with "为什么？" for a full sentence.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53120" cy="600075"/>
          </a:xfrm>
          <a:prstGeom prst="roundRect">
            <a:avLst>
              <a:gd name="adj" fmla="val 1585714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62063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58020" y="1047750"/>
            <a:ext cx="926306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995" y="1257300"/>
            <a:ext cx="5756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3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36727" y="1062038"/>
            <a:ext cx="2104579" cy="600075"/>
          </a:xfrm>
          <a:prstGeom prst="roundRect">
            <a:avLst>
              <a:gd name="adj" fmla="val 1585714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8177" y="1262063"/>
            <a:ext cx="17969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WB Ex.6 + Ex.8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1145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"卖"字句写作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3133725"/>
            <a:ext cx="8769846" cy="4310063"/>
          </a:xfrm>
          <a:prstGeom prst="roundRect">
            <a:avLst>
              <a:gd name="adj" fmla="val 4420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9200" y="33813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4570" y="342900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19250" y="3562350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</a:t>
            </a:r>
            <a:r>
              <a:rPr lang="en-US" sz="12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shop pictures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Workbook Ex. 6 (flower shop, bakery, bookstore). Students write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卖 sentence per picture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exercise books, e.g.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这家花店卖各种花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219200" y="43148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3259" y="43624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4495800"/>
            <a:ext cx="76052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complete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of the 5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Workbook Ex. 8 sentence completions — see the frame on the right.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19200" y="500538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12962" y="5053013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619250" y="5186363"/>
            <a:ext cx="799312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1 example; students write the rest independently; quick whole-class check via cold call.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19200" y="6062663"/>
            <a:ext cx="4042023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71600" y="6281738"/>
            <a:ext cx="3811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371600" y="6577013"/>
            <a:ext cx="38119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the shop-name word bank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413623" y="6062663"/>
            <a:ext cx="4042023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66023" y="6281738"/>
            <a:ext cx="3811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566023" y="6577013"/>
            <a:ext cx="38119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the remaining Ex. 6/Ex. 8 items as a fast-finisher task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027146" y="3267075"/>
            <a:ext cx="7454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WB EX.6 · 3 SHOP PICTURES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27146" y="3724275"/>
            <a:ext cx="2385268" cy="1133475"/>
          </a:xfrm>
          <a:prstGeom prst="roundRect">
            <a:avLst>
              <a:gd name="adj" fmla="val 10084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110164" y="402907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0110164" y="4457700"/>
            <a:ext cx="22192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flower shop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488614" y="3724275"/>
            <a:ext cx="2385268" cy="1133475"/>
          </a:xfrm>
          <a:prstGeom prst="roundRect">
            <a:avLst>
              <a:gd name="adj" fmla="val 10084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571632" y="402907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面包店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2571632" y="4457700"/>
            <a:ext cx="22192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bakery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950083" y="3724275"/>
            <a:ext cx="2385268" cy="1133475"/>
          </a:xfrm>
          <a:prstGeom prst="roundRect">
            <a:avLst>
              <a:gd name="adj" fmla="val 10084"/>
            </a:avLst>
          </a:prstGeom>
          <a:solidFill>
            <a:srgbClr val="E4D5BC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033101" y="4029075"/>
            <a:ext cx="22192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5033101" y="4457700"/>
            <a:ext cx="22192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bookstore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27146" y="4991100"/>
            <a:ext cx="7308354" cy="1817191"/>
          </a:xfrm>
          <a:prstGeom prst="roundRect">
            <a:avLst>
              <a:gd name="adj" fmla="val 1467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227171" y="5295900"/>
            <a:ext cx="7046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WB EX.8 SENTENCE FRAME (2 OF 5)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0227171" y="5648325"/>
            <a:ext cx="704647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可以买到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0227171" y="6137821"/>
            <a:ext cx="704647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可以买到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23053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2 · 23–29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2988"/>
            <a:ext cx="1179165" cy="600075"/>
          </a:xfrm>
          <a:prstGeom prst="roundRect">
            <a:avLst>
              <a:gd name="adj" fmla="val 1585714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43013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065" y="1028700"/>
            <a:ext cx="927646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040" y="1238250"/>
            <a:ext cx="577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64111" y="1042988"/>
            <a:ext cx="2503587" cy="600075"/>
          </a:xfrm>
          <a:prstGeom prst="roundRect">
            <a:avLst>
              <a:gd name="adj" fmla="val 1585714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35561" y="1243013"/>
            <a:ext cx="2203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Textbook Act.6, p.94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07645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听价钱写价钱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3009900"/>
            <a:ext cx="8039100" cy="4248150"/>
          </a:xfrm>
          <a:prstGeom prst="roundRect">
            <a:avLst>
              <a:gd name="adj" fmla="val 627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43025" y="3228975"/>
            <a:ext cx="1781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32572" y="3228975"/>
            <a:ext cx="2224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55953" y="3228975"/>
            <a:ext cx="269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价钱 (听写)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43025" y="362426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432572" y="3662362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zhūròu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3025" y="413861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432572" y="4176712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niúpái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43025" y="465296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羊肉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432572" y="4691063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yángròu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43025" y="516731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鸡腿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432572" y="5205413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jītuǐ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43025" y="568166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432572" y="5719763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huóyú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43025" y="619601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3432572" y="6234113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huóxiā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43025" y="6710363"/>
            <a:ext cx="1781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3432572" y="6748463"/>
            <a:ext cx="2224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dòufu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96400" y="3009900"/>
            <a:ext cx="8039100" cy="4248150"/>
          </a:xfrm>
          <a:prstGeom prst="roundRect">
            <a:avLst>
              <a:gd name="adj" fmla="val 4484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44050" y="32194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641979" y="326231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6000" y="3381375"/>
            <a:ext cx="7325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6 short price statements aloud (or plays Track 38 if available), twice each with a pause for writing.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44050" y="40862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631561" y="41290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906000" y="4248150"/>
            <a:ext cx="4189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price in the correct row of the table.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44050" y="47244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631263" y="476726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906000" y="4886325"/>
            <a:ext cx="5235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Reveal correct prices on the projector afterwards for self-correction.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44050" y="5495925"/>
            <a:ext cx="24129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696450" y="5715000"/>
            <a:ext cx="2150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9696450" y="6010275"/>
            <a:ext cx="215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numerals 一到一百 kept visible for reference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2109400" y="5495925"/>
            <a:ext cx="24129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261800" y="5715000"/>
            <a:ext cx="2150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2261800" y="6010275"/>
            <a:ext cx="215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full sentence for 2 items, e.g. 猪肉十六块一斤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4674751" y="5495925"/>
            <a:ext cx="24129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4827151" y="5715000"/>
            <a:ext cx="2150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4827151" y="6010275"/>
            <a:ext cx="215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complete the table individually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3 · 29–38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23938"/>
            <a:ext cx="1179909" cy="600075"/>
          </a:xfrm>
          <a:prstGeom prst="roundRect">
            <a:avLst>
              <a:gd name="adj" fmla="val 1585714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23963"/>
            <a:ext cx="814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809" y="1009650"/>
            <a:ext cx="927646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784" y="1219200"/>
            <a:ext cx="577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9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64855" y="1023938"/>
            <a:ext cx="2620714" cy="600075"/>
          </a:xfrm>
          <a:prstGeom prst="roundRect">
            <a:avLst>
              <a:gd name="adj" fmla="val 1585714"/>
            </a:avLst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36305" y="1223963"/>
            <a:ext cx="23233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Act.7, p.94 + WB Ex.7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019300"/>
            <a:ext cx="16710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50"/>
              </a:spcBef>
              <a:spcAft>
                <a:spcPts val="2550"/>
              </a:spcAft>
              <a:buNone/>
            </a:pPr>
            <a:r>
              <a:rPr lang="en-US" sz="25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活动三 · 写一次买菜经历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2500" y="2914650"/>
            <a:ext cx="8620274" cy="5486102"/>
          </a:xfrm>
          <a:prstGeom prst="roundRect">
            <a:avLst>
              <a:gd name="adj" fmla="val 4861"/>
            </a:avLst>
          </a:prstGeom>
          <a:solidFill>
            <a:srgbClr val="F1E8D8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2800350"/>
            <a:ext cx="2174974" cy="533400"/>
          </a:xfrm>
          <a:prstGeom prst="roundRect">
            <a:avLst>
              <a:gd name="adj" fmla="val 1783929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09700" y="2971800"/>
            <a:ext cx="18687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Written Retell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1100" y="3219450"/>
            <a:ext cx="8163074" cy="1108472"/>
          </a:xfrm>
          <a:prstGeom prst="roundRect">
            <a:avLst>
              <a:gd name="adj" fmla="val 10311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52550" y="3514725"/>
            <a:ext cx="7976577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上个星期天我跟妈妈一起去菜市场买菜了。我们买了一斤半猪肉、一斤青菜、一条活鱼、两斤西红柿，一共花了三十六块五。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181100" y="4442222"/>
            <a:ext cx="83263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1100" y="4718447"/>
            <a:ext cx="8163074" cy="78105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204913" y="4718447"/>
            <a:ext cx="0" cy="78105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0175" y="4994672"/>
            <a:ext cx="792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上个星期</a:t>
            </a: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我跟</a:t>
            </a: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一起去菜市场买菜了。我们买了</a:t>
            </a: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，一共花了</a:t>
            </a:r>
            <a:r>
              <a:rPr lang="en-US" sz="12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181100" y="5613797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62063" y="5642372"/>
            <a:ext cx="48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485900" y="5766197"/>
            <a:ext cx="793270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their own version in exercise books, changing the items and prices, following the same structure (5 min).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81100" y="61690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52538" y="6197650"/>
            <a:ext cx="68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485900" y="6321475"/>
            <a:ext cx="320581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2–3 students to read their retell aloud.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81100" y="6876752"/>
            <a:ext cx="4005262" cy="1371600"/>
          </a:xfrm>
          <a:prstGeom prst="roundRect">
            <a:avLst>
              <a:gd name="adj" fmla="val 833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333500" y="7095827"/>
            <a:ext cx="37744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333500" y="7391102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the sentence frame above as a starting point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338763" y="6876752"/>
            <a:ext cx="4005411" cy="1371600"/>
          </a:xfrm>
          <a:prstGeom prst="roundRect">
            <a:avLst>
              <a:gd name="adj" fmla="val 833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91163" y="7095827"/>
            <a:ext cx="3774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491163" y="7391102"/>
            <a:ext cx="377462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比 comparison sentence at the end, e.g. 菜市场的菜比超市便宜. Fast finishers move on to WB Ex.11 (reading comprehension)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839474" y="2914650"/>
            <a:ext cx="7495877" cy="2447925"/>
          </a:xfrm>
          <a:prstGeom prst="roundRect">
            <a:avLst>
              <a:gd name="adj" fmla="val 1089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058549" y="3219450"/>
            <a:ext cx="7198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WB EX.7 · TRANSLATE USING 各 (4 MIN)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0058549" y="3514725"/>
            <a:ext cx="7198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complete all 8 phrases; teacher cold calls for the retell and uses mini whiteboards for 2 of these.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0201424" y="40290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个学校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72974" y="40290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位老师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144524" y="40290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家餐厅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116074" y="40290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种书报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087624" y="4029075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个菜市场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211574" y="40290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家饭店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6183124" y="40290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种文具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01424" y="4752975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</a:t>
            </a:r>
            <a:r>
              <a:rPr lang="en-US" sz="12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家医院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839474" y="5495925"/>
            <a:ext cx="7495877" cy="1619250"/>
          </a:xfrm>
          <a:prstGeom prst="roundRect">
            <a:avLst>
              <a:gd name="adj" fmla="val 7059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125224" y="593407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0544324" y="5876925"/>
            <a:ext cx="66353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Finishers → WB Ex.11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0544324" y="6372225"/>
            <a:ext cx="663538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comprehension passage about a mother's diet, with 6 comprehension questions.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25117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Odd One Out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600075"/>
          </a:xfrm>
          <a:prstGeom prst="roundRect">
            <a:avLst>
              <a:gd name="adj" fmla="val 1585714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62063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6157" cy="628650"/>
          </a:xfrm>
          <a:prstGeom prst="roundRect">
            <a:avLst>
              <a:gd name="adj" fmla="val 151363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257300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4336" y="1062038"/>
            <a:ext cx="2471440" cy="600075"/>
          </a:xfrm>
          <a:prstGeom prst="roundRect">
            <a:avLst>
              <a:gd name="adj" fmla="val 1585714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5786" y="1262063"/>
            <a:ext cx="217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· Individual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21145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找不同 · Odd One Out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3181350"/>
            <a:ext cx="1671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 categorisation and quick recall from today's lesson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52500" y="3743325"/>
            <a:ext cx="3967163" cy="4800600"/>
          </a:xfrm>
          <a:prstGeom prst="roundRect">
            <a:avLst>
              <a:gd name="adj" fmla="val 480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4425" y="4019550"/>
            <a:ext cx="3716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09675" y="463867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209675" y="546735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209675" y="629602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14425" y="6877050"/>
            <a:ext cx="3643313" cy="771525"/>
          </a:xfrm>
          <a:prstGeom prst="roundRect">
            <a:avLst>
              <a:gd name="adj" fmla="val 7407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09675" y="712470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114425" y="7915275"/>
            <a:ext cx="3643313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4425" y="8115300"/>
            <a:ext cx="371617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豆腐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not meat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5091113" y="3743325"/>
            <a:ext cx="3967163" cy="4800600"/>
          </a:xfrm>
          <a:prstGeom prst="roundRect">
            <a:avLst>
              <a:gd name="adj" fmla="val 480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53038" y="4019550"/>
            <a:ext cx="3716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8288" y="463867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348288" y="546735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348288" y="629602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5253038" y="6877050"/>
            <a:ext cx="3643313" cy="771525"/>
          </a:xfrm>
          <a:prstGeom prst="roundRect">
            <a:avLst>
              <a:gd name="adj" fmla="val 7407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48288" y="712470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5253038" y="7915275"/>
            <a:ext cx="3643313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3038" y="8115300"/>
            <a:ext cx="371617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图书馆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doesn't sell food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9229725" y="3743325"/>
            <a:ext cx="3967163" cy="4800600"/>
          </a:xfrm>
          <a:prstGeom prst="roundRect">
            <a:avLst>
              <a:gd name="adj" fmla="val 480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391650" y="4019550"/>
            <a:ext cx="3716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86900" y="463867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486900" y="546735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9486900" y="629602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9391650" y="6877050"/>
            <a:ext cx="3643313" cy="771525"/>
          </a:xfrm>
          <a:prstGeom prst="roundRect">
            <a:avLst>
              <a:gd name="adj" fmla="val 7407"/>
            </a:avLst>
          </a:prstGeom>
          <a:solidFill>
            <a:srgbClr val="3F7A5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486900" y="712470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9391650" y="7915275"/>
            <a:ext cx="3643313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1650" y="8115300"/>
            <a:ext cx="371617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Answer: 附近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not a price/quality word</a:t>
            </a:r>
            <a:endParaRPr lang="en-US" sz="938" dirty="0"/>
          </a:p>
        </p:txBody>
      </p:sp>
      <p:sp>
        <p:nvSpPr>
          <p:cNvPr id="42" name="Text 40"/>
          <p:cNvSpPr/>
          <p:nvPr/>
        </p:nvSpPr>
        <p:spPr>
          <a:xfrm>
            <a:off x="13368338" y="3743325"/>
            <a:ext cx="3967163" cy="4800600"/>
          </a:xfrm>
          <a:prstGeom prst="roundRect">
            <a:avLst>
              <a:gd name="adj" fmla="val 480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530263" y="4019550"/>
            <a:ext cx="3716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 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625513" y="463867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活鱼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13625513" y="546735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3625513" y="6296025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3625513" y="7124700"/>
            <a:ext cx="3521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3530263" y="7748588"/>
            <a:ext cx="3643313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530263" y="7948613"/>
            <a:ext cx="371617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fixed answer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could argue either way; accept reasoned answers</a:t>
            </a:r>
            <a:endParaRPr lang="en-US" sz="938" dirty="0"/>
          </a:p>
        </p:txBody>
      </p:sp>
      <p:sp>
        <p:nvSpPr>
          <p:cNvPr id="50" name="Text 48"/>
          <p:cNvSpPr/>
          <p:nvPr/>
        </p:nvSpPr>
        <p:spPr>
          <a:xfrm>
            <a:off x="952500" y="8696325"/>
            <a:ext cx="8105775" cy="1295400"/>
          </a:xfrm>
          <a:prstGeom prst="roundRect">
            <a:avLst>
              <a:gd name="adj" fmla="val 147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152525" y="8963025"/>
            <a:ext cx="78598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152525" y="9277350"/>
            <a:ext cx="78598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4 sets of 4 words each; students identify and write down the odd one out on mini whiteboards, then explain why in Chinese or English.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9229725" y="8696325"/>
            <a:ext cx="3976687" cy="1295400"/>
          </a:xfrm>
          <a:prstGeom prst="roundRect">
            <a:avLst>
              <a:gd name="adj" fmla="val 8824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382125" y="8915400"/>
            <a:ext cx="3745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9382125" y="9210675"/>
            <a:ext cx="3745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English glosses alongside each word for Set 1–2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3358813" y="8696325"/>
            <a:ext cx="3976687" cy="1295400"/>
          </a:xfrm>
          <a:prstGeom prst="roundRect">
            <a:avLst>
              <a:gd name="adj" fmla="val 8824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3511213" y="8915400"/>
            <a:ext cx="3745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3511213" y="9210675"/>
            <a:ext cx="3745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must justify their answer in a full Chinese sentence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09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TEXT 1 + SHOPPING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90776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932682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847082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152007"/>
            <a:ext cx="7867650" cy="3668762"/>
          </a:xfrm>
          <a:prstGeom prst="roundRect">
            <a:avLst>
              <a:gd name="adj" fmla="val 726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523482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866382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0175" y="52586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1796" y="5317778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52600" y="52586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64072" y="5317778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5025" y="52586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29743" y="5317778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3175" y="5304532"/>
            <a:ext cx="30782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the Text 1 passage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00175" y="588153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11796" y="5940623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52600" y="588153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64072" y="5940623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5025" y="588153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29743" y="5940623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43175" y="5927378"/>
            <a:ext cx="2374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卖 to say what a shop sells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0175" y="650438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11796" y="6563469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52600" y="650438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64072" y="6563469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5025" y="650438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229743" y="6563469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43175" y="6550223"/>
            <a:ext cx="36876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short passage describing a shopping trip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0175" y="7030194"/>
            <a:ext cx="7353300" cy="571500"/>
          </a:xfrm>
          <a:prstGeom prst="roundRect">
            <a:avLst>
              <a:gd name="adj" fmla="val 20000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7234982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and choral-read the three Success Criteria — "今天我们做到了吗？"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77350" y="4152007"/>
            <a:ext cx="7867650" cy="3668762"/>
          </a:xfrm>
          <a:prstGeom prst="roundRect">
            <a:avLst>
              <a:gd name="adj" fmla="val 726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523482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866382"/>
            <a:ext cx="7353300" cy="123631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866382"/>
            <a:ext cx="0" cy="1236315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5104507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USING 卖 ON MINI WHITEBOARD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53600" y="5466457"/>
            <a:ext cx="710203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我家附近的</a:t>
            </a: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店卖</a:t>
            </a: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648825" y="6612285"/>
            <a:ext cx="1356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shop near your home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83702" y="6612285"/>
            <a:ext cx="9944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use of 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563475" y="6612285"/>
            <a:ext cx="111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sentence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34525" y="6993285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whiteboards for correct sentence structure.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143000" y="8011269"/>
            <a:ext cx="16002000" cy="76200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166813" y="8011269"/>
            <a:ext cx="0" cy="76200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00175" y="8277969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"下一课，我们要学新单词——三明治、盒饭、薯片、薯条，学怎么说学校午饭吃什么。"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2026-08-01T06:56:47Z</dcterms:created>
  <dcterms:modified xsi:type="dcterms:W3CDTF">2026-08-01T06:56:47Z</dcterms:modified>
</cp:coreProperties>
</file>