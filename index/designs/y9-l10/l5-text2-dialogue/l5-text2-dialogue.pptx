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17145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spcBef>
                <a:spcPts val="31500"/>
              </a:spcBef>
              <a:spcAft>
                <a:spcPts val="31500"/>
              </a:spcAft>
              <a:buNone/>
            </a:pPr>
            <a:r>
              <a:rPr lang="en-US" sz="31500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常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383405" y="2105025"/>
            <a:ext cx="95211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83405" y="3324225"/>
            <a:ext cx="952119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spcBef>
                <a:spcPts val="7500"/>
              </a:spcBef>
              <a:spcAft>
                <a:spcPts val="7500"/>
              </a:spcAft>
              <a:buNone/>
            </a:pPr>
            <a:r>
              <a:rPr lang="en-US" sz="7500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🍱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383405" y="5229225"/>
            <a:ext cx="952119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0"/>
              </a:lnSpc>
              <a:spcBef>
                <a:spcPts val="7035"/>
              </a:spcBef>
              <a:spcAft>
                <a:spcPts val="600"/>
              </a:spcAft>
              <a:buNone/>
            </a:pPr>
            <a:r>
              <a:rPr lang="en-US" sz="10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学校午饭</a:t>
            </a:r>
            <a:r>
              <a:rPr lang="en-US" sz="105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0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4383405" y="6848475"/>
            <a:ext cx="95211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Dialogue + Sentence Patterns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18427" y="8010525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76967" y="8010525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2493" y="8010525"/>
            <a:ext cx="25043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+ Sentence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55768" y="8010525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2573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133600"/>
            <a:ext cx="1651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L4 Snack Vocab + Categories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47750" y="3314700"/>
            <a:ext cx="7943850" cy="2943225"/>
          </a:xfrm>
          <a:prstGeom prst="roundRect">
            <a:avLst>
              <a:gd name="adj" fmla="val 647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4925" y="3657600"/>
            <a:ext cx="7578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L4 LUNCH &amp; SNACK VOCAB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04925" y="4000500"/>
            <a:ext cx="704850" cy="647700"/>
          </a:xfrm>
          <a:prstGeom prst="roundRect">
            <a:avLst>
              <a:gd name="adj" fmla="val 882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28750" y="4219575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85975" y="4000500"/>
            <a:ext cx="552450" cy="647700"/>
          </a:xfrm>
          <a:prstGeom prst="roundRect">
            <a:avLst>
              <a:gd name="adj" fmla="val 1034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09800" y="4219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14625" y="4000500"/>
            <a:ext cx="552450" cy="647700"/>
          </a:xfrm>
          <a:prstGeom prst="roundRect">
            <a:avLst>
              <a:gd name="adj" fmla="val 1034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38450" y="4219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43275" y="4000500"/>
            <a:ext cx="552450" cy="647700"/>
          </a:xfrm>
          <a:prstGeom prst="roundRect">
            <a:avLst>
              <a:gd name="adj" fmla="val 1034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67100" y="4219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1925" y="4000500"/>
            <a:ext cx="1162050" cy="647700"/>
          </a:xfrm>
          <a:prstGeom prst="roundRect">
            <a:avLst>
              <a:gd name="adj" fmla="val 882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95750" y="4219575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炸鸡翅（膀）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0175" y="4000500"/>
            <a:ext cx="552450" cy="647700"/>
          </a:xfrm>
          <a:prstGeom prst="roundRect">
            <a:avLst>
              <a:gd name="adj" fmla="val 1034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4000" y="4219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4925" y="4743450"/>
            <a:ext cx="571500" cy="600075"/>
          </a:xfrm>
          <a:prstGeom prst="roundRect">
            <a:avLst>
              <a:gd name="adj" fmla="val 1665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47800" y="494347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952625" y="4743450"/>
            <a:ext cx="571500" cy="600075"/>
          </a:xfrm>
          <a:prstGeom prst="roundRect">
            <a:avLst>
              <a:gd name="adj" fmla="val 1665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95500" y="494347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2600325" y="4743450"/>
            <a:ext cx="571500" cy="600075"/>
          </a:xfrm>
          <a:prstGeom prst="roundRect">
            <a:avLst>
              <a:gd name="adj" fmla="val 1665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43200" y="494347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3248025" y="4743450"/>
            <a:ext cx="571500" cy="600075"/>
          </a:xfrm>
          <a:prstGeom prst="roundRect">
            <a:avLst>
              <a:gd name="adj" fmla="val 1665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90900" y="494347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304925" y="5486400"/>
            <a:ext cx="7578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an item picture; class chorally recalls the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which category (中餐/快餐/零食/饮料) it belongs to.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296400" y="3314700"/>
            <a:ext cx="7943850" cy="4038600"/>
          </a:xfrm>
          <a:prstGeom prst="roundRect">
            <a:avLst>
              <a:gd name="adj" fmla="val 471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53575" y="3657600"/>
            <a:ext cx="7578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"CORRECT THE TEACHER" RECAP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553575" y="4000500"/>
            <a:ext cx="7429500" cy="762000"/>
          </a:xfrm>
          <a:prstGeom prst="roundRect">
            <a:avLst>
              <a:gd name="adj" fmla="val 15000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686925" y="4257675"/>
            <a:ext cx="11075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可乐是零食。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0868025" y="4276725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15675" y="4257675"/>
            <a:ext cx="11075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可乐是饮料。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9553575" y="4838700"/>
            <a:ext cx="7429500" cy="762000"/>
          </a:xfrm>
          <a:prstGeom prst="roundRect">
            <a:avLst>
              <a:gd name="adj" fmla="val 15000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686925" y="5095875"/>
            <a:ext cx="11075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薯片是快餐。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0868025" y="5114925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115675" y="5095875"/>
            <a:ext cx="11075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薯片是零食。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9553575" y="5676900"/>
            <a:ext cx="7429500" cy="762000"/>
          </a:xfrm>
          <a:prstGeom prst="roundRect">
            <a:avLst>
              <a:gd name="adj" fmla="val 15000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686925" y="5934075"/>
            <a:ext cx="12921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三明治是零食。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1049000" y="5953125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96650" y="5934075"/>
            <a:ext cx="12921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三明治是快餐。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9553575" y="6581775"/>
            <a:ext cx="7578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deliberately mis-categorised statements — students find and fix each on mini whiteboards; a cold-called student reads the corrected sentence aloud.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047750" y="7562850"/>
            <a:ext cx="16192500" cy="938213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1071563" y="7562850"/>
            <a:ext cx="0" cy="938212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23975" y="7896225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午饭和零食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的词。今天我们要读一段关于学校午饭的对话，学怎么说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"有时候……有时候……"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694581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666131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00"/>
              </a:spcBef>
              <a:spcAft>
                <a:spcPts val="3900"/>
              </a:spcAft>
              <a:buNone/>
            </a:pPr>
            <a:r>
              <a:rPr lang="en-US" sz="3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199656"/>
            <a:ext cx="15621000" cy="163443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199656"/>
            <a:ext cx="0" cy="163443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3533031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3971181"/>
            <a:ext cx="1526305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talk about our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lunch habits</a:t>
            </a: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有时候……有时候……</a:t>
            </a: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不算太……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5176986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719911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605611"/>
            <a:ext cx="129255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有时候……有时候……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describe alternating between two options </a:t>
            </a: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能用"有时候……有时候……"描述两种情况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845647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7388572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7274272"/>
            <a:ext cx="105076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and answer a price question with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多少钱一 + measure word</a:t>
            </a: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能用"多少钱一……"问价钱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8514308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9057233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8942933"/>
            <a:ext cx="86132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不算太 + adjective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soften a description </a:t>
            </a: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能用"不算太……"缓和描述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33755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 + Sentence Patterns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2872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 + KEY SENTENCE PATTERNS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990725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新单词 + 句型 · Vocab &amp; Sentence Patterns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3009900"/>
            <a:ext cx="2956471" cy="1409700"/>
          </a:xfrm>
          <a:prstGeom prst="roundRect">
            <a:avLst>
              <a:gd name="adj" fmla="val 1351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347662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952625" y="3314700"/>
            <a:ext cx="849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tōngcháng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952625" y="3886200"/>
            <a:ext cx="849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usually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023271" y="3009900"/>
            <a:ext cx="2956620" cy="1409700"/>
          </a:xfrm>
          <a:prstGeom prst="roundRect">
            <a:avLst>
              <a:gd name="adj" fmla="val 1351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66146" y="347662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哪种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023396" y="3314700"/>
            <a:ext cx="847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nǎ zhǒng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023396" y="3886200"/>
            <a:ext cx="847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kind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7094190" y="3009900"/>
            <a:ext cx="2956620" cy="1409700"/>
          </a:xfrm>
          <a:prstGeom prst="roundRect">
            <a:avLst>
              <a:gd name="adj" fmla="val 1351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37065" y="347662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094315" y="3314700"/>
            <a:ext cx="90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suàn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8094315" y="3886200"/>
            <a:ext cx="90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count as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952500" y="4572000"/>
            <a:ext cx="9098310" cy="3038475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2525" y="4829175"/>
            <a:ext cx="8872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SENTENCE PATTERNS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6560" y="3009900"/>
            <a:ext cx="6998940" cy="2058293"/>
          </a:xfrm>
          <a:prstGeom prst="roundRect">
            <a:avLst>
              <a:gd name="adj" fmla="val 925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555635" y="3286125"/>
            <a:ext cx="66920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— PROJECT, READ ALOUD, CLASS REPEATS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55635" y="3771900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22471" y="3743325"/>
            <a:ext cx="4061079" cy="26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我有时候骑自行车上学，有时候坐公共汽车上学。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0555635" y="4491484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22471" y="4462909"/>
            <a:ext cx="2768918" cy="26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这件衣服不算太贵，只要五十块。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0336560" y="5220593"/>
            <a:ext cx="6998940" cy="1224409"/>
          </a:xfrm>
          <a:prstGeom prst="roundRect">
            <a:avLst>
              <a:gd name="adj" fmla="val 1555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555635" y="5496818"/>
            <a:ext cx="66920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55635" y="5839718"/>
            <a:ext cx="6692006" cy="26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我通常吃早饭，有时候也会吃三次早饭！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2547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Dialogue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95375"/>
            <a:ext cx="16904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 / DIALOGUE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57250" y="1714500"/>
            <a:ext cx="27916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 · Text 2 (p.95)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918049" y="1885950"/>
            <a:ext cx="798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Track 39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57250" y="2476500"/>
            <a:ext cx="9356675" cy="1797844"/>
          </a:xfrm>
          <a:prstGeom prst="roundRect">
            <a:avLst>
              <a:gd name="adj" fmla="val 63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0125" y="2719388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学生A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571625" y="2690813"/>
            <a:ext cx="1491936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你每天午饭吃什么？</a:t>
            </a:r>
            <a:endParaRPr lang="en-US" sz="1163" dirty="0"/>
          </a:p>
        </p:txBody>
      </p:sp>
      <p:sp>
        <p:nvSpPr>
          <p:cNvPr id="13" name="Text 11"/>
          <p:cNvSpPr/>
          <p:nvPr/>
        </p:nvSpPr>
        <p:spPr>
          <a:xfrm>
            <a:off x="1571625" y="3123009"/>
            <a:ext cx="149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měitiān wǔfàn chī shénme?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00125" y="3561159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学生B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571625" y="3532584"/>
            <a:ext cx="4307762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我有时候从家里带三明治，有时候在学校餐厅买东西吃。</a:t>
            </a:r>
            <a:endParaRPr lang="en-US" sz="1163" dirty="0"/>
          </a:p>
        </p:txBody>
      </p:sp>
      <p:sp>
        <p:nvSpPr>
          <p:cNvPr id="16" name="Text 14"/>
          <p:cNvSpPr/>
          <p:nvPr/>
        </p:nvSpPr>
        <p:spPr>
          <a:xfrm>
            <a:off x="1571625" y="3964781"/>
            <a:ext cx="43077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yǒushíhou cóng jiā lǐ dài sānmíngzhì, yǒushíhou zài xuéxiào cāntīng mǎi dōngxi chī.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857250" y="4321969"/>
            <a:ext cx="9356675" cy="1797844"/>
          </a:xfrm>
          <a:prstGeom prst="roundRect">
            <a:avLst>
              <a:gd name="adj" fmla="val 63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00125" y="4564856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学生A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571625" y="4536281"/>
            <a:ext cx="1352276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你平时买些什么？</a:t>
            </a:r>
            <a:endParaRPr lang="en-US" sz="1163" dirty="0"/>
          </a:p>
        </p:txBody>
      </p:sp>
      <p:sp>
        <p:nvSpPr>
          <p:cNvPr id="20" name="Text 18"/>
          <p:cNvSpPr/>
          <p:nvPr/>
        </p:nvSpPr>
        <p:spPr>
          <a:xfrm>
            <a:off x="1571625" y="4968478"/>
            <a:ext cx="1352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píngshí mǎi xiē shénme?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1000125" y="5406628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学生B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571625" y="5378053"/>
            <a:ext cx="4908301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我通常买盒饭吃，有时候也会买薯片、薯条、炸鸡翅（膀）、糖果等。</a:t>
            </a:r>
            <a:endParaRPr lang="en-US" sz="1163" dirty="0"/>
          </a:p>
        </p:txBody>
      </p:sp>
      <p:sp>
        <p:nvSpPr>
          <p:cNvPr id="23" name="Text 21"/>
          <p:cNvSpPr/>
          <p:nvPr/>
        </p:nvSpPr>
        <p:spPr>
          <a:xfrm>
            <a:off x="1571625" y="5810250"/>
            <a:ext cx="49083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tōngcháng mǎi héfàn chī, yǒushíhou yě huì mǎi shǔpiàn, shǔtiáo, zhá jīchì(bǎng), tángguǒ děng.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857250" y="6167438"/>
            <a:ext cx="9356675" cy="1797844"/>
          </a:xfrm>
          <a:prstGeom prst="roundRect">
            <a:avLst>
              <a:gd name="adj" fmla="val 63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00125" y="6410325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学生A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571625" y="6381750"/>
            <a:ext cx="1750308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盒饭贵吗？多少钱一盒？</a:t>
            </a:r>
            <a:endParaRPr lang="en-US" sz="1163" dirty="0"/>
          </a:p>
        </p:txBody>
      </p:sp>
      <p:sp>
        <p:nvSpPr>
          <p:cNvPr id="27" name="Text 25"/>
          <p:cNvSpPr/>
          <p:nvPr/>
        </p:nvSpPr>
        <p:spPr>
          <a:xfrm>
            <a:off x="1571625" y="6813947"/>
            <a:ext cx="17503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Héfàn guì ma? Duōshao qián yì hé?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1000125" y="7252097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学生B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571625" y="7223522"/>
            <a:ext cx="1355312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十九块，不算太贵。</a:t>
            </a:r>
            <a:endParaRPr lang="en-US" sz="1163" dirty="0"/>
          </a:p>
        </p:txBody>
      </p:sp>
      <p:sp>
        <p:nvSpPr>
          <p:cNvPr id="30" name="Text 28"/>
          <p:cNvSpPr/>
          <p:nvPr/>
        </p:nvSpPr>
        <p:spPr>
          <a:xfrm>
            <a:off x="1571625" y="7655719"/>
            <a:ext cx="13553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Shíjiǔ kuài, bú suàn tài guì.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857250" y="8012906"/>
            <a:ext cx="9356675" cy="1797844"/>
          </a:xfrm>
          <a:prstGeom prst="roundRect">
            <a:avLst>
              <a:gd name="adj" fmla="val 63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00125" y="8255794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学生A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571625" y="8227219"/>
            <a:ext cx="1498160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你喜欢吃哪种盒饭？</a:t>
            </a:r>
            <a:endParaRPr lang="en-US" sz="1163" dirty="0"/>
          </a:p>
        </p:txBody>
      </p:sp>
      <p:sp>
        <p:nvSpPr>
          <p:cNvPr id="34" name="Text 32"/>
          <p:cNvSpPr/>
          <p:nvPr/>
        </p:nvSpPr>
        <p:spPr>
          <a:xfrm>
            <a:off x="1571625" y="8659416"/>
            <a:ext cx="1498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xǐhuan chī nǎ zhǒng héfàn?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1000125" y="9097566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学生B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571625" y="9068991"/>
            <a:ext cx="2795332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我常买咖喱牛肉饭、鱼柳饭、猪排饭等。</a:t>
            </a:r>
            <a:endParaRPr lang="en-US" sz="1163" dirty="0"/>
          </a:p>
        </p:txBody>
      </p:sp>
      <p:sp>
        <p:nvSpPr>
          <p:cNvPr id="37" name="Text 35"/>
          <p:cNvSpPr/>
          <p:nvPr/>
        </p:nvSpPr>
        <p:spPr>
          <a:xfrm>
            <a:off x="1571625" y="9501188"/>
            <a:ext cx="2795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cháng mǎi gālí niúròu fàn, yúliǔ fàn, zhūpái fàn děng.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10499675" y="2476500"/>
            <a:ext cx="6931075" cy="6267450"/>
          </a:xfrm>
          <a:prstGeom prst="roundRect">
            <a:avLst>
              <a:gd name="adj" fmla="val 3040"/>
            </a:avLst>
          </a:prstGeom>
          <a:solidFill>
            <a:srgbClr val="D45A3A">
              <a:alpha val="10000"/>
            </a:srgbClr>
          </a:solidFill>
          <a:ln w="19050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747325" y="2800350"/>
            <a:ext cx="6564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COMPREHENSION QUESTIONS · 理解问题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43171" y="3114675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1090225" y="3248025"/>
            <a:ext cx="29729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这个人午饭有时候吃什么？有时候呢？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831860" y="3811786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1090225" y="3945136"/>
            <a:ext cx="139903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盒饭多少钱一盒？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831562" y="4508897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1090225" y="4642247"/>
            <a:ext cx="17487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他喜欢吃哪几种盒饭？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0747325" y="5167908"/>
            <a:ext cx="6435775" cy="609600"/>
          </a:xfrm>
          <a:prstGeom prst="roundRect">
            <a:avLst>
              <a:gd name="adj" fmla="val 18750"/>
            </a:avLst>
          </a:prstGeom>
          <a:noFill/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899725" y="5386983"/>
            <a:ext cx="6253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i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0499675" y="8896350"/>
            <a:ext cx="6931075" cy="914400"/>
          </a:xfrm>
          <a:prstGeom prst="roundRect">
            <a:avLst>
              <a:gd name="adj" fmla="val 125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680650" y="9153525"/>
            <a:ext cx="670050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audio (or read aloud) once, students follow along. Read together in pairs — </a:t>
            </a: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student each role</a:t>
            </a: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swap roles. Play Track 39.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29437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Comprehension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62050"/>
            <a:ext cx="1671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1885950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课文二理解问题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2857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71575" y="29813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91679" y="3033713"/>
            <a:ext cx="657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647825" y="3114675"/>
            <a:ext cx="15777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这个人午饭有时候吃什么？有时候呢？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7825" y="3438525"/>
            <a:ext cx="15468600" cy="1295400"/>
          </a:xfrm>
          <a:prstGeom prst="roundRect">
            <a:avLst>
              <a:gd name="adj" fmla="val 8824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19275" y="3733800"/>
            <a:ext cx="15428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有时候从家里带三明治，有时候在学校餐厅买东西吃。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19275" y="4333875"/>
            <a:ext cx="15428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Sometimes he brings a sandwich from home, sometimes he buys something to eat at the school cafeteria.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52500" y="4962525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71575" y="50863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78731" y="5138738"/>
            <a:ext cx="922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647825" y="5219700"/>
            <a:ext cx="15777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盒饭多少钱一盒？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47825" y="5543550"/>
            <a:ext cx="15468600" cy="1295400"/>
          </a:xfrm>
          <a:prstGeom prst="roundRect">
            <a:avLst>
              <a:gd name="adj" fmla="val 8824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19275" y="5838825"/>
            <a:ext cx="15428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十九块。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19275" y="6438900"/>
            <a:ext cx="15428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Nineteen yuan.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52500" y="706755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71575" y="71913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78285" y="7243763"/>
            <a:ext cx="930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647825" y="7324725"/>
            <a:ext cx="15777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他喜欢吃哪几种盒饭？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47825" y="7648575"/>
            <a:ext cx="15468600" cy="1295400"/>
          </a:xfrm>
          <a:prstGeom prst="roundRect">
            <a:avLst>
              <a:gd name="adj" fmla="val 8824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19275" y="7943850"/>
            <a:ext cx="15428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咖喱牛肉饭、鱼柳饭、猪排饭。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19275" y="8543925"/>
            <a:ext cx="15428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Curry beef rice, fish fillet rice, and pork chop rice.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573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15265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3438525"/>
            <a:ext cx="5334000" cy="3491210"/>
          </a:xfrm>
          <a:prstGeom prst="roundRect">
            <a:avLst>
              <a:gd name="adj" fmla="val 7639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/ DOWN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504825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Does It Mean "Usually"?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625" y="5886450"/>
            <a:ext cx="495490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</a:t>
            </a:r>
            <a:r>
              <a:rPr lang="en-US" sz="180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通常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'usually'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3438525"/>
            <a:ext cx="5334000" cy="3491210"/>
          </a:xfrm>
          <a:prstGeom prst="roundRect">
            <a:avLst>
              <a:gd name="adj" fmla="val 7639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SENTENCE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504825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Whiteboard Check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5886450"/>
            <a:ext cx="4954905" cy="6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"Give me a sentence with </a:t>
            </a:r>
            <a:r>
              <a:rPr lang="en-US" sz="180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有时候……有时候……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it on your whiteboard."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3438525"/>
            <a:ext cx="5334000" cy="3491210"/>
          </a:xfrm>
          <a:prstGeom prst="roundRect">
            <a:avLst>
              <a:gd name="adj" fmla="val 7639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504825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Translate 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5886450"/>
            <a:ext cx="4954905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"Zoe，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'not too expensive'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用中文怎么说？"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7120235"/>
            <a:ext cx="16383000" cy="800100"/>
          </a:xfrm>
          <a:prstGeom prst="roundRect">
            <a:avLst>
              <a:gd name="adj" fmla="val 1428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7405985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 (thumbs/whiteboards up on three). For the cold call, listen for the full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不算太贵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structure, not just 不贵.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2277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20–26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9062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20–26 MIN · WE DO (6 MIN) · WORKBOOK EX. 5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952625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反义词热身 Antonym Warm-Up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2952750"/>
            <a:ext cx="8620274" cy="6136481"/>
          </a:xfrm>
          <a:prstGeom prst="roundRect">
            <a:avLst>
              <a:gd name="adj" fmla="val 3104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2838450"/>
            <a:ext cx="2461022" cy="533400"/>
          </a:xfrm>
          <a:prstGeom prst="roundRect">
            <a:avLst>
              <a:gd name="adj" fmla="val 1783929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3009900"/>
            <a:ext cx="21604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Write the Opposite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9200" y="33147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15045" y="335280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581150" y="3476625"/>
            <a:ext cx="526094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first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 class, thinking aloud about each opposite.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19200" y="3912394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03734" y="3950494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581150" y="4074319"/>
            <a:ext cx="69244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 opposite word for the remaining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items independently in their exercise books.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19200" y="4510088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03437" y="4548188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581150" y="4672013"/>
            <a:ext cx="324224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for answers; project the answer key.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19200" y="51554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23939" y="54125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胖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2481114" y="54411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678162" y="54125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940225" y="51554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4476" y="5412581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暖和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292626" y="54411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489674" y="54125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6661249" y="51554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75500" y="5412581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有用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8013650" y="54411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210699" y="54125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19200" y="59936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223939" y="62507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2481114" y="62793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2678162" y="62507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3940225" y="59936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54476" y="6250781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有趣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5292626" y="62793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489674" y="62507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6661249" y="59936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575500" y="6250781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容易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8013650" y="62793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8210699" y="62507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219200" y="68318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223939" y="70889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2481114" y="71175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2678162" y="70889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3940225" y="68318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854476" y="7088981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难看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5292626" y="71175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5489674" y="70889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6661249" y="6831806"/>
            <a:ext cx="2644825" cy="762000"/>
          </a:xfrm>
          <a:prstGeom prst="roundRect">
            <a:avLst>
              <a:gd name="adj" fmla="val 15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485013" y="7088981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有意思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8104138" y="7117556"/>
            <a:ext cx="123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8301186" y="7088981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1219200" y="7727156"/>
            <a:ext cx="3967163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371600" y="7946231"/>
            <a:ext cx="3735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371600" y="8241506"/>
            <a:ext cx="37356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a word bank of the 9 opposites, scrambled, for students to match rather than recall freely.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5338763" y="7727156"/>
            <a:ext cx="3967311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491163" y="7946231"/>
            <a:ext cx="373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5491163" y="8241506"/>
            <a:ext cx="37357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2 of the antonym pairs in an original sentence each.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9839474" y="2952750"/>
            <a:ext cx="7495877" cy="2205930"/>
          </a:xfrm>
          <a:prstGeom prst="roundRect">
            <a:avLst>
              <a:gd name="adj" fmla="val 12090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0087124" y="3286125"/>
            <a:ext cx="7140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FINISHERS · WORKBOOK EX. 17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10087124" y="3609975"/>
            <a:ext cx="714058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Radical/component decomposition — write the meaning of each radical and the resulting character, consolidating character components met across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0871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2299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106205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07633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111539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12967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膀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116873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18301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鲜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22207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23635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127541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28969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32875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34303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138209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39637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</a:t>
            </a:r>
            <a:endParaRPr lang="en-US" sz="1350" dirty="0"/>
          </a:p>
        </p:txBody>
      </p:sp>
      <p:sp>
        <p:nvSpPr>
          <p:cNvPr id="82" name="Text 80"/>
          <p:cNvSpPr/>
          <p:nvPr/>
        </p:nvSpPr>
        <p:spPr>
          <a:xfrm>
            <a:off x="14354324" y="4234755"/>
            <a:ext cx="457200" cy="714375"/>
          </a:xfrm>
          <a:prstGeom prst="roundRect">
            <a:avLst>
              <a:gd name="adj" fmla="val 2081250"/>
            </a:avLst>
          </a:prstGeom>
          <a:solidFill>
            <a:srgbClr val="FFFFFF"/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4497199" y="447288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</a:t>
            </a:r>
            <a:endParaRPr lang="en-US" sz="1350" dirty="0"/>
          </a:p>
        </p:txBody>
      </p:sp>
      <p:sp>
        <p:nvSpPr>
          <p:cNvPr id="84" name="Shape 8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26–38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192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26–38 MIN · YOU DO (12 MIN) · WORKBOOK EX. 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0574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句子重组 Sentence Reordering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3190875"/>
            <a:ext cx="8431857" cy="5705475"/>
          </a:xfrm>
          <a:prstGeom prst="roundRect">
            <a:avLst>
              <a:gd name="adj" fmla="val 3339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3076575"/>
            <a:ext cx="2839045" cy="533400"/>
          </a:xfrm>
          <a:prstGeom prst="roundRect">
            <a:avLst>
              <a:gd name="adj" fmla="val 1783929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3248025"/>
            <a:ext cx="25460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Reorder &amp; Peer-Check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9200" y="3571875"/>
            <a:ext cx="2989064" cy="533400"/>
          </a:xfrm>
          <a:prstGeom prst="roundRect">
            <a:avLst>
              <a:gd name="adj" fmla="val 1783929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71600" y="3743325"/>
            <a:ext cx="2737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Scrambled Sentences · Food &amp; Meals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19200" y="42386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24570" y="42862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619250" y="4410075"/>
            <a:ext cx="764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Independent work (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min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): rearrange each set of scrambled words/phrases into a correct sentence about food or meals; write the final sentence in exercise books.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9200" y="51149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13259" y="51625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619250" y="5286375"/>
            <a:ext cx="2191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Pair-check with a neighbour.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19200" y="57626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12962" y="5810250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619250" y="5934075"/>
            <a:ext cx="3889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reveal with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cold-called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readings.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19200" y="6429375"/>
            <a:ext cx="5196036" cy="476250"/>
          </a:xfrm>
          <a:prstGeom prst="roundRect">
            <a:avLst>
              <a:gd name="adj" fmla="val 1998000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52550" y="6581775"/>
            <a:ext cx="50279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· every student reorders all 5 sentences independently before pair-check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19200" y="7134225"/>
            <a:ext cx="2531120" cy="1571625"/>
          </a:xfrm>
          <a:prstGeom prst="roundRect">
            <a:avLst>
              <a:gd name="adj" fmla="val 727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71600" y="7353300"/>
            <a:ext cx="2270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371600" y="7648575"/>
            <a:ext cx="22708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the English translation next to each scrambled set.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902720" y="7134225"/>
            <a:ext cx="2531269" cy="1571625"/>
          </a:xfrm>
          <a:prstGeom prst="roundRect">
            <a:avLst>
              <a:gd name="adj" fmla="val 727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55120" y="7353300"/>
            <a:ext cx="2270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055120" y="7648575"/>
            <a:ext cx="227099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correctly reordering, write one additional original sentence using 有时候……有时候…… or 不算太……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670107" y="3190875"/>
            <a:ext cx="7665393" cy="3019425"/>
          </a:xfrm>
          <a:prstGeom prst="roundRect">
            <a:avLst>
              <a:gd name="adj" fmla="val 6309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860607" y="3457575"/>
            <a:ext cx="74300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ITEM (ILLUSTRATIVE)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60607" y="3733800"/>
            <a:ext cx="466725" cy="7429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003482" y="39814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0403532" y="3733800"/>
            <a:ext cx="466725" cy="7429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546407" y="39814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0946457" y="3733800"/>
            <a:ext cx="647700" cy="7429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089332" y="39814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1670357" y="3733800"/>
            <a:ext cx="647700" cy="7429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813232" y="39814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9787763" y="4648200"/>
            <a:ext cx="74300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reorder ↓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860607" y="5057775"/>
            <a:ext cx="7284393" cy="1000125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9884420" y="5057775"/>
            <a:ext cx="0" cy="1000125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98732" y="5400675"/>
            <a:ext cx="69928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我通常买盒饭。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670107" y="6496050"/>
            <a:ext cx="7665393" cy="1409700"/>
          </a:xfrm>
          <a:prstGeom prst="roundRect">
            <a:avLst>
              <a:gd name="adj" fmla="val 8108"/>
            </a:avLst>
          </a:prstGeom>
          <a:solidFill>
            <a:srgbClr val="3F7A52">
              <a:alpha val="10000"/>
            </a:srgbClr>
          </a:solidFill>
          <a:ln w="19050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955857" y="6934200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0374957" y="6877050"/>
            <a:ext cx="66932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rearrange words, not translate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0374957" y="7372350"/>
            <a:ext cx="66932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target vocabulary and grammar words come from today's and prior lessons' patterns.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23109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有时候接龙 · 38–43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1088"/>
            <a:ext cx="840879" cy="600075"/>
          </a:xfrm>
          <a:prstGeom prst="roundRect">
            <a:avLst>
              <a:gd name="adj" fmla="val 1585714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81113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66800"/>
            <a:ext cx="926157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276350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4336" y="1081088"/>
            <a:ext cx="871538" cy="600075"/>
          </a:xfrm>
          <a:prstGeom prst="roundRect">
            <a:avLst>
              <a:gd name="adj" fmla="val 1585714"/>
            </a:avLst>
          </a:prstGeom>
          <a:solidFill>
            <a:srgbClr val="3F7A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5786" y="1281113"/>
            <a:ext cx="539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19075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有时候接龙 · Chain Response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52500" y="3419475"/>
            <a:ext cx="167106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repeats the growing chain, then adds one more lunch item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2500" y="4057650"/>
            <a:ext cx="8421886" cy="965746"/>
          </a:xfrm>
          <a:prstGeom prst="roundRect">
            <a:avLst>
              <a:gd name="adj" fmla="val 19726"/>
            </a:avLst>
          </a:prstGeom>
          <a:solidFill>
            <a:srgbClr val="F1E8D8"/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71575" y="436899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09390" y="4440436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85925" y="4400550"/>
            <a:ext cx="2544095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学生1：我有时候带三明治。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868281" y="5290096"/>
            <a:ext cx="85903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52500" y="5794921"/>
            <a:ext cx="8421886" cy="965746"/>
          </a:xfrm>
          <a:prstGeom prst="roundRect">
            <a:avLst>
              <a:gd name="adj" fmla="val 19726"/>
            </a:avLst>
          </a:prstGeom>
          <a:solidFill>
            <a:srgbClr val="F1E8D8"/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71575" y="610626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09390" y="6177707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685925" y="6137821"/>
            <a:ext cx="397227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学生2：我有时候带三明治，有时候买盒饭。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868281" y="7027366"/>
            <a:ext cx="85903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2500" y="7532191"/>
            <a:ext cx="8421886" cy="965746"/>
          </a:xfrm>
          <a:prstGeom prst="roundRect">
            <a:avLst>
              <a:gd name="adj" fmla="val 19726"/>
            </a:avLst>
          </a:prstGeom>
          <a:solidFill>
            <a:srgbClr val="F1E8D8"/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71575" y="784354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09390" y="7914977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685925" y="7875091"/>
            <a:ext cx="49924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学生3：我有时候带三明治，有时候买盒饭，有时候……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9679186" y="4057650"/>
            <a:ext cx="7656314" cy="3203972"/>
          </a:xfrm>
          <a:prstGeom prst="roundRect">
            <a:avLst>
              <a:gd name="adj" fmla="val 594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917311" y="4400550"/>
            <a:ext cx="73236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917311" y="4905375"/>
            <a:ext cx="2040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231636" y="4895850"/>
            <a:ext cx="7003054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sit in a circle or row. First student starts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"我有时候……"</a:t>
            </a: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completes it with a lunch-related activity.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9917311" y="5777805"/>
            <a:ext cx="2040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231636" y="5768280"/>
            <a:ext cx="5008947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student repeats the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pattern</a:t>
            </a: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adds their own item.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9917311" y="6455866"/>
            <a:ext cx="2040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231636" y="6446341"/>
            <a:ext cx="7003054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Continue around the group — if a student makes an error or forgets, they are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gently corrected</a:t>
            </a: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the chain continues.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9679186" y="7414022"/>
            <a:ext cx="7656314" cy="1009650"/>
          </a:xfrm>
          <a:prstGeom prst="roundRect">
            <a:avLst>
              <a:gd name="adj" fmla="val 11321"/>
            </a:avLst>
          </a:prstGeom>
          <a:solidFill>
            <a:srgbClr val="3F7A52">
              <a:alpha val="10000"/>
            </a:srgbClr>
          </a:solidFill>
          <a:ln w="19050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888736" y="7775972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241161" y="7804547"/>
            <a:ext cx="4809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Practises: 有时候……有时候…… pattern, memory, listening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952500" y="8878937"/>
            <a:ext cx="53847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04900" y="9098012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104900" y="9393287"/>
            <a:ext cx="51815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Allow students to use the vocabulary list on the projector for ideas.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6451550" y="8878937"/>
            <a:ext cx="53847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03950" y="9098012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6603950" y="9393287"/>
            <a:ext cx="51815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must add a price or opinion, e.g. 有时候买盒饭，十九块，不算太贵。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11950601" y="8878937"/>
            <a:ext cx="53847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2103001" y="9098012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12103001" y="9393287"/>
            <a:ext cx="51815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None needed.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47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2543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104727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019127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362152"/>
            <a:ext cx="7858125" cy="4239071"/>
          </a:xfrm>
          <a:prstGeom prst="roundRect">
            <a:avLst>
              <a:gd name="adj" fmla="val 629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9225" y="4752677"/>
            <a:ext cx="7451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9225" y="5095577"/>
            <a:ext cx="74517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of hands: </a:t>
            </a: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got it · </a:t>
            </a: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nearly there · </a:t>
            </a: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need more practice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9225" y="5638502"/>
            <a:ext cx="641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81225" y="5665143"/>
            <a:ext cx="53139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有时候……有时候…… to describe alternating between two options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9225" y="6400502"/>
            <a:ext cx="641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81225" y="6427143"/>
            <a:ext cx="47830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 a price question with 多少钱一 + measure word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9225" y="7162502"/>
            <a:ext cx="641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81225" y="7189143"/>
            <a:ext cx="347147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不算太 + adjective to soften a description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86875" y="4362152"/>
            <a:ext cx="7858125" cy="4239071"/>
          </a:xfrm>
          <a:prstGeom prst="roundRect">
            <a:avLst>
              <a:gd name="adj" fmla="val 629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563100" y="4752677"/>
            <a:ext cx="7451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63100" y="5095577"/>
            <a:ext cx="7305675" cy="1449586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586913" y="5095577"/>
            <a:ext cx="0" cy="1449586"/>
          </a:xfrm>
          <a:prstGeom prst="line">
            <a:avLst/>
          </a:prstGeom>
          <a:noFill/>
          <a:ln w="47625">
            <a:solidFill>
              <a:srgbClr val="3F7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1225" y="5362277"/>
            <a:ext cx="7014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 (2 MIN)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01225" y="5705177"/>
            <a:ext cx="7014591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sentence about your own lunch habits using 有时候……有时候……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563100" y="6678513"/>
            <a:ext cx="74517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77400" y="7163246"/>
            <a:ext cx="1239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有时候……有时候……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11197382" y="7163246"/>
            <a:ext cx="1154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word order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9563100" y="7644259"/>
            <a:ext cx="7305675" cy="718840"/>
          </a:xfrm>
          <a:prstGeom prst="roundRect">
            <a:avLst>
              <a:gd name="adj" fmla="val 15901"/>
            </a:avLst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734550" y="7896671"/>
            <a:ext cx="7102031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下一课预告：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下一课，我们要学怎么说零食的价钱，还要玩一个量词配对游戏。</a:t>
            </a:r>
            <a:endParaRPr lang="en-US" sz="1088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2026-08-01T06:57:16Z</dcterms:created>
  <dcterms:modified xsi:type="dcterms:W3CDTF">2026-08-01T06:57:16Z</dcterms:modified>
</cp:coreProperties>
</file>