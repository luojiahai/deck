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24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· 第十五课 人体部位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53500" y="3098899"/>
            <a:ext cx="2849981" cy="2793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0"/>
              </a:lnSpc>
              <a:buNone/>
            </a:pPr>
            <a:r>
              <a:rPr lang="en-US" sz="22000" dirty="0">
                <a:solidFill>
                  <a:srgbClr val="F2F1E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脖</a:t>
            </a:r>
            <a:endParaRPr lang="en-US" sz="22000" dirty="0"/>
          </a:p>
        </p:txBody>
      </p:sp>
      <p:sp>
        <p:nvSpPr>
          <p:cNvPr id="8" name="Text 6"/>
          <p:cNvSpPr/>
          <p:nvPr/>
        </p:nvSpPr>
        <p:spPr>
          <a:xfrm>
            <a:off x="499872" y="193565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Y7 UNIT 5 · 轻松学中文 1</a:t>
            </a:r>
            <a:endParaRPr lang="en-US" sz="1300" dirty="0"/>
          </a:p>
        </p:txBody>
      </p:sp>
      <p:pic>
        <p:nvPicPr>
          <p:cNvPr id="9" name="Image 0" descr="/var/folders/6c/210dcgxn4gz5sm71vld2cy1h0000gn/T/tmp.0KKCc5Rr2l/l2-body-parts/slides/01-title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180" y="2253109"/>
            <a:ext cx="731639" cy="6984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9872" y="3504605"/>
            <a:ext cx="11192256" cy="874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890"/>
              </a:lnSpc>
              <a:spcBef>
                <a:spcPts val="4355"/>
              </a:spcBef>
              <a:spcAft>
                <a:spcPts val="600"/>
              </a:spcAft>
              <a:buNone/>
            </a:pP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脖子</a:t>
            </a:r>
            <a:r>
              <a:rPr lang="en-US" sz="65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·</a:t>
            </a:r>
            <a:r>
              <a:rPr lang="en-US" sz="65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以下</a:t>
            </a:r>
            <a:endParaRPr lang="en-US" sz="6500" dirty="0"/>
          </a:p>
        </p:txBody>
      </p:sp>
      <p:sp>
        <p:nvSpPr>
          <p:cNvPr id="11" name="Text 8"/>
          <p:cNvSpPr/>
          <p:nvPr/>
        </p:nvSpPr>
        <p:spPr>
          <a:xfrm>
            <a:off x="499872" y="4455765"/>
            <a:ext cx="111922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Below the neck — hand, head, foot, leg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943213" y="4900166"/>
            <a:ext cx="116768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7 Chinese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55783" y="4900166"/>
            <a:ext cx="5574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50 分钟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365089" y="4900166"/>
            <a:ext cx="454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Mixed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166485" y="4900166"/>
            <a:ext cx="10814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p.116, 121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73710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 · 0–3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2395686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只有汉字 — 全班一起说拼音，再说英文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7607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2-body-parts/slides/02-review-flash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75" y="2884587"/>
            <a:ext cx="691753" cy="66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550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27350" y="27607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tmp.0KKCc5Rr2l/l2-body-parts/slides/02-review-flash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24" y="2884587"/>
            <a:ext cx="691753" cy="660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172200" y="27607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tmp.0KKCc5Rr2l/l2-body-parts/slides/02-review-flash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74" y="2884587"/>
            <a:ext cx="691753" cy="660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88250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9017050" y="27607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tmp.0KKCc5Rr2l/l2-body-parts/slides/02-review-flash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323" y="2884587"/>
            <a:ext cx="691753" cy="660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33099" y="3684538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370231" y="4275088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然后反过来：老师说英文，你写汉字。注意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睛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不是 </a:t>
            </a:r>
            <a:r>
              <a:rPr lang="en-US" sz="1100" b="1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晴</a:t>
            </a: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。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0276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复习衣服 · 3–8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66863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p.163 第8题 · 第四到第六个人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643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85963"/>
            <a:ext cx="307070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把上节课没涂完的三个人涂完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45447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463998"/>
            <a:ext cx="441311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每个人写一句 — 他穿什么颜色的什么衣服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93250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942034"/>
            <a:ext cx="259828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写完了就两个人一组问答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448645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61057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他穿灰色的校服。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103191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A: 你的眼睛大吗？ B: 大。／不大。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19638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856113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9381" y="4856113"/>
            <a:ext cx="349287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回答「……吗？」要重复动词。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穿。／不穿。 — never 是。 This is Test Part 9.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1105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8–10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22388"/>
            <a:ext cx="2421434" cy="257175"/>
          </a:xfrm>
          <a:prstGeom prst="roundRect">
            <a:avLst>
              <a:gd name="adj" fmla="val 2466667"/>
            </a:avLst>
          </a:prstGeom>
          <a:solidFill>
            <a:srgbClr val="2C4C7C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760488"/>
            <a:ext cx="22108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今天我们学 · Learning Intention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2093863"/>
            <a:ext cx="1119225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我们学说脖子以下的部位，还会说它们长不长、大不大。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09600" y="2710904"/>
            <a:ext cx="1885652" cy="257175"/>
          </a:xfrm>
          <a:prstGeom prst="roundRect">
            <a:avLst>
              <a:gd name="adj" fmla="val 2466667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36550" y="2749004"/>
            <a:ext cx="16643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 · Success Criteria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9600" y="3107680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326960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3269605"/>
            <a:ext cx="628850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手、脚、腿、头，还会指出来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them and point to each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880991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404291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4042916"/>
            <a:ext cx="7160931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我会给一个人的图贴上八个部位的名字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label all eight body parts on a drawing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65430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96826" y="481622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54026" y="4816227"/>
            <a:ext cx="626224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长腿、大手、小脚</a:t>
            </a:r>
            <a:r>
              <a:rPr lang="en-US" sz="13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phrases like 长腿, 大手, 小脚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2-body-parts/slides/05-vocab-a1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5735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914650" y="4317504"/>
            <a:ext cx="7122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shǒu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013918" y="4831854"/>
            <a:ext cx="509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hand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一个字，四画 — 写的时候中间的竖最后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2-body-parts/slides/05-vocab-a1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2160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690223" y="4317504"/>
            <a:ext cx="48516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tóu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678614" y="4831854"/>
            <a:ext cx="5086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head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繁体是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頭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，右边是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页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74006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只有两个新词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70782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shǒu hěn xiǎo.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2275582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很小。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09600" y="2742902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hands are small.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9600" y="3206353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 hěn dà.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09600" y="3511153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很大。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09600" y="3978473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head is big.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9600" y="444192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xiǎo shǒu hé xiǎo tóu.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474672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她有小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和小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5214045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 has small hands and a small head.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第一组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 ______ 很 ______ 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518838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比较两个人，屏幕上不给框架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我的手很小，我爸爸的手很大。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people, one sentence, no frame.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生词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270397"/>
            <a:ext cx="5308550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8" name="Image 0" descr="/var/folders/6c/210dcgxn4gz5sm71vld2cy1h0000gn/T/tmp.0KKCc5Rr2l/l2-body-parts/slides/08-vocab-a2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47" y="1533823"/>
            <a:ext cx="1662857" cy="15874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85735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2999631" y="4317504"/>
            <a:ext cx="53905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jiǎo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3052911" y="4831854"/>
            <a:ext cx="4302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foot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1310580" y="5255716"/>
            <a:ext cx="3906441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271516" y="5298579"/>
            <a:ext cx="39845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左边是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flesh，不是月亮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73701" y="1270397"/>
            <a:ext cx="5308699" cy="4494907"/>
          </a:xfrm>
          <a:prstGeom prst="roundRect">
            <a:avLst>
              <a:gd name="adj" fmla="val 3956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0KKCc5Rr2l/l2-body-parts/slides/08-vocab-a2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696" y="1533823"/>
            <a:ext cx="1662857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521601" y="3349823"/>
            <a:ext cx="829157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64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endParaRPr lang="en-US" sz="6400" dirty="0"/>
          </a:p>
        </p:txBody>
      </p:sp>
      <p:sp>
        <p:nvSpPr>
          <p:cNvPr id="17" name="Text 13"/>
          <p:cNvSpPr/>
          <p:nvPr/>
        </p:nvSpPr>
        <p:spPr>
          <a:xfrm>
            <a:off x="8738741" y="4317504"/>
            <a:ext cx="38603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tuǐ</a:t>
            </a:r>
            <a:endParaRPr lang="en-US" sz="2300" dirty="0"/>
          </a:p>
        </p:txBody>
      </p:sp>
      <p:sp>
        <p:nvSpPr>
          <p:cNvPr id="18" name="Text 14"/>
          <p:cNvSpPr/>
          <p:nvPr/>
        </p:nvSpPr>
        <p:spPr>
          <a:xfrm>
            <a:off x="8774609" y="4831854"/>
            <a:ext cx="3128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6974681" y="5255716"/>
            <a:ext cx="3906589" cy="0"/>
          </a:xfrm>
          <a:prstGeom prst="line">
            <a:avLst/>
          </a:prstGeom>
          <a:noFill/>
          <a:ln w="9525">
            <a:solidFill>
              <a:srgbClr val="CFC4A9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935615" y="5298579"/>
            <a:ext cx="398472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也有 </a:t>
            </a:r>
            <a:r>
              <a:rPr lang="en-US" sz="13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r>
              <a:rPr lang="en-US" sz="13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身体的部位常常有这个部首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3575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例句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72394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jiǎo bù dà.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2077194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不大。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09600" y="2544514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feet aren't big.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9600" y="3007965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cháng tuǐ.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9600" y="3312765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她有长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09600" y="3780086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She has long legs.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4243536"/>
            <a:ext cx="1119225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tuǐ hěn cháng, tā de jiǎo hěn dà.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09600" y="4548336"/>
            <a:ext cx="11192256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很长，他的</a:t>
            </a: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很大。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9600" y="5015657"/>
            <a:ext cx="1119225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His legs are long and his feet are big.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写一句 · 第二组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2366963"/>
            <a:ext cx="10972800" cy="802481"/>
          </a:xfrm>
          <a:prstGeom prst="rect">
            <a:avLst/>
          </a:prstGeom>
          <a:solidFill>
            <a:srgbClr val="E7E2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28650" y="2366963"/>
            <a:ext cx="0" cy="802481"/>
          </a:xfrm>
          <a:prstGeom prst="line">
            <a:avLst/>
          </a:prstGeom>
          <a:noFill/>
          <a:ln w="38100">
            <a:solidFill>
              <a:srgbClr val="2C4C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850" y="2519363"/>
            <a:ext cx="107389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 ______ 腿和 ______ 脚。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736550" y="3459212"/>
            <a:ext cx="3766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秒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59694" y="3372594"/>
            <a:ext cx="18896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写一句，六十秒。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89185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407908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62063" y="4040981"/>
            <a:ext cx="6422097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腿用 长/短，手脚用 大/小，一句话里都用上 —</a:t>
            </a:r>
            <a:r>
              <a:rPr lang="en-US" sz="14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他有长腿和大脚，他的手不大。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adjective pairs and a negative in one sentence.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6481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词汇总览 · 八个词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0231" y="1744861"/>
            <a:ext cx="114515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现在你会说八个部位了 — 只有汉字和图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2501" y="2109936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9" name="Image 0" descr="/var/folders/6c/210dcgxn4gz5sm71vld2cy1h0000gn/T/tmp.0KKCc5Rr2l/l2-body-parts/slides/11-board-art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2775" y="2233761"/>
            <a:ext cx="691753" cy="6603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98550" y="303371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眼睛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27350" y="2109936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2" name="Image 1" descr="/var/folders/6c/210dcgxn4gz5sm71vld2cy1h0000gn/T/tmp.0KKCc5Rr2l/l2-body-parts/slides/11-board-art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624" y="2233761"/>
            <a:ext cx="691753" cy="6603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43400" y="303371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耳朵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6172200" y="2109936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2" descr="/var/folders/6c/210dcgxn4gz5sm71vld2cy1h0000gn/T/tmp.0KKCc5Rr2l/l2-body-parts/slides/11-board-art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74" y="2233761"/>
            <a:ext cx="691753" cy="6603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188250" y="303371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鼻子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9017050" y="2109936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3" descr="/var/folders/6c/210dcgxn4gz5sm71vld2cy1h0000gn/T/tmp.0KKCc5Rr2l/l2-body-parts/slides/11-board-art3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7323" y="2233761"/>
            <a:ext cx="691753" cy="6603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033099" y="3033713"/>
            <a:ext cx="67355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嘴巴</a:t>
            </a:r>
            <a:endParaRPr lang="en-US" sz="2600" dirty="0"/>
          </a:p>
        </p:txBody>
      </p:sp>
      <p:sp>
        <p:nvSpPr>
          <p:cNvPr id="20" name="Text 14"/>
          <p:cNvSpPr/>
          <p:nvPr/>
        </p:nvSpPr>
        <p:spPr>
          <a:xfrm>
            <a:off x="482501" y="37766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Image 4" descr="/var/folders/6c/210dcgxn4gz5sm71vld2cy1h0000gn/T/tmp.0KKCc5Rr2l/l2-body-parts/slides/11-board-art4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2775" y="3900488"/>
            <a:ext cx="691753" cy="6603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63601" y="4700439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手</a:t>
            </a:r>
            <a:endParaRPr lang="en-US" sz="2600" dirty="0"/>
          </a:p>
        </p:txBody>
      </p:sp>
      <p:sp>
        <p:nvSpPr>
          <p:cNvPr id="23" name="Text 16"/>
          <p:cNvSpPr/>
          <p:nvPr/>
        </p:nvSpPr>
        <p:spPr>
          <a:xfrm>
            <a:off x="3327350" y="37766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4" name="Image 5" descr="/var/folders/6c/210dcgxn4gz5sm71vld2cy1h0000gn/T/tmp.0KKCc5Rr2l/l2-body-parts/slides/11-board-art5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7624" y="3900488"/>
            <a:ext cx="691753" cy="66035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4508450" y="4700439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头</a:t>
            </a:r>
            <a:endParaRPr lang="en-US" sz="2600" dirty="0"/>
          </a:p>
        </p:txBody>
      </p:sp>
      <p:sp>
        <p:nvSpPr>
          <p:cNvPr id="26" name="Text 18"/>
          <p:cNvSpPr/>
          <p:nvPr/>
        </p:nvSpPr>
        <p:spPr>
          <a:xfrm>
            <a:off x="6172200" y="37766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7" name="Image 6" descr="/var/folders/6c/210dcgxn4gz5sm71vld2cy1h0000gn/T/tmp.0KKCc5Rr2l/l2-body-parts/slides/11-board-art6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2474" y="3900488"/>
            <a:ext cx="691753" cy="66035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353300" y="4700439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脚</a:t>
            </a:r>
            <a:endParaRPr lang="en-US" sz="2600" dirty="0"/>
          </a:p>
        </p:txBody>
      </p:sp>
      <p:sp>
        <p:nvSpPr>
          <p:cNvPr id="29" name="Text 20"/>
          <p:cNvSpPr/>
          <p:nvPr/>
        </p:nvSpPr>
        <p:spPr>
          <a:xfrm>
            <a:off x="9017050" y="3776662"/>
            <a:ext cx="2692450" cy="1514326"/>
          </a:xfrm>
          <a:prstGeom prst="roundRect">
            <a:avLst>
              <a:gd name="adj" fmla="val 8387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0" name="Image 7" descr="/var/folders/6c/210dcgxn4gz5sm71vld2cy1h0000gn/T/tmp.0KKCc5Rr2l/l2-body-parts/slides/11-board-art7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17323" y="3900488"/>
            <a:ext cx="691753" cy="66035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0198150" y="4700439"/>
            <a:ext cx="33685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腿</a:t>
            </a:r>
            <a:endParaRPr lang="en-US" sz="2600" dirty="0"/>
          </a:p>
        </p:txBody>
      </p:sp>
      <p:sp>
        <p:nvSpPr>
          <p:cNvPr id="32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028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句型 · 两个框架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82501" y="1237804"/>
            <a:ext cx="11451538" cy="612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2200" b="1" dirty="0">
                <a:solidFill>
                  <a:srgbClr val="B03C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部位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6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+</a:t>
            </a:r>
            <a:r>
              <a:rPr lang="en-US" sz="22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很长／很大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2501" y="1989981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dà shǒu.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2501" y="2269331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我有大手。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82501" y="2773710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de tuǐ hěn cháng.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2501" y="3053060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我的腿很长。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2501" y="3557439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yǒu xiǎo jiǎo hé cháng tuǐ.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2501" y="3836789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她有小脚和长腿。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82501" y="4341168"/>
            <a:ext cx="114515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Tā de tóu bù dà, tā yǒu dà shǒu hé dà jiǎo.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2501" y="4620518"/>
            <a:ext cx="11451538" cy="402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72"/>
              </a:lnSpc>
              <a:buNone/>
            </a:pP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他的头不大，</a:t>
            </a:r>
            <a:r>
              <a:rPr lang="en-US" sz="26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他有大手和大脚</a:t>
            </a:r>
            <a:r>
              <a:rPr lang="en-US" sz="2600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01" y="5099596"/>
            <a:ext cx="11226998" cy="698302"/>
          </a:xfrm>
          <a:prstGeom prst="roundRect">
            <a:avLst>
              <a:gd name="adj" fmla="val 10912"/>
            </a:avLst>
          </a:prstGeom>
          <a:solidFill>
            <a:srgbClr val="2C4C7C">
              <a:alpha val="10000"/>
            </a:srgbClr>
          </a:solidFill>
          <a:ln w="9525">
            <a:solidFill>
              <a:srgbClr val="2C4C7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69727" y="5210621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25277" y="5210621"/>
            <a:ext cx="465175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腿和头发用 长 / 短，手脚眼睛用 大 / 小。</a:t>
            </a:r>
            <a:r>
              <a:rPr lang="en-US" sz="12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长脚 sounds as odd in Chinese as "long feet" does in English.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5115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Do · 检查一下 · CFU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963341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41202" y="1963341"/>
            <a:ext cx="3567107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手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还是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脚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哪个在下面？指一指。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515046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041202" y="2515046"/>
            <a:ext cx="5085609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哪个字有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月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（flesh）？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腿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还是 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眼</a:t>
            </a: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？写在小白板上。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3066752"/>
            <a:ext cx="29784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1202" y="3066752"/>
            <a:ext cx="283267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45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这句话对不对？</a:t>
            </a:r>
            <a:r>
              <a:rPr lang="en-US" sz="21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她有腿长。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" y="3682008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2750" y="3808958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她有腿长。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87352" y="386134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768352" y="3808958"/>
            <a:ext cx="142483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她有长腿。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09600" y="4427934"/>
            <a:ext cx="10972800" cy="644426"/>
          </a:xfrm>
          <a:prstGeom prst="roundRect">
            <a:avLst>
              <a:gd name="adj" fmla="val 11824"/>
            </a:avLst>
          </a:prstGeom>
          <a:solidFill>
            <a:srgbClr val="F2EF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12750" y="4554885"/>
            <a:ext cx="17097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03C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我的脚很长。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666702" y="4607272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047702" y="4554885"/>
            <a:ext cx="1709776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我的脚很大。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9195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We Do · 活动一 · 课本 p.116 第3题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748582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两个人一组，一张人形图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215815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2167682"/>
            <a:ext cx="464932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不看屏幕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，凭记忆写上八个部位 — 三分钟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636193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645718"/>
            <a:ext cx="3779329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然后总览板回来，用另一支笔自己改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3114229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3123754"/>
            <a:ext cx="582034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 p.116 生词表还有五个词 — 老师念，能写的就加上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630364"/>
            <a:ext cx="10972800" cy="753070"/>
          </a:xfrm>
          <a:prstGeom prst="roundRect">
            <a:avLst>
              <a:gd name="adj" fmla="val 16864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79228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　牙齿　舌头　皮肤　手指头　← 下节课才正式学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09600" y="4510385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69761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2063" y="4659511"/>
            <a:ext cx="5357339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写四句话描写你们的图，每句用不同的部位，至少一句是否定的。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Then one pair reads theirs aloud while the class draws what they hear.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3045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 Do · 活动二 · 练习册 · 9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115020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pp.159–160 第2题 → p.161 第5题 → p.162 第7题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524595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534120"/>
            <a:ext cx="5989150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第2题：十个字按笔顺抄 — 眼 睛 耳 朵 鼻 嘴 巴 手 脚 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002631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012156"/>
            <a:ext cx="431823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第5题：把六个词组画出来 — 每个三十秒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48066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490192"/>
            <a:ext cx="5327434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第7题：回答四个关于你自己的问题，写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完整的句子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2996803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158728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大鼻子　小嘴巴　大眼睛　长腿　大耳朵　小手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365134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你的眼睛大吗？ → 我的眼睛很大。（不是「大。」）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267795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404271"/>
            <a:ext cx="51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9381" y="4404271"/>
            <a:ext cx="337355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朵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鼻</a:t>
            </a: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是最容易写错顺序的两个字。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鼻 is three stacked parts: 自 → 田 → 廾.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514394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331172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262063" y="5293072"/>
            <a:ext cx="443376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写六句话描写班上一个人，不说名字，让同伴猜是谁。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Every sentence must use a different body part.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292132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老师说 · 课本 p.121 第10题 · 7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502271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F704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全班站起来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1911846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1350" y="1921371"/>
            <a:ext cx="4724162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老师说一个部位，你就指自己身上的那个地方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2389882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41350" y="2399407"/>
            <a:ext cx="5357946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指错了，或者老师没说「老师说」你却动了 — 出局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286791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41350" y="2877443"/>
            <a:ext cx="3306913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最后三轮说</a:t>
            </a:r>
            <a:r>
              <a:rPr lang="en-US" sz="1800" b="1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词组</a:t>
            </a:r>
            <a:r>
              <a:rPr lang="en-US" sz="18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，不只是一个词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9600" y="3384054"/>
            <a:ext cx="10972800" cy="1245691"/>
          </a:xfrm>
          <a:prstGeom prst="roundRect">
            <a:avLst>
              <a:gd name="adj" fmla="val 10195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22275" y="3545979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老师说：指你的腿。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275" y="4038600"/>
            <a:ext cx="10758398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老师说：指你的大眼睛。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9600" y="4756696"/>
            <a:ext cx="10972800" cy="776883"/>
          </a:xfrm>
          <a:prstGeom prst="roundRect">
            <a:avLst>
              <a:gd name="adj" fmla="val 9808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4943921"/>
            <a:ext cx="31909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更难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62063" y="4905821"/>
            <a:ext cx="424901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最后站着的人当老师，只说中文，不说一个英文词。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winner calls, in Chinese only.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471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 · 43–50 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1446312"/>
            <a:ext cx="10972800" cy="285750"/>
          </a:xfrm>
          <a:prstGeom prst="roundRect">
            <a:avLst>
              <a:gd name="adj" fmla="val 2220000"/>
            </a:avLst>
          </a:prstGeom>
          <a:solidFill>
            <a:srgbClr val="2E7D6E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6550" y="1484412"/>
            <a:ext cx="1093327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我做到了吗？ 👍 / 😐 / 👎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09600" y="1859012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2020937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54026" y="2020937"/>
            <a:ext cx="3437617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手、脚、腿、头，还会指出来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09600" y="2606873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96826" y="2768798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54026" y="2768798"/>
            <a:ext cx="2944859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我会给一个人的图贴上八个部位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54735"/>
            <a:ext cx="10972800" cy="659011"/>
          </a:xfrm>
          <a:prstGeom prst="roundRect">
            <a:avLst>
              <a:gd name="adj" fmla="val 11563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96826" y="3516660"/>
            <a:ext cx="310896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54026" y="3516660"/>
            <a:ext cx="2385914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21F1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我会说 长腿、大手、小脚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9600" y="4191446"/>
            <a:ext cx="10972800" cy="749201"/>
          </a:xfrm>
          <a:prstGeom prst="roundRect">
            <a:avLst>
              <a:gd name="adj" fmla="val 10171"/>
            </a:avLst>
          </a:prstGeom>
          <a:solidFill>
            <a:srgbClr val="2E7D6E">
              <a:alpha val="10000"/>
            </a:srgbClr>
          </a:solidFill>
          <a:ln w="9525">
            <a:solidFill>
              <a:srgbClr val="2E7D6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22275" y="4327922"/>
            <a:ext cx="212527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6E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57585" y="4327922"/>
            <a:ext cx="5324549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7D6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 · 写两个词组：一个用 长，一个用 大，部位不一样。</a:t>
            </a:r>
            <a:r>
              <a:rPr lang="en-US" sz="12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phrases: one with 长, one with 大, different body parts.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5042148"/>
            <a:ext cx="10972800" cy="547241"/>
          </a:xfrm>
          <a:prstGeom prst="roundRect">
            <a:avLst>
              <a:gd name="adj" fmla="val 13924"/>
            </a:avLst>
          </a:prstGeom>
          <a:solidFill>
            <a:srgbClr val="B0822C">
              <a:alpha val="12000"/>
            </a:srgbClr>
          </a:solidFill>
          <a:ln w="9525">
            <a:solidFill>
              <a:srgbClr val="B082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5178623"/>
            <a:ext cx="23317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B082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77826" y="5178623"/>
            <a:ext cx="631462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082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再五个词 — 脸、牙齿、舌头、皮肤、手指头，还有听写声调。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9F4">
              <a:alpha val="9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0"/>
            <a:ext cx="11176099" cy="25301"/>
          </a:xfrm>
          <a:prstGeom prst="rect">
            <a:avLst/>
          </a:prstGeom>
          <a:solidFill>
            <a:srgbClr val="2C4C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76213"/>
            <a:ext cx="13266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C4C7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Y7 · L15 人体部位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97311" y="166688"/>
            <a:ext cx="11567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6514A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Preview · 下节课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797272"/>
            <a:ext cx="11192256" cy="2794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0"/>
              </a:lnSpc>
              <a:buNone/>
            </a:pPr>
            <a:r>
              <a:rPr lang="en-US" sz="11000" b="1" dirty="0">
                <a:solidFill>
                  <a:srgbClr val="2C4C7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脸 · 牙齿 · 舌头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2833241" y="3769072"/>
            <a:ext cx="6656028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Lesson 3 — five more, and tone marks by ear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26222" y="4373314"/>
            <a:ext cx="4539407" cy="1865412"/>
          </a:xfrm>
          <a:prstGeom prst="roundRect">
            <a:avLst>
              <a:gd name="adj" fmla="val 6808"/>
            </a:avLst>
          </a:prstGeom>
          <a:solidFill>
            <a:srgbClr val="F2EFE7"/>
          </a:solidFill>
          <a:ln w="9525">
            <a:solidFill>
              <a:srgbClr val="E2DBC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115098" y="4573339"/>
            <a:ext cx="404088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我的牙齿很白。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115098" y="5091410"/>
            <a:ext cx="404088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他的皮肤很白。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115098" y="5609481"/>
            <a:ext cx="4040889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80"/>
              </a:lnSpc>
              <a:buNone/>
            </a:pPr>
            <a:r>
              <a:rPr lang="en-US" sz="2600" b="1" dirty="0">
                <a:solidFill>
                  <a:srgbClr val="221F1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老师念，你写拼音和声调。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0" y="6205686"/>
            <a:ext cx="12192000" cy="0"/>
          </a:xfrm>
          <a:prstGeom prst="line">
            <a:avLst/>
          </a:prstGeom>
          <a:noFill/>
          <a:ln w="9525">
            <a:solidFill>
              <a:srgbClr val="E2DB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950" y="6307187"/>
            <a:ext cx="168806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8 · 手 头 脚 腿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039374" y="6307187"/>
            <a:ext cx="269756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C8577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Book 1 · Unit 5 · 课本 p.116, 121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2026-10-15T09:21:35Z</dcterms:created>
  <dcterms:modified xsi:type="dcterms:W3CDTF">2026-10-15T09:21:35Z</dcterms:modified>
</cp:coreProperties>
</file>