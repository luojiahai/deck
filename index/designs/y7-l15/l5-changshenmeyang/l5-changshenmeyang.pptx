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224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· 第十五课 人体部位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53500" y="3098899"/>
            <a:ext cx="2849981" cy="279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0"/>
              </a:lnSpc>
              <a:buNone/>
            </a:pPr>
            <a:r>
              <a:rPr lang="en-US" sz="22000" dirty="0">
                <a:solidFill>
                  <a:srgbClr val="F2F1E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endParaRPr lang="en-US" sz="22000" dirty="0"/>
          </a:p>
        </p:txBody>
      </p:sp>
      <p:sp>
        <p:nvSpPr>
          <p:cNvPr id="8" name="Text 6"/>
          <p:cNvSpPr/>
          <p:nvPr/>
        </p:nvSpPr>
        <p:spPr>
          <a:xfrm>
            <a:off x="499872" y="193565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Y7 UNIT 5 · 轻松学中文 1</a:t>
            </a:r>
            <a:endParaRPr lang="en-US" sz="1300" dirty="0"/>
          </a:p>
        </p:txBody>
      </p:sp>
      <p:pic>
        <p:nvPicPr>
          <p:cNvPr id="9" name="Image 0" descr="/var/folders/6c/210dcgxn4gz5sm71vld2cy1h0000gn/T/tmp.0KKCc5Rr2l/l5-changshenmeyang/slides/01-title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180" y="2253109"/>
            <a:ext cx="731639" cy="698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9872" y="3504605"/>
            <a:ext cx="11192256" cy="87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90"/>
              </a:lnSpc>
              <a:spcBef>
                <a:spcPts val="4355"/>
              </a:spcBef>
              <a:spcAft>
                <a:spcPts val="600"/>
              </a:spcAft>
              <a:buNone/>
            </a:pP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你长</a:t>
            </a:r>
            <a:r>
              <a:rPr lang="en-US" sz="65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什么样？</a:t>
            </a:r>
            <a:endParaRPr lang="en-US" sz="6500" dirty="0"/>
          </a:p>
        </p:txBody>
      </p:sp>
      <p:sp>
        <p:nvSpPr>
          <p:cNvPr id="11" name="Text 8"/>
          <p:cNvSpPr/>
          <p:nvPr/>
        </p:nvSpPr>
        <p:spPr>
          <a:xfrm>
            <a:off x="499872" y="4455765"/>
            <a:ext cx="11192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do you look like? — 长得 · 高 · 矮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932646" y="4900166"/>
            <a:ext cx="1167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45216" y="4900166"/>
            <a:ext cx="5574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54522" y="4900166"/>
            <a:ext cx="454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55707" y="4900166"/>
            <a:ext cx="11030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p.118–119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7371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 · 0–8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231" y="1673870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上节课的六个部首 — 说意思，两个人上来各写一个字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2038945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89434" y="2162770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379018" y="2038945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85951" y="2162770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275534" y="2038945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82468" y="2162770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立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051" y="2038945"/>
            <a:ext cx="1744266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78985" y="2162770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革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068717" y="2038945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775650" y="2162770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止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965234" y="2038945"/>
            <a:ext cx="1744117" cy="714375"/>
          </a:xfrm>
          <a:prstGeom prst="roundRect">
            <a:avLst>
              <a:gd name="adj" fmla="val 1777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672167" y="2162770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虫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2501" y="2753320"/>
            <a:ext cx="11451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然后抢词卡 · 五分钟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501" y="316289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251" y="3172420"/>
            <a:ext cx="2362081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十三张部位卡摊在桌上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2501" y="3640931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251" y="3650456"/>
            <a:ext cx="3704490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词组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长腿、小嘴巴、大手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2501" y="411896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251" y="4128492"/>
            <a:ext cx="429652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两个人抢那个部位的卡 · 十轮，然后换人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2501" y="4635103"/>
            <a:ext cx="11226998" cy="726728"/>
          </a:xfrm>
          <a:prstGeom prst="roundRect">
            <a:avLst>
              <a:gd name="adj" fmla="val 1747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95176" y="4797028"/>
            <a:ext cx="11017681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长腿　小嘴巴　大手　大耳朵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110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8–10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22388"/>
            <a:ext cx="2421434" cy="257175"/>
          </a:xfrm>
          <a:prstGeom prst="roundRect">
            <a:avLst>
              <a:gd name="adj" fmla="val 2466667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760488"/>
            <a:ext cx="2210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2093863"/>
            <a:ext cx="1119225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我们学问别人长什么样，还会用高矮回答。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9600" y="2710904"/>
            <a:ext cx="1885652" cy="257175"/>
          </a:xfrm>
          <a:prstGeom prst="roundRect">
            <a:avLst>
              <a:gd name="adj" fmla="val 2466667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6550" y="2749004"/>
            <a:ext cx="16643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" y="3107680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326960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3269605"/>
            <a:ext cx="6230216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我会问 你长什么样？／他长什么样？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what someone looks like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880991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404291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4042916"/>
            <a:ext cx="585116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我会答 他长得很高。／她长得不高。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answer with their height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65430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481622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54026" y="4816227"/>
            <a:ext cx="7635169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我会读 长 的两个音 — cháng 和 zhǎng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read 长 correctly as both cháng and zhǎng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第一组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270397"/>
            <a:ext cx="5308550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tmp.0KKCc5Rr2l/l5-changshenmeyang/slides/04-vocab-a1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447" y="1533823"/>
            <a:ext cx="1662857" cy="15874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57351" y="3349823"/>
            <a:ext cx="82915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2996208" y="4317504"/>
            <a:ext cx="54604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gāo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108573" y="4831854"/>
            <a:ext cx="3168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tall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310580" y="5255716"/>
            <a:ext cx="390644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71516" y="5298579"/>
            <a:ext cx="3984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第十三课学过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高高的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？还没 — 下节课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73701" y="1270397"/>
            <a:ext cx="5308699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KKCc5Rr2l/l5-changshenmeyang/slides/04-vocab-a1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696" y="1533823"/>
            <a:ext cx="1662857" cy="15874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21601" y="3349823"/>
            <a:ext cx="82915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矮</a:t>
            </a:r>
            <a:endParaRPr lang="en-US" sz="6400" dirty="0"/>
          </a:p>
        </p:txBody>
      </p:sp>
      <p:sp>
        <p:nvSpPr>
          <p:cNvPr id="17" name="Text 13"/>
          <p:cNvSpPr/>
          <p:nvPr/>
        </p:nvSpPr>
        <p:spPr>
          <a:xfrm>
            <a:off x="8799909" y="4317504"/>
            <a:ext cx="26140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ǎi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8108752" y="4831854"/>
            <a:ext cx="16712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short (in height)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974681" y="5255716"/>
            <a:ext cx="3906589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35615" y="5298579"/>
            <a:ext cx="3984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左边是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矢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，右下是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女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攵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第一组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574006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不……也不…… 下节课还会再用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970782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bàba hěn gāo.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2275582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我爸爸很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09600" y="2742902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dad is tall.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206353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mèimei hěn ǎi.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" y="3511153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我妹妹很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矮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9600" y="3978473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little sister is short.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600" y="4441924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bù gāo yě bù ǎi.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600" y="4746724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也不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矮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5214045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I'm neither tall nor short.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第一组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366963"/>
            <a:ext cx="10972800" cy="80248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2366963"/>
            <a:ext cx="0" cy="802481"/>
          </a:xfrm>
          <a:prstGeom prst="line">
            <a:avLst/>
          </a:prstGeom>
          <a:noFill/>
          <a:ln w="3810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850" y="2519363"/>
            <a:ext cx="107389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______ ，我 ______ 很 ______ 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6550" y="3459212"/>
            <a:ext cx="3766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9694" y="3372594"/>
            <a:ext cx="188966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写一句，六十秒。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89185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407908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2063" y="4040981"/>
            <a:ext cx="696130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 也 把家里三个人的高矮写成两个小句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我爸爸很高，我妈妈不高也不矮，我很矮。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people, compared by height.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第二组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270397"/>
            <a:ext cx="5308550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51050" y="3349823"/>
            <a:ext cx="165816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长得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2601962" y="4317504"/>
            <a:ext cx="135015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zhǎng de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543770" y="4831854"/>
            <a:ext cx="146886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look (grow)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310580" y="5255716"/>
            <a:ext cx="390644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1516" y="5298579"/>
            <a:ext cx="3984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这里读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zhǎng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 cháng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73701" y="1270397"/>
            <a:ext cx="5308699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21601" y="3349823"/>
            <a:ext cx="82915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样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8583216" y="4317504"/>
            <a:ext cx="7034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yàng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327231" y="4831854"/>
            <a:ext cx="1225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appearance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74681" y="5255716"/>
            <a:ext cx="3906589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5615" y="5298579"/>
            <a:ext cx="3984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繁体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樣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什么样 = what kind of appearance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618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一个字，两个读音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107728"/>
            <a:ext cx="11451538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长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=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cháng (long)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zhǎng (grow)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1859905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chángkù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139255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长裤 — 第十四课学的「长」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643634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cháng tuǐ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501" y="2922984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长腿 — 还是 cháng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501" y="3427363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hěn gāo.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501" y="3706713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得很高。 — 这里是 zhǎng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2501" y="4211092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bù gāo, tā de tóufa hěn cháng.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501" y="4490442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</a:t>
            </a:r>
            <a:r>
              <a:rPr lang="en-US" sz="26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得不高，她的头发很</a:t>
            </a:r>
            <a:r>
              <a:rPr lang="en-US" sz="26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2501" y="4905970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zhǎng then cháng — same character, one sentence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2501" y="5229820"/>
            <a:ext cx="11226998" cy="698302"/>
          </a:xfrm>
          <a:prstGeom prst="roundRect">
            <a:avLst>
              <a:gd name="adj" fmla="val 10912"/>
            </a:avLst>
          </a:prstGeom>
          <a:solidFill>
            <a:srgbClr val="B03C2C">
              <a:alpha val="10000"/>
            </a:srgbClr>
          </a:solidFill>
          <a:ln w="9525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9727" y="5340846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6832" y="5340846"/>
            <a:ext cx="451254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一个字，两个读音，都在这个单元里。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the single most likely error in the next three lessons.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第二组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72394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zhǎng shénme yàng?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2077194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样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9600" y="2544514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do you look like?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007965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hěn gāo.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600" y="3312765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长得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很高。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9600" y="3780086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He's tall.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4243536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bù gāo yě bù ǎi.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4548336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长得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不高也不矮。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9600" y="5015657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She's neither tall nor short.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第二组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366963"/>
            <a:ext cx="10972800" cy="80248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2366963"/>
            <a:ext cx="0" cy="802481"/>
          </a:xfrm>
          <a:prstGeom prst="line">
            <a:avLst/>
          </a:prstGeom>
          <a:noFill/>
          <a:ln w="3810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850" y="2519363"/>
            <a:ext cx="107389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我长得 ______ 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6550" y="3459212"/>
            <a:ext cx="3766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9694" y="3372594"/>
            <a:ext cx="188966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写一句，六十秒。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89185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407908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2063" y="4040981"/>
            <a:ext cx="9406274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先写问题再写答案，然后换一个家人再写一遍，高矮要不一样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你长什么样？我长得不高也不矮。我哥哥长得很高。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 and answer, twice, two different people.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0377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词汇总览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231" y="1667173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今天的四个词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1956048"/>
            <a:ext cx="2692450" cy="1812727"/>
          </a:xfrm>
          <a:prstGeom prst="roundRect">
            <a:avLst>
              <a:gd name="adj" fmla="val 700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var/folders/6c/210dcgxn4gz5sm71vld2cy1h0000gn/T/tmp.0KKCc5Rr2l/l5-changshenmeyang/slides/11-board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775" y="2079873"/>
            <a:ext cx="691753" cy="6603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3601" y="2879824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669554" y="3397300"/>
            <a:ext cx="3245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gāo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27350" y="1956048"/>
            <a:ext cx="2692450" cy="1812727"/>
          </a:xfrm>
          <a:prstGeom prst="roundRect">
            <a:avLst>
              <a:gd name="adj" fmla="val 700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0KKCc5Rr2l/l5-changshenmeyang/slides/11-board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624" y="2079873"/>
            <a:ext cx="691753" cy="660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08450" y="2879824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矮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598343" y="3397300"/>
            <a:ext cx="153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ǎi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172200" y="1956048"/>
            <a:ext cx="2692450" cy="1812727"/>
          </a:xfrm>
          <a:prstGeom prst="roundRect">
            <a:avLst>
              <a:gd name="adj" fmla="val 700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188250" y="2079873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长得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7124402" y="2597348"/>
            <a:ext cx="8038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zhǎng de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9017050" y="1956048"/>
            <a:ext cx="2692450" cy="1812727"/>
          </a:xfrm>
          <a:prstGeom prst="roundRect">
            <a:avLst>
              <a:gd name="adj" fmla="val 700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10198150" y="2079873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样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10158115" y="2597348"/>
            <a:ext cx="4183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yàng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70231" y="3768775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还有八个部位 — 等一下都要用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2501" y="4057650"/>
            <a:ext cx="1314450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2" descr="/var/folders/6c/210dcgxn4gz5sm71vld2cy1h0000gn/T/tmp.0KKCc5Rr2l/l5-changshenmeyang/slides/11-board-ar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16" y="4181475"/>
            <a:ext cx="505420" cy="48250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09476" y="4778127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眼睛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1898452" y="4057650"/>
            <a:ext cx="1314599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3" descr="/var/folders/6c/210dcgxn4gz5sm71vld2cy1h0000gn/T/tmp.0KKCc5Rr2l/l5-changshenmeyang/slides/11-board-art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966" y="4181475"/>
            <a:ext cx="505420" cy="48250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225576" y="4778127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耳朵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3314551" y="4057650"/>
            <a:ext cx="1314599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4" descr="/var/folders/6c/210dcgxn4gz5sm71vld2cy1h0000gn/T/tmp.0KKCc5Rr2l/l5-changshenmeyang/slides/11-board-art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9066" y="4181475"/>
            <a:ext cx="505420" cy="48250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641675" y="4778127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鼻子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4730651" y="4057650"/>
            <a:ext cx="1314599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5" descr="/var/folders/6c/210dcgxn4gz5sm71vld2cy1h0000gn/T/tmp.0KKCc5Rr2l/l5-changshenmeyang/slides/11-board-art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5166" y="4181475"/>
            <a:ext cx="505420" cy="48250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057775" y="4778127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嘴巴</a:t>
            </a:r>
            <a:endParaRPr lang="en-US" sz="2600" dirty="0"/>
          </a:p>
        </p:txBody>
      </p:sp>
      <p:sp>
        <p:nvSpPr>
          <p:cNvPr id="35" name="Text 27"/>
          <p:cNvSpPr/>
          <p:nvPr/>
        </p:nvSpPr>
        <p:spPr>
          <a:xfrm>
            <a:off x="6146750" y="4057650"/>
            <a:ext cx="1314450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6" descr="/var/folders/6c/210dcgxn4gz5sm71vld2cy1h0000gn/T/tmp.0KKCc5Rr2l/l5-changshenmeyang/slides/11-board-art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265" y="4181475"/>
            <a:ext cx="505420" cy="48250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638776" y="4778127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</a:t>
            </a:r>
            <a:endParaRPr lang="en-US" sz="2600" dirty="0"/>
          </a:p>
        </p:txBody>
      </p:sp>
      <p:sp>
        <p:nvSpPr>
          <p:cNvPr id="38" name="Text 29"/>
          <p:cNvSpPr/>
          <p:nvPr/>
        </p:nvSpPr>
        <p:spPr>
          <a:xfrm>
            <a:off x="7562701" y="4057650"/>
            <a:ext cx="1314599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7" descr="/var/folders/6c/210dcgxn4gz5sm71vld2cy1h0000gn/T/tmp.0KKCc5Rr2l/l5-changshenmeyang/slides/11-board-art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7216" y="4181475"/>
            <a:ext cx="505420" cy="482501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8054876" y="4778127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</a:t>
            </a:r>
            <a:endParaRPr lang="en-US" sz="2600" dirty="0"/>
          </a:p>
        </p:txBody>
      </p:sp>
      <p:sp>
        <p:nvSpPr>
          <p:cNvPr id="41" name="Text 31"/>
          <p:cNvSpPr/>
          <p:nvPr/>
        </p:nvSpPr>
        <p:spPr>
          <a:xfrm>
            <a:off x="8978801" y="4057650"/>
            <a:ext cx="1314599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8" descr="/var/folders/6c/210dcgxn4gz5sm71vld2cy1h0000gn/T/tmp.0KKCc5Rr2l/l5-changshenmeyang/slides/11-board-art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3316" y="4181475"/>
            <a:ext cx="505420" cy="482501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470975" y="4778127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脚</a:t>
            </a:r>
            <a:endParaRPr lang="en-US" sz="2600" dirty="0"/>
          </a:p>
        </p:txBody>
      </p:sp>
      <p:sp>
        <p:nvSpPr>
          <p:cNvPr id="44" name="Text 33"/>
          <p:cNvSpPr/>
          <p:nvPr/>
        </p:nvSpPr>
        <p:spPr>
          <a:xfrm>
            <a:off x="10394900" y="4057650"/>
            <a:ext cx="1314599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9" descr="/var/folders/6c/210dcgxn4gz5sm71vld2cy1h0000gn/T/tmp.0KKCc5Rr2l/l5-changshenmeyang/slides/11-board-art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99415" y="4181475"/>
            <a:ext cx="505420" cy="482501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10887075" y="4778127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腿</a:t>
            </a:r>
            <a:endParaRPr lang="en-US" sz="2600" dirty="0"/>
          </a:p>
        </p:txBody>
      </p:sp>
      <p:sp>
        <p:nvSpPr>
          <p:cNvPr id="47" name="Shape 3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8" name="Text 36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2123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 · 三拍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107728"/>
            <a:ext cx="11451538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长得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2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高／矮／不高也不矮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1859905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zhǎng shénme yàng?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139255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你长什么样？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643634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zhǎng de hěn gāo.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501" y="2922984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我长得很高。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501" y="3427363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bù gāo.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501" y="3706713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她长得不高。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2501" y="4211092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bù gāo yě bù ǎi, tā yǒu dà yǎnjing hé cháng tuǐ.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501" y="4490442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他长得不高也不矮，</a:t>
            </a:r>
            <a:r>
              <a:rPr lang="en-US" sz="26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他有大眼睛和长腿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2501" y="4905970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the shape the test wants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2501" y="5229820"/>
            <a:ext cx="11226998" cy="698302"/>
          </a:xfrm>
          <a:prstGeom prst="roundRect">
            <a:avLst>
              <a:gd name="adj" fmla="val 10912"/>
            </a:avLst>
          </a:prstGeom>
          <a:solidFill>
            <a:srgbClr val="B03C2C">
              <a:alpha val="10000"/>
            </a:srgbClr>
          </a:solidFill>
          <a:ln w="9525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9727" y="5340846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6832" y="5340846"/>
            <a:ext cx="532895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长得 后面跟「怎么样」，</a:t>
            </a: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不能</a:t>
            </a: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跟名词。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他长得很高 ✓ · 他长得大眼睛 ✗ — for body parts you still need 有 or 的.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5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课文二 · 前半 · CD T72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545282"/>
            <a:ext cx="11451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老师读两遍 · 全班跟读 · 没有CD就老师念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1942058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ǎiǎi 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246858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她长得矮矮的。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687836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She is short.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2501" y="3036987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tóufa bù cháng yě bù duǎn.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501" y="3341787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她的头发不长也不短。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2501" y="3782764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Her hair is neither long nor short.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2501" y="4131915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zhǎng shénme yàng?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501" y="4436715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你长什么样？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2501" y="4877693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do you look like?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0231" y="5125343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矮矮的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为什么说两次？下节课才讲 — 今天只要会读。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9195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活动一 · 课本 p.119 第7题 · 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502271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八张图 · 两个人一组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91184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921371"/>
            <a:ext cx="417690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全班先做第一张 — 先说高矮，再说部位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389882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399407"/>
            <a:ext cx="544523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问 他长什么样？B 答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 — 一句高矮，一句部位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86791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877443"/>
            <a:ext cx="1181040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每张图换人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384054"/>
            <a:ext cx="10972800" cy="1245691"/>
          </a:xfrm>
          <a:prstGeom prst="roundRect">
            <a:avLst>
              <a:gd name="adj" fmla="val 10195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54597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 他长什么样？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275" y="4038600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B: 他长得很高。他有大眼睛。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9600" y="4756696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94392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2063" y="4905821"/>
            <a:ext cx="9404604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答四句，屏幕上不给框架 — 高矮、两个部位、头发长短；A 再用第三人称向全班报告一遍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他说他长得很高……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sentences, no frame, then reported back.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3174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活动二 · 练习册 p.164, p.165 · 7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814066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第9题 → 第10题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223641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233166"/>
            <a:ext cx="4723251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第9题：六个字按笔顺抄 — 得 矮 高 头 发 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70167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711202"/>
            <a:ext cx="330569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第10题：前四张图，每张写一句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17971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189238"/>
            <a:ext cx="3543121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老师先示范第一张：他长得很高。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568750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705225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9381" y="3705225"/>
            <a:ext cx="454928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矮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的右下角是 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女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 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攵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 this one at the board, not from the back of the room.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600" y="4444901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632127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2063" y="4594027"/>
            <a:ext cx="9252344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八张图全做，每张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</a:t>
            </a: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 — 一句用 长得，一句用 有，其中两张要写成否定的。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他长得不高。他有小眼睛和大耳朵。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Sixteen sentences, two of them negative.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873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二十个问题 · 6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48582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一个同学拿一张名人卡，全班问问题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15815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167682"/>
            <a:ext cx="307070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只能问是非问题，只能用中文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63619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645718"/>
            <a:ext cx="259828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最多二十个问题，然后猜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114229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123754"/>
            <a:ext cx="70862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两三轮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630364"/>
            <a:ext cx="10972800" cy="753070"/>
          </a:xfrm>
          <a:prstGeom prst="roundRect">
            <a:avLst>
              <a:gd name="adj" fmla="val 1686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79228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他长得很高吗？　他有黑色的头发吗？　他是中国人吗？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451038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69761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2063" y="4659511"/>
            <a:ext cx="8169217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拿卡的人只能答 对 / 不对；全班必须先问一个 长什么样 的问题并听到完整句子的回答，才可以猜。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open question, answered in a full sentence, before any guess.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4712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43–50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446312"/>
            <a:ext cx="10972800" cy="285750"/>
          </a:xfrm>
          <a:prstGeom prst="roundRect">
            <a:avLst>
              <a:gd name="adj" fmla="val 2220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484412"/>
            <a:ext cx="109332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我做到了吗？ 👍 / 😐 / 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185901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02093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54026" y="2020937"/>
            <a:ext cx="1965263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我会问 你长什么样？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606873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76879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2768798"/>
            <a:ext cx="3437617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我会答 他长得很高。／她长得不高。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54735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516660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3516660"/>
            <a:ext cx="1826969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我会读 长 的两个音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191446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327922"/>
            <a:ext cx="212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7585" y="4327922"/>
            <a:ext cx="419770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用中文回答：你长什么样？（一句话）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in Chinese: 你长什么样？ One sentence.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5042148"/>
            <a:ext cx="10972800" cy="547241"/>
          </a:xfrm>
          <a:prstGeom prst="roundRect">
            <a:avLst>
              <a:gd name="adj" fmla="val 13924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5178623"/>
            <a:ext cx="2331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7826" y="5178623"/>
            <a:ext cx="5727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为什么 她长得矮矮的 要说两次 矮 — 还有怎么说头发。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156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 · 下节课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3599" y="1495723"/>
            <a:ext cx="7124498" cy="139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0"/>
              </a:lnSpc>
              <a:buNone/>
            </a:pPr>
            <a:r>
              <a:rPr lang="en-US" sz="110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大大的眼睛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2919264" y="3070473"/>
            <a:ext cx="648039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6 — doubling the adjective, and hair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56323" y="3674715"/>
            <a:ext cx="3879205" cy="1865412"/>
          </a:xfrm>
          <a:prstGeom prst="roundRect">
            <a:avLst>
              <a:gd name="adj" fmla="val 68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45198" y="3874740"/>
            <a:ext cx="336748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她有大大的眼睛。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45198" y="4392811"/>
            <a:ext cx="336748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她的头发不长也不短。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45198" y="4910882"/>
            <a:ext cx="336748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他长得高高的。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950" y="6307187"/>
            <a:ext cx="18140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长得 高 矮 样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2026-10-15T09:24:03Z</dcterms:created>
  <dcterms:modified xsi:type="dcterms:W3CDTF">2026-10-15T09:24:03Z</dcterms:modified>
</cp:coreProperties>
</file>