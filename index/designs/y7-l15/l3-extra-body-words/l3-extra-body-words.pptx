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224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· 第十五课 人体部位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53500" y="3098899"/>
            <a:ext cx="2849981" cy="279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0"/>
              </a:lnSpc>
              <a:buNone/>
            </a:pPr>
            <a:r>
              <a:rPr lang="en-US" sz="22000" dirty="0">
                <a:solidFill>
                  <a:srgbClr val="F2F1E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</a:t>
            </a:r>
            <a:endParaRPr lang="en-US" sz="22000" dirty="0"/>
          </a:p>
        </p:txBody>
      </p:sp>
      <p:sp>
        <p:nvSpPr>
          <p:cNvPr id="8" name="Text 6"/>
          <p:cNvSpPr/>
          <p:nvPr/>
        </p:nvSpPr>
        <p:spPr>
          <a:xfrm>
            <a:off x="499872" y="193565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Y7 UNIT 5 · 轻松学中文 1</a:t>
            </a:r>
            <a:endParaRPr lang="en-US" sz="1300" dirty="0"/>
          </a:p>
        </p:txBody>
      </p:sp>
      <p:pic>
        <p:nvPicPr>
          <p:cNvPr id="9" name="Image 0" descr="/var/folders/6c/210dcgxn4gz5sm71vld2cy1h0000gn/T/tmp.0KKCc5Rr2l/l3-extra-body-words/slides/01-title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180" y="2253109"/>
            <a:ext cx="731639" cy="698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9872" y="3504605"/>
            <a:ext cx="11192256" cy="87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90"/>
              </a:lnSpc>
              <a:spcBef>
                <a:spcPts val="4355"/>
              </a:spcBef>
              <a:spcAft>
                <a:spcPts val="600"/>
              </a:spcAft>
              <a:buNone/>
            </a:pP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再五个</a:t>
            </a:r>
            <a:r>
              <a:rPr lang="en-US" sz="65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词</a:t>
            </a:r>
            <a:endParaRPr lang="en-US" sz="6500" dirty="0"/>
          </a:p>
        </p:txBody>
      </p:sp>
      <p:sp>
        <p:nvSpPr>
          <p:cNvPr id="11" name="Text 8"/>
          <p:cNvSpPr/>
          <p:nvPr/>
        </p:nvSpPr>
        <p:spPr>
          <a:xfrm>
            <a:off x="499872" y="4455765"/>
            <a:ext cx="11192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Five more parts, and pinyin by ear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932944" y="4900166"/>
            <a:ext cx="1167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45514" y="4900166"/>
            <a:ext cx="5574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54820" y="4900166"/>
            <a:ext cx="454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56010" y="4900166"/>
            <a:ext cx="11024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p.115–116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27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复习时间 · 0–3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231" y="1791444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p.166 第12题 — 看钟面，用中文写时间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501" y="2156520"/>
            <a:ext cx="114515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第四单元 · 两三分钟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2501" y="2553295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qī diǎn líng wǔ fēn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2501" y="2858095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七点零五分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2501" y="3362474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bā diǎn yí kè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2501" y="3667274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八点一刻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2501" y="4171652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chà wǔ fēn jiǔ diǎn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2501" y="4476452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差五分九点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70231" y="4879330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差</a:t>
            </a: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1100" b="1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刻</a:t>
            </a: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是忘得最快的两个 — 今天就检查这两个。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8495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Bingo · 3–8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48582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自己画一个 3×3 的格子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15815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167682"/>
            <a:ext cx="4724162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从八个部位里挑，填满九格（一格你自己选）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63619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645718"/>
            <a:ext cx="3306913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老师说英文，你划掉那个中文词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114229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123754"/>
            <a:ext cx="441311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一条线就喊 — 但要把那三个词读出来才算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630364"/>
            <a:ext cx="10972800" cy="753070"/>
          </a:xfrm>
          <a:prstGeom prst="roundRect">
            <a:avLst>
              <a:gd name="adj" fmla="val 1686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79228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眼睛　耳朵　鼻子　嘴巴　手　头　脚　腿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600" y="451038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69761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2063" y="4659511"/>
            <a:ext cx="403223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喊 Bingo 的人要用那三个词各说一句话。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words, three sentences, before the line counts.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110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8–10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22388"/>
            <a:ext cx="2421434" cy="257175"/>
          </a:xfrm>
          <a:prstGeom prst="roundRect">
            <a:avLst>
              <a:gd name="adj" fmla="val 2466667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760488"/>
            <a:ext cx="22108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2093863"/>
            <a:ext cx="1119225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我们再学五个身体的词，还要只靠耳朵写出拼音和声调。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9600" y="2710904"/>
            <a:ext cx="1885652" cy="257175"/>
          </a:xfrm>
          <a:prstGeom prst="roundRect">
            <a:avLst>
              <a:gd name="adj" fmla="val 2466667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6550" y="2749004"/>
            <a:ext cx="16643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600" y="3107680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326960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3269605"/>
            <a:ext cx="5134945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脸、牙齿、舌头、皮肤、手指头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all five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880991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404291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4042916"/>
            <a:ext cx="8244968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我只听一遍就能写出拼音和</a:t>
            </a:r>
            <a:r>
              <a:rPr lang="en-US" sz="16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声调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pinyin with the correct tone mark from listening alone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65430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481622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54026" y="4816227"/>
            <a:ext cx="6872198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我知道哪个部首配哪个意思 — 目、口、月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match a radical to its meaning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第一组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270397"/>
            <a:ext cx="5308550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tmp.0KKCc5Rr2l/l3-extra-body-words/slides/05-vocab-a1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447" y="1533823"/>
            <a:ext cx="1662857" cy="15874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57351" y="3349823"/>
            <a:ext cx="82915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脸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3006179" y="4317504"/>
            <a:ext cx="5255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liǎn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038475" y="4831854"/>
            <a:ext cx="4598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face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310580" y="5255716"/>
            <a:ext cx="390644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71516" y="5298579"/>
            <a:ext cx="3984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繁体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臉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左边还是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月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（flesh）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73701" y="1270397"/>
            <a:ext cx="5308699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KKCc5Rr2l/l3-extra-body-words/slides/05-vocab-a1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696" y="1533823"/>
            <a:ext cx="1662857" cy="15874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15151" y="3349823"/>
            <a:ext cx="165816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牙齿</a:t>
            </a:r>
            <a:endParaRPr lang="en-US" sz="6400" dirty="0"/>
          </a:p>
        </p:txBody>
      </p:sp>
      <p:sp>
        <p:nvSpPr>
          <p:cNvPr id="17" name="Text 13"/>
          <p:cNvSpPr/>
          <p:nvPr/>
        </p:nvSpPr>
        <p:spPr>
          <a:xfrm>
            <a:off x="8546306" y="4317504"/>
            <a:ext cx="7787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yáchǐ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8664476" y="4831854"/>
            <a:ext cx="53769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teeth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974681" y="5255716"/>
            <a:ext cx="3906589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35615" y="5298579"/>
            <a:ext cx="3984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繁体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齒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下面就是牙齿的样子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第一组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574006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白 是第十三课的颜色词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970782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liǎn hěn xiǎo.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2275582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脸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很小。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09600" y="2742902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Her face is small.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3206353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de yáchǐ hěn bái.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" y="3511153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牙齿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很白。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9600" y="3978473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teeth are white.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600" y="4441924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liǎn shang yǒu dà yǎnjing hé bái yáchǐ.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600" y="4746724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脸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上有大眼睛和白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牙齿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600" y="5214045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Her face has big eyes and white teeth.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第一组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366963"/>
            <a:ext cx="10972800" cy="80248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2366963"/>
            <a:ext cx="0" cy="802481"/>
          </a:xfrm>
          <a:prstGeom prst="line">
            <a:avLst/>
          </a:prstGeom>
          <a:noFill/>
          <a:ln w="3810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850" y="2519363"/>
            <a:ext cx="107389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 ______ 很 ______ 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6550" y="3459212"/>
            <a:ext cx="3766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9694" y="3372594"/>
            <a:ext cx="188966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写一句，六十秒。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89185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407908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2063" y="4040981"/>
            <a:ext cx="555787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用第十三课的颜色词，写两个小句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他的脸不大，他有白白的牙齿。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Reach back to the colour words from Lesson 13.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第二组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270397"/>
            <a:ext cx="5308550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tmp.0KKCc5Rr2l/l3-extra-body-words/slides/08-vocab-a2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447" y="1533823"/>
            <a:ext cx="1662857" cy="15874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51050" y="3349823"/>
            <a:ext cx="165816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舌头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2774007" y="4317504"/>
            <a:ext cx="9991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shétou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2909143" y="4831854"/>
            <a:ext cx="7236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tongue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310580" y="5255716"/>
            <a:ext cx="390644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71516" y="5298579"/>
            <a:ext cx="3984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头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你已经学过了 — 中文用会的字造新词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73701" y="1270397"/>
            <a:ext cx="5308699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KKCc5Rr2l/l3-extra-body-words/slides/08-vocab-a2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696" y="1533823"/>
            <a:ext cx="1662857" cy="15874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15151" y="3349823"/>
            <a:ext cx="1658163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皮肤</a:t>
            </a:r>
            <a:endParaRPr lang="en-US" sz="6400" dirty="0"/>
          </a:p>
        </p:txBody>
      </p:sp>
      <p:sp>
        <p:nvSpPr>
          <p:cNvPr id="17" name="Text 13"/>
          <p:cNvSpPr/>
          <p:nvPr/>
        </p:nvSpPr>
        <p:spPr>
          <a:xfrm>
            <a:off x="8641110" y="4317504"/>
            <a:ext cx="58520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pífū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8722221" y="4831854"/>
            <a:ext cx="4197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skin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974681" y="5255716"/>
            <a:ext cx="3906589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35615" y="5298579"/>
            <a:ext cx="3984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繁体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膚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又是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月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第二组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72394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de shétou hěn cháng.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2077194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舌头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很长。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9600" y="2544514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tongue is long.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007965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pífū hěn bái.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600" y="3312765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皮肤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很白。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9600" y="3780086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 skin is pale.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4243536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de pífū bù bái, wǒ de shétou hěn cháng.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4548336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皮肤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不白，我的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舌头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很长。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9600" y="5015657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skin isn't pale, my tongue is long.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第二组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366963"/>
            <a:ext cx="10972800" cy="80248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2366963"/>
            <a:ext cx="0" cy="802481"/>
          </a:xfrm>
          <a:prstGeom prst="line">
            <a:avLst/>
          </a:prstGeom>
          <a:noFill/>
          <a:ln w="3810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850" y="2519363"/>
            <a:ext cx="107389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他的皮肤很 ______ 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6550" y="3459212"/>
            <a:ext cx="3766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9694" y="3372594"/>
            <a:ext cx="188966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写一句，六十秒。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89185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407908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2063" y="4040981"/>
            <a:ext cx="481539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一句话里用两个颜色词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她的皮肤很白，她有黑色的头发。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colour words, one person, one sentence.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第三组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363712"/>
            <a:ext cx="5308550" cy="4308277"/>
          </a:xfrm>
          <a:prstGeom prst="roundRect">
            <a:avLst>
              <a:gd name="adj" fmla="val 412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tmp.0KKCc5Rr2l/l3-extra-body-words/slides/11-vocab-a3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447" y="1627138"/>
            <a:ext cx="1662857" cy="15874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11450" y="3443139"/>
            <a:ext cx="194294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50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手指头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2468166" y="4224189"/>
            <a:ext cx="16230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shǒuzhǐtou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2963614" y="4738539"/>
            <a:ext cx="6123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finger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310580" y="5162401"/>
            <a:ext cx="390644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71516" y="5205264"/>
            <a:ext cx="3984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手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+ 指 +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头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两个字你都会了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第三组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72394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yǒu shí gè shǒuzhǐtou.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2077194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我有十个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手指头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9600" y="2544514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have ten fingers.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007965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shǒuzhǐtou hěn cháng.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600" y="3312765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手指头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很长。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9600" y="3780086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 fingers are long.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4243536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yǒu xiǎo shǒu hé cháng shǒuzhǐtou.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4548336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她有小手和长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手指头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9600" y="5015657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She has small hands and long fingers.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第三组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366963"/>
            <a:ext cx="10972800" cy="80248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2366963"/>
            <a:ext cx="0" cy="802481"/>
          </a:xfrm>
          <a:prstGeom prst="line">
            <a:avLst/>
          </a:prstGeom>
          <a:noFill/>
          <a:ln w="3810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850" y="2519363"/>
            <a:ext cx="107389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 ______ 个手指头。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6550" y="3459212"/>
            <a:ext cx="3766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9694" y="3372594"/>
            <a:ext cx="188966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写一句，六十秒。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89185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407908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2063" y="4040981"/>
            <a:ext cx="7703784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一句话里用 手、手指头 和另一个部位，还要有否定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我有小手和长手指头，我的手指头不短。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body parts and a negative.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回读 · 只有汉字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231" y="2395686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没有拼音，没有英文 — 全班读出来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501" y="2760762"/>
            <a:ext cx="212348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var/folders/6c/210dcgxn4gz5sm71vld2cy1h0000gn/T/tmp.0KKCc5Rr2l/l3-extra-body-words/slides/14-recall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364" y="2884587"/>
            <a:ext cx="691753" cy="6603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9041" y="3684538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脸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758380" y="2760762"/>
            <a:ext cx="212348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var/folders/6c/210dcgxn4gz5sm71vld2cy1h0000gn/T/tmp.0KKCc5Rr2l/l3-extra-body-words/slides/14-recall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244" y="2884587"/>
            <a:ext cx="691753" cy="6603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89871" y="3684538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牙齿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5034260" y="2760762"/>
            <a:ext cx="212348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var/folders/6c/210dcgxn4gz5sm71vld2cy1h0000gn/T/tmp.0KKCc5Rr2l/l3-extra-body-words/slides/14-recall-ar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123" y="2884587"/>
            <a:ext cx="691753" cy="6603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765750" y="3684538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舌头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7310140" y="2760762"/>
            <a:ext cx="212348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var/folders/6c/210dcgxn4gz5sm71vld2cy1h0000gn/T/tmp.0KKCc5Rr2l/l3-extra-body-words/slides/14-recall-art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003" y="2884587"/>
            <a:ext cx="691753" cy="6603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41630" y="3684538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皮肤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9586020" y="2760762"/>
            <a:ext cx="212348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/var/folders/6c/210dcgxn4gz5sm71vld2cy1h0000gn/T/tmp.0KKCc5Rr2l/l3-extra-body-words/slides/14-recall-art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1883" y="2884587"/>
            <a:ext cx="691753" cy="6603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285809" y="3684538"/>
            <a:ext cx="738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手指头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370231" y="4275088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 </a:t>
            </a:r>
            <a:r>
              <a:rPr lang="en-US" sz="1100" b="1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皮肤</a:t>
            </a: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1100" b="1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手指头</a:t>
            </a: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就回去看图，先别往下走。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7934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词汇总览 · 十三个词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231" y="1973610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十三个部位 — 这块板整个活动都留在屏幕上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501" y="2338685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var/folders/6c/210dcgxn4gz5sm71vld2cy1h0000gn/T/tmp.0KKCc5Rr2l/l3-extra-body-words/slides/15-board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219" y="2462510"/>
            <a:ext cx="505420" cy="4825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0679" y="3059162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眼睛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100858" y="2338685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var/folders/6c/210dcgxn4gz5sm71vld2cy1h0000gn/T/tmp.0KKCc5Rr2l/l3-extra-body-words/slides/15-board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576" y="2462510"/>
            <a:ext cx="505420" cy="48250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29036" y="3059162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耳朵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719215" y="2338685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var/folders/6c/210dcgxn4gz5sm71vld2cy1h0000gn/T/tmp.0KKCc5Rr2l/l3-extra-body-words/slides/15-board-ar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933" y="2462510"/>
            <a:ext cx="505420" cy="4825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47393" y="3059162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鼻子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5337572" y="2338685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var/folders/6c/210dcgxn4gz5sm71vld2cy1h0000gn/T/tmp.0KKCc5Rr2l/l3-extra-body-words/slides/15-board-art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290" y="2462510"/>
            <a:ext cx="505420" cy="48250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65750" y="3059162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嘴巴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6955929" y="2338685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/var/folders/6c/210dcgxn4gz5sm71vld2cy1h0000gn/T/tmp.0KKCc5Rr2l/l3-extra-body-words/slides/15-board-art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647" y="2462510"/>
            <a:ext cx="505420" cy="48250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49158" y="3059162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</a:t>
            </a:r>
            <a:endParaRPr lang="en-US" sz="2600" dirty="0"/>
          </a:p>
        </p:txBody>
      </p:sp>
      <p:sp>
        <p:nvSpPr>
          <p:cNvPr id="23" name="Text 16"/>
          <p:cNvSpPr/>
          <p:nvPr/>
        </p:nvSpPr>
        <p:spPr>
          <a:xfrm>
            <a:off x="8574286" y="2338685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5" descr="/var/folders/6c/210dcgxn4gz5sm71vld2cy1h0000gn/T/tmp.0KKCc5Rr2l/l3-extra-body-words/slides/15-board-art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004" y="2462510"/>
            <a:ext cx="505420" cy="48250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167515" y="3059162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</a:t>
            </a:r>
            <a:endParaRPr lang="en-US" sz="2600" dirty="0"/>
          </a:p>
        </p:txBody>
      </p:sp>
      <p:sp>
        <p:nvSpPr>
          <p:cNvPr id="26" name="Text 18"/>
          <p:cNvSpPr/>
          <p:nvPr/>
        </p:nvSpPr>
        <p:spPr>
          <a:xfrm>
            <a:off x="10192643" y="2338685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6" descr="/var/folders/6c/210dcgxn4gz5sm71vld2cy1h0000gn/T/tmp.0KKCc5Rr2l/l3-extra-body-words/slides/15-board-art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361" y="2462510"/>
            <a:ext cx="505420" cy="48250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785872" y="3059162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脚</a:t>
            </a:r>
            <a:endParaRPr lang="en-US" sz="2600" dirty="0"/>
          </a:p>
        </p:txBody>
      </p:sp>
      <p:sp>
        <p:nvSpPr>
          <p:cNvPr id="29" name="Text 20"/>
          <p:cNvSpPr/>
          <p:nvPr/>
        </p:nvSpPr>
        <p:spPr>
          <a:xfrm>
            <a:off x="482501" y="3751213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7" descr="/var/folders/6c/210dcgxn4gz5sm71vld2cy1h0000gn/T/tmp.0KKCc5Rr2l/l3-extra-body-words/slides/15-board-art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8219" y="3875038"/>
            <a:ext cx="505420" cy="482501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075730" y="4471690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腿</a:t>
            </a:r>
            <a:endParaRPr lang="en-US" sz="2600" dirty="0"/>
          </a:p>
        </p:txBody>
      </p:sp>
      <p:sp>
        <p:nvSpPr>
          <p:cNvPr id="32" name="Text 22"/>
          <p:cNvSpPr/>
          <p:nvPr/>
        </p:nvSpPr>
        <p:spPr>
          <a:xfrm>
            <a:off x="2100858" y="3751213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8" descr="/var/folders/6c/210dcgxn4gz5sm71vld2cy1h0000gn/T/tmp.0KKCc5Rr2l/l3-extra-body-words/slides/15-board-art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6576" y="3875038"/>
            <a:ext cx="505420" cy="482501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2694087" y="4471690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脸</a:t>
            </a:r>
            <a:endParaRPr lang="en-US" sz="2600" dirty="0"/>
          </a:p>
        </p:txBody>
      </p:sp>
      <p:sp>
        <p:nvSpPr>
          <p:cNvPr id="35" name="Text 24"/>
          <p:cNvSpPr/>
          <p:nvPr/>
        </p:nvSpPr>
        <p:spPr>
          <a:xfrm>
            <a:off x="3719215" y="3751213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9" descr="/var/folders/6c/210dcgxn4gz5sm71vld2cy1h0000gn/T/tmp.0KKCc5Rr2l/l3-extra-body-words/slides/15-board-art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4933" y="3875038"/>
            <a:ext cx="505420" cy="482501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4147393" y="4471690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牙齿</a:t>
            </a:r>
            <a:endParaRPr lang="en-US" sz="2600" dirty="0"/>
          </a:p>
        </p:txBody>
      </p:sp>
      <p:sp>
        <p:nvSpPr>
          <p:cNvPr id="38" name="Text 26"/>
          <p:cNvSpPr/>
          <p:nvPr/>
        </p:nvSpPr>
        <p:spPr>
          <a:xfrm>
            <a:off x="5337572" y="3751213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10" descr="/var/folders/6c/210dcgxn4gz5sm71vld2cy1h0000gn/T/tmp.0KKCc5Rr2l/l3-extra-body-words/slides/15-board-art1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3290" y="3875038"/>
            <a:ext cx="505420" cy="482501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765750" y="4471690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舌头</a:t>
            </a:r>
            <a:endParaRPr lang="en-US" sz="2600" dirty="0"/>
          </a:p>
        </p:txBody>
      </p:sp>
      <p:sp>
        <p:nvSpPr>
          <p:cNvPr id="41" name="Text 28"/>
          <p:cNvSpPr/>
          <p:nvPr/>
        </p:nvSpPr>
        <p:spPr>
          <a:xfrm>
            <a:off x="6955929" y="3751213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11" descr="/var/folders/6c/210dcgxn4gz5sm71vld2cy1h0000gn/T/tmp.0KKCc5Rr2l/l3-extra-body-words/slides/15-board-art1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61647" y="3875038"/>
            <a:ext cx="505420" cy="482501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7384107" y="4471690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皮肤</a:t>
            </a:r>
            <a:endParaRPr lang="en-US" sz="2600" dirty="0"/>
          </a:p>
        </p:txBody>
      </p:sp>
      <p:sp>
        <p:nvSpPr>
          <p:cNvPr id="44" name="Text 30"/>
          <p:cNvSpPr/>
          <p:nvPr/>
        </p:nvSpPr>
        <p:spPr>
          <a:xfrm>
            <a:off x="8574286" y="3751213"/>
            <a:ext cx="1516856" cy="1311027"/>
          </a:xfrm>
          <a:prstGeom prst="roundRect">
            <a:avLst>
              <a:gd name="adj" fmla="val 96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5" name="Image 12" descr="/var/folders/6c/210dcgxn4gz5sm71vld2cy1h0000gn/T/tmp.0KKCc5Rr2l/l3-extra-body-words/slides/15-board-art1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80004" y="3875038"/>
            <a:ext cx="505420" cy="482501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8970764" y="4471690"/>
            <a:ext cx="7383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手指头</a:t>
            </a:r>
            <a:endParaRPr lang="en-US" sz="1900" dirty="0"/>
          </a:p>
        </p:txBody>
      </p:sp>
      <p:sp>
        <p:nvSpPr>
          <p:cNvPr id="47" name="Shape 32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8" name="Text 33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49" name="Text 34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6350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活动一 · 7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48582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两个人一组 · 总览板留在屏幕上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15815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167682"/>
            <a:ext cx="535794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十三个词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都要写一句话 — 十三句短句，五分钟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63619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645718"/>
            <a:ext cx="417690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写四句长的不算完成 — 每个词都要用到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114229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123754"/>
            <a:ext cx="188966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然后三组各读两句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630364"/>
            <a:ext cx="10972800" cy="753070"/>
          </a:xfrm>
          <a:prstGeom prst="roundRect">
            <a:avLst>
              <a:gd name="adj" fmla="val 1686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79228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我的脸不大。　我的牙齿很白。　我有十个手指头。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600" y="451038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69761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2063" y="4659511"/>
            <a:ext cx="653640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不写十三句，写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一段</a:t>
            </a: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五六句的话，用 和、、、也 连起来 — 而且把总览板关掉。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connected paragraph, all thirteen words, no board.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9785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活动二 · 课本 p.116 第4题 · 8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115020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老师念两遍，你写拼音 — 要写</a:t>
            </a: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声调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52459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1534120"/>
            <a:ext cx="3940698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九个词，意思不重要 — 这题只考耳朵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002631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012156"/>
            <a:ext cx="2834497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有几个词你没学过，不要慌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48066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490192"/>
            <a:ext cx="6271203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然后课本 p.115 第2题：两人一组，一个说词组，一个写拼音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2996803"/>
            <a:ext cx="10972800" cy="1245691"/>
          </a:xfrm>
          <a:prstGeom prst="roundRect">
            <a:avLst>
              <a:gd name="adj" fmla="val 10195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158728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1) shénme　2) kāishǐ　3) yīnyuè　4) xǐhuan　5) liúxíng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275" y="365134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6) yáogǔn　7) xuéxiào　8) xiōngdì　9) lǚxíng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9600" y="4267795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404271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9381" y="4404271"/>
            <a:ext cx="447186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声调标错位置就算错。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tone mark in the wrong place is wrong — mark it strictly.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" y="5143946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331172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62063" y="5293072"/>
            <a:ext cx="5726832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不听九个单词，听三个完整的句子，写拼音加声调，再在下面写汉字。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Dictation of three full sentences, then the same in characters.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31238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活动三 · 练习册 p.161 第4题 · 6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814066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十二个意思，写出部首 — 三分钟，比一比谁快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223641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233166"/>
            <a:ext cx="437607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eye 目 · water 氵 · flesh 月 · sunset 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70167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711202"/>
            <a:ext cx="4802038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clothing 衤 · mouth 口 · wood 木 · cave 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17971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189238"/>
            <a:ext cx="4383968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food 饣 · metal 钅 · grass 艹 · page 页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568750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705225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9381" y="3705225"/>
            <a:ext cx="715850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clothing 是 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衤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 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礻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That extra dot was the commonest error in Lesson 14 — and it is worth two marks on the test.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600" y="4444901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632127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62063" y="4594027"/>
            <a:ext cx="498799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十二个部首各写一个字，其中三个要写成词组，不只是单字。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character per radical; three of them inside a phrase.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4712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43–50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446312"/>
            <a:ext cx="10972800" cy="285750"/>
          </a:xfrm>
          <a:prstGeom prst="roundRect">
            <a:avLst>
              <a:gd name="adj" fmla="val 22200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484412"/>
            <a:ext cx="109332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我做到了吗？ 👍 / 😐 / 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185901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02093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54026" y="2020937"/>
            <a:ext cx="3648018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脸、牙齿、舌头、皮肤、手指头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606873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76879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2768798"/>
            <a:ext cx="2944859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我只听一遍就能写出拼音和声调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54735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3516660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3516660"/>
            <a:ext cx="2524208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我知道哪个部首配哪个意思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191446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327922"/>
            <a:ext cx="212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✎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7585" y="4327922"/>
            <a:ext cx="538572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老师念一个词（脸），你写拼音加声调，再写汉字。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word, heard once: pinyin with tone mark, then characters.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5042148"/>
            <a:ext cx="10972800" cy="547241"/>
          </a:xfrm>
          <a:prstGeom prst="roundRect">
            <a:avLst>
              <a:gd name="adj" fmla="val 13924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5178623"/>
            <a:ext cx="2331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7826" y="5178623"/>
            <a:ext cx="57206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整节课都是汉字 — 六个新部首，和字是怎么拼起来的。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156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 · 下节课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31974" y="1495723"/>
            <a:ext cx="10330461" cy="139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0"/>
              </a:lnSpc>
              <a:buNone/>
            </a:pPr>
            <a:r>
              <a:rPr lang="en-US" sz="110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厂 车 立 革 止 虫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2552849" y="3070473"/>
            <a:ext cx="7227877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Lesson 4 — six radicals, and how characters split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68875" y="3674715"/>
            <a:ext cx="3054251" cy="1865412"/>
          </a:xfrm>
          <a:prstGeom prst="roundRect">
            <a:avLst>
              <a:gd name="adj" fmla="val 68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57750" y="3874740"/>
            <a:ext cx="252603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鞋 = 革 + 圭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57750" y="4392811"/>
            <a:ext cx="252603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步 = 止 + 少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57750" y="4910882"/>
            <a:ext cx="2526030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鼻 = 自 + 田 + 廾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950" y="6307187"/>
            <a:ext cx="24920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8 · 脸 牙齿 舌头 皮肤 手指头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022556" y="6307187"/>
            <a:ext cx="27147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p.115–116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2026-10-15T09:22:25Z</dcterms:created>
  <dcterms:modified xsi:type="dcterms:W3CDTF">2026-10-15T09:22:25Z</dcterms:modified>
</cp:coreProperties>
</file>