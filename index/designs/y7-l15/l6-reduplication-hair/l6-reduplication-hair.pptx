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224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· 第十五课 人体部位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53500" y="3098899"/>
            <a:ext cx="2849981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dirty="0">
                <a:solidFill>
                  <a:srgbClr val="F2F1E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</a:t>
            </a:r>
            <a:endParaRPr lang="en-US" sz="22000" dirty="0"/>
          </a:p>
        </p:txBody>
      </p:sp>
      <p:sp>
        <p:nvSpPr>
          <p:cNvPr id="8" name="Text 6"/>
          <p:cNvSpPr/>
          <p:nvPr/>
        </p:nvSpPr>
        <p:spPr>
          <a:xfrm>
            <a:off x="499872" y="193565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Y7 UNIT 5 · 轻松学中文 1</a:t>
            </a:r>
            <a:endParaRPr lang="en-US" sz="1300" dirty="0"/>
          </a:p>
        </p:txBody>
      </p:sp>
      <p:pic>
        <p:nvPicPr>
          <p:cNvPr id="9" name="Image 0" descr="/var/folders/6c/210dcgxn4gz5sm71vld2cy1h0000gn/T/tmp.0KKCc5Rr2l/l6-reduplication-hair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180" y="2253109"/>
            <a:ext cx="731639" cy="698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9872" y="3504605"/>
            <a:ext cx="11192256" cy="87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90"/>
              </a:lnSpc>
              <a:spcBef>
                <a:spcPts val="4355"/>
              </a:spcBef>
              <a:spcAft>
                <a:spcPts val="600"/>
              </a:spcAft>
              <a:buNone/>
            </a:pP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大大的</a:t>
            </a:r>
            <a:r>
              <a:rPr lang="en-US" sz="65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</a:t>
            </a:r>
            <a:endParaRPr lang="en-US" sz="6500" dirty="0"/>
          </a:p>
        </p:txBody>
      </p:sp>
      <p:sp>
        <p:nvSpPr>
          <p:cNvPr id="11" name="Text 8"/>
          <p:cNvSpPr/>
          <p:nvPr/>
        </p:nvSpPr>
        <p:spPr>
          <a:xfrm>
            <a:off x="499872" y="4455765"/>
            <a:ext cx="1119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Doubling the adjective · 头发 · 不……也不……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932646" y="4900166"/>
            <a:ext cx="1167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45216" y="4900166"/>
            <a:ext cx="5574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54522" y="4900166"/>
            <a:ext cx="454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55707" y="4900166"/>
            <a:ext cx="11030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p.118–119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7371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小测 · 0–8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927050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 · 五题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33662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346150"/>
            <a:ext cx="227585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翻译：My dad is tall.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1814661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1824186"/>
            <a:ext cx="381120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翻译：She is neither tall nor short.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29269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302222"/>
            <a:ext cx="519657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读出来：他长得很高，他穿长裤。（两个「长」）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277073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41350" y="2780258"/>
            <a:ext cx="2362081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改错：他长得大眼睛。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600" y="3248769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41350" y="3258294"/>
            <a:ext cx="2834497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用中文问我：你长什么样？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9600" y="3701355"/>
            <a:ext cx="10972800" cy="1503611"/>
          </a:xfrm>
          <a:prstGeom prst="roundRect">
            <a:avLst>
              <a:gd name="adj" fmla="val 844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4175" y="3825180"/>
            <a:ext cx="10836122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64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我爸爸很高。／我爸爸长得很高。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84175" y="4264968"/>
            <a:ext cx="10836122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64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她不高也不矮。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84175" y="4704755"/>
            <a:ext cx="10836122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64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他长得（zhǎng）很高，他穿长（cháng）裤。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09600" y="5331916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2275" y="5519142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62063" y="5481042"/>
            <a:ext cx="5243789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答完五题就两个人一组：A 问 你长什么样？B 答两句，然后换。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Pairs, straight into the answer, no waiting.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110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8–10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22388"/>
            <a:ext cx="2421434" cy="257175"/>
          </a:xfrm>
          <a:prstGeom prst="roundRect">
            <a:avLst>
              <a:gd name="adj" fmla="val 2466667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760488"/>
            <a:ext cx="2210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2093863"/>
            <a:ext cx="1119225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我们学把形容词说两次，让描写更生动，还会说头发。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9600" y="2710904"/>
            <a:ext cx="1885652" cy="257175"/>
          </a:xfrm>
          <a:prstGeom prst="roundRect">
            <a:avLst>
              <a:gd name="adj" fmla="val 2466667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550" y="2749004"/>
            <a:ext cx="16643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3107680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326960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3269605"/>
            <a:ext cx="7136642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头发，还会说它的颜色和长短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describe hair with a colour and a length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880991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404291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4042916"/>
            <a:ext cx="7715777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我会把形容词说两次 — 大大的眼睛、高高的鼻子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double an adjective for emphasis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65430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481622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54026" y="4816227"/>
            <a:ext cx="66326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 不……也不…… 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something is neither one thing nor the other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只有两个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270397"/>
            <a:ext cx="5308550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0KKCc5Rr2l/l6-reduplication-hair/slides/04-vocab-a1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447" y="1533823"/>
            <a:ext cx="1662857" cy="15874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51050" y="3349823"/>
            <a:ext cx="165816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头发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879080" y="4317504"/>
            <a:ext cx="7849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tóufa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070324" y="4831854"/>
            <a:ext cx="3948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hair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10580" y="5255716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1516" y="5298579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繁体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頭髮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上面是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髟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，头发的部首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73701" y="1270397"/>
            <a:ext cx="5308699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521601" y="3349823"/>
            <a:ext cx="8291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得</a:t>
            </a:r>
            <a:endParaRPr lang="en-US" sz="6400" dirty="0"/>
          </a:p>
        </p:txBody>
      </p:sp>
      <p:sp>
        <p:nvSpPr>
          <p:cNvPr id="16" name="Text 13"/>
          <p:cNvSpPr/>
          <p:nvPr/>
        </p:nvSpPr>
        <p:spPr>
          <a:xfrm>
            <a:off x="8749457" y="4317504"/>
            <a:ext cx="3643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7903220" y="4831854"/>
            <a:ext cx="20905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particle after a verb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974681" y="5255716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5615" y="5298579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上节课你已经在用了 — 长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得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很高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747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74006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今天只有两个新词 — 今天的内容是语法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70782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tóufa hěn cháng.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2275582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头发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很长。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09600" y="2742902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 hair is long.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206353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tóufa shì hēisè de.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" y="3511153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头发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是黑色的。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9600" y="3978473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hair is black.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600" y="4441924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tóufa bù cháng yě bù duǎn.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600" y="4746724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头发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不长也不短。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5214045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 hair is neither long nor short.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8924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66963"/>
            <a:ext cx="10972800" cy="80248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66963"/>
            <a:ext cx="0" cy="802481"/>
          </a:xfrm>
          <a:prstGeom prst="line">
            <a:avLst/>
          </a:prstGeom>
          <a:noFill/>
          <a:ln w="3810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850" y="2519363"/>
            <a:ext cx="107389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我的头发 ______ 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6550" y="3459212"/>
            <a:ext cx="3766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9694" y="3372594"/>
            <a:ext cx="18896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写一句，六十秒。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89185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407908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2063" y="4040981"/>
            <a:ext cx="6826960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颜色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</a:t>
            </a: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长短都写上，还要写两个人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我的头发是黑色的，很短；我妈妈的头发很长。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Colour and length, two people, one sentence.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4984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叠词 (课本 p.119 NOTE)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352104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形容词 + 形容词 + 的 + 名词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748879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dà yǎnjing → dàdà de yǎnjing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040880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大眼睛 → 大大的眼睛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570708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gāo bízi → gāogāo de bízi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2862709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高鼻子 → 高高的鼻子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392537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xiǎo zuǐba → xiǎoxiǎo de zuǐba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3684538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小嘴巴 → 小小的嘴巴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501" y="4214366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hēi tóufa → hēihēi de tóufa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4506367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黑头发 → 黑黑的头发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501" y="4985445"/>
            <a:ext cx="11226998" cy="698302"/>
          </a:xfrm>
          <a:prstGeom prst="roundRect">
            <a:avLst>
              <a:gd name="adj" fmla="val 10912"/>
            </a:avLst>
          </a:prstGeom>
          <a:solidFill>
            <a:srgbClr val="B03C2C">
              <a:alpha val="10000"/>
            </a:srgbClr>
          </a:solidFill>
          <a:ln w="952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9727" y="5096470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6832" y="5096470"/>
            <a:ext cx="616721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叠词后面的「的」不能省。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大大的眼睛 ✓ · 大大眼睛 ✗ — 说两次更生动，这是人说话的样子，不是填表格的样子。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9386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不……也不……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237804"/>
            <a:ext cx="11451538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2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形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也不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2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反义形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989981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tóufa bù cháng yě bù duǎn.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269331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她的头发不长也不短。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773710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bù gāo yě bù ǎi.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3053060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他不高也不矮。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557439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shǒu bù dà yě bù xiǎo.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3836789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我的手不大也不小。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501" y="4341168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gāogāo de, tā de tóufa bù cháng yě bù duǎn.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4620518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她长得高高的，</a:t>
            </a:r>
            <a:r>
              <a:rPr lang="en-US" sz="26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她的头发不长也不短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501" y="5099596"/>
            <a:ext cx="11226998" cy="698302"/>
          </a:xfrm>
          <a:prstGeom prst="roundRect">
            <a:avLst>
              <a:gd name="adj" fmla="val 10912"/>
            </a:avLst>
          </a:prstGeom>
          <a:solidFill>
            <a:srgbClr val="2C4C7C">
              <a:alpha val="10000"/>
            </a:srgbClr>
          </a:solidFill>
          <a:ln w="9525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9727" y="5210621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5277" y="5210621"/>
            <a:ext cx="313476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两个形容词要是</a:t>
            </a: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反义词</a:t>
            </a: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长/短 · 高/矮 · 大/小 — never 很长也很短.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5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课文二 · 全文 · CD T72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973907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老师读两遍 → 全班齐读 → 两人互读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2370683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zhǎng de ǎiǎi 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675483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她长得矮矮的。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3179862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dàdà de yǎnjing, gāogāo de bízi hé xiǎoxiǎo de zuǐba.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3484662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她有大大的眼睛、高高的鼻子和小小的嘴巴。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989040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tóufa bù cháng yě bù duǎn. Nǐ zhǎng shénme yàng?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4293840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她的头发不长也不短。你长什么样？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0231" y="4696718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看第二句的 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、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三样东西，中间用顿号，最后一个前面用「和」。这是第十四课的规矩在做新的工作。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词汇总览 · 全部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1917948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形容词 + 头发 — 等一下都要用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220682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tmp.0KKCc5Rr2l/l6-reduplication-hair/slides/10-board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219" y="2330648"/>
            <a:ext cx="505420" cy="482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0679" y="2927300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头发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100858" y="220682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var/folders/6c/210dcgxn4gz5sm71vld2cy1h0000gn/T/tmp.0KKCc5Rr2l/l6-reduplication-hair/slides/10-board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576" y="2330648"/>
            <a:ext cx="505420" cy="48250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4087" y="2927300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高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719215" y="220682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6c/210dcgxn4gz5sm71vld2cy1h0000gn/T/tmp.0KKCc5Rr2l/l6-reduplication-hair/slides/10-board-ar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933" y="2330648"/>
            <a:ext cx="505420" cy="4825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12444" y="2927300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矮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5337572" y="220682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930801" y="233064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6955929" y="220682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7549158" y="233064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574286" y="220682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9167515" y="233064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10192643" y="220682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10785872" y="233064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370231" y="3517850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八个部位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82501" y="3806726"/>
            <a:ext cx="1314450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3" descr="/var/folders/6c/210dcgxn4gz5sm71vld2cy1h0000gn/T/tmp.0KKCc5Rr2l/l6-reduplication-hair/slides/10-board-art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016" y="3930551"/>
            <a:ext cx="505420" cy="48250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09476" y="4527203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1898452" y="3806726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4" descr="/var/folders/6c/210dcgxn4gz5sm71vld2cy1h0000gn/T/tmp.0KKCc5Rr2l/l6-reduplication-hair/slides/10-board-art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2966" y="3930551"/>
            <a:ext cx="505420" cy="48250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225576" y="4527203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耳朵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3314551" y="3806726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5" descr="/var/folders/6c/210dcgxn4gz5sm71vld2cy1h0000gn/T/tmp.0KKCc5Rr2l/l6-reduplication-hair/slides/10-board-art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9066" y="3930551"/>
            <a:ext cx="505420" cy="48250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41675" y="4527203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鼻子</a:t>
            </a:r>
            <a:endParaRPr lang="en-US" sz="2600" dirty="0"/>
          </a:p>
        </p:txBody>
      </p:sp>
      <p:sp>
        <p:nvSpPr>
          <p:cNvPr id="35" name="Text 27"/>
          <p:cNvSpPr/>
          <p:nvPr/>
        </p:nvSpPr>
        <p:spPr>
          <a:xfrm>
            <a:off x="4730651" y="3806726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6" descr="/var/folders/6c/210dcgxn4gz5sm71vld2cy1h0000gn/T/tmp.0KKCc5Rr2l/l6-reduplication-hair/slides/10-board-art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5166" y="3930551"/>
            <a:ext cx="505420" cy="482501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057775" y="4527203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嘴巴</a:t>
            </a:r>
            <a:endParaRPr lang="en-US" sz="2600" dirty="0"/>
          </a:p>
        </p:txBody>
      </p:sp>
      <p:sp>
        <p:nvSpPr>
          <p:cNvPr id="38" name="Text 29"/>
          <p:cNvSpPr/>
          <p:nvPr/>
        </p:nvSpPr>
        <p:spPr>
          <a:xfrm>
            <a:off x="6146750" y="3806726"/>
            <a:ext cx="1314450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7" descr="/var/folders/6c/210dcgxn4gz5sm71vld2cy1h0000gn/T/tmp.0KKCc5Rr2l/l6-reduplication-hair/slides/10-board-art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1265" y="3930551"/>
            <a:ext cx="505420" cy="482501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638776" y="4527203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</a:t>
            </a:r>
            <a:endParaRPr lang="en-US" sz="2600" dirty="0"/>
          </a:p>
        </p:txBody>
      </p:sp>
      <p:sp>
        <p:nvSpPr>
          <p:cNvPr id="41" name="Text 31"/>
          <p:cNvSpPr/>
          <p:nvPr/>
        </p:nvSpPr>
        <p:spPr>
          <a:xfrm>
            <a:off x="7562701" y="3806726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8" descr="/var/folders/6c/210dcgxn4gz5sm71vld2cy1h0000gn/T/tmp.0KKCc5Rr2l/l6-reduplication-hair/slides/10-board-art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7216" y="3930551"/>
            <a:ext cx="505420" cy="482501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054876" y="4527203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endParaRPr lang="en-US" sz="2600" dirty="0"/>
          </a:p>
        </p:txBody>
      </p:sp>
      <p:sp>
        <p:nvSpPr>
          <p:cNvPr id="44" name="Text 33"/>
          <p:cNvSpPr/>
          <p:nvPr/>
        </p:nvSpPr>
        <p:spPr>
          <a:xfrm>
            <a:off x="8978801" y="3806726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9" descr="/var/folders/6c/210dcgxn4gz5sm71vld2cy1h0000gn/T/tmp.0KKCc5Rr2l/l6-reduplication-hair/slides/10-board-art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3316" y="3930551"/>
            <a:ext cx="505420" cy="482501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9470975" y="4527203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脚</a:t>
            </a:r>
            <a:endParaRPr lang="en-US" sz="2600" dirty="0"/>
          </a:p>
        </p:txBody>
      </p:sp>
      <p:sp>
        <p:nvSpPr>
          <p:cNvPr id="47" name="Text 35"/>
          <p:cNvSpPr/>
          <p:nvPr/>
        </p:nvSpPr>
        <p:spPr>
          <a:xfrm>
            <a:off x="10394900" y="3806726"/>
            <a:ext cx="1314599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10" descr="/var/folders/6c/210dcgxn4gz5sm71vld2cy1h0000gn/T/tmp.0KKCc5Rr2l/l6-reduplication-hair/slides/10-board-art1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9415" y="3930551"/>
            <a:ext cx="505420" cy="482501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10887075" y="4527203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腿</a:t>
            </a:r>
            <a:endParaRPr lang="en-US" sz="2600" dirty="0"/>
          </a:p>
        </p:txBody>
      </p:sp>
      <p:sp>
        <p:nvSpPr>
          <p:cNvPr id="50" name="Shape 3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52" name="Text 39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6420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· 6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02271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屏幕上八个普通词组，改成叠词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1184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921371"/>
            <a:ext cx="456841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大眼睛 → 大大的眼睛 → 她有大大的眼睛。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389882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399407"/>
            <a:ext cx="377932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写在小白板上，最后三个全班一起说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86791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877443"/>
            <a:ext cx="484515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然后课本 p.119 第7题，八张图，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框架都说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384054"/>
            <a:ext cx="10972800" cy="1245691"/>
          </a:xfrm>
          <a:prstGeom prst="roundRect">
            <a:avLst>
              <a:gd name="adj" fmla="val 10195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54597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他有大大的眼睛。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275" y="4038600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他的眼睛大大的。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4756696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94392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2063" y="4905821"/>
            <a:ext cx="738666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挑四张图，每张说三部分 — 长得+叠词、两个叠词部位、一个 不……也不…… 的头发句。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Spoken first, then written.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205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· 练习册 p.167 第13题 · 9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361331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这是整课最重要的写作题 — 它的例句就是考试要的那一段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77090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780431"/>
            <a:ext cx="519657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老师先把例句放在屏幕上，用另一个颜色标出三拍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248942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258467"/>
            <a:ext cx="18896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每张图写三到四句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72697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736503"/>
            <a:ext cx="495915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然后补完第10题的第五到第八张图，这次用叠词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243114"/>
            <a:ext cx="10972800" cy="753070"/>
          </a:xfrm>
          <a:prstGeom prst="roundRect">
            <a:avLst>
              <a:gd name="adj" fmla="val 1686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40503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她长得矮矮的。她有大大的眼睛、小小的鼻子和嘴巴。她的头发不长。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4021485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157960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9381" y="4157960"/>
            <a:ext cx="548288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两个最常见的错：叠词后面丢「的」，还有 长得 后面跟名词。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Circulate for exactly these two.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897636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5084862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62063" y="5046762"/>
            <a:ext cx="752450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先写成一段，再把同样的内容改写成两个人的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对话</a:t>
            </a: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A 问四个问题，B 把那段话分开来答。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content, different genre.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8672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抢词卡 · 课本 p.119 第8题 · 6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201317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两队 · 十五张字卡摊在桌上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610892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620417"/>
            <a:ext cx="656221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卡片：眼睛 耳朵 鼻子 嘴巴 手 脚 腿 头 头发 高 矮 长 短 大 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308892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3098453"/>
            <a:ext cx="6066571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叠词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词组 — 大大的眼睛、小小的嘴巴、黑黑的头发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566964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576489"/>
            <a:ext cx="377932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要按顺序拍两张：先形容词，再部位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4057650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4244876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62063" y="4206776"/>
            <a:ext cx="5485007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老师说英文；拍完两张还要用这个词组说一句带 长得 的话才算分。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point until the sentence is said.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4712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43–50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446312"/>
            <a:ext cx="10972800" cy="285750"/>
          </a:xfrm>
          <a:prstGeom prst="roundRect">
            <a:avLst>
              <a:gd name="adj" fmla="val 2220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484412"/>
            <a:ext cx="109332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185901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02093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54026" y="2020937"/>
            <a:ext cx="301696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头发，还会说颜色和长短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606873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76879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2768798"/>
            <a:ext cx="1893156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我会把形容词说两次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54735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516660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3516660"/>
            <a:ext cx="2175665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 不……也不……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191446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327922"/>
            <a:ext cx="212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7585" y="4327922"/>
            <a:ext cx="486017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写两句：一句用叠词，一句用 不……也不……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sentences: one doubled adjective, one 不……也不……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5042148"/>
            <a:ext cx="10972800" cy="547241"/>
          </a:xfrm>
          <a:prstGeom prst="roundRect">
            <a:avLst>
              <a:gd name="adj" fmla="val 13924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5178623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826" y="5178623"/>
            <a:ext cx="57206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把全部说出来 — 猜猜他是谁，还有描写名人让全班猜。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156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下节课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3599" y="1495723"/>
            <a:ext cx="7124498" cy="139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猜猜他是谁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2709118" y="3070473"/>
            <a:ext cx="690908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7 — describe a person, the class guesses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908822" y="3674715"/>
            <a:ext cx="4374356" cy="1865412"/>
          </a:xfrm>
          <a:prstGeom prst="roundRect">
            <a:avLst>
              <a:gd name="adj" fmla="val 68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7697" y="3874740"/>
            <a:ext cx="387253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他长得高高的。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97697" y="4392811"/>
            <a:ext cx="387253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他有黑色的短发。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97697" y="4910882"/>
            <a:ext cx="387253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他是中国人。 → 王老师！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950" y="6307187"/>
            <a:ext cx="18342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8 · 头发 · 大大的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22110" y="6307187"/>
            <a:ext cx="27151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p.118–119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2026-10-15T09:24:49Z</dcterms:created>
  <dcterms:modified xsi:type="dcterms:W3CDTF">2026-10-15T09:24:49Z</dcterms:modified>
</cp:coreProperties>
</file>