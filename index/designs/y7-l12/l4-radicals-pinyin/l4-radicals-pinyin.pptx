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76639" y="2086273"/>
            <a:ext cx="1342430" cy="326827"/>
          </a:xfrm>
          <a:prstGeom prst="roundRect">
            <a:avLst>
              <a:gd name="adj" fmla="val 3881962"/>
            </a:avLst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970428" y="2149673"/>
            <a:ext cx="9548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部首 Radicals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46019" y="2086273"/>
            <a:ext cx="1169194" cy="326827"/>
          </a:xfrm>
          <a:prstGeom prst="roundRect">
            <a:avLst>
              <a:gd name="adj" fmla="val 3881962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41540" y="2149673"/>
            <a:ext cx="778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 Pinyin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42792" y="2616250"/>
            <a:ext cx="59064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4 · Y7 UNIT 4.3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42792" y="2952750"/>
            <a:ext cx="5906417" cy="977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700"/>
              </a:lnSpc>
              <a:spcAft>
                <a:spcPts val="800"/>
              </a:spcAft>
              <a:buNone/>
            </a:pPr>
            <a:r>
              <a:rPr lang="en-US" sz="7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部首</a:t>
            </a:r>
            <a:pPr algn="ctr" indent="0" marL="0">
              <a:lnSpc>
                <a:spcPts val="7700"/>
              </a:lnSpc>
              <a:spcAft>
                <a:spcPts val="800"/>
              </a:spcAft>
              <a:buNone/>
            </a:pPr>
            <a:r>
              <a:rPr lang="en-US" sz="7000" b="1" dirty="0">
                <a:solidFill>
                  <a:srgbClr val="D5CEB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ctr" indent="0" marL="0">
              <a:lnSpc>
                <a:spcPts val="7700"/>
              </a:lnSpc>
              <a:spcAft>
                <a:spcPts val="800"/>
              </a:spcAft>
              <a:buNone/>
            </a:pPr>
            <a:r>
              <a:rPr lang="en-US" sz="70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拼音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3142792" y="4032052"/>
            <a:ext cx="59064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Radicals + Pinyin Listening · 6个新部首 &amp; ang/eng/ing/ong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42792" y="4571702"/>
            <a:ext cx="59064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 ·  50 mins  ·  Reading + Listening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部首拼音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514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465" y="144363"/>
            <a:ext cx="18477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Lesson 3 Recap · 0–8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584150"/>
            <a:ext cx="11192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SLAP THE BOARD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847576"/>
            <a:ext cx="111922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上/下 Phrase Pairs · 拍词卡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600" y="1339602"/>
            <a:ext cx="111922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students at the board with all 8 phrase cards spread out. Teacher says the English meaning — first to slap the correct card scores a point.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9600" y="1622078"/>
            <a:ext cx="2667000" cy="828526"/>
          </a:xfrm>
          <a:prstGeom prst="roundRect">
            <a:avLst>
              <a:gd name="adj" fmla="val 91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9600" y="1631603"/>
            <a:ext cx="2667000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7075" y="1622078"/>
            <a:ext cx="0" cy="828526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600" y="2441079"/>
            <a:ext cx="2667000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8650" y="1622078"/>
            <a:ext cx="0" cy="828526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367" y="1717328"/>
            <a:ext cx="25585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上课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3367" y="2056954"/>
            <a:ext cx="25585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kè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3367" y="2212479"/>
            <a:ext cx="25585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class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78101" y="1622078"/>
            <a:ext cx="2667149" cy="828526"/>
          </a:xfrm>
          <a:prstGeom prst="roundRect">
            <a:avLst>
              <a:gd name="adj" fmla="val 91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78101" y="1631603"/>
            <a:ext cx="2667149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725" y="1622078"/>
            <a:ext cx="0" cy="828526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78101" y="2441079"/>
            <a:ext cx="2667149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97151" y="1622078"/>
            <a:ext cx="0" cy="828526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1866" y="1717328"/>
            <a:ext cx="255866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下课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441866" y="2056954"/>
            <a:ext cx="25586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kè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41866" y="2212479"/>
            <a:ext cx="25586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finish class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46750" y="1622078"/>
            <a:ext cx="2667000" cy="828526"/>
          </a:xfrm>
          <a:prstGeom prst="roundRect">
            <a:avLst>
              <a:gd name="adj" fmla="val 91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146750" y="1631603"/>
            <a:ext cx="2667000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04225" y="1622078"/>
            <a:ext cx="0" cy="828526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46750" y="2441079"/>
            <a:ext cx="2667000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65800" y="1622078"/>
            <a:ext cx="0" cy="828526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0517" y="1717328"/>
            <a:ext cx="25585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上学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210517" y="2056954"/>
            <a:ext cx="25585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xué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10517" y="2212479"/>
            <a:ext cx="25585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to school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915251" y="1622078"/>
            <a:ext cx="2667149" cy="828526"/>
          </a:xfrm>
          <a:prstGeom prst="roundRect">
            <a:avLst>
              <a:gd name="adj" fmla="val 91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8915251" y="1631603"/>
            <a:ext cx="2667149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572875" y="1622078"/>
            <a:ext cx="0" cy="828526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15251" y="2441079"/>
            <a:ext cx="2667149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34301" y="1622078"/>
            <a:ext cx="0" cy="828526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79017" y="1717328"/>
            <a:ext cx="255866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放学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979017" y="2056954"/>
            <a:ext cx="25586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fàng xué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979017" y="2212479"/>
            <a:ext cx="25586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finish school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9600" y="2552105"/>
            <a:ext cx="2667000" cy="828526"/>
          </a:xfrm>
          <a:prstGeom prst="roundRect">
            <a:avLst>
              <a:gd name="adj" fmla="val 91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09600" y="2561630"/>
            <a:ext cx="2667000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67075" y="2552105"/>
            <a:ext cx="0" cy="828526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9600" y="3371106"/>
            <a:ext cx="2667000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8650" y="2552105"/>
            <a:ext cx="0" cy="828526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3367" y="2647355"/>
            <a:ext cx="25585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上班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73367" y="2986980"/>
            <a:ext cx="25585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bān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3367" y="3142506"/>
            <a:ext cx="25585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work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378101" y="2552105"/>
            <a:ext cx="2667149" cy="828526"/>
          </a:xfrm>
          <a:prstGeom prst="roundRect">
            <a:avLst>
              <a:gd name="adj" fmla="val 91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3378101" y="2561630"/>
            <a:ext cx="2667149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35725" y="2552105"/>
            <a:ext cx="0" cy="828526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78101" y="3371106"/>
            <a:ext cx="2667149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97151" y="2552105"/>
            <a:ext cx="0" cy="828526"/>
          </a:xfrm>
          <a:prstGeom prst="line">
            <a:avLst/>
          </a:prstGeom>
          <a:noFill/>
          <a:ln w="38100">
            <a:solidFill>
              <a:srgbClr val="D475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41866" y="2647355"/>
            <a:ext cx="255866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下班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3441866" y="2986980"/>
            <a:ext cx="25586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bān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441866" y="3142506"/>
            <a:ext cx="25586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finish work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146750" y="2552105"/>
            <a:ext cx="2667000" cy="828526"/>
          </a:xfrm>
          <a:prstGeom prst="roundRect">
            <a:avLst>
              <a:gd name="adj" fmla="val 91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6146750" y="2561630"/>
            <a:ext cx="2667000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04225" y="2552105"/>
            <a:ext cx="0" cy="828526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46750" y="3371106"/>
            <a:ext cx="2667000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65800" y="2552105"/>
            <a:ext cx="0" cy="828526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10517" y="2647355"/>
            <a:ext cx="25585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上车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210517" y="2986980"/>
            <a:ext cx="25585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chē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210517" y="3142506"/>
            <a:ext cx="25585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get on (vehicle)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915251" y="2552105"/>
            <a:ext cx="2667149" cy="828526"/>
          </a:xfrm>
          <a:prstGeom prst="roundRect">
            <a:avLst>
              <a:gd name="adj" fmla="val 91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Shape 65"/>
          <p:cNvSpPr/>
          <p:nvPr/>
        </p:nvSpPr>
        <p:spPr>
          <a:xfrm>
            <a:off x="8915251" y="2561630"/>
            <a:ext cx="2667149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572875" y="2552105"/>
            <a:ext cx="0" cy="828526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915251" y="3371106"/>
            <a:ext cx="2667149" cy="0"/>
          </a:xfrm>
          <a:prstGeom prst="line">
            <a:avLst/>
          </a:prstGeom>
          <a:noFill/>
          <a:ln w="19050">
            <a:solidFill>
              <a:srgbClr val="D5CEB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934301" y="2552105"/>
            <a:ext cx="0" cy="828526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79017" y="2647355"/>
            <a:ext cx="255866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下车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8979017" y="2986980"/>
            <a:ext cx="25586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chē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979017" y="3142506"/>
            <a:ext cx="25586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get off (vehicle)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09600" y="3482132"/>
            <a:ext cx="2556867" cy="288727"/>
          </a:xfrm>
          <a:prstGeom prst="roundRect">
            <a:avLst>
              <a:gd name="adj" fmla="val 43942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762000" y="3545532"/>
            <a:ext cx="2297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students race at the board each round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267968" y="3482132"/>
            <a:ext cx="2542133" cy="288727"/>
          </a:xfrm>
          <a:prstGeom prst="roundRect">
            <a:avLst>
              <a:gd name="adj" fmla="val 43942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3420368" y="3545532"/>
            <a:ext cx="22820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the English meaning aloud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911602" y="3482132"/>
            <a:ext cx="2733229" cy="288727"/>
          </a:xfrm>
          <a:prstGeom prst="roundRect">
            <a:avLst>
              <a:gd name="adj" fmla="val 43942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6064002" y="3545532"/>
            <a:ext cx="24769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to slap the correct card wins the point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09600" y="3872359"/>
            <a:ext cx="3086993" cy="288727"/>
          </a:xfrm>
          <a:prstGeom prst="roundRect">
            <a:avLst>
              <a:gd name="adj" fmla="val 43942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762000" y="3935760"/>
            <a:ext cx="28378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Winner stays up — rotate through the whole class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09600" y="4262586"/>
            <a:ext cx="10972800" cy="383977"/>
          </a:xfrm>
          <a:prstGeom prst="rect">
            <a:avLst/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Shape 81"/>
          <p:cNvSpPr/>
          <p:nvPr/>
        </p:nvSpPr>
        <p:spPr>
          <a:xfrm>
            <a:off x="633412" y="4262586"/>
            <a:ext cx="0" cy="383977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60375" y="4364087"/>
            <a:ext cx="107292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"You've got the phrase pairs down. Today we go under the hood — the radicals inside these Lesson 12 characters — and train your ear for new pinyin sounds."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部首拼音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514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465" y="144363"/>
            <a:ext cx="2492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2750" y="1606897"/>
            <a:ext cx="107778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PROJECT, CHORAL READ, KEEP VISIBLE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2750" y="1921222"/>
            <a:ext cx="1077782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12750" y="2540347"/>
            <a:ext cx="10566499" cy="784175"/>
          </a:xfrm>
          <a:prstGeom prst="rect">
            <a:avLst/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41325" y="2540347"/>
            <a:ext cx="0" cy="784175"/>
          </a:xfrm>
          <a:prstGeom prst="line">
            <a:avLst/>
          </a:prstGeom>
          <a:noFill/>
          <a:ln w="57150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8500" y="2692747"/>
            <a:ext cx="10253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7A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8500" y="2905423"/>
            <a:ext cx="10253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the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new radicals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Lesson 12 and practising the pinyin finals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ang / eng / ing / ong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750" y="3476923"/>
            <a:ext cx="292001" cy="292001"/>
          </a:xfrm>
          <a:prstGeom prst="roundRect">
            <a:avLst>
              <a:gd name="adj" fmla="val 313150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30027" y="3532436"/>
            <a:ext cx="5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1702" y="3508623"/>
            <a:ext cx="54540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name the </a:t>
            </a:r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radicals</a:t>
            </a:r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give an example character for each.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93750" y="3870424"/>
            <a:ext cx="103892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说出6个部首和例字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2750" y="4152900"/>
            <a:ext cx="292001" cy="292001"/>
          </a:xfrm>
          <a:prstGeom prst="roundRect">
            <a:avLst>
              <a:gd name="adj" fmla="val 313150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18418" y="4208413"/>
            <a:ext cx="82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1702" y="4184600"/>
            <a:ext cx="3850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identify the </a:t>
            </a:r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meaning clue</a:t>
            </a:r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 radical gives.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93750" y="4546402"/>
            <a:ext cx="103892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说出部首的意思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2750" y="4828877"/>
            <a:ext cx="292001" cy="292001"/>
          </a:xfrm>
          <a:prstGeom prst="roundRect">
            <a:avLst>
              <a:gd name="adj" fmla="val 313150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18121" y="4884390"/>
            <a:ext cx="827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1702" y="4860578"/>
            <a:ext cx="4856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listen and write </a:t>
            </a:r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</a:t>
            </a:r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the correct final and tone.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93750" y="5222379"/>
            <a:ext cx="103892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听写拼音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部首拼音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514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465" y="144363"/>
            <a:ext cx="21739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6 Radicals (Scaffolded)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558701"/>
            <a:ext cx="11399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P.89, EXERCISE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796826"/>
            <a:ext cx="1139962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 New Radicals · 六个新部首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7950" y="1454051"/>
            <a:ext cx="11176099" cy="0"/>
          </a:xfrm>
          <a:prstGeom prst="line">
            <a:avLst/>
          </a:prstGeom>
          <a:noFill/>
          <a:ln w="19050">
            <a:solidFill>
              <a:srgbClr val="C894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451" y="1263551"/>
            <a:ext cx="7772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部首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71451" y="1263551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14451" y="1263551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MEANING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84402" y="1263551"/>
            <a:ext cx="79541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CHARACTER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7950" y="1858863"/>
            <a:ext cx="11176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451" y="1501676"/>
            <a:ext cx="7772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451" y="1568351"/>
            <a:ext cx="11658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wén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451" y="1568351"/>
            <a:ext cx="12953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84402" y="1535013"/>
            <a:ext cx="79541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</a:t>
            </a:r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shù — number, count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950" y="2258913"/>
            <a:ext cx="11176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451" y="1901726"/>
            <a:ext cx="7772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欠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451" y="1968401"/>
            <a:ext cx="11658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qiàn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451" y="1968401"/>
            <a:ext cx="12953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owe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84402" y="1935063"/>
            <a:ext cx="79541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欢</a:t>
            </a:r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huān — happy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950" y="2658963"/>
            <a:ext cx="11176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451" y="2301776"/>
            <a:ext cx="7772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士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451" y="2368451"/>
            <a:ext cx="11658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14451" y="2368451"/>
            <a:ext cx="12953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scholar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84402" y="2335113"/>
            <a:ext cx="79541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喜</a:t>
            </a:r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xǐ — joy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7950" y="3059013"/>
            <a:ext cx="11176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9451" y="2701826"/>
            <a:ext cx="7772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门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71451" y="2768501"/>
            <a:ext cx="11658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mén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14451" y="2768501"/>
            <a:ext cx="12953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84402" y="2735163"/>
            <a:ext cx="79541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</a:t>
            </a:r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wèn — ask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7950" y="3459063"/>
            <a:ext cx="11176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9451" y="3101876"/>
            <a:ext cx="7772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竹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71451" y="3168551"/>
            <a:ext cx="11658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zhú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14451" y="3168551"/>
            <a:ext cx="12953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bamboo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84402" y="3135213"/>
            <a:ext cx="79541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</a:t>
            </a:r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děng — wait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7950" y="3463826"/>
            <a:ext cx="11176099" cy="488900"/>
          </a:xfrm>
          <a:prstGeom prst="rect">
            <a:avLst/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07950" y="3947964"/>
            <a:ext cx="111760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9451" y="3546277"/>
            <a:ext cx="7772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钅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371451" y="3612952"/>
            <a:ext cx="11658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jīn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14451" y="3612952"/>
            <a:ext cx="12953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784402" y="3501926"/>
            <a:ext cx="79541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铁</a:t>
            </a:r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tiě — iron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784402" y="3762226"/>
            <a:ext cx="79541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CONNECTS TO 地铁!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7950" y="4028926"/>
            <a:ext cx="5537299" cy="731639"/>
          </a:xfrm>
          <a:prstGeom prst="roundRect">
            <a:avLst>
              <a:gd name="adj" fmla="val 10415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34901" y="4092327"/>
            <a:ext cx="53890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SCAFFOLDED — ONE RADICAL AT A TIME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4901" y="4260503"/>
            <a:ext cx="5389066" cy="436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each radical: show it alone → show it highlighted inside the example character → say what image/meaning it evokes → students copy-write the radical 3× on whiteboards → move to the next. Do not introduce all 6 at once.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146750" y="4028926"/>
            <a:ext cx="5537299" cy="731639"/>
          </a:xfrm>
          <a:prstGeom prst="roundRect">
            <a:avLst>
              <a:gd name="adj" fmla="val 10415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273701" y="4092327"/>
            <a:ext cx="53890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STROKE ORDER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73701" y="4260503"/>
            <a:ext cx="5389066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Demonstrate stroke order on the projector for the two trickier radicals — 竹 and 钅 — before students copy.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07950" y="4836765"/>
            <a:ext cx="11176099" cy="631627"/>
          </a:xfrm>
          <a:prstGeom prst="roundRect">
            <a:avLst>
              <a:gd name="adj" fmla="val 12064"/>
            </a:avLst>
          </a:prstGeom>
          <a:solidFill>
            <a:srgbClr val="F3E0DC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04701" y="4919216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铁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1161901" y="4969966"/>
            <a:ext cx="3515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铁 (tiě, "iron") uses the 钅 (metal) radical!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161901" y="5182642"/>
            <a:ext cx="35150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Recall 地铁 (dìtiě, "subway") from Lesson 2 — same 铁 character.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部首拼音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514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465" y="144363"/>
            <a:ext cx="17917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Pinyin Listening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430387"/>
            <a:ext cx="109851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EX5, P.89 · CD T56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1101" y="1744712"/>
            <a:ext cx="109851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Pinyin Focus · 四个韵母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1101" y="2325737"/>
            <a:ext cx="10985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target finals — watch the teacher's mouth shape for each one!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1101" y="2678162"/>
            <a:ext cx="2578150" cy="2047726"/>
          </a:xfrm>
          <a:prstGeom prst="roundRect">
            <a:avLst>
              <a:gd name="adj" fmla="val 6202"/>
            </a:avLst>
          </a:prstGeom>
          <a:solidFill>
            <a:srgbClr val="E8CD8A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8281" y="2849612"/>
            <a:ext cx="23837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08281" y="3043238"/>
            <a:ext cx="23837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ang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08281" y="3500438"/>
            <a:ext cx="23837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Wide open — jaw drops right back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1652" y="3738563"/>
            <a:ext cx="2337048" cy="653951"/>
          </a:xfrm>
          <a:prstGeom prst="roundRect">
            <a:avLst>
              <a:gd name="adj" fmla="val 116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60046" y="3814763"/>
            <a:ext cx="22802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0046" y="4154388"/>
            <a:ext cx="22802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41650" y="2678162"/>
            <a:ext cx="2578150" cy="2047726"/>
          </a:xfrm>
          <a:prstGeom prst="roundRect">
            <a:avLst>
              <a:gd name="adj" fmla="val 6202"/>
            </a:avLst>
          </a:prstGeom>
          <a:solidFill>
            <a:srgbClr val="C7DEE2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38831" y="2849612"/>
            <a:ext cx="23837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38831" y="3043238"/>
            <a:ext cx="23837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538831" y="3500438"/>
            <a:ext cx="238378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Neutral — relaxed jaw, tongue pulled back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2201" y="3900488"/>
            <a:ext cx="2337048" cy="653951"/>
          </a:xfrm>
          <a:prstGeom prst="roundRect">
            <a:avLst>
              <a:gd name="adj" fmla="val 116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90596" y="3976687"/>
            <a:ext cx="22802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等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590596" y="4316313"/>
            <a:ext cx="22802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děng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72200" y="2678162"/>
            <a:ext cx="2578150" cy="2047726"/>
          </a:xfrm>
          <a:prstGeom prst="roundRect">
            <a:avLst>
              <a:gd name="adj" fmla="val 6202"/>
            </a:avLst>
          </a:prstGeom>
          <a:solidFill>
            <a:srgbClr val="E8CD8A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69380" y="2849612"/>
            <a:ext cx="23837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69380" y="3043238"/>
            <a:ext cx="23837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ing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269380" y="3500438"/>
            <a:ext cx="238378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Smile — corners pulled back, tongue high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92751" y="3900488"/>
            <a:ext cx="2337048" cy="653951"/>
          </a:xfrm>
          <a:prstGeom prst="roundRect">
            <a:avLst>
              <a:gd name="adj" fmla="val 116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21146" y="3976687"/>
            <a:ext cx="22802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行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321146" y="4316313"/>
            <a:ext cx="22802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xíng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902750" y="2678162"/>
            <a:ext cx="2578150" cy="2047726"/>
          </a:xfrm>
          <a:prstGeom prst="roundRect">
            <a:avLst>
              <a:gd name="adj" fmla="val 6202"/>
            </a:avLst>
          </a:prstGeom>
          <a:solidFill>
            <a:srgbClr val="C7DEE2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999930" y="2849612"/>
            <a:ext cx="23837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999930" y="3043238"/>
            <a:ext cx="23837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ong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8999930" y="3500438"/>
            <a:ext cx="23837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Rounded lips, tongue pulled well back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23300" y="3738563"/>
            <a:ext cx="2337048" cy="653951"/>
          </a:xfrm>
          <a:prstGeom prst="roundRect">
            <a:avLst>
              <a:gd name="adj" fmla="val 116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051695" y="3814763"/>
            <a:ext cx="228025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送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051695" y="4154388"/>
            <a:ext cx="22802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sòng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1101" y="4878288"/>
            <a:ext cx="10769798" cy="701576"/>
          </a:xfrm>
          <a:prstGeom prst="roundRect">
            <a:avLst>
              <a:gd name="adj" fmla="val 14482"/>
            </a:avLst>
          </a:prstGeom>
          <a:solidFill>
            <a:srgbClr val="F3E0DC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33301" y="5024289"/>
            <a:ext cx="84734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2 examples first, then 播放 CD T56 · Play CD Track 56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33301" y="5271939"/>
            <a:ext cx="84734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 and writes the pinyin (with tone mark) for 2 example words first, thinking aloud about the final sound — then play the full track.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部首拼音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514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465" y="144363"/>
            <a:ext cx="2255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2750" y="1379488"/>
            <a:ext cx="107778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 — EMBEDDED PER RADICAL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2750" y="1719114"/>
            <a:ext cx="1077782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12750" y="2363539"/>
            <a:ext cx="10566499" cy="804416"/>
          </a:xfrm>
          <a:prstGeom prst="roundRect">
            <a:avLst>
              <a:gd name="adj" fmla="val 1263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62079" y="2551361"/>
            <a:ext cx="4663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27002" y="2541240"/>
            <a:ext cx="958631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门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what does it mean?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27002" y="2828330"/>
            <a:ext cx="95863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if you know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12750" y="3320355"/>
            <a:ext cx="10566499" cy="804416"/>
          </a:xfrm>
          <a:prstGeom prst="roundRect">
            <a:avLst>
              <a:gd name="adj" fmla="val 1263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62079" y="3508177"/>
            <a:ext cx="4663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27002" y="3498056"/>
            <a:ext cx="958631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钅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which Lesson 12 word do you know with 钅 in it?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27002" y="3785146"/>
            <a:ext cx="95863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12750" y="4277171"/>
            <a:ext cx="10566499" cy="804416"/>
          </a:xfrm>
          <a:prstGeom prst="roundRect">
            <a:avLst>
              <a:gd name="adj" fmla="val 1263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62079" y="4464993"/>
            <a:ext cx="4663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27002" y="4454872"/>
            <a:ext cx="958631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radical for "bamboo".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27002" y="4741962"/>
            <a:ext cx="95863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whiteboards, hold it up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12750" y="5259288"/>
            <a:ext cx="10566499" cy="371475"/>
          </a:xfrm>
          <a:prstGeom prst="roundRect">
            <a:avLst>
              <a:gd name="adj" fmla="val 20513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34951" y="5354538"/>
            <a:ext cx="103245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部首拼音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514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465" y="144363"/>
            <a:ext cx="17594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· Answers · 10–20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2750" y="1408509"/>
            <a:ext cx="107778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CHECK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2750" y="1722834"/>
            <a:ext cx="1077782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Understanding: Answers · 答案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12750" y="2341959"/>
            <a:ext cx="10566499" cy="336352"/>
          </a:xfrm>
          <a:prstGeom prst="roundRect">
            <a:avLst>
              <a:gd name="adj" fmla="val 377203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41350" y="2405360"/>
            <a:ext cx="103114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🔑 Answer Key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2750" y="2830711"/>
            <a:ext cx="10566499" cy="822127"/>
          </a:xfrm>
          <a:prstGeom prst="roundRect">
            <a:avLst>
              <a:gd name="adj" fmla="val 12358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81129" y="3027462"/>
            <a:ext cx="4663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46052" y="3117205"/>
            <a:ext cx="8614309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</a:t>
            </a:r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门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what does it mean?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94603" y="3084612"/>
            <a:ext cx="72593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door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2750" y="3805237"/>
            <a:ext cx="10566499" cy="822127"/>
          </a:xfrm>
          <a:prstGeom prst="roundRect">
            <a:avLst>
              <a:gd name="adj" fmla="val 12358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81129" y="4001988"/>
            <a:ext cx="4663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46052" y="4091732"/>
            <a:ext cx="858243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Lesson 12 word do you know with 钅 in it?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363349" y="4059138"/>
            <a:ext cx="75780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地铁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2750" y="4779764"/>
            <a:ext cx="10566499" cy="822127"/>
          </a:xfrm>
          <a:prstGeom prst="roundRect">
            <a:avLst>
              <a:gd name="adj" fmla="val 12358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81129" y="4976515"/>
            <a:ext cx="4663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746052" y="5066258"/>
            <a:ext cx="881560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radical for "bamboo".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91949" y="5033665"/>
            <a:ext cx="52463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竹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部首拼音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514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465" y="144363"/>
            <a:ext cx="15994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584150"/>
            <a:ext cx="11192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8 MIN · WE 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873026"/>
            <a:ext cx="1119225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Radical Copying + Matching · 部首连线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1352401"/>
            <a:ext cx="111922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Worksheet: the 6 radicals and 6 example characters are scrambled. With teacher guidance, draw a line matching each radical to its character.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3334" y="1660327"/>
            <a:ext cx="14246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部首 (SCRAMBLED)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27302" y="1904702"/>
            <a:ext cx="1396752" cy="438150"/>
          </a:xfrm>
          <a:prstGeom prst="roundRect">
            <a:avLst>
              <a:gd name="adj" fmla="val 1739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72313" y="1980902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士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27302" y="2419052"/>
            <a:ext cx="1396752" cy="438150"/>
          </a:xfrm>
          <a:prstGeom prst="roundRect">
            <a:avLst>
              <a:gd name="adj" fmla="val 1739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72313" y="2495252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27302" y="2933402"/>
            <a:ext cx="1396752" cy="438150"/>
          </a:xfrm>
          <a:prstGeom prst="roundRect">
            <a:avLst>
              <a:gd name="adj" fmla="val 1739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72313" y="3009602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27302" y="3447752"/>
            <a:ext cx="1396752" cy="438150"/>
          </a:xfrm>
          <a:prstGeom prst="roundRect">
            <a:avLst>
              <a:gd name="adj" fmla="val 1739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72313" y="3523952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27302" y="3962102"/>
            <a:ext cx="1396752" cy="438150"/>
          </a:xfrm>
          <a:prstGeom prst="roundRect">
            <a:avLst>
              <a:gd name="adj" fmla="val 1739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72313" y="4038302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27302" y="4476452"/>
            <a:ext cx="1396752" cy="438150"/>
          </a:xfrm>
          <a:prstGeom prst="roundRect">
            <a:avLst>
              <a:gd name="adj" fmla="val 1739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372313" y="4552652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欠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2004" y="2068264"/>
            <a:ext cx="1305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2004" y="2487364"/>
            <a:ext cx="1305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2004" y="2906464"/>
            <a:ext cx="1305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2004" y="3325564"/>
            <a:ext cx="1305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2004" y="3744664"/>
            <a:ext cx="1305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2004" y="4163764"/>
            <a:ext cx="1305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53979" y="1660327"/>
            <a:ext cx="14246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例字 (SCRAMBLED)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667946" y="1904702"/>
            <a:ext cx="1396752" cy="438150"/>
          </a:xfrm>
          <a:prstGeom prst="roundRect">
            <a:avLst>
              <a:gd name="adj" fmla="val 1739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912958" y="1980902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67946" y="2419052"/>
            <a:ext cx="1396752" cy="438150"/>
          </a:xfrm>
          <a:prstGeom prst="roundRect">
            <a:avLst>
              <a:gd name="adj" fmla="val 1739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12958" y="2495252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67946" y="2933402"/>
            <a:ext cx="1396752" cy="438150"/>
          </a:xfrm>
          <a:prstGeom prst="roundRect">
            <a:avLst>
              <a:gd name="adj" fmla="val 1739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912958" y="3009602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铁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67946" y="3447752"/>
            <a:ext cx="1396752" cy="438150"/>
          </a:xfrm>
          <a:prstGeom prst="roundRect">
            <a:avLst>
              <a:gd name="adj" fmla="val 1739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912958" y="3523952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67946" y="3962102"/>
            <a:ext cx="1396752" cy="438150"/>
          </a:xfrm>
          <a:prstGeom prst="roundRect">
            <a:avLst>
              <a:gd name="adj" fmla="val 1739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12958" y="4038302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欢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67946" y="4476452"/>
            <a:ext cx="1396752" cy="438150"/>
          </a:xfrm>
          <a:prstGeom prst="roundRect">
            <a:avLst>
              <a:gd name="adj" fmla="val 1739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912958" y="4552652"/>
            <a:ext cx="9067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等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09600" y="5041553"/>
            <a:ext cx="10972800" cy="364927"/>
          </a:xfrm>
          <a:prstGeom prst="roundRect">
            <a:avLst>
              <a:gd name="adj" fmla="val 20881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12750" y="5143054"/>
            <a:ext cx="54437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matching each pair, copy the radical 3× in the correct stroke order on the worksheet.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09600" y="5533430"/>
            <a:ext cx="3589883" cy="600968"/>
          </a:xfrm>
          <a:prstGeom prst="roundRect">
            <a:avLst>
              <a:gd name="adj" fmla="val 1268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36550" y="5609630"/>
            <a:ext cx="34027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36550" y="5777805"/>
            <a:ext cx="3402702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Radical meanings printed alongside for reference throughout the worksheet.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300984" y="5533430"/>
            <a:ext cx="3589883" cy="600968"/>
          </a:xfrm>
          <a:prstGeom prst="roundRect">
            <a:avLst>
              <a:gd name="adj" fmla="val 1268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427934" y="5609630"/>
            <a:ext cx="34027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427934" y="5777805"/>
            <a:ext cx="3402702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Find one more character already known from earlier units that contains one of these 6 radicals, and write it down.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992368" y="5533430"/>
            <a:ext cx="3590032" cy="600968"/>
          </a:xfrm>
          <a:prstGeom prst="roundRect">
            <a:avLst>
              <a:gd name="adj" fmla="val 1268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119318" y="5609630"/>
            <a:ext cx="34028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119318" y="5777805"/>
            <a:ext cx="340285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— hold up matched pairs each round.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部首拼音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514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465" y="144363"/>
            <a:ext cx="16557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558701"/>
            <a:ext cx="112960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YOU DO · 8 MIN · EX5, P.89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8701" y="822127"/>
            <a:ext cx="1129609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Pinyin Listening Dictation · 听写拼音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58701" y="1276052"/>
            <a:ext cx="11296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reads each word aloud. Write the pinyin with the correct tone mark on your whiteboard, then hold it up.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8701" y="1558528"/>
            <a:ext cx="11074598" cy="419100"/>
          </a:xfrm>
          <a:prstGeom prst="roundRect">
            <a:avLst>
              <a:gd name="adj" fmla="val 18182"/>
            </a:avLst>
          </a:prstGeom>
          <a:solidFill>
            <a:srgbClr val="F3E0DC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0901" y="1653778"/>
            <a:ext cx="10842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🔊 CD T56 or teacher-read — 6–8 words with ang / eng / ing / ong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8701" y="2079129"/>
            <a:ext cx="2692450" cy="698153"/>
          </a:xfrm>
          <a:prstGeom prst="roundRect">
            <a:avLst>
              <a:gd name="adj" fmla="val 14553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2973" y="2199680"/>
            <a:ext cx="26039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87401" y="2437805"/>
            <a:ext cx="634901" cy="25301"/>
          </a:xfrm>
          <a:prstGeom prst="roundRect">
            <a:avLst>
              <a:gd name="adj" fmla="val 100391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2973" y="2513856"/>
            <a:ext cx="26039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&amp; write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51" y="2079129"/>
            <a:ext cx="2692598" cy="698153"/>
          </a:xfrm>
          <a:prstGeom prst="roundRect">
            <a:avLst>
              <a:gd name="adj" fmla="val 14553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96922" y="2199680"/>
            <a:ext cx="26040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1500" y="2437805"/>
            <a:ext cx="634901" cy="25301"/>
          </a:xfrm>
          <a:prstGeom prst="roundRect">
            <a:avLst>
              <a:gd name="adj" fmla="val 100391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96922" y="2513856"/>
            <a:ext cx="26040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&amp; write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46750" y="2079129"/>
            <a:ext cx="2692450" cy="698153"/>
          </a:xfrm>
          <a:prstGeom prst="roundRect">
            <a:avLst>
              <a:gd name="adj" fmla="val 14553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91022" y="2199680"/>
            <a:ext cx="26039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75450" y="2437805"/>
            <a:ext cx="634901" cy="25301"/>
          </a:xfrm>
          <a:prstGeom prst="roundRect">
            <a:avLst>
              <a:gd name="adj" fmla="val 100391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91022" y="2513856"/>
            <a:ext cx="26039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&amp; write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940701" y="2079129"/>
            <a:ext cx="2692598" cy="698153"/>
          </a:xfrm>
          <a:prstGeom prst="roundRect">
            <a:avLst>
              <a:gd name="adj" fmla="val 14553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984971" y="2199680"/>
            <a:ext cx="26040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969550" y="2437805"/>
            <a:ext cx="634901" cy="25301"/>
          </a:xfrm>
          <a:prstGeom prst="roundRect">
            <a:avLst>
              <a:gd name="adj" fmla="val 100391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984971" y="2513856"/>
            <a:ext cx="26040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&amp; write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8701" y="2878782"/>
            <a:ext cx="2692450" cy="698153"/>
          </a:xfrm>
          <a:prstGeom prst="roundRect">
            <a:avLst>
              <a:gd name="adj" fmla="val 14553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2973" y="2999333"/>
            <a:ext cx="26039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87401" y="3237458"/>
            <a:ext cx="634901" cy="25301"/>
          </a:xfrm>
          <a:prstGeom prst="roundRect">
            <a:avLst>
              <a:gd name="adj" fmla="val 100391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2973" y="3313509"/>
            <a:ext cx="26039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&amp; write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52651" y="2878782"/>
            <a:ext cx="2692598" cy="698153"/>
          </a:xfrm>
          <a:prstGeom prst="roundRect">
            <a:avLst>
              <a:gd name="adj" fmla="val 14553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396922" y="2999333"/>
            <a:ext cx="26040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81500" y="3237458"/>
            <a:ext cx="634901" cy="25301"/>
          </a:xfrm>
          <a:prstGeom prst="roundRect">
            <a:avLst>
              <a:gd name="adj" fmla="val 100391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96922" y="3313509"/>
            <a:ext cx="26040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&amp; write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46750" y="2878782"/>
            <a:ext cx="2692450" cy="698153"/>
          </a:xfrm>
          <a:prstGeom prst="roundRect">
            <a:avLst>
              <a:gd name="adj" fmla="val 14553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91022" y="2999333"/>
            <a:ext cx="26039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75450" y="3237458"/>
            <a:ext cx="634901" cy="25301"/>
          </a:xfrm>
          <a:prstGeom prst="roundRect">
            <a:avLst>
              <a:gd name="adj" fmla="val 100391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91022" y="3313509"/>
            <a:ext cx="26039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bonus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940701" y="2878782"/>
            <a:ext cx="2692598" cy="698153"/>
          </a:xfrm>
          <a:prstGeom prst="roundRect">
            <a:avLst>
              <a:gd name="adj" fmla="val 14553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984971" y="2999333"/>
            <a:ext cx="26040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969550" y="3237458"/>
            <a:ext cx="634901" cy="25301"/>
          </a:xfrm>
          <a:prstGeom prst="roundRect">
            <a:avLst>
              <a:gd name="adj" fmla="val 100391"/>
            </a:avLst>
          </a:prstGeom>
          <a:solidFill>
            <a:srgbClr val="D5CE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984971" y="3313509"/>
            <a:ext cx="26040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bonus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58701" y="3678436"/>
            <a:ext cx="11074598" cy="488752"/>
          </a:xfrm>
          <a:prstGeom prst="roundRect">
            <a:avLst>
              <a:gd name="adj" fmla="val 15591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61851" y="3851374"/>
            <a:ext cx="816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FINALS BANK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689348" y="3779937"/>
            <a:ext cx="535632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816298" y="3818037"/>
            <a:ext cx="287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326481" y="3779937"/>
            <a:ext cx="534739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453432" y="3818037"/>
            <a:ext cx="2864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962721" y="3779937"/>
            <a:ext cx="490091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089672" y="3818037"/>
            <a:ext cx="2409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ing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554313" y="3779937"/>
            <a:ext cx="539948" cy="2857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681264" y="3818037"/>
            <a:ext cx="291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ong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58701" y="4268688"/>
            <a:ext cx="2880866" cy="253901"/>
          </a:xfrm>
          <a:prstGeom prst="roundRect">
            <a:avLst>
              <a:gd name="adj" fmla="val 4996948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11101" y="4319439"/>
            <a:ext cx="26275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reads each word aloud (twice if needed)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541068" y="4268688"/>
            <a:ext cx="2854077" cy="253901"/>
          </a:xfrm>
          <a:prstGeom prst="roundRect">
            <a:avLst>
              <a:gd name="adj" fmla="val 4996948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693468" y="4319439"/>
            <a:ext cx="26002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pinyin + tone mark on your whiteboard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496645" y="4268688"/>
            <a:ext cx="3383607" cy="253901"/>
          </a:xfrm>
          <a:prstGeom prst="roundRect">
            <a:avLst>
              <a:gd name="adj" fmla="val 4996948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649045" y="4319439"/>
            <a:ext cx="31403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it up after each item — checked live, no answer slide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58701" y="4624090"/>
            <a:ext cx="5486549" cy="460772"/>
          </a:xfrm>
          <a:prstGeom prst="roundRect">
            <a:avLst>
              <a:gd name="adj" fmla="val 1653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85651" y="4700290"/>
            <a:ext cx="53373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85651" y="4868466"/>
            <a:ext cx="5337301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bank of the possible finals (ang, eng, ing, ong) displayed on the projector as reference.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146750" y="4624090"/>
            <a:ext cx="5486549" cy="460772"/>
          </a:xfrm>
          <a:prstGeom prst="roundRect">
            <a:avLst>
              <a:gd name="adj" fmla="val 16537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273701" y="4700290"/>
            <a:ext cx="53373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273701" y="4868466"/>
            <a:ext cx="5337301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Also write the tone number (1st/2nd/3rd/4th) for each word.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部首拼音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514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465" y="144363"/>
            <a:ext cx="21431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Radical Puzzle Relay · 20–43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07601" y="1684883"/>
            <a:ext cx="19766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5 MIN · EX12, P.94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88340" y="2024509"/>
            <a:ext cx="501517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Radical Puzzle Relay · 部首拼字接力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75174" y="2630835"/>
            <a:ext cx="10241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Radical cards and incomplete-character cards spread at the front. One at a time, runners match a radical card to the correct incomplete character.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59596" y="3008561"/>
            <a:ext cx="1244352" cy="704552"/>
          </a:xfrm>
          <a:prstGeom prst="roundRect">
            <a:avLst>
              <a:gd name="adj" fmla="val 144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28407" y="3110061"/>
            <a:ext cx="90672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28407" y="3449687"/>
            <a:ext cx="906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Cards spread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29120" y="3237012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35698" y="3008561"/>
            <a:ext cx="1244352" cy="704552"/>
          </a:xfrm>
          <a:prstGeom prst="roundRect">
            <a:avLst>
              <a:gd name="adj" fmla="val 144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04510" y="3110061"/>
            <a:ext cx="90672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🏃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04510" y="3449687"/>
            <a:ext cx="906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 up!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05222" y="3237012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11801" y="3008561"/>
            <a:ext cx="1244352" cy="704552"/>
          </a:xfrm>
          <a:prstGeom prst="roundRect">
            <a:avLst>
              <a:gd name="adj" fmla="val 144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80612" y="3110061"/>
            <a:ext cx="90672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80612" y="3449687"/>
            <a:ext cx="906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Match radical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1325" y="3237012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87903" y="3008561"/>
            <a:ext cx="1244352" cy="704552"/>
          </a:xfrm>
          <a:prstGeom prst="roundRect">
            <a:avLst>
              <a:gd name="adj" fmla="val 144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156714" y="3110061"/>
            <a:ext cx="90672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156714" y="3449687"/>
            <a:ext cx="9067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Tag next!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1101" y="3890814"/>
            <a:ext cx="1710333" cy="1047304"/>
          </a:xfrm>
          <a:prstGeom prst="roundRect">
            <a:avLst>
              <a:gd name="adj" fmla="val 970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5763" y="3992314"/>
            <a:ext cx="16410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45763" y="4176415"/>
            <a:ext cx="164100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42268" y="4643140"/>
            <a:ext cx="647849" cy="193477"/>
          </a:xfrm>
          <a:prstGeom prst="roundRect">
            <a:avLst>
              <a:gd name="adj" fmla="val 6557524"/>
            </a:avLst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339321" y="4668441"/>
            <a:ext cx="453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needs 文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22934" y="3890814"/>
            <a:ext cx="1710333" cy="1047304"/>
          </a:xfrm>
          <a:prstGeom prst="roundRect">
            <a:avLst>
              <a:gd name="adj" fmla="val 970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557596" y="3992314"/>
            <a:ext cx="16410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557596" y="4176415"/>
            <a:ext cx="164100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欢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054102" y="4643140"/>
            <a:ext cx="647849" cy="193477"/>
          </a:xfrm>
          <a:prstGeom prst="roundRect">
            <a:avLst>
              <a:gd name="adj" fmla="val 6557524"/>
            </a:avLst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151154" y="4668441"/>
            <a:ext cx="453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needs 欠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334768" y="3890814"/>
            <a:ext cx="1710333" cy="1047304"/>
          </a:xfrm>
          <a:prstGeom prst="roundRect">
            <a:avLst>
              <a:gd name="adj" fmla="val 970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369430" y="3992314"/>
            <a:ext cx="16410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369430" y="4176415"/>
            <a:ext cx="164100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865936" y="4643140"/>
            <a:ext cx="647849" cy="193477"/>
          </a:xfrm>
          <a:prstGeom prst="roundRect">
            <a:avLst>
              <a:gd name="adj" fmla="val 6557524"/>
            </a:avLst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62988" y="4668441"/>
            <a:ext cx="453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needs 士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46602" y="3890814"/>
            <a:ext cx="1710482" cy="1047304"/>
          </a:xfrm>
          <a:prstGeom prst="roundRect">
            <a:avLst>
              <a:gd name="adj" fmla="val 970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81262" y="3992314"/>
            <a:ext cx="1641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4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181262" y="4176415"/>
            <a:ext cx="164116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677918" y="4643140"/>
            <a:ext cx="647849" cy="193477"/>
          </a:xfrm>
          <a:prstGeom prst="roundRect">
            <a:avLst>
              <a:gd name="adj" fmla="val 6557524"/>
            </a:avLst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774970" y="4668441"/>
            <a:ext cx="453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needs 门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958584" y="3890814"/>
            <a:ext cx="1710333" cy="1047304"/>
          </a:xfrm>
          <a:prstGeom prst="roundRect">
            <a:avLst>
              <a:gd name="adj" fmla="val 970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993246" y="3992314"/>
            <a:ext cx="16410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5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993246" y="4176415"/>
            <a:ext cx="164100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等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8489752" y="4643140"/>
            <a:ext cx="647849" cy="193477"/>
          </a:xfrm>
          <a:prstGeom prst="roundRect">
            <a:avLst>
              <a:gd name="adj" fmla="val 6557524"/>
            </a:avLst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586804" y="4668441"/>
            <a:ext cx="453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needs 竹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770418" y="3890814"/>
            <a:ext cx="1710333" cy="1047304"/>
          </a:xfrm>
          <a:prstGeom prst="roundRect">
            <a:avLst>
              <a:gd name="adj" fmla="val 970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9805080" y="3992314"/>
            <a:ext cx="16410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6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9805080" y="4176415"/>
            <a:ext cx="164100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铁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0301585" y="4643140"/>
            <a:ext cx="647849" cy="193477"/>
          </a:xfrm>
          <a:prstGeom prst="roundRect">
            <a:avLst>
              <a:gd name="adj" fmla="val 6557524"/>
            </a:avLst>
          </a:prstGeom>
          <a:solidFill>
            <a:srgbClr val="E8CD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0398637" y="4668441"/>
            <a:ext cx="453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needs 钅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443039" y="5115818"/>
            <a:ext cx="285377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 Team with the most correct matches wins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423245" y="5115818"/>
            <a:ext cx="23758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🔄 Runners go one at a time, in order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915873" y="5115818"/>
            <a:ext cx="38427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🖨️ Setup: printed radical cards + incomplete character cards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6513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44363"/>
            <a:ext cx="794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部首拼音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514" y="146000"/>
            <a:ext cx="12650" cy="139601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465" y="144363"/>
            <a:ext cx="10561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2750" y="1521023"/>
            <a:ext cx="107778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2750" y="1835348"/>
            <a:ext cx="1077782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750" y="2416373"/>
            <a:ext cx="107778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 · SHOW 👍/😐/👎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12750" y="2717899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28551" y="2657624"/>
            <a:ext cx="49637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name the 6 radicals and give an example character for each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750" y="2978200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28551" y="2917924"/>
            <a:ext cx="34705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identify the meaning clue a radical gives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750" y="3238500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28551" y="3178225"/>
            <a:ext cx="44213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listen and write pinyin with the correct final and tone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750" y="3540175"/>
            <a:ext cx="10566499" cy="714226"/>
          </a:xfrm>
          <a:prstGeom prst="roundRect">
            <a:avLst>
              <a:gd name="adj" fmla="val 1422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41350" y="3667125"/>
            <a:ext cx="103114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Self-Assessment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41350" y="3927425"/>
            <a:ext cx="103114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whiteboards: which radical do you still confuse with another?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2750" y="4406801"/>
            <a:ext cx="10566499" cy="720626"/>
          </a:xfrm>
          <a:prstGeom prst="roundRect">
            <a:avLst>
              <a:gd name="adj" fmla="val 14099"/>
            </a:avLst>
          </a:prstGeom>
          <a:solidFill>
            <a:srgbClr val="E8CD8A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85701" y="4552801"/>
            <a:ext cx="102210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7A5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🚪 EXIT TICKET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85701" y="4752826"/>
            <a:ext cx="10221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radical in </a:t>
            </a:r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铁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say what it means.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750" y="5279827"/>
            <a:ext cx="7755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Achieved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7014" y="5279827"/>
            <a:ext cx="10401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 Getting there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00685" y="5279827"/>
            <a:ext cx="8406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Need help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573887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56338"/>
            <a:ext cx="13601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4.3 交通工具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2051" y="1350020"/>
            <a:ext cx="906774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00"/>
              </a:lnSpc>
              <a:spcAft>
                <a:spcPts val="800"/>
              </a:spcAft>
              <a:buNone/>
            </a:pPr>
            <a:r>
              <a:rPr lang="en-US" sz="60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562051" y="2213521"/>
            <a:ext cx="90677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Great work today!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62051" y="2848421"/>
            <a:ext cx="9067749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Aft>
                <a:spcPts val="2000"/>
              </a:spcAft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can now name 6 new radicals with an example character for each, and tell apart the ang/eng/ing/ong sounds.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50950" y="3597325"/>
            <a:ext cx="8889950" cy="1260277"/>
          </a:xfrm>
          <a:prstGeom prst="roundRect">
            <a:avLst>
              <a:gd name="adj" fmla="val 10077"/>
            </a:avLst>
          </a:prstGeom>
          <a:solidFill>
            <a:srgbClr val="C7DEE2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44143" y="3819525"/>
            <a:ext cx="83035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44143" y="4032200"/>
            <a:ext cx="83035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 + 交通 · Time + Transport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44143" y="4435376"/>
            <a:ext cx="8303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put time AND transport together in full sentences — like "At 7:30, dad drives to work."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62051" y="5060752"/>
            <a:ext cx="9067749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0"/>
              </a:lnSpc>
              <a:spcBef>
                <a:spcPts val="16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</a:t>
            </a:r>
            <a:pPr algn="ctr" indent="0" marL="0">
              <a:lnSpc>
                <a:spcPts val="1760"/>
              </a:lnSpc>
              <a:spcBef>
                <a:spcPts val="1600"/>
              </a:spcBef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部首 (bùshǒu)</a:t>
            </a:r>
            <a:pPr algn="ctr" indent="0" marL="0">
              <a:lnSpc>
                <a:spcPts val="1760"/>
              </a:lnSpc>
              <a:spcBef>
                <a:spcPts val="16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radicals · </a:t>
            </a:r>
            <a:pPr algn="ctr" indent="0" marL="0">
              <a:lnSpc>
                <a:spcPts val="1760"/>
              </a:lnSpc>
              <a:spcBef>
                <a:spcPts val="1600"/>
              </a:spcBef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ang/eng/ing/ong</a:t>
            </a:r>
            <a:pPr algn="ctr" indent="0" marL="0">
              <a:lnSpc>
                <a:spcPts val="1760"/>
              </a:lnSpc>
              <a:spcBef>
                <a:spcPts val="16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new pinyin finals</a:t>
            </a:r>
            <a:endParaRPr lang="en-US" sz="1100" dirty="0"/>
          </a:p>
          <a:p>
            <a:pPr algn="ctr" indent="0" marL="0">
              <a:lnSpc>
                <a:spcPts val="1760"/>
              </a:lnSpc>
              <a:spcBef>
                <a:spcPts val="16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Next: combine time words and transport verbs in full sentences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2026-07-18T08:49:23Z</dcterms:created>
  <dcterms:modified xsi:type="dcterms:W3CDTF">2026-07-18T08:49:23Z</dcterms:modified>
</cp:coreProperties>
</file>