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76639" y="2086273"/>
            <a:ext cx="1342430" cy="326827"/>
          </a:xfrm>
          <a:prstGeom prst="roundRect">
            <a:avLst>
              <a:gd name="adj" fmla="val 3881962"/>
            </a:avLst>
          </a:prstGeom>
          <a:solidFill>
            <a:srgbClr val="E8CD8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970428" y="2149673"/>
            <a:ext cx="9548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A5A1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部首 Radicals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246019" y="2086273"/>
            <a:ext cx="1169194" cy="326827"/>
          </a:xfrm>
          <a:prstGeom prst="roundRect">
            <a:avLst>
              <a:gd name="adj" fmla="val 3881962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441540" y="2149673"/>
            <a:ext cx="778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拼音 Pinyin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142792" y="2616250"/>
            <a:ext cx="590641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000"/>
              </a:spcAft>
              <a:buNone/>
            </a:pPr>
            <a:r>
              <a:rPr lang="en-US" sz="12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LESSON 4 · Y7 UNIT 4.3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142792" y="2952750"/>
            <a:ext cx="5906417" cy="977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7700"/>
              </a:lnSpc>
              <a:spcAft>
                <a:spcPts val="800"/>
              </a:spcAft>
              <a:buNone/>
            </a:pPr>
            <a:r>
              <a:rPr lang="en-US" sz="70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部首</a:t>
            </a:r>
            <a:r>
              <a:rPr lang="en-US" sz="7000" b="1" dirty="0">
                <a:solidFill>
                  <a:srgbClr val="D5CEB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·</a:t>
            </a:r>
            <a:r>
              <a:rPr lang="en-US" sz="70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拼音</a:t>
            </a:r>
            <a:endParaRPr lang="en-US" sz="7000" dirty="0"/>
          </a:p>
        </p:txBody>
      </p:sp>
      <p:sp>
        <p:nvSpPr>
          <p:cNvPr id="8" name="Text 6"/>
          <p:cNvSpPr/>
          <p:nvPr/>
        </p:nvSpPr>
        <p:spPr>
          <a:xfrm>
            <a:off x="3142792" y="4032052"/>
            <a:ext cx="5906417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0"/>
              </a:spcAft>
              <a:buNone/>
            </a:pPr>
            <a:r>
              <a:rPr lang="en-US" sz="1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Radicals + Pinyin Listening · 6个新部首 &amp; ang/eng/ing/ong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142792" y="4571702"/>
            <a:ext cx="590641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Year 7 Chinese  ·  50 mins  ·  Reading + Listening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7948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L4 · 部首拼音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401514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28465" y="144363"/>
            <a:ext cx="184776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Review · Lesson 3 Recap · 0–8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09600" y="584150"/>
            <a:ext cx="1119225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0–8 MIN · SLAP THE BOARD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09600" y="847576"/>
            <a:ext cx="11192256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上/下 Phrase Pairs · 拍词卡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09600" y="1339602"/>
            <a:ext cx="1119225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Two students at the board with all 8 phrase cards spread out. Teacher says the English meaning — first to slap the correct card scores a point.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09600" y="1622078"/>
            <a:ext cx="2667000" cy="828526"/>
          </a:xfrm>
          <a:prstGeom prst="roundRect">
            <a:avLst>
              <a:gd name="adj" fmla="val 9197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609600" y="1631603"/>
            <a:ext cx="2667000" cy="0"/>
          </a:xfrm>
          <a:prstGeom prst="line">
            <a:avLst/>
          </a:prstGeom>
          <a:noFill/>
          <a:ln w="19050">
            <a:solidFill>
              <a:srgbClr val="D5CEB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67075" y="1622078"/>
            <a:ext cx="0" cy="828526"/>
          </a:xfrm>
          <a:prstGeom prst="line">
            <a:avLst/>
          </a:prstGeom>
          <a:noFill/>
          <a:ln w="19050">
            <a:solidFill>
              <a:srgbClr val="D5CEB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09600" y="2441079"/>
            <a:ext cx="2667000" cy="0"/>
          </a:xfrm>
          <a:prstGeom prst="line">
            <a:avLst/>
          </a:prstGeom>
          <a:noFill/>
          <a:ln w="19050">
            <a:solidFill>
              <a:srgbClr val="D5CEB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8650" y="1622078"/>
            <a:ext cx="0" cy="828526"/>
          </a:xfrm>
          <a:prstGeom prst="line">
            <a:avLst/>
          </a:prstGeom>
          <a:noFill/>
          <a:ln w="38100">
            <a:solidFill>
              <a:srgbClr val="C8943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73367" y="1717328"/>
            <a:ext cx="2558516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上课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73367" y="2056954"/>
            <a:ext cx="255851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shàng kè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73367" y="2212479"/>
            <a:ext cx="255851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start class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3378101" y="1622078"/>
            <a:ext cx="2667149" cy="828526"/>
          </a:xfrm>
          <a:prstGeom prst="roundRect">
            <a:avLst>
              <a:gd name="adj" fmla="val 9197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3378101" y="1631603"/>
            <a:ext cx="2667149" cy="0"/>
          </a:xfrm>
          <a:prstGeom prst="line">
            <a:avLst/>
          </a:prstGeom>
          <a:noFill/>
          <a:ln w="19050">
            <a:solidFill>
              <a:srgbClr val="D5CEB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35725" y="1622078"/>
            <a:ext cx="0" cy="828526"/>
          </a:xfrm>
          <a:prstGeom prst="line">
            <a:avLst/>
          </a:prstGeom>
          <a:noFill/>
          <a:ln w="19050">
            <a:solidFill>
              <a:srgbClr val="D5CEB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378101" y="2441079"/>
            <a:ext cx="2667149" cy="0"/>
          </a:xfrm>
          <a:prstGeom prst="line">
            <a:avLst/>
          </a:prstGeom>
          <a:noFill/>
          <a:ln w="19050">
            <a:solidFill>
              <a:srgbClr val="D5CEB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397151" y="1622078"/>
            <a:ext cx="0" cy="828526"/>
          </a:xfrm>
          <a:prstGeom prst="line">
            <a:avLst/>
          </a:prstGeom>
          <a:noFill/>
          <a:ln w="38100">
            <a:solidFill>
              <a:srgbClr val="C8943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441866" y="1717328"/>
            <a:ext cx="2558668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下课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3441866" y="2056954"/>
            <a:ext cx="25586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xià kè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3441866" y="2212479"/>
            <a:ext cx="25586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finish class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6146750" y="1622078"/>
            <a:ext cx="2667000" cy="828526"/>
          </a:xfrm>
          <a:prstGeom prst="roundRect">
            <a:avLst>
              <a:gd name="adj" fmla="val 9197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Shape 25"/>
          <p:cNvSpPr/>
          <p:nvPr/>
        </p:nvSpPr>
        <p:spPr>
          <a:xfrm>
            <a:off x="6146750" y="1631603"/>
            <a:ext cx="2667000" cy="0"/>
          </a:xfrm>
          <a:prstGeom prst="line">
            <a:avLst/>
          </a:prstGeom>
          <a:noFill/>
          <a:ln w="19050">
            <a:solidFill>
              <a:srgbClr val="D5CEB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804225" y="1622078"/>
            <a:ext cx="0" cy="828526"/>
          </a:xfrm>
          <a:prstGeom prst="line">
            <a:avLst/>
          </a:prstGeom>
          <a:noFill/>
          <a:ln w="19050">
            <a:solidFill>
              <a:srgbClr val="D5CEB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146750" y="2441079"/>
            <a:ext cx="2667000" cy="0"/>
          </a:xfrm>
          <a:prstGeom prst="line">
            <a:avLst/>
          </a:prstGeom>
          <a:noFill/>
          <a:ln w="19050">
            <a:solidFill>
              <a:srgbClr val="D5CEB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165800" y="1622078"/>
            <a:ext cx="0" cy="828526"/>
          </a:xfrm>
          <a:prstGeom prst="line">
            <a:avLst/>
          </a:prstGeom>
          <a:noFill/>
          <a:ln w="38100">
            <a:solidFill>
              <a:srgbClr val="3A7D8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210517" y="1717328"/>
            <a:ext cx="2558516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上学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6210517" y="2056954"/>
            <a:ext cx="255851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shàng xué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6210517" y="2212479"/>
            <a:ext cx="255851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go to school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8915251" y="1622078"/>
            <a:ext cx="2667149" cy="828526"/>
          </a:xfrm>
          <a:prstGeom prst="roundRect">
            <a:avLst>
              <a:gd name="adj" fmla="val 9197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Shape 33"/>
          <p:cNvSpPr/>
          <p:nvPr/>
        </p:nvSpPr>
        <p:spPr>
          <a:xfrm>
            <a:off x="8915251" y="1631603"/>
            <a:ext cx="2667149" cy="0"/>
          </a:xfrm>
          <a:prstGeom prst="line">
            <a:avLst/>
          </a:prstGeom>
          <a:noFill/>
          <a:ln w="19050">
            <a:solidFill>
              <a:srgbClr val="D5CEB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1572875" y="1622078"/>
            <a:ext cx="0" cy="828526"/>
          </a:xfrm>
          <a:prstGeom prst="line">
            <a:avLst/>
          </a:prstGeom>
          <a:noFill/>
          <a:ln w="19050">
            <a:solidFill>
              <a:srgbClr val="D5CEB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915251" y="2441079"/>
            <a:ext cx="2667149" cy="0"/>
          </a:xfrm>
          <a:prstGeom prst="line">
            <a:avLst/>
          </a:prstGeom>
          <a:noFill/>
          <a:ln w="19050">
            <a:solidFill>
              <a:srgbClr val="D5CEB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934301" y="1622078"/>
            <a:ext cx="0" cy="828526"/>
          </a:xfrm>
          <a:prstGeom prst="line">
            <a:avLst/>
          </a:prstGeom>
          <a:noFill/>
          <a:ln w="38100">
            <a:solidFill>
              <a:srgbClr val="3A7D8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979017" y="1717328"/>
            <a:ext cx="2558668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放学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8979017" y="2056954"/>
            <a:ext cx="25586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fàng xué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8979017" y="2212479"/>
            <a:ext cx="25586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finish school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609600" y="2552105"/>
            <a:ext cx="2667000" cy="828526"/>
          </a:xfrm>
          <a:prstGeom prst="roundRect">
            <a:avLst>
              <a:gd name="adj" fmla="val 9197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Shape 41"/>
          <p:cNvSpPr/>
          <p:nvPr/>
        </p:nvSpPr>
        <p:spPr>
          <a:xfrm>
            <a:off x="609600" y="2561630"/>
            <a:ext cx="2667000" cy="0"/>
          </a:xfrm>
          <a:prstGeom prst="line">
            <a:avLst/>
          </a:prstGeom>
          <a:noFill/>
          <a:ln w="19050">
            <a:solidFill>
              <a:srgbClr val="D5CEB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267075" y="2552105"/>
            <a:ext cx="0" cy="828526"/>
          </a:xfrm>
          <a:prstGeom prst="line">
            <a:avLst/>
          </a:prstGeom>
          <a:noFill/>
          <a:ln w="19050">
            <a:solidFill>
              <a:srgbClr val="D5CEBB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09600" y="3371106"/>
            <a:ext cx="2667000" cy="0"/>
          </a:xfrm>
          <a:prstGeom prst="line">
            <a:avLst/>
          </a:prstGeom>
          <a:noFill/>
          <a:ln w="19050">
            <a:solidFill>
              <a:srgbClr val="D5CEBB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28650" y="2552105"/>
            <a:ext cx="0" cy="828526"/>
          </a:xfrm>
          <a:prstGeom prst="line">
            <a:avLst/>
          </a:prstGeom>
          <a:noFill/>
          <a:ln w="38100">
            <a:solidFill>
              <a:srgbClr val="D4756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73367" y="2647355"/>
            <a:ext cx="2558516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上班</a:t>
            </a:r>
            <a:endParaRPr lang="en-US" sz="1800" dirty="0"/>
          </a:p>
        </p:txBody>
      </p:sp>
      <p:sp>
        <p:nvSpPr>
          <p:cNvPr id="48" name="Text 46"/>
          <p:cNvSpPr/>
          <p:nvPr/>
        </p:nvSpPr>
        <p:spPr>
          <a:xfrm>
            <a:off x="673367" y="2986980"/>
            <a:ext cx="255851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shàng bān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673367" y="3142506"/>
            <a:ext cx="255851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start work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3378101" y="2552105"/>
            <a:ext cx="2667149" cy="828526"/>
          </a:xfrm>
          <a:prstGeom prst="roundRect">
            <a:avLst>
              <a:gd name="adj" fmla="val 9197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Shape 49"/>
          <p:cNvSpPr/>
          <p:nvPr/>
        </p:nvSpPr>
        <p:spPr>
          <a:xfrm>
            <a:off x="3378101" y="2561630"/>
            <a:ext cx="2667149" cy="0"/>
          </a:xfrm>
          <a:prstGeom prst="line">
            <a:avLst/>
          </a:prstGeom>
          <a:noFill/>
          <a:ln w="19050">
            <a:solidFill>
              <a:srgbClr val="D5CEBB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035725" y="2552105"/>
            <a:ext cx="0" cy="828526"/>
          </a:xfrm>
          <a:prstGeom prst="line">
            <a:avLst/>
          </a:prstGeom>
          <a:noFill/>
          <a:ln w="19050">
            <a:solidFill>
              <a:srgbClr val="D5CEBB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378101" y="3371106"/>
            <a:ext cx="2667149" cy="0"/>
          </a:xfrm>
          <a:prstGeom prst="line">
            <a:avLst/>
          </a:prstGeom>
          <a:noFill/>
          <a:ln w="19050">
            <a:solidFill>
              <a:srgbClr val="D5CEBB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3397151" y="2552105"/>
            <a:ext cx="0" cy="828526"/>
          </a:xfrm>
          <a:prstGeom prst="line">
            <a:avLst/>
          </a:prstGeom>
          <a:noFill/>
          <a:ln w="38100">
            <a:solidFill>
              <a:srgbClr val="D4756B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441866" y="2647355"/>
            <a:ext cx="2558668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下班</a:t>
            </a:r>
            <a:endParaRPr lang="en-US" sz="1800" dirty="0"/>
          </a:p>
        </p:txBody>
      </p:sp>
      <p:sp>
        <p:nvSpPr>
          <p:cNvPr id="56" name="Text 54"/>
          <p:cNvSpPr/>
          <p:nvPr/>
        </p:nvSpPr>
        <p:spPr>
          <a:xfrm>
            <a:off x="3441866" y="2986980"/>
            <a:ext cx="25586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xià bān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3441866" y="3142506"/>
            <a:ext cx="25586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finish work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6146750" y="2552105"/>
            <a:ext cx="2667000" cy="828526"/>
          </a:xfrm>
          <a:prstGeom prst="roundRect">
            <a:avLst>
              <a:gd name="adj" fmla="val 9197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Shape 57"/>
          <p:cNvSpPr/>
          <p:nvPr/>
        </p:nvSpPr>
        <p:spPr>
          <a:xfrm>
            <a:off x="6146750" y="2561630"/>
            <a:ext cx="2667000" cy="0"/>
          </a:xfrm>
          <a:prstGeom prst="line">
            <a:avLst/>
          </a:prstGeom>
          <a:noFill/>
          <a:ln w="19050">
            <a:solidFill>
              <a:srgbClr val="D5CEBB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804225" y="2552105"/>
            <a:ext cx="0" cy="828526"/>
          </a:xfrm>
          <a:prstGeom prst="line">
            <a:avLst/>
          </a:prstGeom>
          <a:noFill/>
          <a:ln w="19050">
            <a:solidFill>
              <a:srgbClr val="D5CEBB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146750" y="3371106"/>
            <a:ext cx="2667000" cy="0"/>
          </a:xfrm>
          <a:prstGeom prst="line">
            <a:avLst/>
          </a:prstGeom>
          <a:noFill/>
          <a:ln w="19050">
            <a:solidFill>
              <a:srgbClr val="D5CEBB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6165800" y="2552105"/>
            <a:ext cx="0" cy="828526"/>
          </a:xfrm>
          <a:prstGeom prst="line">
            <a:avLst/>
          </a:prstGeom>
          <a:noFill/>
          <a:ln w="38100">
            <a:solidFill>
              <a:srgbClr val="C8943E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210517" y="2647355"/>
            <a:ext cx="2558516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上车</a:t>
            </a:r>
            <a:endParaRPr lang="en-US" sz="1800" dirty="0"/>
          </a:p>
        </p:txBody>
      </p:sp>
      <p:sp>
        <p:nvSpPr>
          <p:cNvPr id="64" name="Text 62"/>
          <p:cNvSpPr/>
          <p:nvPr/>
        </p:nvSpPr>
        <p:spPr>
          <a:xfrm>
            <a:off x="6210517" y="2986980"/>
            <a:ext cx="255851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shàng chē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6210517" y="3142506"/>
            <a:ext cx="255851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get on (vehicle)</a:t>
            </a:r>
            <a:endParaRPr lang="en-US" sz="800" dirty="0"/>
          </a:p>
        </p:txBody>
      </p:sp>
      <p:sp>
        <p:nvSpPr>
          <p:cNvPr id="66" name="Text 64"/>
          <p:cNvSpPr/>
          <p:nvPr/>
        </p:nvSpPr>
        <p:spPr>
          <a:xfrm>
            <a:off x="8915251" y="2552105"/>
            <a:ext cx="2667149" cy="828526"/>
          </a:xfrm>
          <a:prstGeom prst="roundRect">
            <a:avLst>
              <a:gd name="adj" fmla="val 9197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Shape 65"/>
          <p:cNvSpPr/>
          <p:nvPr/>
        </p:nvSpPr>
        <p:spPr>
          <a:xfrm>
            <a:off x="8915251" y="2561630"/>
            <a:ext cx="2667149" cy="0"/>
          </a:xfrm>
          <a:prstGeom prst="line">
            <a:avLst/>
          </a:prstGeom>
          <a:noFill/>
          <a:ln w="19050">
            <a:solidFill>
              <a:srgbClr val="D5CEBB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1572875" y="2552105"/>
            <a:ext cx="0" cy="828526"/>
          </a:xfrm>
          <a:prstGeom prst="line">
            <a:avLst/>
          </a:prstGeom>
          <a:noFill/>
          <a:ln w="19050">
            <a:solidFill>
              <a:srgbClr val="D5CEBB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8915251" y="3371106"/>
            <a:ext cx="2667149" cy="0"/>
          </a:xfrm>
          <a:prstGeom prst="line">
            <a:avLst/>
          </a:prstGeom>
          <a:noFill/>
          <a:ln w="19050">
            <a:solidFill>
              <a:srgbClr val="D5CEBB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8934301" y="2552105"/>
            <a:ext cx="0" cy="828526"/>
          </a:xfrm>
          <a:prstGeom prst="line">
            <a:avLst/>
          </a:prstGeom>
          <a:noFill/>
          <a:ln w="38100">
            <a:solidFill>
              <a:srgbClr val="C8943E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8979017" y="2647355"/>
            <a:ext cx="2558668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下车</a:t>
            </a:r>
            <a:endParaRPr lang="en-US" sz="1800" dirty="0"/>
          </a:p>
        </p:txBody>
      </p:sp>
      <p:sp>
        <p:nvSpPr>
          <p:cNvPr id="72" name="Text 70"/>
          <p:cNvSpPr/>
          <p:nvPr/>
        </p:nvSpPr>
        <p:spPr>
          <a:xfrm>
            <a:off x="8979017" y="2986980"/>
            <a:ext cx="25586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xià chē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8979017" y="3142506"/>
            <a:ext cx="25586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get off (vehicle)</a:t>
            </a:r>
            <a:endParaRPr lang="en-US" sz="800" dirty="0"/>
          </a:p>
        </p:txBody>
      </p:sp>
      <p:sp>
        <p:nvSpPr>
          <p:cNvPr id="74" name="Text 72"/>
          <p:cNvSpPr/>
          <p:nvPr/>
        </p:nvSpPr>
        <p:spPr>
          <a:xfrm>
            <a:off x="609600" y="3482132"/>
            <a:ext cx="2556867" cy="288727"/>
          </a:xfrm>
          <a:prstGeom prst="roundRect">
            <a:avLst>
              <a:gd name="adj" fmla="val 439422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Text 73"/>
          <p:cNvSpPr/>
          <p:nvPr/>
        </p:nvSpPr>
        <p:spPr>
          <a:xfrm>
            <a:off x="762000" y="3545532"/>
            <a:ext cx="229710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 students race at the board each round</a:t>
            </a:r>
            <a:endParaRPr lang="en-US" sz="900" dirty="0"/>
          </a:p>
        </p:txBody>
      </p:sp>
      <p:sp>
        <p:nvSpPr>
          <p:cNvPr id="76" name="Text 74"/>
          <p:cNvSpPr/>
          <p:nvPr/>
        </p:nvSpPr>
        <p:spPr>
          <a:xfrm>
            <a:off x="3267968" y="3482132"/>
            <a:ext cx="2542133" cy="288727"/>
          </a:xfrm>
          <a:prstGeom prst="roundRect">
            <a:avLst>
              <a:gd name="adj" fmla="val 439422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Text 75"/>
          <p:cNvSpPr/>
          <p:nvPr/>
        </p:nvSpPr>
        <p:spPr>
          <a:xfrm>
            <a:off x="3420368" y="3545532"/>
            <a:ext cx="228208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says the English meaning aloud</a:t>
            </a:r>
            <a:endParaRPr lang="en-US" sz="900" dirty="0"/>
          </a:p>
        </p:txBody>
      </p:sp>
      <p:sp>
        <p:nvSpPr>
          <p:cNvPr id="78" name="Text 76"/>
          <p:cNvSpPr/>
          <p:nvPr/>
        </p:nvSpPr>
        <p:spPr>
          <a:xfrm>
            <a:off x="5911602" y="3482132"/>
            <a:ext cx="2733229" cy="288727"/>
          </a:xfrm>
          <a:prstGeom prst="roundRect">
            <a:avLst>
              <a:gd name="adj" fmla="val 439422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Text 77"/>
          <p:cNvSpPr/>
          <p:nvPr/>
        </p:nvSpPr>
        <p:spPr>
          <a:xfrm>
            <a:off x="6064002" y="3545532"/>
            <a:ext cx="247699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First to slap the correct card wins the point</a:t>
            </a:r>
            <a:endParaRPr lang="en-US" sz="900" dirty="0"/>
          </a:p>
        </p:txBody>
      </p:sp>
      <p:sp>
        <p:nvSpPr>
          <p:cNvPr id="80" name="Text 78"/>
          <p:cNvSpPr/>
          <p:nvPr/>
        </p:nvSpPr>
        <p:spPr>
          <a:xfrm>
            <a:off x="609600" y="3872359"/>
            <a:ext cx="3086993" cy="288727"/>
          </a:xfrm>
          <a:prstGeom prst="roundRect">
            <a:avLst>
              <a:gd name="adj" fmla="val 439422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1" name="Text 79"/>
          <p:cNvSpPr/>
          <p:nvPr/>
        </p:nvSpPr>
        <p:spPr>
          <a:xfrm>
            <a:off x="762000" y="3935760"/>
            <a:ext cx="283783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Winner stays up — rotate through the whole class</a:t>
            </a:r>
            <a:endParaRPr lang="en-US" sz="900" dirty="0"/>
          </a:p>
        </p:txBody>
      </p:sp>
      <p:sp>
        <p:nvSpPr>
          <p:cNvPr id="82" name="Text 80"/>
          <p:cNvSpPr/>
          <p:nvPr/>
        </p:nvSpPr>
        <p:spPr>
          <a:xfrm>
            <a:off x="609600" y="4262586"/>
            <a:ext cx="10972800" cy="383977"/>
          </a:xfrm>
          <a:prstGeom prst="rect">
            <a:avLst/>
          </a:prstGeom>
          <a:solidFill>
            <a:srgbClr val="E8CD8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3" name="Shape 81"/>
          <p:cNvSpPr/>
          <p:nvPr/>
        </p:nvSpPr>
        <p:spPr>
          <a:xfrm>
            <a:off x="633412" y="4262586"/>
            <a:ext cx="0" cy="383977"/>
          </a:xfrm>
          <a:prstGeom prst="line">
            <a:avLst/>
          </a:prstGeom>
          <a:noFill/>
          <a:ln w="47625">
            <a:solidFill>
              <a:srgbClr val="C8943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860375" y="4364087"/>
            <a:ext cx="1072925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"You've got the phrase pairs down. Today we go under the hood — the radicals inside these Lesson 12 characters — and train your ear for new pinyin sounds."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507950" y="6656338"/>
            <a:ext cx="136017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4.3 交通工具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7948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L4 · 部首拼音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401514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28465" y="144363"/>
            <a:ext cx="249202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 &amp; Success Criteria · 8–10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12750" y="1606897"/>
            <a:ext cx="1077782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8–10 MIN · PROJECT, CHORAL READ, KEEP VISIBLE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12750" y="1921222"/>
            <a:ext cx="10777829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今日目标 · Today's Goal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812750" y="2540347"/>
            <a:ext cx="10566499" cy="784175"/>
          </a:xfrm>
          <a:prstGeom prst="rect">
            <a:avLst/>
          </a:prstGeom>
          <a:solidFill>
            <a:srgbClr val="E8CD8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841325" y="2540347"/>
            <a:ext cx="0" cy="784175"/>
          </a:xfrm>
          <a:prstGeom prst="line">
            <a:avLst/>
          </a:prstGeom>
          <a:noFill/>
          <a:ln w="57150">
            <a:solidFill>
              <a:srgbClr val="C8943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8500" y="2692747"/>
            <a:ext cx="1025319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7A5A1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98500" y="2905423"/>
            <a:ext cx="1025319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are learning the </a:t>
            </a:r>
            <a:r>
              <a:rPr lang="en-US" sz="15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 new radicals</a:t>
            </a:r>
            <a:r>
              <a:rPr lang="en-US" sz="15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for Lesson 12 and practising the pinyin finals </a:t>
            </a:r>
            <a:r>
              <a:rPr lang="en-US" sz="15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ang / eng / ing / ong</a:t>
            </a:r>
            <a:r>
              <a:rPr lang="en-US" sz="15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12750" y="3476923"/>
            <a:ext cx="292001" cy="292001"/>
          </a:xfrm>
          <a:prstGeom prst="roundRect">
            <a:avLst>
              <a:gd name="adj" fmla="val 313150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930027" y="3532436"/>
            <a:ext cx="5844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231702" y="3508623"/>
            <a:ext cx="545403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name the </a:t>
            </a: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 radicals</a:t>
            </a: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and give an example character for each.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193750" y="3870424"/>
            <a:ext cx="1038920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说出6个部首和例字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12750" y="4152900"/>
            <a:ext cx="292001" cy="292001"/>
          </a:xfrm>
          <a:prstGeom prst="roundRect">
            <a:avLst>
              <a:gd name="adj" fmla="val 313150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918418" y="4208413"/>
            <a:ext cx="8212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231702" y="4184600"/>
            <a:ext cx="385007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identify the </a:t>
            </a: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meaning clue</a:t>
            </a: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a radical gives.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193750" y="4546402"/>
            <a:ext cx="1038920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说出部首的意思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12750" y="4828877"/>
            <a:ext cx="292001" cy="292001"/>
          </a:xfrm>
          <a:prstGeom prst="roundRect">
            <a:avLst>
              <a:gd name="adj" fmla="val 313150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918121" y="4884390"/>
            <a:ext cx="8273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231702" y="4860578"/>
            <a:ext cx="48565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listen and write </a:t>
            </a: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pinyin</a:t>
            </a: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with the correct final and tone.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193750" y="5222379"/>
            <a:ext cx="1038920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听写拼音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7950" y="6656338"/>
            <a:ext cx="136017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4.3 交通工具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7948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L4 · 部首拼音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401514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28465" y="144363"/>
            <a:ext cx="217399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6 Radicals (Scaffolded) · 10–20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07950" y="558701"/>
            <a:ext cx="1139962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I DO · P.89, EXERCISE 4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07950" y="796826"/>
            <a:ext cx="11399621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6 New Radicals · 六个新部首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507950" y="1454051"/>
            <a:ext cx="11176099" cy="0"/>
          </a:xfrm>
          <a:prstGeom prst="line">
            <a:avLst/>
          </a:prstGeom>
          <a:noFill/>
          <a:ln w="19050">
            <a:solidFill>
              <a:srgbClr val="C8943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9451" y="1263551"/>
            <a:ext cx="77724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部首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371451" y="1263551"/>
            <a:ext cx="116586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PINYIN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2514451" y="1263551"/>
            <a:ext cx="12953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MEANING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784402" y="1263551"/>
            <a:ext cx="795411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EXAMPLE CHARACTER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507950" y="1858863"/>
            <a:ext cx="11176099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09451" y="1501676"/>
            <a:ext cx="77724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文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371451" y="1568351"/>
            <a:ext cx="116586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wén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514451" y="1568351"/>
            <a:ext cx="129534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writing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784402" y="1535013"/>
            <a:ext cx="795411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数</a:t>
            </a: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shù — number, count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07950" y="2258913"/>
            <a:ext cx="11176099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9451" y="1901726"/>
            <a:ext cx="77724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欠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371451" y="1968401"/>
            <a:ext cx="116586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qiàn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514451" y="1968401"/>
            <a:ext cx="129534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owe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784402" y="1935063"/>
            <a:ext cx="795411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欢</a:t>
            </a: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huān — happy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7950" y="2658963"/>
            <a:ext cx="11176099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09451" y="2301776"/>
            <a:ext cx="77724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士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371451" y="2368451"/>
            <a:ext cx="116586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shì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2514451" y="2368451"/>
            <a:ext cx="129534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scholar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784402" y="2335113"/>
            <a:ext cx="795411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喜</a:t>
            </a: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xǐ — joy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7950" y="3059013"/>
            <a:ext cx="11176099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09451" y="2701826"/>
            <a:ext cx="77724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门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1371451" y="2768501"/>
            <a:ext cx="116586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mén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2514451" y="2768501"/>
            <a:ext cx="129534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door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784402" y="2735163"/>
            <a:ext cx="795411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问</a:t>
            </a: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wèn — ask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07950" y="3459063"/>
            <a:ext cx="11176099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09451" y="3101876"/>
            <a:ext cx="77724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竹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1371451" y="3168551"/>
            <a:ext cx="116586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zhú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2514451" y="3168551"/>
            <a:ext cx="129534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bamboo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3784402" y="3135213"/>
            <a:ext cx="795411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等</a:t>
            </a: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děng — wait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507950" y="3463826"/>
            <a:ext cx="11176099" cy="488900"/>
          </a:xfrm>
          <a:prstGeom prst="rect">
            <a:avLst/>
          </a:prstGeom>
          <a:solidFill>
            <a:srgbClr val="E8CD8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Shape 38"/>
          <p:cNvSpPr/>
          <p:nvPr/>
        </p:nvSpPr>
        <p:spPr>
          <a:xfrm>
            <a:off x="507950" y="3947964"/>
            <a:ext cx="11176099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09451" y="3546277"/>
            <a:ext cx="77724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钅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1371451" y="3612952"/>
            <a:ext cx="116586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jīn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2514451" y="3612952"/>
            <a:ext cx="129534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metal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3784402" y="3501926"/>
            <a:ext cx="795411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铁</a:t>
            </a: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tiě — iron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3784402" y="3762226"/>
            <a:ext cx="795411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★ CONNECTS TO 地铁!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507950" y="4028926"/>
            <a:ext cx="5537299" cy="731639"/>
          </a:xfrm>
          <a:prstGeom prst="roundRect">
            <a:avLst>
              <a:gd name="adj" fmla="val 10415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634901" y="4092327"/>
            <a:ext cx="538906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SCAFFOLDED — ONE RADICAL AT A TIME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634901" y="4260503"/>
            <a:ext cx="5389066" cy="436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8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For each radical: show it alone → show it highlighted inside the example character → say what image/meaning it evokes → students copy-write the radical 3× on whiteboards → move to the next. Do not introduce all 6 at once.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6146750" y="4028926"/>
            <a:ext cx="5537299" cy="731639"/>
          </a:xfrm>
          <a:prstGeom prst="roundRect">
            <a:avLst>
              <a:gd name="adj" fmla="val 10415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6273701" y="4092327"/>
            <a:ext cx="538906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STROKE ORDER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6273701" y="4260503"/>
            <a:ext cx="5389066" cy="2911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8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Demonstrate stroke order on the projector for the two trickier radicals — 竹 and 钅 — before students copy.</a:t>
            </a:r>
            <a:endParaRPr lang="en-US" sz="850" dirty="0"/>
          </a:p>
        </p:txBody>
      </p:sp>
      <p:sp>
        <p:nvSpPr>
          <p:cNvPr id="52" name="Text 50"/>
          <p:cNvSpPr/>
          <p:nvPr/>
        </p:nvSpPr>
        <p:spPr>
          <a:xfrm>
            <a:off x="507950" y="4836765"/>
            <a:ext cx="11176099" cy="631627"/>
          </a:xfrm>
          <a:prstGeom prst="roundRect">
            <a:avLst>
              <a:gd name="adj" fmla="val 12064"/>
            </a:avLst>
          </a:prstGeom>
          <a:solidFill>
            <a:srgbClr val="F3E0DC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704701" y="4919216"/>
            <a:ext cx="336855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铁</a:t>
            </a:r>
            <a:endParaRPr lang="en-US" sz="2600" dirty="0"/>
          </a:p>
        </p:txBody>
      </p:sp>
      <p:sp>
        <p:nvSpPr>
          <p:cNvPr id="54" name="Text 52"/>
          <p:cNvSpPr/>
          <p:nvPr/>
        </p:nvSpPr>
        <p:spPr>
          <a:xfrm>
            <a:off x="1161901" y="4969966"/>
            <a:ext cx="351503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铁 (tiě, "iron") uses the 钅 (metal) radical!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1161901" y="5182642"/>
            <a:ext cx="351503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Recall 地铁 (dìtiě, "subway") from Lesson 2 — same 铁 character.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07950" y="6656338"/>
            <a:ext cx="136017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4.3 交通工具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7948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L4 · 部首拼音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401514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28465" y="144363"/>
            <a:ext cx="179175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Pinyin Listening · 10–20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11101" y="1430387"/>
            <a:ext cx="1098519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I DO · EX5, P.89 · CD T56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11101" y="1744712"/>
            <a:ext cx="10985194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Pinyin Focus · 四个韵母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11101" y="2325737"/>
            <a:ext cx="1098519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 target finals — watch the teacher's mouth shape for each one!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11101" y="2678162"/>
            <a:ext cx="2578150" cy="2047726"/>
          </a:xfrm>
          <a:prstGeom prst="roundRect">
            <a:avLst>
              <a:gd name="adj" fmla="val 6202"/>
            </a:avLst>
          </a:prstGeom>
          <a:solidFill>
            <a:srgbClr val="E8CD8A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808281" y="2849612"/>
            <a:ext cx="238378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FINAL 1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08281" y="3043238"/>
            <a:ext cx="2383789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000"/>
              </a:lnSpc>
              <a:buNone/>
            </a:pPr>
            <a:r>
              <a:rPr lang="en-US" sz="3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ang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808281" y="3500438"/>
            <a:ext cx="238378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9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Wide open — jaw drops right back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31652" y="3738563"/>
            <a:ext cx="2337048" cy="653951"/>
          </a:xfrm>
          <a:prstGeom prst="roundRect">
            <a:avLst>
              <a:gd name="adj" fmla="val 11652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860046" y="3814763"/>
            <a:ext cx="2280258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上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60046" y="4154388"/>
            <a:ext cx="228025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shàng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441650" y="2678162"/>
            <a:ext cx="2578150" cy="2047726"/>
          </a:xfrm>
          <a:prstGeom prst="roundRect">
            <a:avLst>
              <a:gd name="adj" fmla="val 6202"/>
            </a:avLst>
          </a:prstGeom>
          <a:solidFill>
            <a:srgbClr val="C7DEE2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3538831" y="2849612"/>
            <a:ext cx="238378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FINAL 2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3538831" y="3043238"/>
            <a:ext cx="2383789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000"/>
              </a:lnSpc>
              <a:buNone/>
            </a:pPr>
            <a:r>
              <a:rPr lang="en-US" sz="3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eng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3538831" y="3500438"/>
            <a:ext cx="2383789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9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Neutral — relaxed jaw, tongue pulled back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562201" y="3900488"/>
            <a:ext cx="2337048" cy="653951"/>
          </a:xfrm>
          <a:prstGeom prst="roundRect">
            <a:avLst>
              <a:gd name="adj" fmla="val 11652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3590596" y="3976687"/>
            <a:ext cx="2280258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等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3590596" y="4316313"/>
            <a:ext cx="228025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děng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172200" y="2678162"/>
            <a:ext cx="2578150" cy="2047726"/>
          </a:xfrm>
          <a:prstGeom prst="roundRect">
            <a:avLst>
              <a:gd name="adj" fmla="val 6202"/>
            </a:avLst>
          </a:prstGeom>
          <a:solidFill>
            <a:srgbClr val="E8CD8A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6269380" y="2849612"/>
            <a:ext cx="238378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FINAL 3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6269380" y="3043238"/>
            <a:ext cx="2383789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000"/>
              </a:lnSpc>
              <a:buNone/>
            </a:pPr>
            <a:r>
              <a:rPr lang="en-US" sz="3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ing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6269380" y="3500438"/>
            <a:ext cx="2383789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9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Smile — corners pulled back, tongue high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292751" y="3900488"/>
            <a:ext cx="2337048" cy="653951"/>
          </a:xfrm>
          <a:prstGeom prst="roundRect">
            <a:avLst>
              <a:gd name="adj" fmla="val 11652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6321146" y="3976687"/>
            <a:ext cx="2280258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行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6321146" y="4316313"/>
            <a:ext cx="228025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xíng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902750" y="2678162"/>
            <a:ext cx="2578150" cy="2047726"/>
          </a:xfrm>
          <a:prstGeom prst="roundRect">
            <a:avLst>
              <a:gd name="adj" fmla="val 6202"/>
            </a:avLst>
          </a:prstGeom>
          <a:solidFill>
            <a:srgbClr val="C7DEE2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8999930" y="2849612"/>
            <a:ext cx="238378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FINAL 4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8999930" y="3043238"/>
            <a:ext cx="2383789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000"/>
              </a:lnSpc>
              <a:buNone/>
            </a:pPr>
            <a:r>
              <a:rPr lang="en-US" sz="3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ong</a:t>
            </a:r>
            <a:endParaRPr lang="en-US" sz="3000" dirty="0"/>
          </a:p>
        </p:txBody>
      </p:sp>
      <p:sp>
        <p:nvSpPr>
          <p:cNvPr id="34" name="Text 32"/>
          <p:cNvSpPr/>
          <p:nvPr/>
        </p:nvSpPr>
        <p:spPr>
          <a:xfrm>
            <a:off x="8999930" y="3500438"/>
            <a:ext cx="238378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9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Rounded lips, tongue pulled well back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9023300" y="3738563"/>
            <a:ext cx="2337048" cy="653951"/>
          </a:xfrm>
          <a:prstGeom prst="roundRect">
            <a:avLst>
              <a:gd name="adj" fmla="val 11652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9051695" y="3814763"/>
            <a:ext cx="2280258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送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9051695" y="4154388"/>
            <a:ext cx="228025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sòng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711101" y="4878288"/>
            <a:ext cx="10769798" cy="701576"/>
          </a:xfrm>
          <a:prstGeom prst="roundRect">
            <a:avLst>
              <a:gd name="adj" fmla="val 14482"/>
            </a:avLst>
          </a:prstGeom>
          <a:solidFill>
            <a:srgbClr val="F3E0DC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933301" y="5024289"/>
            <a:ext cx="847343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Model 2 examples first, then 播放 CD T56 · Play CD Track 56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933301" y="5271939"/>
            <a:ext cx="847343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9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says and writes the pinyin (with tone mark) for 2 example words first, thinking aloud about the final sound — then play the full track.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07950" y="6656338"/>
            <a:ext cx="136017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4.3 交通工具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7948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L4 · 部首拼音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401514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28465" y="144363"/>
            <a:ext cx="225596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Check for Understanding · 10–20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12750" y="1379488"/>
            <a:ext cx="1077782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CHECK FOR UNDERSTANDING — EMBEDDED PER RADICAL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12750" y="1719114"/>
            <a:ext cx="10777829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Check for Understanding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812750" y="2363539"/>
            <a:ext cx="10566499" cy="804416"/>
          </a:xfrm>
          <a:prstGeom prst="roundRect">
            <a:avLst>
              <a:gd name="adj" fmla="val 1263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062079" y="2551361"/>
            <a:ext cx="466344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8CD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727002" y="2541240"/>
            <a:ext cx="9586314" cy="2489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After </a:t>
            </a:r>
            <a:r>
              <a:rPr lang="en-US" sz="14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门</a:t>
            </a: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what does it mean?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727002" y="2828330"/>
            <a:ext cx="958631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9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Thumbs up if you know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812750" y="3320355"/>
            <a:ext cx="10566499" cy="804416"/>
          </a:xfrm>
          <a:prstGeom prst="roundRect">
            <a:avLst>
              <a:gd name="adj" fmla="val 1263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062079" y="3508177"/>
            <a:ext cx="466344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8CD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727002" y="3498056"/>
            <a:ext cx="9586314" cy="2489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After </a:t>
            </a:r>
            <a:r>
              <a:rPr lang="en-US" sz="14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钅</a:t>
            </a: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which Lesson 12 word do you know with 钅 in it?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727002" y="3785146"/>
            <a:ext cx="958631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9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Cold call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812750" y="4277171"/>
            <a:ext cx="10566499" cy="804416"/>
          </a:xfrm>
          <a:prstGeom prst="roundRect">
            <a:avLst>
              <a:gd name="adj" fmla="val 1263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062079" y="4464993"/>
            <a:ext cx="466344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8CD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1727002" y="4454872"/>
            <a:ext cx="9586314" cy="2489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the radical for "bamboo".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727002" y="4741962"/>
            <a:ext cx="958631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9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Mini whiteboards, hold it up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812750" y="5259288"/>
            <a:ext cx="10566499" cy="371475"/>
          </a:xfrm>
          <a:prstGeom prst="roundRect">
            <a:avLst>
              <a:gd name="adj" fmla="val 20513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1034951" y="5354538"/>
            <a:ext cx="1032454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答案见下一张 · Answers on next slide →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7950" y="6656338"/>
            <a:ext cx="136017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4.3 交通工具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7948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L4 · 部首拼音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401514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28465" y="144363"/>
            <a:ext cx="175941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CFU · Answers · 10–20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12750" y="1408509"/>
            <a:ext cx="1077782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 CHECK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12750" y="1722834"/>
            <a:ext cx="10777829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Check for Understanding: Answers · 答案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812750" y="2341959"/>
            <a:ext cx="10566499" cy="336352"/>
          </a:xfrm>
          <a:prstGeom prst="roundRect">
            <a:avLst>
              <a:gd name="adj" fmla="val 3772030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041350" y="2405360"/>
            <a:ext cx="1031148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🔑 Answer Key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12750" y="2830711"/>
            <a:ext cx="10566499" cy="822127"/>
          </a:xfrm>
          <a:prstGeom prst="roundRect">
            <a:avLst>
              <a:gd name="adj" fmla="val 12358"/>
            </a:avLst>
          </a:prstGeom>
          <a:solidFill>
            <a:srgbClr val="FFFFF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081129" y="3027462"/>
            <a:ext cx="466344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8CD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746052" y="3117205"/>
            <a:ext cx="8614309" cy="2489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After </a:t>
            </a:r>
            <a:r>
              <a:rPr lang="en-US" sz="14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门</a:t>
            </a: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what does it mean?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394603" y="3084612"/>
            <a:ext cx="72593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✅ door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12750" y="3805237"/>
            <a:ext cx="10566499" cy="822127"/>
          </a:xfrm>
          <a:prstGeom prst="roundRect">
            <a:avLst>
              <a:gd name="adj" fmla="val 12358"/>
            </a:avLst>
          </a:prstGeom>
          <a:solidFill>
            <a:srgbClr val="FFFFF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081129" y="4001988"/>
            <a:ext cx="466344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8CD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746052" y="4091732"/>
            <a:ext cx="8582430" cy="2489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Which Lesson 12 word do you know with 钅 in it?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363349" y="4059138"/>
            <a:ext cx="757809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✅ 地铁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12750" y="4779764"/>
            <a:ext cx="10566499" cy="822127"/>
          </a:xfrm>
          <a:prstGeom prst="roundRect">
            <a:avLst>
              <a:gd name="adj" fmla="val 12358"/>
            </a:avLst>
          </a:prstGeom>
          <a:solidFill>
            <a:srgbClr val="FFFFF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1081129" y="4976515"/>
            <a:ext cx="466344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8CD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1746052" y="5066258"/>
            <a:ext cx="8815602" cy="2489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the radical for "bamboo".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0591949" y="5033665"/>
            <a:ext cx="524637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✅ 竹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7950" y="6656338"/>
            <a:ext cx="136017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4.3 交通工具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7948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L4 · 部首拼音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401514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28465" y="144363"/>
            <a:ext cx="159941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Do · Activity 1 · 20–43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09600" y="584150"/>
            <a:ext cx="1119225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1 · 8 MIN · WE DO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09600" y="873026"/>
            <a:ext cx="11192256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Radical Copying + Matching · 部首连线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09600" y="1352401"/>
            <a:ext cx="1119225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Worksheet: the 6 radicals and 6 example characters are scrambled. With teacher guidance, draw a line matching each radical to its character.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113334" y="1660327"/>
            <a:ext cx="142468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部首 (SCRAMBLED)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127302" y="1904702"/>
            <a:ext cx="1396752" cy="438150"/>
          </a:xfrm>
          <a:prstGeom prst="roundRect">
            <a:avLst>
              <a:gd name="adj" fmla="val 1739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372313" y="1980902"/>
            <a:ext cx="90672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士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127302" y="2419052"/>
            <a:ext cx="1396752" cy="438150"/>
          </a:xfrm>
          <a:prstGeom prst="roundRect">
            <a:avLst>
              <a:gd name="adj" fmla="val 1739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4372313" y="2495252"/>
            <a:ext cx="90672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门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127302" y="2933402"/>
            <a:ext cx="1396752" cy="438150"/>
          </a:xfrm>
          <a:prstGeom prst="roundRect">
            <a:avLst>
              <a:gd name="adj" fmla="val 1739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4372313" y="3009602"/>
            <a:ext cx="90672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竹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127302" y="3447752"/>
            <a:ext cx="1396752" cy="438150"/>
          </a:xfrm>
          <a:prstGeom prst="roundRect">
            <a:avLst>
              <a:gd name="adj" fmla="val 1739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4372313" y="3523952"/>
            <a:ext cx="90672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钅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127302" y="3962102"/>
            <a:ext cx="1396752" cy="438150"/>
          </a:xfrm>
          <a:prstGeom prst="roundRect">
            <a:avLst>
              <a:gd name="adj" fmla="val 1739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4372313" y="4038302"/>
            <a:ext cx="90672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文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127302" y="4476452"/>
            <a:ext cx="1396752" cy="438150"/>
          </a:xfrm>
          <a:prstGeom prst="roundRect">
            <a:avLst>
              <a:gd name="adj" fmla="val 1739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4372313" y="4552652"/>
            <a:ext cx="90672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欠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032004" y="2068264"/>
            <a:ext cx="13055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↔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032004" y="2487364"/>
            <a:ext cx="13055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↔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032004" y="2906464"/>
            <a:ext cx="13055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↔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032004" y="3325564"/>
            <a:ext cx="13055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↔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032004" y="3744664"/>
            <a:ext cx="13055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↔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032004" y="4163764"/>
            <a:ext cx="13055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↔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653979" y="1660327"/>
            <a:ext cx="142468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例字 (SCRAMBLED)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6667946" y="1904702"/>
            <a:ext cx="1396752" cy="438150"/>
          </a:xfrm>
          <a:prstGeom prst="roundRect">
            <a:avLst>
              <a:gd name="adj" fmla="val 1739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6912958" y="1980902"/>
            <a:ext cx="90672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问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6667946" y="2419052"/>
            <a:ext cx="1396752" cy="438150"/>
          </a:xfrm>
          <a:prstGeom prst="roundRect">
            <a:avLst>
              <a:gd name="adj" fmla="val 1739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6912958" y="2495252"/>
            <a:ext cx="90672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数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6667946" y="2933402"/>
            <a:ext cx="1396752" cy="438150"/>
          </a:xfrm>
          <a:prstGeom prst="roundRect">
            <a:avLst>
              <a:gd name="adj" fmla="val 1739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6912958" y="3009602"/>
            <a:ext cx="90672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铁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6667946" y="3447752"/>
            <a:ext cx="1396752" cy="438150"/>
          </a:xfrm>
          <a:prstGeom prst="roundRect">
            <a:avLst>
              <a:gd name="adj" fmla="val 1739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6912958" y="3523952"/>
            <a:ext cx="90672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喜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6667946" y="3962102"/>
            <a:ext cx="1396752" cy="438150"/>
          </a:xfrm>
          <a:prstGeom prst="roundRect">
            <a:avLst>
              <a:gd name="adj" fmla="val 1739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6912958" y="4038302"/>
            <a:ext cx="90672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欢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6667946" y="4476452"/>
            <a:ext cx="1396752" cy="438150"/>
          </a:xfrm>
          <a:prstGeom prst="roundRect">
            <a:avLst>
              <a:gd name="adj" fmla="val 1739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6912958" y="4552652"/>
            <a:ext cx="90672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等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609600" y="5041553"/>
            <a:ext cx="10972800" cy="364927"/>
          </a:xfrm>
          <a:prstGeom prst="roundRect">
            <a:avLst>
              <a:gd name="adj" fmla="val 20881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812750" y="5143054"/>
            <a:ext cx="544371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After matching each pair, copy the radical 3× in the correct stroke order on the worksheet.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609600" y="5533430"/>
            <a:ext cx="3589883" cy="600968"/>
          </a:xfrm>
          <a:prstGeom prst="roundRect">
            <a:avLst>
              <a:gd name="adj" fmla="val 1268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736550" y="5609630"/>
            <a:ext cx="340270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736550" y="5777805"/>
            <a:ext cx="3402702" cy="28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5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Radical meanings printed alongside for reference throughout the worksheet.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4300984" y="5533430"/>
            <a:ext cx="3589883" cy="600968"/>
          </a:xfrm>
          <a:prstGeom prst="roundRect">
            <a:avLst>
              <a:gd name="adj" fmla="val 1268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4427934" y="5609630"/>
            <a:ext cx="340270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4427934" y="5777805"/>
            <a:ext cx="3402702" cy="28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5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Find one more character already known from earlier units that contains one of these 6 radicals, and write it down.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7992368" y="5533430"/>
            <a:ext cx="3590032" cy="600968"/>
          </a:xfrm>
          <a:prstGeom prst="roundRect">
            <a:avLst>
              <a:gd name="adj" fmla="val 1268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8119318" y="5609630"/>
            <a:ext cx="340285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8119318" y="5777805"/>
            <a:ext cx="3402854" cy="1401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5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Mini whiteboards — hold up matched pairs each round.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07950" y="6656338"/>
            <a:ext cx="136017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4.3 交通工具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7948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L4 · 部首拼音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401514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28465" y="144363"/>
            <a:ext cx="165573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Do · Activity 2 · 20–43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58701" y="558701"/>
            <a:ext cx="1129609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2 · YOU DO · 8 MIN · EX5, P.89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58701" y="822127"/>
            <a:ext cx="1129609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Pinyin Listening Dictation · 听写拼音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58701" y="1276052"/>
            <a:ext cx="1129609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reads each word aloud. Write the pinyin with the correct tone mark on your whiteboard, then hold it up.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58701" y="1558528"/>
            <a:ext cx="11074598" cy="419100"/>
          </a:xfrm>
          <a:prstGeom prst="roundRect">
            <a:avLst>
              <a:gd name="adj" fmla="val 18182"/>
            </a:avLst>
          </a:prstGeom>
          <a:solidFill>
            <a:srgbClr val="F3E0DC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780901" y="1653778"/>
            <a:ext cx="108428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🔊 CD T56 or teacher-read — 6–8 words with ang / eng / ing / ong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58701" y="2079129"/>
            <a:ext cx="2692450" cy="698153"/>
          </a:xfrm>
          <a:prstGeom prst="roundRect">
            <a:avLst>
              <a:gd name="adj" fmla="val 14553"/>
            </a:avLst>
          </a:prstGeom>
          <a:solidFill>
            <a:srgbClr val="F6F2E8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02973" y="2199680"/>
            <a:ext cx="260390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587401" y="2437805"/>
            <a:ext cx="634901" cy="25301"/>
          </a:xfrm>
          <a:prstGeom prst="roundRect">
            <a:avLst>
              <a:gd name="adj" fmla="val 100391"/>
            </a:avLst>
          </a:prstGeom>
          <a:solidFill>
            <a:srgbClr val="D5CEB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602973" y="2513856"/>
            <a:ext cx="260390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listen &amp; write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3352651" y="2079129"/>
            <a:ext cx="2692598" cy="698153"/>
          </a:xfrm>
          <a:prstGeom prst="roundRect">
            <a:avLst>
              <a:gd name="adj" fmla="val 14553"/>
            </a:avLst>
          </a:prstGeom>
          <a:solidFill>
            <a:srgbClr val="F6F2E8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3396922" y="2199680"/>
            <a:ext cx="260405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381500" y="2437805"/>
            <a:ext cx="634901" cy="25301"/>
          </a:xfrm>
          <a:prstGeom prst="roundRect">
            <a:avLst>
              <a:gd name="adj" fmla="val 100391"/>
            </a:avLst>
          </a:prstGeom>
          <a:solidFill>
            <a:srgbClr val="D5CEB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3396922" y="2513856"/>
            <a:ext cx="260405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listen &amp; write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6146750" y="2079129"/>
            <a:ext cx="2692450" cy="698153"/>
          </a:xfrm>
          <a:prstGeom prst="roundRect">
            <a:avLst>
              <a:gd name="adj" fmla="val 14553"/>
            </a:avLst>
          </a:prstGeom>
          <a:solidFill>
            <a:srgbClr val="F6F2E8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191022" y="2199680"/>
            <a:ext cx="260390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7175450" y="2437805"/>
            <a:ext cx="634901" cy="25301"/>
          </a:xfrm>
          <a:prstGeom prst="roundRect">
            <a:avLst>
              <a:gd name="adj" fmla="val 100391"/>
            </a:avLst>
          </a:prstGeom>
          <a:solidFill>
            <a:srgbClr val="D5CEB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191022" y="2513856"/>
            <a:ext cx="260390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listen &amp; write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940701" y="2079129"/>
            <a:ext cx="2692598" cy="698153"/>
          </a:xfrm>
          <a:prstGeom prst="roundRect">
            <a:avLst>
              <a:gd name="adj" fmla="val 14553"/>
            </a:avLst>
          </a:prstGeom>
          <a:solidFill>
            <a:srgbClr val="F6F2E8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8984971" y="2199680"/>
            <a:ext cx="260405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9969550" y="2437805"/>
            <a:ext cx="634901" cy="25301"/>
          </a:xfrm>
          <a:prstGeom prst="roundRect">
            <a:avLst>
              <a:gd name="adj" fmla="val 100391"/>
            </a:avLst>
          </a:prstGeom>
          <a:solidFill>
            <a:srgbClr val="D5CEB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8984971" y="2513856"/>
            <a:ext cx="260405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listen &amp; write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558701" y="2878782"/>
            <a:ext cx="2692450" cy="698153"/>
          </a:xfrm>
          <a:prstGeom prst="roundRect">
            <a:avLst>
              <a:gd name="adj" fmla="val 14553"/>
            </a:avLst>
          </a:prstGeom>
          <a:solidFill>
            <a:srgbClr val="F6F2E8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602973" y="2999333"/>
            <a:ext cx="260390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587401" y="3237458"/>
            <a:ext cx="634901" cy="25301"/>
          </a:xfrm>
          <a:prstGeom prst="roundRect">
            <a:avLst>
              <a:gd name="adj" fmla="val 100391"/>
            </a:avLst>
          </a:prstGeom>
          <a:solidFill>
            <a:srgbClr val="D5CEB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602973" y="3313509"/>
            <a:ext cx="260390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listen &amp; write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3352651" y="2878782"/>
            <a:ext cx="2692598" cy="698153"/>
          </a:xfrm>
          <a:prstGeom prst="roundRect">
            <a:avLst>
              <a:gd name="adj" fmla="val 14553"/>
            </a:avLst>
          </a:prstGeom>
          <a:solidFill>
            <a:srgbClr val="F6F2E8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3396922" y="2999333"/>
            <a:ext cx="260405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381500" y="3237458"/>
            <a:ext cx="634901" cy="25301"/>
          </a:xfrm>
          <a:prstGeom prst="roundRect">
            <a:avLst>
              <a:gd name="adj" fmla="val 100391"/>
            </a:avLst>
          </a:prstGeom>
          <a:solidFill>
            <a:srgbClr val="D5CEB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3396922" y="3313509"/>
            <a:ext cx="260405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listen &amp; write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6146750" y="2878782"/>
            <a:ext cx="2692450" cy="698153"/>
          </a:xfrm>
          <a:prstGeom prst="roundRect">
            <a:avLst>
              <a:gd name="adj" fmla="val 14553"/>
            </a:avLst>
          </a:prstGeom>
          <a:solidFill>
            <a:srgbClr val="F6F2E8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6191022" y="2999333"/>
            <a:ext cx="260390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7175450" y="3237458"/>
            <a:ext cx="634901" cy="25301"/>
          </a:xfrm>
          <a:prstGeom prst="roundRect">
            <a:avLst>
              <a:gd name="adj" fmla="val 100391"/>
            </a:avLst>
          </a:prstGeom>
          <a:solidFill>
            <a:srgbClr val="D5CEB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6191022" y="3313509"/>
            <a:ext cx="260390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bonus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8940701" y="2878782"/>
            <a:ext cx="2692598" cy="698153"/>
          </a:xfrm>
          <a:prstGeom prst="roundRect">
            <a:avLst>
              <a:gd name="adj" fmla="val 14553"/>
            </a:avLst>
          </a:prstGeom>
          <a:solidFill>
            <a:srgbClr val="F6F2E8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8984971" y="2999333"/>
            <a:ext cx="260405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9969550" y="3237458"/>
            <a:ext cx="634901" cy="25301"/>
          </a:xfrm>
          <a:prstGeom prst="roundRect">
            <a:avLst>
              <a:gd name="adj" fmla="val 100391"/>
            </a:avLst>
          </a:prstGeom>
          <a:solidFill>
            <a:srgbClr val="D5CEB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8984971" y="3313509"/>
            <a:ext cx="260405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bonus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558701" y="3678436"/>
            <a:ext cx="11074598" cy="488752"/>
          </a:xfrm>
          <a:prstGeom prst="roundRect">
            <a:avLst>
              <a:gd name="adj" fmla="val 15591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761851" y="3851374"/>
            <a:ext cx="81655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FINALS BANK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689348" y="3779937"/>
            <a:ext cx="535632" cy="28575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1816298" y="3818037"/>
            <a:ext cx="28736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ang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2326481" y="3779937"/>
            <a:ext cx="534739" cy="28575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2453432" y="3818037"/>
            <a:ext cx="28645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eng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2962721" y="3779937"/>
            <a:ext cx="490091" cy="28575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3089672" y="3818037"/>
            <a:ext cx="24091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ing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3554313" y="3779937"/>
            <a:ext cx="539948" cy="28575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3681264" y="3818037"/>
            <a:ext cx="29176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ong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558701" y="4268688"/>
            <a:ext cx="2880866" cy="253901"/>
          </a:xfrm>
          <a:prstGeom prst="roundRect">
            <a:avLst>
              <a:gd name="adj" fmla="val 4996948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711101" y="4319439"/>
            <a:ext cx="262758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reads each word aloud (twice if needed)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3541068" y="4268688"/>
            <a:ext cx="2854077" cy="253901"/>
          </a:xfrm>
          <a:prstGeom prst="roundRect">
            <a:avLst>
              <a:gd name="adj" fmla="val 4996948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3693468" y="4319439"/>
            <a:ext cx="260026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the pinyin + tone mark on your whiteboard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6496645" y="4268688"/>
            <a:ext cx="3383607" cy="253901"/>
          </a:xfrm>
          <a:prstGeom prst="roundRect">
            <a:avLst>
              <a:gd name="adj" fmla="val 4996948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Text 57"/>
          <p:cNvSpPr/>
          <p:nvPr/>
        </p:nvSpPr>
        <p:spPr>
          <a:xfrm>
            <a:off x="6649045" y="4319439"/>
            <a:ext cx="314038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Hold it up after each item — checked live, no answer slide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558701" y="4624090"/>
            <a:ext cx="5486549" cy="460772"/>
          </a:xfrm>
          <a:prstGeom prst="roundRect">
            <a:avLst>
              <a:gd name="adj" fmla="val 16537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685651" y="4700290"/>
            <a:ext cx="533730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800" dirty="0"/>
          </a:p>
        </p:txBody>
      </p:sp>
      <p:sp>
        <p:nvSpPr>
          <p:cNvPr id="62" name="Text 60"/>
          <p:cNvSpPr/>
          <p:nvPr/>
        </p:nvSpPr>
        <p:spPr>
          <a:xfrm>
            <a:off x="685651" y="4868466"/>
            <a:ext cx="5337301" cy="1401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5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 bank of the possible finals (ang, eng, ing, ong) displayed on the projector as reference.</a:t>
            </a:r>
            <a:endParaRPr lang="en-US" sz="850" dirty="0"/>
          </a:p>
        </p:txBody>
      </p:sp>
      <p:sp>
        <p:nvSpPr>
          <p:cNvPr id="63" name="Text 61"/>
          <p:cNvSpPr/>
          <p:nvPr/>
        </p:nvSpPr>
        <p:spPr>
          <a:xfrm>
            <a:off x="6146750" y="4624090"/>
            <a:ext cx="5486549" cy="460772"/>
          </a:xfrm>
          <a:prstGeom prst="roundRect">
            <a:avLst>
              <a:gd name="adj" fmla="val 16537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Text 62"/>
          <p:cNvSpPr/>
          <p:nvPr/>
        </p:nvSpPr>
        <p:spPr>
          <a:xfrm>
            <a:off x="6273701" y="4700290"/>
            <a:ext cx="533730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6273701" y="4868466"/>
            <a:ext cx="5337301" cy="1401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5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Also write the tone number (1st/2nd/3rd/4th) for each word.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507950" y="6656338"/>
            <a:ext cx="136017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4.3 交通工具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7948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L4 · 部首拼音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401514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28465" y="144363"/>
            <a:ext cx="214317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Game · Radical Puzzle Relay · 20–43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107601" y="1684883"/>
            <a:ext cx="197664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GAME · 5 MIN · EX12, P.94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588340" y="2024509"/>
            <a:ext cx="5015171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Radical Puzzle Relay · 部首拼字接力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975174" y="2630835"/>
            <a:ext cx="1024150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Radical cards and incomplete-character cards spread at the front. One at a time, runners match a radical card to the correct incomplete character.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959596" y="3008561"/>
            <a:ext cx="1244352" cy="704552"/>
          </a:xfrm>
          <a:prstGeom prst="roundRect">
            <a:avLst>
              <a:gd name="adj" fmla="val 1442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3128407" y="3110061"/>
            <a:ext cx="906729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🃏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128407" y="3449687"/>
            <a:ext cx="90672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9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Cards spread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329120" y="3237012"/>
            <a:ext cx="181407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635698" y="3008561"/>
            <a:ext cx="1244352" cy="704552"/>
          </a:xfrm>
          <a:prstGeom prst="roundRect">
            <a:avLst>
              <a:gd name="adj" fmla="val 1442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804510" y="3110061"/>
            <a:ext cx="906729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🏃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804510" y="3449687"/>
            <a:ext cx="90672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9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Run up!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005222" y="3237012"/>
            <a:ext cx="181407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311801" y="3008561"/>
            <a:ext cx="1244352" cy="704552"/>
          </a:xfrm>
          <a:prstGeom prst="roundRect">
            <a:avLst>
              <a:gd name="adj" fmla="val 1442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480612" y="3110061"/>
            <a:ext cx="906729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🧩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480612" y="3449687"/>
            <a:ext cx="90672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9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Match radical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681325" y="3237012"/>
            <a:ext cx="181407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987903" y="3008561"/>
            <a:ext cx="1244352" cy="704552"/>
          </a:xfrm>
          <a:prstGeom prst="roundRect">
            <a:avLst>
              <a:gd name="adj" fmla="val 1442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8156714" y="3110061"/>
            <a:ext cx="906729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🙌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8156714" y="3449687"/>
            <a:ext cx="90672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9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Tag next!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11101" y="3890814"/>
            <a:ext cx="1710333" cy="1047304"/>
          </a:xfrm>
          <a:prstGeom prst="roundRect">
            <a:avLst>
              <a:gd name="adj" fmla="val 970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745763" y="3992314"/>
            <a:ext cx="164100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7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1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745763" y="4176415"/>
            <a:ext cx="1641009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数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1242268" y="4643140"/>
            <a:ext cx="647849" cy="193477"/>
          </a:xfrm>
          <a:prstGeom prst="roundRect">
            <a:avLst>
              <a:gd name="adj" fmla="val 6557524"/>
            </a:avLst>
          </a:prstGeom>
          <a:solidFill>
            <a:srgbClr val="E8CD8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1339321" y="4668441"/>
            <a:ext cx="45374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7A5A1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needs 文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2522934" y="3890814"/>
            <a:ext cx="1710333" cy="1047304"/>
          </a:xfrm>
          <a:prstGeom prst="roundRect">
            <a:avLst>
              <a:gd name="adj" fmla="val 970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2557596" y="3992314"/>
            <a:ext cx="164100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7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2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2557596" y="4176415"/>
            <a:ext cx="1641009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欢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3054102" y="4643140"/>
            <a:ext cx="647849" cy="193477"/>
          </a:xfrm>
          <a:prstGeom prst="roundRect">
            <a:avLst>
              <a:gd name="adj" fmla="val 6557524"/>
            </a:avLst>
          </a:prstGeom>
          <a:solidFill>
            <a:srgbClr val="E8CD8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3151154" y="4668441"/>
            <a:ext cx="45374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7A5A1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needs 欠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4334768" y="3890814"/>
            <a:ext cx="1710333" cy="1047304"/>
          </a:xfrm>
          <a:prstGeom prst="roundRect">
            <a:avLst>
              <a:gd name="adj" fmla="val 970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4369430" y="3992314"/>
            <a:ext cx="164100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7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3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4369430" y="4176415"/>
            <a:ext cx="1641009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喜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4865936" y="4643140"/>
            <a:ext cx="647849" cy="193477"/>
          </a:xfrm>
          <a:prstGeom prst="roundRect">
            <a:avLst>
              <a:gd name="adj" fmla="val 6557524"/>
            </a:avLst>
          </a:prstGeom>
          <a:solidFill>
            <a:srgbClr val="E8CD8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4962988" y="4668441"/>
            <a:ext cx="45374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7A5A1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needs 士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6146602" y="3890814"/>
            <a:ext cx="1710482" cy="1047304"/>
          </a:xfrm>
          <a:prstGeom prst="roundRect">
            <a:avLst>
              <a:gd name="adj" fmla="val 970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6181262" y="3992314"/>
            <a:ext cx="164116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7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4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6181262" y="4176415"/>
            <a:ext cx="164116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问</a:t>
            </a:r>
            <a:endParaRPr lang="en-US" sz="2200" dirty="0"/>
          </a:p>
        </p:txBody>
      </p:sp>
      <p:sp>
        <p:nvSpPr>
          <p:cNvPr id="43" name="Text 41"/>
          <p:cNvSpPr/>
          <p:nvPr/>
        </p:nvSpPr>
        <p:spPr>
          <a:xfrm>
            <a:off x="6677918" y="4643140"/>
            <a:ext cx="647849" cy="193477"/>
          </a:xfrm>
          <a:prstGeom prst="roundRect">
            <a:avLst>
              <a:gd name="adj" fmla="val 6557524"/>
            </a:avLst>
          </a:prstGeom>
          <a:solidFill>
            <a:srgbClr val="E8CD8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6774970" y="4668441"/>
            <a:ext cx="45374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7A5A1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needs 门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7958584" y="3890814"/>
            <a:ext cx="1710333" cy="1047304"/>
          </a:xfrm>
          <a:prstGeom prst="roundRect">
            <a:avLst>
              <a:gd name="adj" fmla="val 970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7993246" y="3992314"/>
            <a:ext cx="164100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7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5</a:t>
            </a:r>
            <a:endParaRPr lang="en-US" sz="750" dirty="0"/>
          </a:p>
        </p:txBody>
      </p:sp>
      <p:sp>
        <p:nvSpPr>
          <p:cNvPr id="47" name="Text 45"/>
          <p:cNvSpPr/>
          <p:nvPr/>
        </p:nvSpPr>
        <p:spPr>
          <a:xfrm>
            <a:off x="7993246" y="4176415"/>
            <a:ext cx="1641009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等</a:t>
            </a:r>
            <a:endParaRPr lang="en-US" sz="2200" dirty="0"/>
          </a:p>
        </p:txBody>
      </p:sp>
      <p:sp>
        <p:nvSpPr>
          <p:cNvPr id="48" name="Text 46"/>
          <p:cNvSpPr/>
          <p:nvPr/>
        </p:nvSpPr>
        <p:spPr>
          <a:xfrm>
            <a:off x="8489752" y="4643140"/>
            <a:ext cx="647849" cy="193477"/>
          </a:xfrm>
          <a:prstGeom prst="roundRect">
            <a:avLst>
              <a:gd name="adj" fmla="val 6557524"/>
            </a:avLst>
          </a:prstGeom>
          <a:solidFill>
            <a:srgbClr val="E8CD8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8586804" y="4668441"/>
            <a:ext cx="45374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7A5A1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needs 竹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9770418" y="3890814"/>
            <a:ext cx="1710333" cy="1047304"/>
          </a:xfrm>
          <a:prstGeom prst="roundRect">
            <a:avLst>
              <a:gd name="adj" fmla="val 970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9805080" y="3992314"/>
            <a:ext cx="164100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7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6</a:t>
            </a:r>
            <a:endParaRPr lang="en-US" sz="750" dirty="0"/>
          </a:p>
        </p:txBody>
      </p:sp>
      <p:sp>
        <p:nvSpPr>
          <p:cNvPr id="52" name="Text 50"/>
          <p:cNvSpPr/>
          <p:nvPr/>
        </p:nvSpPr>
        <p:spPr>
          <a:xfrm>
            <a:off x="9805080" y="4176415"/>
            <a:ext cx="1641009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铁</a:t>
            </a:r>
            <a:endParaRPr lang="en-US" sz="2200" dirty="0"/>
          </a:p>
        </p:txBody>
      </p:sp>
      <p:sp>
        <p:nvSpPr>
          <p:cNvPr id="53" name="Text 51"/>
          <p:cNvSpPr/>
          <p:nvPr/>
        </p:nvSpPr>
        <p:spPr>
          <a:xfrm>
            <a:off x="10301585" y="4643140"/>
            <a:ext cx="647849" cy="193477"/>
          </a:xfrm>
          <a:prstGeom prst="roundRect">
            <a:avLst>
              <a:gd name="adj" fmla="val 6557524"/>
            </a:avLst>
          </a:prstGeom>
          <a:solidFill>
            <a:srgbClr val="E8CD8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Text 52"/>
          <p:cNvSpPr/>
          <p:nvPr/>
        </p:nvSpPr>
        <p:spPr>
          <a:xfrm>
            <a:off x="10398637" y="4668441"/>
            <a:ext cx="45374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7A5A1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needs 钅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1443039" y="5115818"/>
            <a:ext cx="285377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🏆 Team with the most correct matches wins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4423245" y="5115818"/>
            <a:ext cx="237589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🔄 Runners go one at a time, in order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6915873" y="5115818"/>
            <a:ext cx="384278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🖨️ Setup: printed radical cards + incomplete character cards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07950" y="6656338"/>
            <a:ext cx="136017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4.3 交通工具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7948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L4 · 部首拼音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401514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28465" y="144363"/>
            <a:ext cx="105610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Plenary · 43–50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12750" y="1521023"/>
            <a:ext cx="1077782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43–50 MIN · PLENARY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12750" y="1835348"/>
            <a:ext cx="10777829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Review &amp; Reflect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812750" y="2416373"/>
            <a:ext cx="1077782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REVISIT SUCCESS CRITERIA · SHOW 👍/😐/👎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12750" y="2717899"/>
            <a:ext cx="88850" cy="88850"/>
          </a:xfrm>
          <a:prstGeom prst="roundRect">
            <a:avLst>
              <a:gd name="adj" fmla="val 1029150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028551" y="2657624"/>
            <a:ext cx="496371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name the 6 radicals and give an example character for each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12750" y="2978200"/>
            <a:ext cx="88850" cy="88850"/>
          </a:xfrm>
          <a:prstGeom prst="roundRect">
            <a:avLst>
              <a:gd name="adj" fmla="val 1029150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028551" y="2917924"/>
            <a:ext cx="347055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identify the meaning clue a radical gives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12750" y="3238500"/>
            <a:ext cx="88850" cy="88850"/>
          </a:xfrm>
          <a:prstGeom prst="roundRect">
            <a:avLst>
              <a:gd name="adj" fmla="val 1029150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028551" y="3178225"/>
            <a:ext cx="442131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listen and write pinyin with the correct final and tone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12750" y="3540175"/>
            <a:ext cx="10566499" cy="714226"/>
          </a:xfrm>
          <a:prstGeom prst="roundRect">
            <a:avLst>
              <a:gd name="adj" fmla="val 14225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1041350" y="3667125"/>
            <a:ext cx="1031148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📝 Self-Assessment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041350" y="3927425"/>
            <a:ext cx="1031148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On whiteboards: which radical do you still confuse with another?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12750" y="4406801"/>
            <a:ext cx="10566499" cy="720626"/>
          </a:xfrm>
          <a:prstGeom prst="roundRect">
            <a:avLst>
              <a:gd name="adj" fmla="val 14099"/>
            </a:avLst>
          </a:prstGeom>
          <a:solidFill>
            <a:srgbClr val="E8CD8A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1085701" y="4552801"/>
            <a:ext cx="1022101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7A5A1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🚪 EXIT TICKET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85701" y="4752826"/>
            <a:ext cx="102210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the radical in </a:t>
            </a: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铁</a:t>
            </a: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and say what it means.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12750" y="5279827"/>
            <a:ext cx="77557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👍 Achieved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827014" y="5279827"/>
            <a:ext cx="104016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😐 Getting there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100685" y="5279827"/>
            <a:ext cx="84069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👎 Need help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7950" y="6656338"/>
            <a:ext cx="136017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4.3 交通工具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562051" y="1350020"/>
            <a:ext cx="9067749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6000"/>
              </a:lnSpc>
              <a:spcAft>
                <a:spcPts val="800"/>
              </a:spcAft>
              <a:buNone/>
            </a:pPr>
            <a:r>
              <a:rPr lang="en-US" sz="6000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✓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1562051" y="2213521"/>
            <a:ext cx="9067749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3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Great work today!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562051" y="2848421"/>
            <a:ext cx="9067749" cy="495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50"/>
              </a:lnSpc>
              <a:spcAft>
                <a:spcPts val="2000"/>
              </a:spcAft>
              <a:buNone/>
            </a:pP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can now name 6 new radicals with an example character for each, and tell apart the ang/eng/ing/ong sounds.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650950" y="3597325"/>
            <a:ext cx="8889950" cy="1260277"/>
          </a:xfrm>
          <a:prstGeom prst="roundRect">
            <a:avLst>
              <a:gd name="adj" fmla="val 10077"/>
            </a:avLst>
          </a:prstGeom>
          <a:solidFill>
            <a:srgbClr val="C7DEE2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1944143" y="3819525"/>
            <a:ext cx="830356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NEXT LESSON →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944143" y="4032200"/>
            <a:ext cx="8303565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时间 + 交通 · Time + Transport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944143" y="4435376"/>
            <a:ext cx="830356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put time AND transport together in full sentences — like "At 7:30, dad drives to work."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562051" y="5060752"/>
            <a:ext cx="9067749" cy="447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60"/>
              </a:lnSpc>
              <a:spcBef>
                <a:spcPts val="1600"/>
              </a:spcBef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Today: </a:t>
            </a: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部首 (bùshǒu)</a:t>
            </a: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= radicals · </a:t>
            </a: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ang/eng/ing/ong</a:t>
            </a: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= new pinyin finals</a:t>
            </a:r>
            <a:endParaRPr lang="en-US" sz="1100" dirty="0"/>
          </a:p>
          <a:p>
            <a:pPr algn="ctr" indent="0" marL="0">
              <a:lnSpc>
                <a:spcPts val="1760"/>
              </a:lnSpc>
              <a:spcBef>
                <a:spcPts val="1600"/>
              </a:spcBef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Next: combine time words and transport verbs in full sentences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2026-07-18T08:49:23Z</dcterms:created>
  <dcterms:modified xsi:type="dcterms:W3CDTF">2026-07-18T08:49:23Z</dcterms:modified>
</cp:coreProperties>
</file>