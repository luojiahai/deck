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38700" y="1734741"/>
            <a:ext cx="888950" cy="631627"/>
          </a:xfrm>
          <a:prstGeom prst="roundRect">
            <a:avLst>
              <a:gd name="adj" fmla="val 2008670"/>
            </a:avLst>
          </a:prstGeom>
          <a:noFill/>
          <a:ln w="38100">
            <a:solidFill>
              <a:srgbClr val="E8CD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53610" y="1874341"/>
            <a:ext cx="259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27498" y="1802904"/>
            <a:ext cx="33685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64201" y="1734741"/>
            <a:ext cx="888950" cy="631627"/>
          </a:xfrm>
          <a:prstGeom prst="roundRect">
            <a:avLst>
              <a:gd name="adj" fmla="val 2008670"/>
            </a:avLst>
          </a:prstGeom>
          <a:noFill/>
          <a:ln w="3810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79111" y="1874341"/>
            <a:ext cx="259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697272" y="2544068"/>
            <a:ext cx="27974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MATCHING Q &amp; A  ·  不 NEGATION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53327" y="2972544"/>
            <a:ext cx="24853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7 · Y7 UNIT 4.3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6072" y="3309045"/>
            <a:ext cx="3419856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60"/>
              </a:lnSpc>
              <a:buNone/>
            </a:pPr>
            <a:r>
              <a:rPr lang="en-US" sz="6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语法</a:t>
            </a:r>
            <a:r>
              <a:rPr lang="en-US" sz="6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巩固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4525430" y="4357985"/>
            <a:ext cx="314099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Grammar Consolidation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17187" y="4913561"/>
            <a:ext cx="41576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 ·  50 mins  ·  Listening + Writing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89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语法巩固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958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2809" y="144363"/>
            <a:ext cx="18523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Chain Response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626691"/>
            <a:ext cx="11192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1915567"/>
            <a:ext cx="1119225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接龙问答 · Chain Response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9600" y="2509242"/>
            <a:ext cx="101041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Around the class: each student adds ONE question + answer pair from memory, recalling Lesson 6's interview. Keep the chain going!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600" y="2886968"/>
            <a:ext cx="3323183" cy="1096863"/>
          </a:xfrm>
          <a:prstGeom prst="roundRect">
            <a:avLst>
              <a:gd name="adj" fmla="val 115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2750" y="303936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73515" y="3085356"/>
            <a:ext cx="1322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12750" y="3369469"/>
            <a:ext cx="297522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你几点起床？
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我七点起床。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59734" y="2886968"/>
            <a:ext cx="233172" cy="10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15284" y="2886968"/>
            <a:ext cx="3323332" cy="1096863"/>
          </a:xfrm>
          <a:prstGeom prst="roundRect">
            <a:avLst>
              <a:gd name="adj" fmla="val 115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18434" y="303936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68573" y="3085356"/>
            <a:ext cx="1534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8434" y="3369469"/>
            <a:ext cx="2975372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你怎么上学？
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我坐校车上学。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65566" y="2886968"/>
            <a:ext cx="233172" cy="10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1117" y="2886968"/>
            <a:ext cx="3361283" cy="1096863"/>
          </a:xfrm>
          <a:prstGeom prst="roundRect">
            <a:avLst>
              <a:gd name="adj" fmla="val 11578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106074" y="3239839"/>
            <a:ext cx="159136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S3, S4, S5…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around the whole class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600" y="4110782"/>
            <a:ext cx="10972800" cy="726877"/>
          </a:xfrm>
          <a:prstGeom prst="roundRect">
            <a:avLst>
              <a:gd name="adj" fmla="val 17472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57250" y="4256782"/>
            <a:ext cx="6398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Chain Rule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7250" y="4510683"/>
            <a:ext cx="63987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student must use a DIFFERENT question + answer pair from Lesson 6's interview — no repeats.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9600" y="4964609"/>
            <a:ext cx="1119225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「You've practised asking and answering. Today we look closely at the GRAMMAR underneath — matching questions to answers precisely, and how to say 'not'.」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89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语法巩固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958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2809" y="144363"/>
            <a:ext cx="2492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1303734"/>
            <a:ext cx="10881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1668810"/>
            <a:ext cx="108813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2000" y="2481560"/>
            <a:ext cx="10668000" cy="834777"/>
          </a:xfrm>
          <a:prstGeom prst="rect">
            <a:avLst/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90575" y="2481560"/>
            <a:ext cx="0" cy="834777"/>
          </a:xfrm>
          <a:prstGeom prst="line">
            <a:avLst/>
          </a:prstGeom>
          <a:noFill/>
          <a:ln w="57150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3051" y="2659261"/>
            <a:ext cx="10305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3051" y="2871936"/>
            <a:ext cx="103051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 questions to answers</a:t>
            </a: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use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negation</a:t>
            </a: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correctly for Unit 4 grammar.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2000" y="3519488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92076" y="3587651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1850" y="3554313"/>
            <a:ext cx="40938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 a question to its correct answer</a:t>
            </a: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93750" y="3963888"/>
            <a:ext cx="104409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匹配问题和答案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2000" y="4290864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0467" y="4359027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1850" y="4325689"/>
            <a:ext cx="47540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form the question</a:t>
            </a: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that matches a given answer.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93750" y="4735264"/>
            <a:ext cx="104409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根据答案写问题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2000" y="5062240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80170" y="5130403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1850" y="5097066"/>
            <a:ext cx="45618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</a:t>
            </a:r>
            <a:r>
              <a:rPr lang="en-US" sz="14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</a:t>
            </a: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correctly to say someone doesn't work.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93750" y="5506641"/>
            <a:ext cx="104409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用"不"造否定句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89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语法巩固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958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2809" y="144363"/>
            <a:ext cx="18509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Negation Pattern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34901"/>
            <a:ext cx="11192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NEGATION WITH 不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923776"/>
            <a:ext cx="111922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否定句 · 不 + Verb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9600" y="1479352"/>
            <a:ext cx="10972800" cy="606326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479352"/>
            <a:ext cx="0" cy="606326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1126" y="1606302"/>
            <a:ext cx="106257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</a:t>
            </a:r>
            <a:r>
              <a:rPr lang="en-US" sz="20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</a:t>
            </a:r>
            <a:r>
              <a:rPr lang="en-US" sz="2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工作。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9600" y="2212628"/>
            <a:ext cx="111922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 mum doesn't work. — </a:t>
            </a:r>
            <a:r>
              <a:rPr lang="en-US" sz="10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</a:t>
            </a: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goes directly before the verb.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2580829"/>
            <a:ext cx="47534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 + VERB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9600" y="2825204"/>
            <a:ext cx="926902" cy="419100"/>
          </a:xfrm>
          <a:prstGeom prst="roundRect">
            <a:avLst>
              <a:gd name="adj" fmla="val 2424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7301" y="2901404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工作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333155"/>
            <a:ext cx="926902" cy="419100"/>
          </a:xfrm>
          <a:prstGeom prst="roundRect">
            <a:avLst>
              <a:gd name="adj" fmla="val 2424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7301" y="3409355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9600" y="3841105"/>
            <a:ext cx="926902" cy="419100"/>
          </a:xfrm>
          <a:prstGeom prst="roundRect">
            <a:avLst>
              <a:gd name="adj" fmla="val 2424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7301" y="3917305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走路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23756" y="2580829"/>
            <a:ext cx="6058644" cy="3794671"/>
          </a:xfrm>
          <a:prstGeom prst="roundRect">
            <a:avLst>
              <a:gd name="adj" fmla="val 334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52356" y="2758529"/>
            <a:ext cx="57134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WHERE DOES 不 GO? · 我妈妈不坐公共汽车上班，她走路。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52356" y="3074343"/>
            <a:ext cx="787301" cy="393502"/>
          </a:xfrm>
          <a:prstGeom prst="roundRect">
            <a:avLst>
              <a:gd name="adj" fmla="val 19365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98356" y="3156793"/>
            <a:ext cx="505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15857" y="3074343"/>
            <a:ext cx="622250" cy="393502"/>
          </a:xfrm>
          <a:prstGeom prst="roundRect">
            <a:avLst>
              <a:gd name="adj" fmla="val 19365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61857" y="3156793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4307" y="3002905"/>
            <a:ext cx="9713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 here!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4307" y="3145780"/>
            <a:ext cx="952351" cy="393502"/>
          </a:xfrm>
          <a:prstGeom prst="roundRect">
            <a:avLst>
              <a:gd name="adj" fmla="val 19365"/>
            </a:avLst>
          </a:prstGeom>
          <a:solidFill>
            <a:srgbClr val="FFFFFF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460307" y="3228231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公共汽车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42858" y="3074343"/>
            <a:ext cx="787301" cy="393502"/>
          </a:xfrm>
          <a:prstGeom prst="roundRect">
            <a:avLst>
              <a:gd name="adj" fmla="val 19365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488859" y="3156793"/>
            <a:ext cx="505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上班，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06359" y="3074343"/>
            <a:ext cx="952351" cy="393502"/>
          </a:xfrm>
          <a:prstGeom prst="roundRect">
            <a:avLst>
              <a:gd name="adj" fmla="val 19365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352359" y="3156793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她走路。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52356" y="3666232"/>
            <a:ext cx="5601444" cy="596503"/>
          </a:xfrm>
          <a:prstGeom prst="roundRect">
            <a:avLst>
              <a:gd name="adj" fmla="val 17033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949107" y="3786783"/>
            <a:ext cx="5312101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⚠️ 不 goes right before the VERB being negated (坐) — never before the time or transport word (公共汽车).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89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语法巩固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958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2809" y="144363"/>
            <a:ext cx="29269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Matching Halves &amp; Forming Questions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764060"/>
            <a:ext cx="11192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EX11 (P.94) &amp; EX13 (P.95)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2052935"/>
            <a:ext cx="111922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Matching &amp; Forming Questions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600" y="2621161"/>
            <a:ext cx="5128320" cy="2625030"/>
          </a:xfrm>
          <a:prstGeom prst="roundRect">
            <a:avLst>
              <a:gd name="adj" fmla="val 483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8200" y="2798862"/>
            <a:ext cx="47645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Ex11 · Match the Halves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8200" y="3116312"/>
            <a:ext cx="47645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question word tells you what KIND of answer to look for.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8200" y="3405188"/>
            <a:ext cx="569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98402" y="3443288"/>
            <a:ext cx="23705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method — HOW someone travels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8200" y="3748087"/>
            <a:ext cx="569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98402" y="3786188"/>
            <a:ext cx="28243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time — WHAT TIME something happens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8200" y="4090987"/>
            <a:ext cx="569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98402" y="4129088"/>
            <a:ext cx="1759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who — WHO is involved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8200" y="4484638"/>
            <a:ext cx="476454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950"/>
              </a:spcAft>
              <a:buNone/>
            </a:pPr>
            <a:r>
              <a:rPr lang="en-US" sz="9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2 example pairs — think aloud: "This question ends in 怎么, so I need an answer about a method of transport…"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1070" y="2621161"/>
            <a:ext cx="5641330" cy="2625030"/>
          </a:xfrm>
          <a:prstGeom prst="roundRect">
            <a:avLst>
              <a:gd name="adj" fmla="val 483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69670" y="2798862"/>
            <a:ext cx="52878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Ex13 · Form the Question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69670" y="3116312"/>
            <a:ext cx="52878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Given an answer, produce the matching question.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47487" y="3467100"/>
            <a:ext cx="725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799761" y="3405188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坐地铁。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96176" y="3773388"/>
            <a:ext cx="1337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56987" y="4222552"/>
            <a:ext cx="725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609261" y="4160639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你怎么上学？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69670" y="4503539"/>
            <a:ext cx="5184130" cy="564952"/>
          </a:xfrm>
          <a:prstGeom prst="roundRect">
            <a:avLst>
              <a:gd name="adj" fmla="val 17984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99083" y="4605040"/>
            <a:ext cx="492530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你怎么上班？ also works — more than one valid question is fine if the grammar is correct.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89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语法巩固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958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2809" y="144363"/>
            <a:ext cx="2255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753046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1101" y="2372171"/>
            <a:ext cx="10769798" cy="660202"/>
          </a:xfrm>
          <a:prstGeom prst="roundRect">
            <a:avLst>
              <a:gd name="adj" fmla="val 153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34913" y="2372171"/>
            <a:ext cx="0" cy="66020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2627" y="2549872"/>
            <a:ext cx="3886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96777" y="2549872"/>
            <a:ext cx="9822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我妈妈不工作。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what does this mean? Write the English, hold it up.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1101" y="3171974"/>
            <a:ext cx="10769798" cy="660202"/>
          </a:xfrm>
          <a:prstGeom prst="roundRect">
            <a:avLst>
              <a:gd name="adj" fmla="val 153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34913" y="3171974"/>
            <a:ext cx="0" cy="66020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2627" y="3349675"/>
            <a:ext cx="3886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96777" y="3349675"/>
            <a:ext cx="9822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 — what's wrong with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我不妈妈工作了解。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 Cold call!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1101" y="3971776"/>
            <a:ext cx="10769798" cy="660202"/>
          </a:xfrm>
          <a:prstGeom prst="roundRect">
            <a:avLst>
              <a:gd name="adj" fmla="val 153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34913" y="3971776"/>
            <a:ext cx="0" cy="66020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2627" y="4149477"/>
            <a:ext cx="3886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96777" y="4149477"/>
            <a:ext cx="9822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If the answer is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"开车。"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what question could it answer? Write it, hold it up.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1101" y="4860578"/>
            <a:ext cx="10769798" cy="396776"/>
          </a:xfrm>
          <a:prstGeom prst="roundRect">
            <a:avLst>
              <a:gd name="adj" fmla="val 25606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58751" y="4968478"/>
            <a:ext cx="24987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89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语法巩固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958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2809" y="144363"/>
            <a:ext cx="17594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· Answers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857821"/>
            <a:ext cx="1584871" cy="263426"/>
          </a:xfrm>
          <a:prstGeom prst="roundRect">
            <a:avLst>
              <a:gd name="adj" fmla="val 4816267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251" y="1908572"/>
            <a:ext cx="12021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REVEAL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1101" y="2273647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1101" y="2892772"/>
            <a:ext cx="10769798" cy="660202"/>
          </a:xfrm>
          <a:prstGeom prst="roundRect">
            <a:avLst>
              <a:gd name="adj" fmla="val 153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34913" y="2892772"/>
            <a:ext cx="0" cy="66020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2627" y="3070473"/>
            <a:ext cx="3886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96777" y="3089523"/>
            <a:ext cx="54349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我妈妈不工作。</a:t>
            </a:r>
            <a:r>
              <a:rPr lang="en-US" sz="12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what does this mean?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46297" y="3118098"/>
            <a:ext cx="41807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 mum doesn't 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1101" y="3692575"/>
            <a:ext cx="10769798" cy="660202"/>
          </a:xfrm>
          <a:prstGeom prst="roundRect">
            <a:avLst>
              <a:gd name="adj" fmla="val 153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34913" y="3692575"/>
            <a:ext cx="0" cy="66020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2627" y="3870275"/>
            <a:ext cx="3886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96777" y="3889325"/>
            <a:ext cx="54349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wrong with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我不妈妈工作了解。</a:t>
            </a:r>
            <a:r>
              <a:rPr lang="en-US" sz="12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46297" y="3917900"/>
            <a:ext cx="41807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Nonsense — 不 must sit directly before the verb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1101" y="4492377"/>
            <a:ext cx="10769798" cy="660202"/>
          </a:xfrm>
          <a:prstGeom prst="roundRect">
            <a:avLst>
              <a:gd name="adj" fmla="val 1538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34913" y="4492377"/>
            <a:ext cx="0" cy="66020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2627" y="4670078"/>
            <a:ext cx="3886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596777" y="4689128"/>
            <a:ext cx="54349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If the answer is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"开车。"</a:t>
            </a:r>
            <a:r>
              <a:rPr lang="en-US" sz="12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what question could it answer?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46297" y="4717703"/>
            <a:ext cx="41807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你/你爸爸怎么上班/上学？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89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语法巩固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958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2809" y="144363"/>
            <a:ext cx="15997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20–28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84150"/>
            <a:ext cx="374927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Match Sentence Halves · Ex11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435257" y="638175"/>
            <a:ext cx="1370558" cy="282476"/>
          </a:xfrm>
          <a:prstGeom prst="roundRect">
            <a:avLst>
              <a:gd name="adj" fmla="val 4491461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597182" y="698450"/>
            <a:ext cx="1067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07316" y="633413"/>
            <a:ext cx="776734" cy="292001"/>
          </a:xfrm>
          <a:prstGeom prst="roundRect">
            <a:avLst>
              <a:gd name="adj" fmla="val 4344951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69241" y="693688"/>
            <a:ext cx="4619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1076176"/>
            <a:ext cx="113996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 each question to its correct answer — first as a class (projected), then independently on the worksheet. Check together.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1377702"/>
            <a:ext cx="11176099" cy="412552"/>
          </a:xfrm>
          <a:prstGeom prst="roundRect">
            <a:avLst>
              <a:gd name="adj" fmla="val 24627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1101" y="1512540"/>
            <a:ext cx="1367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QUESTION-WORD KEY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29892" y="1479203"/>
            <a:ext cx="9718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 = method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0390" y="1479203"/>
            <a:ext cx="77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几点 = 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6817" y="1479203"/>
            <a:ext cx="6000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谁 = who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950" y="1942505"/>
            <a:ext cx="55703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QUESTIONS 问题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7950" y="2161580"/>
            <a:ext cx="5461099" cy="482352"/>
          </a:xfrm>
          <a:prstGeom prst="roundRect">
            <a:avLst>
              <a:gd name="adj" fmla="val 2106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5651" y="226308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9356" y="2321719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1952" y="2278856"/>
            <a:ext cx="10878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你几点起床？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950" y="2732782"/>
            <a:ext cx="5461099" cy="482352"/>
          </a:xfrm>
          <a:prstGeom prst="roundRect">
            <a:avLst>
              <a:gd name="adj" fmla="val 2106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5651" y="283428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9087" y="2892921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1952" y="2850059"/>
            <a:ext cx="10878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你怎么上学？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950" y="3303984"/>
            <a:ext cx="5461099" cy="482352"/>
          </a:xfrm>
          <a:prstGeom prst="roundRect">
            <a:avLst>
              <a:gd name="adj" fmla="val 2106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5651" y="340548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8789" y="3464123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1952" y="3421261"/>
            <a:ext cx="10878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你跟谁上学？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7950" y="3875187"/>
            <a:ext cx="5461099" cy="482352"/>
          </a:xfrm>
          <a:prstGeom prst="roundRect">
            <a:avLst>
              <a:gd name="adj" fmla="val 2106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5651" y="397668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88343" y="4035326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1952" y="3992463"/>
            <a:ext cx="10878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你几点上课？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22950" y="1942505"/>
            <a:ext cx="55703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答案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22950" y="2161580"/>
            <a:ext cx="5461099" cy="482352"/>
          </a:xfrm>
          <a:prstGeom prst="roundRect">
            <a:avLst>
              <a:gd name="adj" fmla="val 2106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400651" y="226308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499324" y="2321719"/>
            <a:ext cx="834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06952" y="2278856"/>
            <a:ext cx="12690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我跟朋友上学。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22950" y="2732782"/>
            <a:ext cx="5461099" cy="482352"/>
          </a:xfrm>
          <a:prstGeom prst="roundRect">
            <a:avLst>
              <a:gd name="adj" fmla="val 2106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400651" y="283428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498878" y="2892921"/>
            <a:ext cx="844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06952" y="2850059"/>
            <a:ext cx="10878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我八点上课。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222950" y="3303984"/>
            <a:ext cx="5461099" cy="482352"/>
          </a:xfrm>
          <a:prstGeom prst="roundRect">
            <a:avLst>
              <a:gd name="adj" fmla="val 2106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400651" y="340548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496496" y="3464123"/>
            <a:ext cx="892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06952" y="3421261"/>
            <a:ext cx="10878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我七点起床。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222950" y="3875187"/>
            <a:ext cx="5461099" cy="482352"/>
          </a:xfrm>
          <a:prstGeom prst="roundRect">
            <a:avLst>
              <a:gd name="adj" fmla="val 2106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400651" y="397668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497389" y="4035326"/>
            <a:ext cx="875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06952" y="3992463"/>
            <a:ext cx="12690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我坐地铁上学。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07950" y="4509790"/>
            <a:ext cx="3640634" cy="657523"/>
          </a:xfrm>
          <a:prstGeom prst="roundRect">
            <a:avLst>
              <a:gd name="adj" fmla="val 135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60350" y="4598640"/>
            <a:ext cx="3402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60350" y="4770090"/>
            <a:ext cx="3402550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Question-word key displayed (怎么 = method, 几点 = time, 谁 = who) to support matching logic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75534" y="4509790"/>
            <a:ext cx="3640782" cy="657523"/>
          </a:xfrm>
          <a:prstGeom prst="roundRect">
            <a:avLst>
              <a:gd name="adj" fmla="val 135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427934" y="4598640"/>
            <a:ext cx="3402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427934" y="4770090"/>
            <a:ext cx="3402702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additional sentence pair of your own (question + answer) not from the worksheet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43267" y="4509790"/>
            <a:ext cx="3640634" cy="657523"/>
          </a:xfrm>
          <a:prstGeom prst="roundRect">
            <a:avLst>
              <a:gd name="adj" fmla="val 135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195667" y="4598640"/>
            <a:ext cx="3402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195667" y="4770090"/>
            <a:ext cx="3402550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Whiteboards — write the matched letter, hold it up each round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07950" y="5319564"/>
            <a:ext cx="11176099" cy="352425"/>
          </a:xfrm>
          <a:prstGeom prst="roundRect">
            <a:avLst>
              <a:gd name="adj" fmla="val 28829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30151" y="5414814"/>
            <a:ext cx="28701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Correct matches on next slide →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89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语法巩固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958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2809" y="144363"/>
            <a:ext cx="14612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2033885"/>
            <a:ext cx="41333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Match Sentence Halves — Answers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48429" y="2097435"/>
            <a:ext cx="1584871" cy="263426"/>
          </a:xfrm>
          <a:prstGeom prst="roundRect">
            <a:avLst>
              <a:gd name="adj" fmla="val 4816267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251579" y="2148185"/>
            <a:ext cx="12021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REVEAL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8701" y="2602111"/>
            <a:ext cx="5448449" cy="1098352"/>
          </a:xfrm>
          <a:prstGeom prst="roundRect">
            <a:avLst>
              <a:gd name="adj" fmla="val 115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7301" y="2779812"/>
            <a:ext cx="50910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→ 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7301" y="302433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8355" y="3070324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68152" y="3017937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你几点起床？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38102" y="3046512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17453" y="302433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00648" y="3070324"/>
            <a:ext cx="892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98304" y="3017937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我七点起床。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7301" y="3360837"/>
            <a:ext cx="50910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几点 signals a TIME answer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84850" y="2602111"/>
            <a:ext cx="5448449" cy="1098352"/>
          </a:xfrm>
          <a:prstGeom prst="roundRect">
            <a:avLst>
              <a:gd name="adj" fmla="val 115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13450" y="2779812"/>
            <a:ext cx="50910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→ 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13450" y="302433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04087" y="3070324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94302" y="3017937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你怎么上学？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64252" y="3046512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43602" y="302433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427541" y="3070324"/>
            <a:ext cx="875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724454" y="3017937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我坐地铁上学。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13450" y="3360837"/>
            <a:ext cx="50910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 signals a METHOD answer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8701" y="3878163"/>
            <a:ext cx="5448449" cy="1098352"/>
          </a:xfrm>
          <a:prstGeom prst="roundRect">
            <a:avLst>
              <a:gd name="adj" fmla="val 115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87301" y="4055864"/>
            <a:ext cx="50910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→ 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7301" y="430038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77639" y="4346377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68152" y="4293989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你跟谁上学？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438102" y="432256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17453" y="430038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803475" y="4346377"/>
            <a:ext cx="834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098304" y="4293989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我跟朋友上学。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87301" y="4636889"/>
            <a:ext cx="50910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谁 signals a WHO answer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84850" y="3878163"/>
            <a:ext cx="5448449" cy="1098352"/>
          </a:xfrm>
          <a:prstGeom prst="roundRect">
            <a:avLst>
              <a:gd name="adj" fmla="val 115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413450" y="4055864"/>
            <a:ext cx="50910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→ 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13450" y="430038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503343" y="4346377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94302" y="4293989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你几点上课？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064252" y="432256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343602" y="430038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429179" y="4346377"/>
            <a:ext cx="844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724454" y="4293989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我八点上课。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413450" y="4636889"/>
            <a:ext cx="50910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几点 signals a TIME answer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89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语法巩固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958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2809" y="144363"/>
            <a:ext cx="1657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28–36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84150"/>
            <a:ext cx="361052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Listening + Forming Questions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69623" y="638175"/>
            <a:ext cx="1436191" cy="282476"/>
          </a:xfrm>
          <a:prstGeom prst="roundRect">
            <a:avLst>
              <a:gd name="adj" fmla="val 4491461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531548" y="698450"/>
            <a:ext cx="11345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You 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07316" y="633413"/>
            <a:ext cx="776734" cy="292001"/>
          </a:xfrm>
          <a:prstGeom prst="roundRect">
            <a:avLst>
              <a:gd name="adj" fmla="val 4344951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69241" y="693688"/>
            <a:ext cx="4619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1152376"/>
            <a:ext cx="5473750" cy="1631603"/>
          </a:xfrm>
          <a:prstGeom prst="roundRect">
            <a:avLst>
              <a:gd name="adj" fmla="val 778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6075" y="1339602"/>
            <a:ext cx="509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Part A · Ex10 Listening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6075" y="1682502"/>
            <a:ext cx="5097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p.93, CD T59 — tick the correct answers about commute and work (6 items)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6075" y="1990427"/>
            <a:ext cx="769293" cy="606326"/>
          </a:xfrm>
          <a:prstGeom prst="roundRect">
            <a:avLst>
              <a:gd name="adj" fmla="val 12567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3620" y="2085677"/>
            <a:ext cx="6942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3620" y="2339578"/>
            <a:ext cx="6942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91568" y="1990427"/>
            <a:ext cx="769441" cy="606326"/>
          </a:xfrm>
          <a:prstGeom prst="roundRect">
            <a:avLst>
              <a:gd name="adj" fmla="val 12567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629111" y="2085677"/>
            <a:ext cx="694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29111" y="2339578"/>
            <a:ext cx="6943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37209" y="1990427"/>
            <a:ext cx="769441" cy="606326"/>
          </a:xfrm>
          <a:prstGeom prst="roundRect">
            <a:avLst>
              <a:gd name="adj" fmla="val 12567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474753" y="2085677"/>
            <a:ext cx="694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74753" y="2339578"/>
            <a:ext cx="6943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82851" y="1990427"/>
            <a:ext cx="769441" cy="606326"/>
          </a:xfrm>
          <a:prstGeom prst="roundRect">
            <a:avLst>
              <a:gd name="adj" fmla="val 12567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20394" y="2085677"/>
            <a:ext cx="694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20394" y="2339578"/>
            <a:ext cx="6943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28492" y="1990427"/>
            <a:ext cx="769441" cy="606326"/>
          </a:xfrm>
          <a:prstGeom prst="roundRect">
            <a:avLst>
              <a:gd name="adj" fmla="val 12567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166036" y="2085677"/>
            <a:ext cx="694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66036" y="2339578"/>
            <a:ext cx="6943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74134" y="1990427"/>
            <a:ext cx="769441" cy="606326"/>
          </a:xfrm>
          <a:prstGeom prst="roundRect">
            <a:avLst>
              <a:gd name="adj" fmla="val 12567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11677" y="2085677"/>
            <a:ext cx="694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11677" y="2339578"/>
            <a:ext cx="6943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0300" y="1152376"/>
            <a:ext cx="5473750" cy="1631603"/>
          </a:xfrm>
          <a:prstGeom prst="roundRect">
            <a:avLst>
              <a:gd name="adj" fmla="val 778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48425" y="1339602"/>
            <a:ext cx="509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Part B · Ex13 Form the Question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48425" y="1682502"/>
            <a:ext cx="5097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p.95 — given an answer, write the matching question, independently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8425" y="1990427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坐地铁。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86327" y="1999952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78477" y="1990427"/>
            <a:ext cx="100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你怎么___？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7950" y="2961680"/>
            <a:ext cx="3640634" cy="657523"/>
          </a:xfrm>
          <a:prstGeom prst="roundRect">
            <a:avLst>
              <a:gd name="adj" fmla="val 135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60350" y="3050530"/>
            <a:ext cx="3402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60350" y="3221980"/>
            <a:ext cx="340255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of question words visible (怎么 / 几点 / 谁)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75534" y="2961680"/>
            <a:ext cx="3640782" cy="657523"/>
          </a:xfrm>
          <a:prstGeom prst="roundRect">
            <a:avLst>
              <a:gd name="adj" fmla="val 135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427934" y="3050530"/>
            <a:ext cx="3402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427934" y="3221980"/>
            <a:ext cx="3402702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Ex13, write TWO possible questions per answer where plausible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3267" y="2961680"/>
            <a:ext cx="3640634" cy="657523"/>
          </a:xfrm>
          <a:prstGeom prst="roundRect">
            <a:avLst>
              <a:gd name="adj" fmla="val 135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195667" y="3050530"/>
            <a:ext cx="3402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195667" y="3221980"/>
            <a:ext cx="3402550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Turn-and-talk to compare Ex13 answers before teacher reveals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89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语法巩固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958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2809" y="144363"/>
            <a:ext cx="2122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Correct the Teacher · 36–43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84150"/>
            <a:ext cx="422973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Correct the Teacher! · 我来考老师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51120" y="638175"/>
            <a:ext cx="655588" cy="282476"/>
          </a:xfrm>
          <a:prstGeom prst="roundRect">
            <a:avLst>
              <a:gd name="adj" fmla="val 4491461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13045" y="698450"/>
            <a:ext cx="3383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08209" y="633413"/>
            <a:ext cx="775841" cy="292001"/>
          </a:xfrm>
          <a:prstGeom prst="roundRect">
            <a:avLst>
              <a:gd name="adj" fmla="val 4344951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70134" y="693688"/>
            <a:ext cx="4610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1076176"/>
            <a:ext cx="1139962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sentence below has a negation or word-order mistake. Find it and write the correction on your whiteboard — fastest correct answer wins a point for your table!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1577727"/>
            <a:ext cx="5511850" cy="1984623"/>
          </a:xfrm>
          <a:prstGeom prst="roundRect">
            <a:avLst>
              <a:gd name="adj" fmla="val 6399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5600" y="2050405"/>
            <a:ext cx="51168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5600" y="2313831"/>
            <a:ext cx="5116881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我爸爸工作不。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55600" y="2762548"/>
            <a:ext cx="5016550" cy="0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600" y="2894261"/>
            <a:ext cx="8598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74763" y="2860923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你来写…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577727"/>
            <a:ext cx="5511850" cy="1984623"/>
          </a:xfrm>
          <a:prstGeom prst="roundRect">
            <a:avLst>
              <a:gd name="adj" fmla="val 6399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19850" y="2050405"/>
            <a:ext cx="51168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19850" y="2313831"/>
            <a:ext cx="5116881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妈妈不上班每天。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419850" y="2762548"/>
            <a:ext cx="5016550" cy="0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850" y="2894261"/>
            <a:ext cx="8598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39012" y="2860923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你来写…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950" y="3714750"/>
            <a:ext cx="5511850" cy="1984623"/>
          </a:xfrm>
          <a:prstGeom prst="roundRect">
            <a:avLst>
              <a:gd name="adj" fmla="val 6399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5600" y="4187428"/>
            <a:ext cx="51168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5600" y="4450854"/>
            <a:ext cx="5116881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姐姐开车不。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755600" y="4899571"/>
            <a:ext cx="5016550" cy="0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5600" y="5031284"/>
            <a:ext cx="8598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74763" y="4997946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你来写…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3714750"/>
            <a:ext cx="5511850" cy="1984623"/>
          </a:xfrm>
          <a:prstGeom prst="roundRect">
            <a:avLst>
              <a:gd name="adj" fmla="val 6399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419850" y="4187428"/>
            <a:ext cx="51168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19850" y="4450854"/>
            <a:ext cx="5116881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哥哥不走路上学每天。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419850" y="4899571"/>
            <a:ext cx="5016550" cy="0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850" y="5031284"/>
            <a:ext cx="8598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39012" y="4997946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你来写…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7950" y="5800874"/>
            <a:ext cx="2959001" cy="371475"/>
          </a:xfrm>
          <a:prstGeom prst="roundRect">
            <a:avLst>
              <a:gd name="adj" fmla="val 20513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30151" y="5896124"/>
            <a:ext cx="25648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7950" y="6273850"/>
            <a:ext cx="11399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Setup: whole-class — mini whiteboards only, no other materials needed.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89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语法巩固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958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2809" y="144363"/>
            <a:ext cx="19831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Correct the Teacher ·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2014835"/>
            <a:ext cx="371359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Correct the Teacher — Answers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99179" y="2078385"/>
            <a:ext cx="1584871" cy="263426"/>
          </a:xfrm>
          <a:prstGeom prst="roundRect">
            <a:avLst>
              <a:gd name="adj" fmla="val 4816267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02329" y="2129135"/>
            <a:ext cx="12021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REVEAL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557760"/>
            <a:ext cx="5511850" cy="1142702"/>
          </a:xfrm>
          <a:prstGeom prst="roundRect">
            <a:avLst>
              <a:gd name="adj" fmla="val 111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6550" y="2735461"/>
            <a:ext cx="51557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1 · 不 AT THE 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6550" y="2986236"/>
            <a:ext cx="1450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我爸爸工作不。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5702" y="3029099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52402" y="2986236"/>
            <a:ext cx="1450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我爸爸不工作。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6550" y="3360837"/>
            <a:ext cx="51557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 must sit directly before the verb 工作 — not at the end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72200" y="2557760"/>
            <a:ext cx="5511850" cy="1142702"/>
          </a:xfrm>
          <a:prstGeom prst="roundRect">
            <a:avLst>
              <a:gd name="adj" fmla="val 111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0" y="2735461"/>
            <a:ext cx="51557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2 · TIME WORD MISPLACED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2986236"/>
            <a:ext cx="16578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妈妈不上班每天。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53102" y="3029099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9802" y="2986236"/>
            <a:ext cx="16578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妈妈每天不上班。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3360837"/>
            <a:ext cx="51557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每天 (time word) comes before 不 + verb — not after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7950" y="3852863"/>
            <a:ext cx="5511850" cy="1142702"/>
          </a:xfrm>
          <a:prstGeom prst="roundRect">
            <a:avLst>
              <a:gd name="adj" fmla="val 111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6550" y="4030563"/>
            <a:ext cx="51557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3 · 不 AT THE END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6550" y="4281339"/>
            <a:ext cx="12434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姐姐开车不。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082552" y="4324201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49252" y="4281339"/>
            <a:ext cx="12434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姐姐不开车。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6550" y="4655939"/>
            <a:ext cx="51557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 must sit directly before the verb 开车 — not at the end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3852863"/>
            <a:ext cx="5511850" cy="1142702"/>
          </a:xfrm>
          <a:prstGeom prst="roundRect">
            <a:avLst>
              <a:gd name="adj" fmla="val 111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00800" y="4030563"/>
            <a:ext cx="51557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4 · TIME WORD MISPLACED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4281339"/>
            <a:ext cx="2072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哥哥不走路上学每天。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59552" y="4324201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26252" y="4281339"/>
            <a:ext cx="2072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哥哥每天不走路上学。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0" y="4655939"/>
            <a:ext cx="51557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每天 (time word) comes before 不 + verb — not after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89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语法巩固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95859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2809" y="144363"/>
            <a:ext cx="1056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345257"/>
            <a:ext cx="11192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1608683"/>
            <a:ext cx="111922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 · 回顾与反思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600" y="2100709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9600" y="240059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5401" y="2345085"/>
            <a:ext cx="32508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match a question to its correct answer.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9600" y="2702123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5401" y="2646611"/>
            <a:ext cx="38572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form the question that matches a given answer.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9600" y="3003649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5401" y="2948136"/>
            <a:ext cx="37550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不 correctly to say someone doesn't work.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600" y="3249662"/>
            <a:ext cx="10972800" cy="657225"/>
          </a:xfrm>
          <a:prstGeom prst="roundRect">
            <a:avLst>
              <a:gd name="adj" fmla="val 1545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2750" y="3363962"/>
            <a:ext cx="107778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📋 Self-Assessment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2750" y="3592562"/>
            <a:ext cx="10777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whiteboards — show me: does 不 go before or after the verb?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600" y="4008388"/>
            <a:ext cx="10972800" cy="707827"/>
          </a:xfrm>
          <a:prstGeom prst="roundRect">
            <a:avLst>
              <a:gd name="adj" fmla="val 14354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57250" y="4154388"/>
            <a:ext cx="10687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7250" y="4341614"/>
            <a:ext cx="10687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Write: "My dad doesn't drive."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9600" y="4817715"/>
            <a:ext cx="10972800" cy="526852"/>
          </a:xfrm>
          <a:prstGeom prst="rect">
            <a:avLst/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28650" y="4817715"/>
            <a:ext cx="0" cy="526852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850" y="4906566"/>
            <a:ext cx="107389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850" y="5074741"/>
            <a:ext cx="107389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lesson: everything comes together — a full paragraph about someone's daily routine, time, and transport, ready for Test 4.3.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9600" y="5446068"/>
            <a:ext cx="815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Achieved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63452" y="5446068"/>
            <a:ext cx="109390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 Getting there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989808" y="5446068"/>
            <a:ext cx="88441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Need help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02563" y="1319808"/>
            <a:ext cx="586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742207" y="2208758"/>
            <a:ext cx="270743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Great work today!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50148" y="2840534"/>
            <a:ext cx="709155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now match questions to answers and use </a:t>
            </a:r>
            <a:r>
              <a:rPr lang="en-US" sz="13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say what someone doesn't do.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95550" y="3333006"/>
            <a:ext cx="7200751" cy="1311176"/>
          </a:xfrm>
          <a:prstGeom prst="roundRect">
            <a:avLst>
              <a:gd name="adj" fmla="val 9686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05635" y="3580656"/>
            <a:ext cx="65805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05635" y="3793331"/>
            <a:ext cx="658058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综合运用 · Full Synthesis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805635" y="4196507"/>
            <a:ext cx="6580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full paragraph about someone's daily routine, time, and transport — ready for Test 4.3.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98218" y="4898082"/>
            <a:ext cx="339541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 ⇆ 答 matching</a:t>
            </a: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 negation</a:t>
            </a:r>
            <a:endParaRPr lang="en-US" sz="1200" dirty="0"/>
          </a:p>
          <a:p>
            <a:pPr algn="ctr" indent="0" marL="0">
              <a:lnSpc>
                <a:spcPts val="192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Next: everything comes together for Test 4.3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2026-07-18T08:51:35Z</dcterms:created>
  <dcterms:modified xsi:type="dcterms:W3CDTF">2026-07-18T08:51:35Z</dcterms:modified>
</cp:coreProperties>
</file>