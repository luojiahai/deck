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1430" y="2371576"/>
            <a:ext cx="24091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· Y7 UNIT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2004" y="2749302"/>
            <a:ext cx="4507992" cy="81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80"/>
              </a:lnSpc>
              <a:spcAft>
                <a:spcPts val="1000"/>
              </a:spcAft>
              <a:buNone/>
            </a:pPr>
            <a:r>
              <a:rPr lang="en-US" sz="5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</a:t>
            </a:r>
            <a:r>
              <a:rPr lang="en-US" sz="5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443215" y="3686324"/>
            <a:ext cx="53054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 + Vehicle Vocabulary · 怎么问 + 交通工具词汇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77112" y="4276874"/>
            <a:ext cx="42376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Speaking + Listening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8275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Lesson 1 Recap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53827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交通工具 · Flashcard Rapid Fire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383953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each word — class chorally says the pinyin + English.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717179"/>
            <a:ext cx="2692450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6445" y="1818680"/>
            <a:ext cx="2616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6445" y="2110680"/>
            <a:ext cx="26169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 chē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445" y="2247156"/>
            <a:ext cx="2616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bus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352651" y="1717179"/>
            <a:ext cx="2692598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90394" y="1818680"/>
            <a:ext cx="2617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90394" y="2110680"/>
            <a:ext cx="2617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 chē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90394" y="2247156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146750" y="1717179"/>
            <a:ext cx="2692450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84495" y="1818680"/>
            <a:ext cx="2616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4495" y="2110680"/>
            <a:ext cx="26169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diàn chē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84495" y="2247156"/>
            <a:ext cx="2616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940701" y="1717179"/>
            <a:ext cx="2692598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978444" y="1818680"/>
            <a:ext cx="2617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78444" y="2110680"/>
            <a:ext cx="2617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fēi jī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978444" y="2247156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58701" y="2564457"/>
            <a:ext cx="2692450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6445" y="2665958"/>
            <a:ext cx="2616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渡船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6445" y="2957959"/>
            <a:ext cx="26169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dù chuán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6445" y="3094434"/>
            <a:ext cx="2616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ferry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352651" y="2564457"/>
            <a:ext cx="2692598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90394" y="2665958"/>
            <a:ext cx="2617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90394" y="2957959"/>
            <a:ext cx="2617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90394" y="3094434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taxi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46750" y="2564457"/>
            <a:ext cx="2692450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4495" y="2665958"/>
            <a:ext cx="2616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84495" y="2957959"/>
            <a:ext cx="26169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gòng qì chē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184495" y="3094434"/>
            <a:ext cx="2616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 bus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940701" y="2564457"/>
            <a:ext cx="2692598" cy="745778"/>
          </a:xfrm>
          <a:prstGeom prst="roundRect">
            <a:avLst>
              <a:gd name="adj" fmla="val 136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978444" y="2665958"/>
            <a:ext cx="2617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978444" y="2957959"/>
            <a:ext cx="2617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 lù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978444" y="3094434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58701" y="3411736"/>
            <a:ext cx="1287959" cy="336352"/>
          </a:xfrm>
          <a:prstGeom prst="roundRect">
            <a:avLst>
              <a:gd name="adj" fmla="val 2265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1101" y="3475137"/>
            <a:ext cx="10028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+ 交通工具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99059" y="3411736"/>
            <a:ext cx="615702" cy="336352"/>
          </a:xfrm>
          <a:prstGeom prst="roundRect">
            <a:avLst>
              <a:gd name="adj" fmla="val 2265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151459" y="347513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67161" y="3411736"/>
            <a:ext cx="615702" cy="336352"/>
          </a:xfrm>
          <a:prstGeom prst="roundRect">
            <a:avLst>
              <a:gd name="adj" fmla="val 2265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919561" y="347513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开车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8701" y="3849588"/>
            <a:ext cx="11074598" cy="529828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82513" y="3849588"/>
            <a:ext cx="0" cy="529828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4027" y="3951089"/>
            <a:ext cx="108850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84027" y="4100215"/>
            <a:ext cx="108850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already say how your family travels. Today we learn to ASK the question —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add 4 more vehicle words.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04726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574602"/>
            <a:ext cx="10769798" cy="682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1574602"/>
            <a:ext cx="0" cy="68252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1876" y="1701552"/>
            <a:ext cx="10522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1876" y="1882527"/>
            <a:ext cx="10522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ask and answer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someone travels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using 怎么.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2384078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8555" y="243646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4751" y="2403128"/>
            <a:ext cx="3709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do you get to school/work?"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6651" y="2701677"/>
            <a:ext cx="10622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你怎么上学/上班？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101" y="2958852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8137" y="3011239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4751" y="2977902"/>
            <a:ext cx="4850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the words for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train, taxi, public bus and subway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6651" y="3276451"/>
            <a:ext cx="10622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火车, 出租车, 公共汽车, 地铁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3533626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7839" y="3586014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4751" y="3552676"/>
            <a:ext cx="36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answer using </a:t>
            </a: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+ the correct vehicle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6651" y="3851225"/>
            <a:ext cx="10622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用坐+交通工具回答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804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558701"/>
            <a:ext cx="115031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P.90, TEXT 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768251"/>
            <a:ext cx="115031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新词汇（build one layer at a time）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1174552"/>
            <a:ext cx="5575250" cy="843707"/>
          </a:xfrm>
          <a:prstGeom prst="roundRect">
            <a:avLst>
              <a:gd name="adj" fmla="val 9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1250752"/>
            <a:ext cx="542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怎么 HOW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4150" y="1444377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970" y="149200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970" y="167223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zěn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78970" y="177700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1199852" y="1591568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0352" y="1434852"/>
            <a:ext cx="571351" cy="494556"/>
          </a:xfrm>
          <a:prstGeom prst="roundRect">
            <a:avLst>
              <a:gd name="adj" fmla="val 1027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94697" y="149200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4697" y="167223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zěn me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494697" y="177700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6159401" y="1174552"/>
            <a:ext cx="5575399" cy="843707"/>
          </a:xfrm>
          <a:prstGeom prst="roundRect">
            <a:avLst>
              <a:gd name="adj" fmla="val 9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6351" y="1250752"/>
            <a:ext cx="5427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火车 TRAIN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86351" y="1444377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81171" y="149200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1171" y="167223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381171" y="177700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fire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6902053" y="1591568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92553" y="1434852"/>
            <a:ext cx="571351" cy="494556"/>
          </a:xfrm>
          <a:prstGeom prst="roundRect">
            <a:avLst>
              <a:gd name="adj" fmla="val 1027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96898" y="149200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96898" y="167223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 chē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196898" y="177700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457200" y="2094458"/>
            <a:ext cx="11277600" cy="843707"/>
          </a:xfrm>
          <a:prstGeom prst="roundRect">
            <a:avLst>
              <a:gd name="adj" fmla="val 9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4150" y="2170658"/>
            <a:ext cx="11244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出租车 TAXI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4150" y="2364284"/>
            <a:ext cx="683568" cy="475506"/>
          </a:xfrm>
          <a:prstGeom prst="roundRect">
            <a:avLst>
              <a:gd name="adj" fmla="val 10683"/>
            </a:avLst>
          </a:prstGeom>
          <a:noFill/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658" y="2411909"/>
            <a:ext cx="49655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7658" y="2592139"/>
            <a:ext cx="4965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77658" y="2696914"/>
            <a:ext cx="4965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already known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1331119" y="2530525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460302" y="2364284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55121" y="2411909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555121" y="2592139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zū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555121" y="2696914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rent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2076004" y="2511475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66504" y="2364284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361323" y="2411909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361323" y="2592139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361323" y="2696914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rent out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2882205" y="2511475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72705" y="2354759"/>
            <a:ext cx="673001" cy="494556"/>
          </a:xfrm>
          <a:prstGeom prst="roundRect">
            <a:avLst>
              <a:gd name="adj" fmla="val 1027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176034" y="2411909"/>
            <a:ext cx="46634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176034" y="2592139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176034" y="2696914"/>
            <a:ext cx="4663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taxi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457200" y="3014365"/>
            <a:ext cx="11277600" cy="843707"/>
          </a:xfrm>
          <a:prstGeom prst="roundRect">
            <a:avLst>
              <a:gd name="adj" fmla="val 9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84150" y="3090565"/>
            <a:ext cx="11244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公共汽车 PUBLIC BUS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84150" y="3284190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78970" y="3331815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78970" y="3512046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678970" y="3616821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1199852" y="3431381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390352" y="3284190"/>
            <a:ext cx="73268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483368" y="3331815"/>
            <a:ext cx="54664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483368" y="3512046"/>
            <a:ext cx="5466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gòng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1483368" y="3616821"/>
            <a:ext cx="546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public; common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2186434" y="3431381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376934" y="3284190"/>
            <a:ext cx="584150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2471435" y="3331815"/>
            <a:ext cx="39514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471435" y="3512046"/>
            <a:ext cx="3951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gòng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2471435" y="3616821"/>
            <a:ext cx="3951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3024485" y="3450431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153668" y="3284190"/>
            <a:ext cx="567333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248338" y="3331815"/>
            <a:ext cx="37799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248338" y="3512046"/>
            <a:ext cx="3779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qì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248338" y="3616821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gas; steam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3784402" y="3431381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974902" y="3274665"/>
            <a:ext cx="854720" cy="494556"/>
          </a:xfrm>
          <a:prstGeom prst="roundRect">
            <a:avLst>
              <a:gd name="adj" fmla="val 1027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076413" y="3331815"/>
            <a:ext cx="65169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076413" y="3512046"/>
            <a:ext cx="6516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gòng qì chē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4076413" y="3616821"/>
            <a:ext cx="651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 bus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457200" y="3934271"/>
            <a:ext cx="11277600" cy="843707"/>
          </a:xfrm>
          <a:prstGeom prst="roundRect">
            <a:avLst>
              <a:gd name="adj" fmla="val 9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584150" y="4010471"/>
            <a:ext cx="11244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地铁 SUBWAY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84150" y="4204097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678970" y="425172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78970" y="443195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78970" y="453672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ground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1199852" y="4370338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329035" y="4204097"/>
            <a:ext cx="552301" cy="475506"/>
          </a:xfrm>
          <a:prstGeom prst="roundRect">
            <a:avLst>
              <a:gd name="adj" fmla="val 1068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423855" y="425172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铁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1423855" y="443195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tiě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1423855" y="453672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iron</a:t>
            </a:r>
            <a:endParaRPr lang="en-US" sz="550" dirty="0"/>
          </a:p>
        </p:txBody>
      </p:sp>
      <p:sp>
        <p:nvSpPr>
          <p:cNvPr id="89" name="Text 87"/>
          <p:cNvSpPr/>
          <p:nvPr/>
        </p:nvSpPr>
        <p:spPr>
          <a:xfrm>
            <a:off x="1944737" y="4351288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2135237" y="4194572"/>
            <a:ext cx="571351" cy="494556"/>
          </a:xfrm>
          <a:prstGeom prst="roundRect">
            <a:avLst>
              <a:gd name="adj" fmla="val 1027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2239582" y="425172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2239582" y="4431953"/>
            <a:ext cx="362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 tiě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2239582" y="4536728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subway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457200" y="4879479"/>
            <a:ext cx="11277600" cy="342900"/>
          </a:xfrm>
          <a:prstGeom prst="roundRect">
            <a:avLst>
              <a:gd name="adj" fmla="val 22222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628650" y="4989016"/>
            <a:ext cx="7711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 SPOT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1486198" y="4974729"/>
            <a:ext cx="5655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铁(鐵) and 地铁 both contain the </a:t>
            </a: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钅(metal) radical</a:t>
            </a: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"iron road underground" is why 地铁 means subway.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23094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Dialogue &amp; Pattern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2, P.90 · CD T57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53827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你怎么上学？· Key Text 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22053"/>
            <a:ext cx="11074598" cy="450652"/>
          </a:xfrm>
          <a:prstGeom prst="roundRect">
            <a:avLst>
              <a:gd name="adj" fmla="val 16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51" y="1585466"/>
            <a:ext cx="258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68152" y="1523554"/>
            <a:ext cx="57332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爸爸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怎么上班？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1344" y="1545729"/>
            <a:ext cx="12650" cy="203150"/>
          </a:xfrm>
          <a:prstGeom prst="rect">
            <a:avLst/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06394" y="1523554"/>
            <a:ext cx="4410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坐火车。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1948904"/>
            <a:ext cx="11074598" cy="450652"/>
          </a:xfrm>
          <a:prstGeom prst="roundRect">
            <a:avLst>
              <a:gd name="adj" fmla="val 16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2112318"/>
            <a:ext cx="258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68152" y="2050405"/>
            <a:ext cx="57332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妈妈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呢？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1344" y="2072580"/>
            <a:ext cx="12650" cy="203150"/>
          </a:xfrm>
          <a:prstGeom prst="rect">
            <a:avLst/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06394" y="2050405"/>
            <a:ext cx="4410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坐出租车。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2475756"/>
            <a:ext cx="11074598" cy="450652"/>
          </a:xfrm>
          <a:prstGeom prst="roundRect">
            <a:avLst>
              <a:gd name="adj" fmla="val 16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1851" y="2639169"/>
            <a:ext cx="258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68152" y="2577257"/>
            <a:ext cx="57332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哥哥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怎么上学？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1344" y="2599432"/>
            <a:ext cx="12650" cy="203150"/>
          </a:xfrm>
          <a:prstGeom prst="rect">
            <a:avLst/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06394" y="2577257"/>
            <a:ext cx="4410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坐公共汽车。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8701" y="3002607"/>
            <a:ext cx="11074598" cy="450652"/>
          </a:xfrm>
          <a:prstGeom prst="roundRect">
            <a:avLst>
              <a:gd name="adj" fmla="val 16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1851" y="3166021"/>
            <a:ext cx="258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68152" y="3104108"/>
            <a:ext cx="57332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你怎么上学？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1344" y="3126284"/>
            <a:ext cx="12650" cy="203150"/>
          </a:xfrm>
          <a:prstGeom prst="rect">
            <a:avLst/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06394" y="3104108"/>
            <a:ext cx="4410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坐地铁。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8701" y="3656261"/>
            <a:ext cx="2678460" cy="419100"/>
          </a:xfrm>
          <a:prstGeom prst="roundRect">
            <a:avLst>
              <a:gd name="adj" fmla="val 1818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6402" y="3732461"/>
            <a:ext cx="2369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怎么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？坐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58701" y="4253061"/>
            <a:ext cx="11296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aloud → choral read → teacher think-alouds 2–3 more swaps (different family member + vehicle).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55625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574750"/>
            <a:ext cx="10769798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0696" y="1727150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22202" y="1774775"/>
            <a:ext cx="100526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「怎么」asks about what?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👍 if you know.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1101" y="2358926"/>
            <a:ext cx="10769798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0696" y="2511326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22202" y="2573238"/>
            <a:ext cx="10052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do you get to school?"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write it on your whiteboard.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1101" y="3143101"/>
            <a:ext cx="10769798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696" y="3295501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22202" y="3357414"/>
            <a:ext cx="10052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「你上学怎么？」— what's wrong with this sentence? (cold call)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1101" y="4003477"/>
            <a:ext cx="10769798" cy="352425"/>
          </a:xfrm>
          <a:prstGeom prst="roundRect">
            <a:avLst>
              <a:gd name="adj" fmla="val 21622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3301" y="4098727"/>
            <a:ext cx="10531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759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30176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523851"/>
            <a:ext cx="10769798" cy="606326"/>
          </a:xfrm>
          <a:prstGeom prst="roundRect">
            <a:avLst>
              <a:gd name="adj" fmla="val 167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0696" y="1650802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22202" y="1712714"/>
            <a:ext cx="5773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「怎么」asks about what?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53974" y="1703189"/>
            <a:ext cx="41237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method/how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1101" y="2231678"/>
            <a:ext cx="10769798" cy="606326"/>
          </a:xfrm>
          <a:prstGeom prst="roundRect">
            <a:avLst>
              <a:gd name="adj" fmla="val 167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0696" y="2358628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22202" y="2420541"/>
            <a:ext cx="5773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"How do you get to school?"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53974" y="2411016"/>
            <a:ext cx="41237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你怎么上学？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101" y="2939504"/>
            <a:ext cx="10769798" cy="606326"/>
          </a:xfrm>
          <a:prstGeom prst="roundRect">
            <a:avLst>
              <a:gd name="adj" fmla="val 167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0696" y="3066455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22202" y="3128367"/>
            <a:ext cx="5773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「你上学怎么？」— what's wrong?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53974" y="3137892"/>
            <a:ext cx="4123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word order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101" y="3748980"/>
            <a:ext cx="10769798" cy="683121"/>
          </a:xfrm>
          <a:prstGeom prst="roundRect">
            <a:avLst>
              <a:gd name="adj" fmla="val 14873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3301" y="3894981"/>
            <a:ext cx="1053190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 — What's wrong with 「你上学怎么？」?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order: 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 must come before the verb phrase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not after it. The correct order is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你怎么上学？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6662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Guided Chain Build · 句子接龙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39675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builds the sentence one word-card at a time on the board. Copy the process on your whiteboard with a different family member + vehicle.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692027"/>
            <a:ext cx="444401" cy="444401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3746" y="17808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3852" y="1823740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6607" y="1692027"/>
            <a:ext cx="634901" cy="444401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09747" y="17808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72258" y="1823740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05013" y="1692027"/>
            <a:ext cx="634901" cy="444401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28153" y="17808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0664" y="1823740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23418" y="1692027"/>
            <a:ext cx="634901" cy="444401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46559" y="17808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19815" y="17808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75621" y="1823740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08375" y="1692027"/>
            <a:ext cx="444401" cy="444401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33421" y="17808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03527" y="1823740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36281" y="1692027"/>
            <a:ext cx="634901" cy="444401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59422" y="17808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32678" y="17808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8701" y="2250728"/>
            <a:ext cx="11074598" cy="361950"/>
          </a:xfrm>
          <a:prstGeom prst="roundRect">
            <a:avLst>
              <a:gd name="adj" fmla="val 210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6402" y="2326928"/>
            <a:ext cx="109335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怎么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？坐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8701" y="2777728"/>
            <a:ext cx="11074598" cy="1102816"/>
          </a:xfrm>
          <a:prstGeom prst="roundRect">
            <a:avLst>
              <a:gd name="adj" fmla="val 1151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0901" y="2955578"/>
            <a:ext cx="1056382" cy="193477"/>
          </a:xfrm>
          <a:prstGeom prst="roundRect">
            <a:avLst>
              <a:gd name="adj" fmla="val 655752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07852" y="2980879"/>
            <a:ext cx="818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8 min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0901" y="3225254"/>
            <a:ext cx="351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80901" y="3396704"/>
            <a:ext cx="3510635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word bank + sentence frame projected throughout: 你___怎么___？坐___。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75100" y="3225254"/>
            <a:ext cx="351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75100" y="3396704"/>
            <a:ext cx="3510635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with 每天 added — 我每天坐地铁上学。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69300" y="3225254"/>
            <a:ext cx="351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69300" y="3396704"/>
            <a:ext cx="3510635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whiteboards, held up each round.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YOU DO · TEXT 2 RECAP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6662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Pair Dialogue · 两人对话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39675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 the 4-line Text 2 dialogue with a partner, then swap in your own family members and vehicles.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692027"/>
            <a:ext cx="5448449" cy="1364903"/>
          </a:xfrm>
          <a:prstGeom prst="roundRect">
            <a:avLst>
              <a:gd name="adj" fmla="val 744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402" y="1818977"/>
            <a:ext cx="5194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词汇卡可见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6402" y="2015728"/>
            <a:ext cx="5194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你___怎么___？坐___。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402" y="2333179"/>
            <a:ext cx="476101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7427" y="238080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8703" y="2333179"/>
            <a:ext cx="603052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99729" y="2380804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7954" y="2333179"/>
            <a:ext cx="730002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78980" y="2380804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74156" y="2333179"/>
            <a:ext cx="476101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85182" y="238080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4850" y="1692027"/>
            <a:ext cx="5448449" cy="1364903"/>
          </a:xfrm>
          <a:prstGeom prst="roundRect">
            <a:avLst>
              <a:gd name="adj" fmla="val 744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62551" y="1818977"/>
            <a:ext cx="5194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凭记忆（词汇卡收起）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62551" y="2015728"/>
            <a:ext cx="5194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你___怎么___？坐___。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62551" y="2333179"/>
            <a:ext cx="476101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3577" y="238080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14852" y="2333179"/>
            <a:ext cx="603052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25878" y="2380804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94104" y="2333179"/>
            <a:ext cx="730002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05130" y="2380804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00306" y="2333179"/>
            <a:ext cx="476101" cy="276225"/>
          </a:xfrm>
          <a:prstGeom prst="roundRect">
            <a:avLst>
              <a:gd name="adj" fmla="val 18391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511332" y="238080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62551" y="2685604"/>
            <a:ext cx="5194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removed — pairs work from memory.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8701" y="3221980"/>
            <a:ext cx="11074598" cy="1244947"/>
          </a:xfrm>
          <a:prstGeom prst="roundRect">
            <a:avLst>
              <a:gd name="adj" fmla="val 10201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0901" y="3399830"/>
            <a:ext cx="1100435" cy="193477"/>
          </a:xfrm>
          <a:prstGeom prst="roundRect">
            <a:avLst>
              <a:gd name="adj" fmla="val 655752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07852" y="3425130"/>
            <a:ext cx="863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8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0901" y="3669506"/>
            <a:ext cx="351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0901" y="3840956"/>
            <a:ext cx="35106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visible for weaker pairs throughout both rounds.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75100" y="3669506"/>
            <a:ext cx="351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75100" y="3840956"/>
            <a:ext cx="351063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pairs add a follow-up question, e.g. A: 你怎么上学？B: 坐地铁。A: 你每天几点坐地铁？(recycling the Lesson 10 time question)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69300" y="3669506"/>
            <a:ext cx="3510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969300" y="3840956"/>
            <a:ext cx="35106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3 pairs to perform.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6232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Telephone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53794" y="2038499"/>
            <a:ext cx="884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37803" y="2333774"/>
            <a:ext cx="27163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传声筒 · Telephone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01726" y="2914799"/>
            <a:ext cx="63885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 the sentence down the row. The last student says it aloud or writes it on the board.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02446" y="3267224"/>
            <a:ext cx="1193750" cy="656927"/>
          </a:xfrm>
          <a:prstGeom prst="roundRect">
            <a:avLst>
              <a:gd name="adj" fmla="val 154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45957" y="3368725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5957" y="3679775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 once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21495" y="348138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15296" y="3267224"/>
            <a:ext cx="1281410" cy="656927"/>
          </a:xfrm>
          <a:prstGeom prst="roundRect">
            <a:avLst>
              <a:gd name="adj" fmla="val 154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57930" y="3368725"/>
            <a:ext cx="9961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7930" y="3679775"/>
            <a:ext cx="9961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Pass down the row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22005" y="348138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5807" y="3267224"/>
            <a:ext cx="1323677" cy="656927"/>
          </a:xfrm>
          <a:prstGeom prst="roundRect">
            <a:avLst>
              <a:gd name="adj" fmla="val 154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8018" y="3368725"/>
            <a:ext cx="10392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8018" y="3679775"/>
            <a:ext cx="103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Last student says 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64782" y="348138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8584" y="3267224"/>
            <a:ext cx="1330970" cy="656927"/>
          </a:xfrm>
          <a:prstGeom prst="roundRect">
            <a:avLst>
              <a:gd name="adj" fmla="val 154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00722" y="3368725"/>
            <a:ext cx="1046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00722" y="3679775"/>
            <a:ext cx="10466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to original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03998" y="4076551"/>
            <a:ext cx="2984004" cy="552450"/>
          </a:xfrm>
          <a:prstGeom prst="roundRect">
            <a:avLst>
              <a:gd name="adj" fmla="val 1839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2568" y="4209901"/>
            <a:ext cx="24868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你爸爸怎么上班？坐火车。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81046" y="4781401"/>
            <a:ext cx="20308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🤫 Whisper only once — no repeats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82613" y="4781401"/>
            <a:ext cx="3872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Last student says or writes the sentence, then reveal the original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20332" y="4781401"/>
            <a:ext cx="259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🚫 No devices needed — whole-class activity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675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怎么问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4238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11188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04726"/>
            <a:ext cx="1098519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11101" y="1520577"/>
            <a:ext cx="10985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1101" y="176659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251" y="1704677"/>
            <a:ext cx="4419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"how do you get to school/work?" (你怎么上学/上班？)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01736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251" y="1955453"/>
            <a:ext cx="59767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the words for train, taxi, public bus and subway (火车, 出租车, 公共汽车, 地铁)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101" y="226814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4251" y="2206228"/>
            <a:ext cx="43552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answer using 坐 + the correct vehicle (用坐+交通工具回答)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1101" y="2533204"/>
            <a:ext cx="10769798" cy="700236"/>
          </a:xfrm>
          <a:prstGeom prst="roundRect">
            <a:avLst>
              <a:gd name="adj" fmla="val 145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2660154"/>
            <a:ext cx="10570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251" y="2910929"/>
            <a:ext cx="105707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whiteboards: write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rate your confidence 👍/😐/👎.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1101" y="3360390"/>
            <a:ext cx="10769798" cy="706487"/>
          </a:xfrm>
          <a:prstGeom prst="roundRect">
            <a:avLst>
              <a:gd name="adj" fmla="val 14381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751" y="3506391"/>
            <a:ext cx="104799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58751" y="3706416"/>
            <a:ext cx="1047998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does your mum get to work?"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101" y="4193828"/>
            <a:ext cx="735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86223" y="4193828"/>
            <a:ext cx="987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07804" y="4193828"/>
            <a:ext cx="7974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1025" y="1497509"/>
            <a:ext cx="449949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839057" y="2183160"/>
            <a:ext cx="25138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940286" y="2751386"/>
            <a:ext cx="631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ask 你怎么上学/上班？ and answer with 火车、出租车、公共汽车、地铁.</a:t>
            </a:r>
            <a:endParaRPr lang="en-US" sz="1200" dirty="0"/>
          </a:p>
          <a:p>
            <a:pPr algn="ctr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</a:t>
            </a:r>
            <a:endParaRPr lang="en-US" sz="1200" dirty="0"/>
          </a:p>
          <a:p>
            <a:pPr algn="ctr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 comes BEFORE the verb phrase — 你怎么上学？ not 你上学怎么！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00301" y="3437037"/>
            <a:ext cx="4991398" cy="1117402"/>
          </a:xfrm>
          <a:prstGeom prst="roundRect">
            <a:avLst>
              <a:gd name="adj" fmla="val 9093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6521" y="3633788"/>
            <a:ext cx="4378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06521" y="3814763"/>
            <a:ext cx="43789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 / 下 Pairs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06521" y="4167188"/>
            <a:ext cx="4378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tricky 上/下 pairs — like 上车 and 下车 — plus pinyin practice.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99715" y="4757440"/>
            <a:ext cx="6592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how (asking about method) ·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火车/出租车/公共汽车/地铁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train/taxi/bus/subway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62317" y="5160466"/>
            <a:ext cx="3067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master the 上/下 pairs and their pinyin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2026-07-18T08:48:12Z</dcterms:created>
  <dcterms:modified xsi:type="dcterms:W3CDTF">2026-07-18T08:48:12Z</dcterms:modified>
</cp:coreProperties>
</file>