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91430" y="2371576"/>
            <a:ext cx="24091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2 · Y7 UNIT 4.3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842004" y="2749302"/>
            <a:ext cx="4507992" cy="810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380"/>
              </a:lnSpc>
              <a:spcAft>
                <a:spcPts val="1000"/>
              </a:spcAft>
              <a:buNone/>
            </a:pPr>
            <a:r>
              <a:rPr lang="en-US" sz="5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你怎么上学</a:t>
            </a:r>
            <a:pPr algn="ctr" indent="0" marL="0">
              <a:lnSpc>
                <a:spcPts val="6380"/>
              </a:lnSpc>
              <a:spcAft>
                <a:spcPts val="1000"/>
              </a:spcAft>
              <a:buNone/>
            </a:pPr>
            <a:r>
              <a:rPr lang="en-US" sz="5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3443215" y="3686324"/>
            <a:ext cx="530542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400"/>
              </a:spcAft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怎么 + Vehicle Vocabulary · 怎么问 + 交通工具词汇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977112" y="4276874"/>
            <a:ext cx="42376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Speaking + Listening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6752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怎么问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284238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11188" y="144363"/>
            <a:ext cx="18275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Lesson 1 Recap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09451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— 8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853827"/>
            <a:ext cx="1129609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交通工具 · Flashcard Rapid Fire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58701" y="1383953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each word — class chorally says the pinyin + English.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8701" y="1717179"/>
            <a:ext cx="2692450" cy="745778"/>
          </a:xfrm>
          <a:prstGeom prst="roundRect">
            <a:avLst>
              <a:gd name="adj" fmla="val 1362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6445" y="1818680"/>
            <a:ext cx="26169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校车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6445" y="2110680"/>
            <a:ext cx="26169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xiào chē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6445" y="2247156"/>
            <a:ext cx="26169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school bus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352651" y="1717179"/>
            <a:ext cx="2692598" cy="745778"/>
          </a:xfrm>
          <a:prstGeom prst="roundRect">
            <a:avLst>
              <a:gd name="adj" fmla="val 1362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390394" y="1818680"/>
            <a:ext cx="26171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390394" y="2110680"/>
            <a:ext cx="26171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huǒ chē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390394" y="2247156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train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6146750" y="1717179"/>
            <a:ext cx="2692450" cy="745778"/>
          </a:xfrm>
          <a:prstGeom prst="roundRect">
            <a:avLst>
              <a:gd name="adj" fmla="val 1362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184495" y="1818680"/>
            <a:ext cx="26169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电车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84495" y="2110680"/>
            <a:ext cx="26169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diàn chē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184495" y="2247156"/>
            <a:ext cx="26169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tram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8940701" y="1717179"/>
            <a:ext cx="2692598" cy="745778"/>
          </a:xfrm>
          <a:prstGeom prst="roundRect">
            <a:avLst>
              <a:gd name="adj" fmla="val 1362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978444" y="1818680"/>
            <a:ext cx="26171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飞机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978444" y="2110680"/>
            <a:ext cx="26171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fēi jī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8978444" y="2247156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plane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558701" y="2564457"/>
            <a:ext cx="2692450" cy="745778"/>
          </a:xfrm>
          <a:prstGeom prst="roundRect">
            <a:avLst>
              <a:gd name="adj" fmla="val 1362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96445" y="2665958"/>
            <a:ext cx="26169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渡船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96445" y="2957959"/>
            <a:ext cx="26169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dù chuán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96445" y="3094434"/>
            <a:ext cx="26169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ferry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3352651" y="2564457"/>
            <a:ext cx="2692598" cy="745778"/>
          </a:xfrm>
          <a:prstGeom prst="roundRect">
            <a:avLst>
              <a:gd name="adj" fmla="val 1362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390394" y="2665958"/>
            <a:ext cx="26171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出租车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390394" y="2957959"/>
            <a:ext cx="26171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chū zū chē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90394" y="3094434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taxi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6146750" y="2564457"/>
            <a:ext cx="2692450" cy="745778"/>
          </a:xfrm>
          <a:prstGeom prst="roundRect">
            <a:avLst>
              <a:gd name="adj" fmla="val 1362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184495" y="2665958"/>
            <a:ext cx="26169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公共汽车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184495" y="2957959"/>
            <a:ext cx="26169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gōng gòng qì chē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184495" y="3094434"/>
            <a:ext cx="26169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public bus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8940701" y="2564457"/>
            <a:ext cx="2692598" cy="745778"/>
          </a:xfrm>
          <a:prstGeom prst="roundRect">
            <a:avLst>
              <a:gd name="adj" fmla="val 1362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8978444" y="2665958"/>
            <a:ext cx="26171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走路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978444" y="2957959"/>
            <a:ext cx="26171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zǒu lù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8978444" y="3094434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walk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558701" y="3411736"/>
            <a:ext cx="1287959" cy="336352"/>
          </a:xfrm>
          <a:prstGeom prst="roundRect">
            <a:avLst>
              <a:gd name="adj" fmla="val 22655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11101" y="3475137"/>
            <a:ext cx="10028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坐 + 交通工具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999059" y="3411736"/>
            <a:ext cx="615702" cy="336352"/>
          </a:xfrm>
          <a:prstGeom prst="roundRect">
            <a:avLst>
              <a:gd name="adj" fmla="val 22655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2151459" y="3475137"/>
            <a:ext cx="3171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走路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2767161" y="3411736"/>
            <a:ext cx="615702" cy="336352"/>
          </a:xfrm>
          <a:prstGeom prst="roundRect">
            <a:avLst>
              <a:gd name="adj" fmla="val 22655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2919561" y="3475137"/>
            <a:ext cx="3171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开车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58701" y="3849588"/>
            <a:ext cx="11074598" cy="529828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582513" y="3849588"/>
            <a:ext cx="0" cy="529828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84027" y="3951089"/>
            <a:ext cx="1088500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CONNECTION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84027" y="4100215"/>
            <a:ext cx="1088500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already say how your family travels. Today we learn to ASK the question — </a:t>
            </a:r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怎么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and add 4 more vehicle words.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6752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怎么问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284238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11188" y="144363"/>
            <a:ext cx="2492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3490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904726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1574602"/>
            <a:ext cx="10769798" cy="682526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4913" y="1574602"/>
            <a:ext cx="0" cy="682526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1876" y="1701552"/>
            <a:ext cx="105221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961876" y="1882527"/>
            <a:ext cx="1052219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ask and answer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someone travels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using 怎么.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1101" y="2384078"/>
            <a:ext cx="266700" cy="266700"/>
          </a:xfrm>
          <a:prstGeom prst="roundRect">
            <a:avLst>
              <a:gd name="adj" fmla="val 342857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18555" y="2436465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04751" y="2403128"/>
            <a:ext cx="37099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"how do you get to school/work?"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66651" y="2701677"/>
            <a:ext cx="106225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你怎么上学/上班？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11101" y="2958852"/>
            <a:ext cx="266700" cy="266700"/>
          </a:xfrm>
          <a:prstGeom prst="roundRect">
            <a:avLst>
              <a:gd name="adj" fmla="val 342857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8137" y="3011239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4751" y="2977902"/>
            <a:ext cx="4850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the words for 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train, taxi, public bus and subway</a:t>
            </a:r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66651" y="3276451"/>
            <a:ext cx="106225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火车, 出租车, 公共汽车, 地铁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1101" y="3533626"/>
            <a:ext cx="266700" cy="266700"/>
          </a:xfrm>
          <a:prstGeom prst="roundRect">
            <a:avLst>
              <a:gd name="adj" fmla="val 342857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07839" y="3586014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4751" y="3552676"/>
            <a:ext cx="3614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answer using </a:t>
            </a:r>
            <a:pPr algn="l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坐 + the correct vehicle</a:t>
            </a:r>
            <a:pPr algn="l" indent="0" marL="0"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66651" y="3851225"/>
            <a:ext cx="106225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用坐+交通工具回答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6752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怎么问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284238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11188" y="144363"/>
            <a:ext cx="18043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558701"/>
            <a:ext cx="115031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P.90, TEXT 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768251"/>
            <a:ext cx="115031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新词汇（build one layer at a time）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" y="1174552"/>
            <a:ext cx="5575250" cy="843707"/>
          </a:xfrm>
          <a:prstGeom prst="roundRect">
            <a:avLst>
              <a:gd name="adj" fmla="val 903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84150" y="1250752"/>
            <a:ext cx="54277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 怎么 HOW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84150" y="1444377"/>
            <a:ext cx="552301" cy="475506"/>
          </a:xfrm>
          <a:prstGeom prst="roundRect">
            <a:avLst>
              <a:gd name="adj" fmla="val 1068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78970" y="1492002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怎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78970" y="1672233"/>
            <a:ext cx="3626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zěn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678970" y="1777008"/>
            <a:ext cx="36266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</a:t>
            </a:r>
            <a:endParaRPr lang="en-US" sz="550" dirty="0"/>
          </a:p>
        </p:txBody>
      </p:sp>
      <p:sp>
        <p:nvSpPr>
          <p:cNvPr id="15" name="Text 13"/>
          <p:cNvSpPr/>
          <p:nvPr/>
        </p:nvSpPr>
        <p:spPr>
          <a:xfrm>
            <a:off x="1199852" y="1591568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90352" y="1434852"/>
            <a:ext cx="571351" cy="494556"/>
          </a:xfrm>
          <a:prstGeom prst="roundRect">
            <a:avLst>
              <a:gd name="adj" fmla="val 1027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494697" y="1492002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怎么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494697" y="1672233"/>
            <a:ext cx="3626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zěn me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494697" y="1777008"/>
            <a:ext cx="36266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</a:t>
            </a:r>
            <a:endParaRPr lang="en-US" sz="550" dirty="0"/>
          </a:p>
        </p:txBody>
      </p:sp>
      <p:sp>
        <p:nvSpPr>
          <p:cNvPr id="20" name="Text 18"/>
          <p:cNvSpPr/>
          <p:nvPr/>
        </p:nvSpPr>
        <p:spPr>
          <a:xfrm>
            <a:off x="6159401" y="1174552"/>
            <a:ext cx="5575399" cy="843707"/>
          </a:xfrm>
          <a:prstGeom prst="roundRect">
            <a:avLst>
              <a:gd name="adj" fmla="val 903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286351" y="1250752"/>
            <a:ext cx="542792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 火车 TRAIN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286351" y="1444377"/>
            <a:ext cx="552301" cy="475506"/>
          </a:xfrm>
          <a:prstGeom prst="roundRect">
            <a:avLst>
              <a:gd name="adj" fmla="val 1068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81171" y="1492002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81171" y="1672233"/>
            <a:ext cx="3626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huǒ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381171" y="1777008"/>
            <a:ext cx="36266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fire</a:t>
            </a:r>
            <a:endParaRPr lang="en-US" sz="550" dirty="0"/>
          </a:p>
        </p:txBody>
      </p:sp>
      <p:sp>
        <p:nvSpPr>
          <p:cNvPr id="26" name="Text 24"/>
          <p:cNvSpPr/>
          <p:nvPr/>
        </p:nvSpPr>
        <p:spPr>
          <a:xfrm>
            <a:off x="6902053" y="1591568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92553" y="1434852"/>
            <a:ext cx="571351" cy="494556"/>
          </a:xfrm>
          <a:prstGeom prst="roundRect">
            <a:avLst>
              <a:gd name="adj" fmla="val 1027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196898" y="1492002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196898" y="1672233"/>
            <a:ext cx="3626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huǒ chē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7196898" y="1777008"/>
            <a:ext cx="36266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train</a:t>
            </a:r>
            <a:endParaRPr lang="en-US" sz="550" dirty="0"/>
          </a:p>
        </p:txBody>
      </p:sp>
      <p:sp>
        <p:nvSpPr>
          <p:cNvPr id="31" name="Text 29"/>
          <p:cNvSpPr/>
          <p:nvPr/>
        </p:nvSpPr>
        <p:spPr>
          <a:xfrm>
            <a:off x="457200" y="2094458"/>
            <a:ext cx="11277600" cy="843707"/>
          </a:xfrm>
          <a:prstGeom prst="roundRect">
            <a:avLst>
              <a:gd name="adj" fmla="val 903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84150" y="2170658"/>
            <a:ext cx="112441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 出租车 TAXI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84150" y="2364284"/>
            <a:ext cx="683568" cy="475506"/>
          </a:xfrm>
          <a:prstGeom prst="roundRect">
            <a:avLst>
              <a:gd name="adj" fmla="val 10683"/>
            </a:avLst>
          </a:prstGeom>
          <a:noFill/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77658" y="2411909"/>
            <a:ext cx="496553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7658" y="2592139"/>
            <a:ext cx="49655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chū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677658" y="2696914"/>
            <a:ext cx="49655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already known</a:t>
            </a:r>
            <a:endParaRPr lang="en-US" sz="550" dirty="0"/>
          </a:p>
        </p:txBody>
      </p:sp>
      <p:sp>
        <p:nvSpPr>
          <p:cNvPr id="37" name="Text 35"/>
          <p:cNvSpPr/>
          <p:nvPr/>
        </p:nvSpPr>
        <p:spPr>
          <a:xfrm>
            <a:off x="1331119" y="2530525"/>
            <a:ext cx="670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460302" y="2364284"/>
            <a:ext cx="552301" cy="475506"/>
          </a:xfrm>
          <a:prstGeom prst="roundRect">
            <a:avLst>
              <a:gd name="adj" fmla="val 1068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555121" y="2411909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租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555121" y="2592139"/>
            <a:ext cx="3626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zū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1555121" y="2696914"/>
            <a:ext cx="36266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rent</a:t>
            </a:r>
            <a:endParaRPr lang="en-US" sz="550" dirty="0"/>
          </a:p>
        </p:txBody>
      </p:sp>
      <p:sp>
        <p:nvSpPr>
          <p:cNvPr id="42" name="Text 40"/>
          <p:cNvSpPr/>
          <p:nvPr/>
        </p:nvSpPr>
        <p:spPr>
          <a:xfrm>
            <a:off x="2076004" y="2511475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266504" y="2364284"/>
            <a:ext cx="552301" cy="475506"/>
          </a:xfrm>
          <a:prstGeom prst="roundRect">
            <a:avLst>
              <a:gd name="adj" fmla="val 1068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2361323" y="2411909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出租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2361323" y="2592139"/>
            <a:ext cx="3626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chū zū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2361323" y="2696914"/>
            <a:ext cx="36266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rent out</a:t>
            </a:r>
            <a:endParaRPr lang="en-US" sz="550" dirty="0"/>
          </a:p>
        </p:txBody>
      </p:sp>
      <p:sp>
        <p:nvSpPr>
          <p:cNvPr id="47" name="Text 45"/>
          <p:cNvSpPr/>
          <p:nvPr/>
        </p:nvSpPr>
        <p:spPr>
          <a:xfrm>
            <a:off x="2882205" y="2511475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2705" y="2354759"/>
            <a:ext cx="673001" cy="494556"/>
          </a:xfrm>
          <a:prstGeom prst="roundRect">
            <a:avLst>
              <a:gd name="adj" fmla="val 1027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3176034" y="2411909"/>
            <a:ext cx="466344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出租车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3176034" y="2592139"/>
            <a:ext cx="4663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chū zū chē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3176034" y="2696914"/>
            <a:ext cx="46634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taxi</a:t>
            </a:r>
            <a:endParaRPr lang="en-US" sz="550" dirty="0"/>
          </a:p>
        </p:txBody>
      </p:sp>
      <p:sp>
        <p:nvSpPr>
          <p:cNvPr id="52" name="Text 50"/>
          <p:cNvSpPr/>
          <p:nvPr/>
        </p:nvSpPr>
        <p:spPr>
          <a:xfrm>
            <a:off x="457200" y="3014365"/>
            <a:ext cx="11277600" cy="843707"/>
          </a:xfrm>
          <a:prstGeom prst="roundRect">
            <a:avLst>
              <a:gd name="adj" fmla="val 903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584150" y="3090565"/>
            <a:ext cx="112441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 公共汽车 PUBLIC BUS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584150" y="3284190"/>
            <a:ext cx="552301" cy="475506"/>
          </a:xfrm>
          <a:prstGeom prst="roundRect">
            <a:avLst>
              <a:gd name="adj" fmla="val 1068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78970" y="3331815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678970" y="3512046"/>
            <a:ext cx="3626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gōng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678970" y="3616821"/>
            <a:ext cx="36266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public</a:t>
            </a:r>
            <a:endParaRPr lang="en-US" sz="550" dirty="0"/>
          </a:p>
        </p:txBody>
      </p:sp>
      <p:sp>
        <p:nvSpPr>
          <p:cNvPr id="58" name="Text 56"/>
          <p:cNvSpPr/>
          <p:nvPr/>
        </p:nvSpPr>
        <p:spPr>
          <a:xfrm>
            <a:off x="1199852" y="3431381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1390352" y="3284190"/>
            <a:ext cx="732681" cy="475506"/>
          </a:xfrm>
          <a:prstGeom prst="roundRect">
            <a:avLst>
              <a:gd name="adj" fmla="val 1068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483368" y="3331815"/>
            <a:ext cx="546649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共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483368" y="3512046"/>
            <a:ext cx="54664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gòng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1483368" y="3616821"/>
            <a:ext cx="5466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public; common</a:t>
            </a:r>
            <a:endParaRPr lang="en-US" sz="550" dirty="0"/>
          </a:p>
        </p:txBody>
      </p:sp>
      <p:sp>
        <p:nvSpPr>
          <p:cNvPr id="63" name="Text 61"/>
          <p:cNvSpPr/>
          <p:nvPr/>
        </p:nvSpPr>
        <p:spPr>
          <a:xfrm>
            <a:off x="2186434" y="3431381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376934" y="3284190"/>
            <a:ext cx="584150" cy="475506"/>
          </a:xfrm>
          <a:prstGeom prst="roundRect">
            <a:avLst>
              <a:gd name="adj" fmla="val 1068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2471435" y="3331815"/>
            <a:ext cx="395148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公共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2471435" y="3512046"/>
            <a:ext cx="3951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gōng gòng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2471435" y="3616821"/>
            <a:ext cx="39514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public</a:t>
            </a:r>
            <a:endParaRPr lang="en-US" sz="550" dirty="0"/>
          </a:p>
        </p:txBody>
      </p:sp>
      <p:sp>
        <p:nvSpPr>
          <p:cNvPr id="68" name="Text 66"/>
          <p:cNvSpPr/>
          <p:nvPr/>
        </p:nvSpPr>
        <p:spPr>
          <a:xfrm>
            <a:off x="3024485" y="3450431"/>
            <a:ext cx="670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3153668" y="3284190"/>
            <a:ext cx="567333" cy="475506"/>
          </a:xfrm>
          <a:prstGeom prst="roundRect">
            <a:avLst>
              <a:gd name="adj" fmla="val 1068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3248338" y="3331815"/>
            <a:ext cx="377994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汽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3248338" y="3512046"/>
            <a:ext cx="37799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qì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3248338" y="3616821"/>
            <a:ext cx="37799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gas; steam</a:t>
            </a:r>
            <a:endParaRPr lang="en-US" sz="550" dirty="0"/>
          </a:p>
        </p:txBody>
      </p:sp>
      <p:sp>
        <p:nvSpPr>
          <p:cNvPr id="73" name="Text 71"/>
          <p:cNvSpPr/>
          <p:nvPr/>
        </p:nvSpPr>
        <p:spPr>
          <a:xfrm>
            <a:off x="3784402" y="3431381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3974902" y="3274665"/>
            <a:ext cx="854720" cy="494556"/>
          </a:xfrm>
          <a:prstGeom prst="roundRect">
            <a:avLst>
              <a:gd name="adj" fmla="val 1027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4076413" y="3331815"/>
            <a:ext cx="651698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公共汽车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4076413" y="3512046"/>
            <a:ext cx="6516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gōng gòng qì chē</a:t>
            </a:r>
            <a:endParaRPr lang="en-US" sz="600" dirty="0"/>
          </a:p>
        </p:txBody>
      </p:sp>
      <p:sp>
        <p:nvSpPr>
          <p:cNvPr id="77" name="Text 75"/>
          <p:cNvSpPr/>
          <p:nvPr/>
        </p:nvSpPr>
        <p:spPr>
          <a:xfrm>
            <a:off x="4076413" y="3616821"/>
            <a:ext cx="65169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public bus</a:t>
            </a:r>
            <a:endParaRPr lang="en-US" sz="550" dirty="0"/>
          </a:p>
        </p:txBody>
      </p:sp>
      <p:sp>
        <p:nvSpPr>
          <p:cNvPr id="78" name="Text 76"/>
          <p:cNvSpPr/>
          <p:nvPr/>
        </p:nvSpPr>
        <p:spPr>
          <a:xfrm>
            <a:off x="457200" y="3934271"/>
            <a:ext cx="11277600" cy="843707"/>
          </a:xfrm>
          <a:prstGeom prst="roundRect">
            <a:avLst>
              <a:gd name="adj" fmla="val 903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584150" y="4010471"/>
            <a:ext cx="112441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 地铁 SUBWAY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584150" y="4204097"/>
            <a:ext cx="552301" cy="475506"/>
          </a:xfrm>
          <a:prstGeom prst="roundRect">
            <a:avLst>
              <a:gd name="adj" fmla="val 1068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678970" y="4251722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678970" y="4431953"/>
            <a:ext cx="3626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dì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678970" y="4536728"/>
            <a:ext cx="36266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ground</a:t>
            </a:r>
            <a:endParaRPr lang="en-US" sz="550" dirty="0"/>
          </a:p>
        </p:txBody>
      </p:sp>
      <p:sp>
        <p:nvSpPr>
          <p:cNvPr id="84" name="Text 82"/>
          <p:cNvSpPr/>
          <p:nvPr/>
        </p:nvSpPr>
        <p:spPr>
          <a:xfrm>
            <a:off x="1199852" y="4370338"/>
            <a:ext cx="670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1329035" y="4204097"/>
            <a:ext cx="552301" cy="475506"/>
          </a:xfrm>
          <a:prstGeom prst="roundRect">
            <a:avLst>
              <a:gd name="adj" fmla="val 10683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1423855" y="4251722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铁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1423855" y="4431953"/>
            <a:ext cx="3626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tiě</a:t>
            </a:r>
            <a:endParaRPr lang="en-US" sz="600" dirty="0"/>
          </a:p>
        </p:txBody>
      </p:sp>
      <p:sp>
        <p:nvSpPr>
          <p:cNvPr id="88" name="Text 86"/>
          <p:cNvSpPr/>
          <p:nvPr/>
        </p:nvSpPr>
        <p:spPr>
          <a:xfrm>
            <a:off x="1423855" y="4536728"/>
            <a:ext cx="36266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iron</a:t>
            </a:r>
            <a:endParaRPr lang="en-US" sz="550" dirty="0"/>
          </a:p>
        </p:txBody>
      </p:sp>
      <p:sp>
        <p:nvSpPr>
          <p:cNvPr id="89" name="Text 87"/>
          <p:cNvSpPr/>
          <p:nvPr/>
        </p:nvSpPr>
        <p:spPr>
          <a:xfrm>
            <a:off x="1944737" y="4351288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2135237" y="4194572"/>
            <a:ext cx="571351" cy="494556"/>
          </a:xfrm>
          <a:prstGeom prst="roundRect">
            <a:avLst>
              <a:gd name="adj" fmla="val 1027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2239582" y="4251722"/>
            <a:ext cx="362661" cy="16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地铁</a:t>
            </a:r>
            <a:endParaRPr lang="en-US" sz="1200" dirty="0"/>
          </a:p>
        </p:txBody>
      </p:sp>
      <p:sp>
        <p:nvSpPr>
          <p:cNvPr id="92" name="Text 90"/>
          <p:cNvSpPr/>
          <p:nvPr/>
        </p:nvSpPr>
        <p:spPr>
          <a:xfrm>
            <a:off x="2239582" y="4431953"/>
            <a:ext cx="3626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dì tiě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2239582" y="4536728"/>
            <a:ext cx="36266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subway</a:t>
            </a:r>
            <a:endParaRPr lang="en-US" sz="550" dirty="0"/>
          </a:p>
        </p:txBody>
      </p:sp>
      <p:sp>
        <p:nvSpPr>
          <p:cNvPr id="94" name="Text 92"/>
          <p:cNvSpPr/>
          <p:nvPr/>
        </p:nvSpPr>
        <p:spPr>
          <a:xfrm>
            <a:off x="457200" y="4879479"/>
            <a:ext cx="11277600" cy="342900"/>
          </a:xfrm>
          <a:prstGeom prst="roundRect">
            <a:avLst>
              <a:gd name="adj" fmla="val 22222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Text 93"/>
          <p:cNvSpPr/>
          <p:nvPr/>
        </p:nvSpPr>
        <p:spPr>
          <a:xfrm>
            <a:off x="628650" y="4989016"/>
            <a:ext cx="7711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RADICAL SPOT</a:t>
            </a:r>
            <a:endParaRPr lang="en-US" sz="700" dirty="0"/>
          </a:p>
        </p:txBody>
      </p:sp>
      <p:sp>
        <p:nvSpPr>
          <p:cNvPr id="96" name="Text 94"/>
          <p:cNvSpPr/>
          <p:nvPr/>
        </p:nvSpPr>
        <p:spPr>
          <a:xfrm>
            <a:off x="1486198" y="4974729"/>
            <a:ext cx="56557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铁(鐵) and 地铁 both contain the </a:t>
            </a:r>
            <a:pPr algn="l" indent="0" marL="0">
              <a:buNone/>
            </a:pPr>
            <a:r>
              <a:rPr lang="en-US" sz="8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钅(metal) radical</a:t>
            </a:r>
            <a:pPr algn="l" indent="0" marL="0"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"iron road underground" is why 地铁 means subway.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6752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怎么问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284238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11188" y="144363"/>
            <a:ext cx="23094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Text 2 Dialogue &amp; Pattern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09451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TEXT 2, P.90 · CD T57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853827"/>
            <a:ext cx="1129609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你怎么上学？· Key Text 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58701" y="1422053"/>
            <a:ext cx="11074598" cy="450652"/>
          </a:xfrm>
          <a:prstGeom prst="roundRect">
            <a:avLst>
              <a:gd name="adj" fmla="val 169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61851" y="1585466"/>
            <a:ext cx="25897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168152" y="1523554"/>
            <a:ext cx="573320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爸爸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怎么上班？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941344" y="1545729"/>
            <a:ext cx="12650" cy="203150"/>
          </a:xfrm>
          <a:prstGeom prst="rect">
            <a:avLst/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06394" y="1523554"/>
            <a:ext cx="44102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坐火车。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8701" y="1948904"/>
            <a:ext cx="11074598" cy="450652"/>
          </a:xfrm>
          <a:prstGeom prst="roundRect">
            <a:avLst>
              <a:gd name="adj" fmla="val 169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61851" y="2112318"/>
            <a:ext cx="25897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168152" y="2050405"/>
            <a:ext cx="573320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妈妈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呢？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41344" y="2072580"/>
            <a:ext cx="12650" cy="203150"/>
          </a:xfrm>
          <a:prstGeom prst="rect">
            <a:avLst/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106394" y="2050405"/>
            <a:ext cx="44102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坐出租车。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58701" y="2475756"/>
            <a:ext cx="11074598" cy="450652"/>
          </a:xfrm>
          <a:prstGeom prst="roundRect">
            <a:avLst>
              <a:gd name="adj" fmla="val 169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61851" y="2639169"/>
            <a:ext cx="25897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168152" y="2577257"/>
            <a:ext cx="573320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哥哥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怎么上学？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41344" y="2599432"/>
            <a:ext cx="12650" cy="203150"/>
          </a:xfrm>
          <a:prstGeom prst="rect">
            <a:avLst/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106394" y="2577257"/>
            <a:ext cx="44102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坐公共汽车。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8701" y="3002607"/>
            <a:ext cx="11074598" cy="450652"/>
          </a:xfrm>
          <a:prstGeom prst="roundRect">
            <a:avLst>
              <a:gd name="adj" fmla="val 169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61851" y="3166021"/>
            <a:ext cx="25897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168152" y="3104108"/>
            <a:ext cx="573320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你怎么上学？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41344" y="3126284"/>
            <a:ext cx="12650" cy="203150"/>
          </a:xfrm>
          <a:prstGeom prst="rect">
            <a:avLst/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106394" y="3104108"/>
            <a:ext cx="44102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坐地铁。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58701" y="3656261"/>
            <a:ext cx="2678460" cy="419100"/>
          </a:xfrm>
          <a:prstGeom prst="roundRect">
            <a:avLst>
              <a:gd name="adj" fmla="val 18182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36402" y="3732461"/>
            <a:ext cx="236951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 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怎么 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？坐 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58701" y="4253061"/>
            <a:ext cx="112960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aloud → choral read → teacher think-alouds 2–3 more swaps (different family member + vehicle).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6752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怎么问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284238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11188" y="144363"/>
            <a:ext cx="22559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6035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955625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1574750"/>
            <a:ext cx="10769798" cy="657225"/>
          </a:xfrm>
          <a:prstGeom prst="roundRect">
            <a:avLst>
              <a:gd name="adj" fmla="val 1545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10696" y="1727150"/>
            <a:ext cx="362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22202" y="1774775"/>
            <a:ext cx="1005265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「怎么」asks about what? 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Thumbs up 👍 if you know.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1101" y="2358926"/>
            <a:ext cx="10769798" cy="657225"/>
          </a:xfrm>
          <a:prstGeom prst="roundRect">
            <a:avLst>
              <a:gd name="adj" fmla="val 1545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10696" y="2511326"/>
            <a:ext cx="362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22202" y="2573238"/>
            <a:ext cx="100526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 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"How do you get to school?"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write it on your whiteboard.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1101" y="3143101"/>
            <a:ext cx="10769798" cy="657225"/>
          </a:xfrm>
          <a:prstGeom prst="roundRect">
            <a:avLst>
              <a:gd name="adj" fmla="val 1545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10696" y="3295501"/>
            <a:ext cx="362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422202" y="3357414"/>
            <a:ext cx="100526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correction: 「你上学怎么？」— what's wrong with this sentence? (cold call)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1101" y="4003477"/>
            <a:ext cx="10769798" cy="352425"/>
          </a:xfrm>
          <a:prstGeom prst="roundRect">
            <a:avLst>
              <a:gd name="adj" fmla="val 21622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3301" y="4098727"/>
            <a:ext cx="105319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6752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怎么问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284238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11188" y="144363"/>
            <a:ext cx="17594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6035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930176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1523851"/>
            <a:ext cx="10769798" cy="606326"/>
          </a:xfrm>
          <a:prstGeom prst="roundRect">
            <a:avLst>
              <a:gd name="adj" fmla="val 167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10696" y="1650802"/>
            <a:ext cx="362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22202" y="1712714"/>
            <a:ext cx="57734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「怎么」asks about what?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53974" y="1703189"/>
            <a:ext cx="412377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method/how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1101" y="2231678"/>
            <a:ext cx="10769798" cy="606326"/>
          </a:xfrm>
          <a:prstGeom prst="roundRect">
            <a:avLst>
              <a:gd name="adj" fmla="val 167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10696" y="2358628"/>
            <a:ext cx="362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22202" y="2420541"/>
            <a:ext cx="57734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do you say "How do you get to school?"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53974" y="2411016"/>
            <a:ext cx="412377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你怎么上学？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1101" y="2939504"/>
            <a:ext cx="10769798" cy="606326"/>
          </a:xfrm>
          <a:prstGeom prst="roundRect">
            <a:avLst>
              <a:gd name="adj" fmla="val 167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10696" y="3066455"/>
            <a:ext cx="362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22202" y="3128367"/>
            <a:ext cx="57734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correction: 「你上学怎么？」— what's wrong?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153974" y="3137892"/>
            <a:ext cx="41237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word order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1101" y="3748980"/>
            <a:ext cx="10769798" cy="683121"/>
          </a:xfrm>
          <a:prstGeom prst="roundRect">
            <a:avLst>
              <a:gd name="adj" fmla="val 14873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33301" y="3894981"/>
            <a:ext cx="1053190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Q3 — What's wrong with 「你上学怎么？」?</a:t>
            </a:r>
            <a:pPr algn="l" indent="0" marL="0">
              <a:lnSpc>
                <a:spcPts val="1540"/>
              </a:lnSpc>
              <a:buNone/>
            </a:pPr>
            <a:endParaRPr lang="en-US" sz="1100" dirty="0"/>
          </a:p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order: </a:t>
            </a:r>
            <a:endParaRPr lang="en-US" sz="1100" dirty="0"/>
          </a:p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怎么 must come before the verb phrase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not after it. The correct order is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你怎么上学？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6752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怎么问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284238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11188" y="144363"/>
            <a:ext cx="15994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09451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8 MIN · WE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866626"/>
            <a:ext cx="1129609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Guided Chain Build · 句子接龙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58701" y="1396752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builds the sentence one word-card at a time on the board. Copy the process on your whiteboard with a different family member + vehicle.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8701" y="1692027"/>
            <a:ext cx="444401" cy="444401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83746" y="1780877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3852" y="1823740"/>
            <a:ext cx="8364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86607" y="1692027"/>
            <a:ext cx="634901" cy="444401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09747" y="1780877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爸爸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872258" y="1823740"/>
            <a:ext cx="8364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005013" y="1692027"/>
            <a:ext cx="634901" cy="444401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128153" y="1780877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怎么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690664" y="1823740"/>
            <a:ext cx="8364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3418" y="1692027"/>
            <a:ext cx="634901" cy="444401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46559" y="1780877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上班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519815" y="1780877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775621" y="1823740"/>
            <a:ext cx="8364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908375" y="1692027"/>
            <a:ext cx="444401" cy="444401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033421" y="1780877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403527" y="1823740"/>
            <a:ext cx="8364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36281" y="1692027"/>
            <a:ext cx="634901" cy="444401"/>
          </a:xfrm>
          <a:prstGeom prst="roundRect">
            <a:avLst>
              <a:gd name="adj" fmla="val 1714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659422" y="1780877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232678" y="1780877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58701" y="2250728"/>
            <a:ext cx="11074598" cy="361950"/>
          </a:xfrm>
          <a:prstGeom prst="roundRect">
            <a:avLst>
              <a:gd name="adj" fmla="val 21053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36402" y="2326928"/>
            <a:ext cx="1093358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 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怎么 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？坐 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8701" y="2777728"/>
            <a:ext cx="11074598" cy="1102816"/>
          </a:xfrm>
          <a:prstGeom prst="roundRect">
            <a:avLst>
              <a:gd name="adj" fmla="val 11516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80901" y="2955578"/>
            <a:ext cx="1056382" cy="193477"/>
          </a:xfrm>
          <a:prstGeom prst="roundRect">
            <a:avLst>
              <a:gd name="adj" fmla="val 655752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07852" y="2980879"/>
            <a:ext cx="8185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8 min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80901" y="3225254"/>
            <a:ext cx="35106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80901" y="3396704"/>
            <a:ext cx="3510635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word bank + sentence frame projected throughout: 你___怎么___？坐___。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375100" y="3225254"/>
            <a:ext cx="35106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375100" y="3396704"/>
            <a:ext cx="3510635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with 每天 added — 我每天坐地铁上学。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969300" y="3225254"/>
            <a:ext cx="35106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7969300" y="3396704"/>
            <a:ext cx="3510635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whiteboards, held up each round.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6752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怎么问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284238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11188" y="144363"/>
            <a:ext cx="16557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09451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8 MIN · YOU DO · TEXT 2 RECAP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866626"/>
            <a:ext cx="1129609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Pair Dialogue · 两人对话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58701" y="1396752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Practise the 4-line Text 2 dialogue with a partner, then swap in your own family members and vehicles.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8701" y="1692027"/>
            <a:ext cx="5448449" cy="1364903"/>
          </a:xfrm>
          <a:prstGeom prst="roundRect">
            <a:avLst>
              <a:gd name="adj" fmla="val 744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36402" y="1818977"/>
            <a:ext cx="51949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词汇卡可见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736402" y="2015728"/>
            <a:ext cx="51949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你___怎么___？坐___。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6402" y="2333179"/>
            <a:ext cx="476101" cy="276225"/>
          </a:xfrm>
          <a:prstGeom prst="roundRect">
            <a:avLst>
              <a:gd name="adj" fmla="val 18391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47427" y="2380804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88703" y="2333179"/>
            <a:ext cx="603052" cy="276225"/>
          </a:xfrm>
          <a:prstGeom prst="roundRect">
            <a:avLst>
              <a:gd name="adj" fmla="val 18391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399729" y="2380804"/>
            <a:ext cx="3886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出租车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967954" y="2333179"/>
            <a:ext cx="730002" cy="276225"/>
          </a:xfrm>
          <a:prstGeom prst="roundRect">
            <a:avLst>
              <a:gd name="adj" fmla="val 18391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078980" y="2380804"/>
            <a:ext cx="518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公共汽车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74156" y="2333179"/>
            <a:ext cx="476101" cy="276225"/>
          </a:xfrm>
          <a:prstGeom prst="roundRect">
            <a:avLst>
              <a:gd name="adj" fmla="val 18391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885182" y="2380804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地铁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84850" y="1692027"/>
            <a:ext cx="5448449" cy="1364903"/>
          </a:xfrm>
          <a:prstGeom prst="roundRect">
            <a:avLst>
              <a:gd name="adj" fmla="val 744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62551" y="1818977"/>
            <a:ext cx="51949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凭记忆（词汇卡收起）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6362551" y="2015728"/>
            <a:ext cx="51949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你___怎么___？坐___。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62551" y="2333179"/>
            <a:ext cx="476101" cy="276225"/>
          </a:xfrm>
          <a:prstGeom prst="roundRect">
            <a:avLst>
              <a:gd name="adj" fmla="val 18391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473577" y="2380804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14852" y="2333179"/>
            <a:ext cx="603052" cy="276225"/>
          </a:xfrm>
          <a:prstGeom prst="roundRect">
            <a:avLst>
              <a:gd name="adj" fmla="val 18391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025878" y="2380804"/>
            <a:ext cx="3886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出租车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594104" y="2333179"/>
            <a:ext cx="730002" cy="276225"/>
          </a:xfrm>
          <a:prstGeom prst="roundRect">
            <a:avLst>
              <a:gd name="adj" fmla="val 18391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705130" y="2380804"/>
            <a:ext cx="518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公共汽车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00306" y="2333179"/>
            <a:ext cx="476101" cy="276225"/>
          </a:xfrm>
          <a:prstGeom prst="roundRect">
            <a:avLst>
              <a:gd name="adj" fmla="val 18391"/>
            </a:avLst>
          </a:prstGeom>
          <a:solidFill>
            <a:srgbClr val="FEFCF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511332" y="2380804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地铁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62551" y="2685604"/>
            <a:ext cx="519490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removed — pairs work from memory.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58701" y="3221980"/>
            <a:ext cx="11074598" cy="1244947"/>
          </a:xfrm>
          <a:prstGeom prst="roundRect">
            <a:avLst>
              <a:gd name="adj" fmla="val 10201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80901" y="3399830"/>
            <a:ext cx="1100435" cy="193477"/>
          </a:xfrm>
          <a:prstGeom prst="roundRect">
            <a:avLst>
              <a:gd name="adj" fmla="val 6557524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907852" y="3425130"/>
            <a:ext cx="863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8 min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0901" y="3669506"/>
            <a:ext cx="35106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780901" y="3840956"/>
            <a:ext cx="351063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Keep pinyin visible for weaker pairs throughout both rounds.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375100" y="3669506"/>
            <a:ext cx="35106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375100" y="3840956"/>
            <a:ext cx="3510635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Fluent pairs add a follow-up question, e.g. A: 你怎么上学？B: 坐地铁。A: 你每天几点坐地铁？(recycling the Lesson 10 time question)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969300" y="3669506"/>
            <a:ext cx="35106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7969300" y="3840956"/>
            <a:ext cx="351063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3 pairs to perform.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6752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怎么问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284238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11188" y="144363"/>
            <a:ext cx="16232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Telephone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53794" y="2038499"/>
            <a:ext cx="8842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737803" y="2333774"/>
            <a:ext cx="271639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传声筒 · Telephone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901726" y="2914799"/>
            <a:ext cx="63885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Whisper the sentence down the row. The last student says it aloud or writes it on the board.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902446" y="3267224"/>
            <a:ext cx="1193750" cy="656927"/>
          </a:xfrm>
          <a:prstGeom prst="roundRect">
            <a:avLst>
              <a:gd name="adj" fmla="val 154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045957" y="3368725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🤫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045957" y="3679775"/>
            <a:ext cx="9067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Whisper once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221495" y="3481388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15296" y="3267224"/>
            <a:ext cx="1281410" cy="656927"/>
          </a:xfrm>
          <a:prstGeom prst="roundRect">
            <a:avLst>
              <a:gd name="adj" fmla="val 154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57930" y="3368725"/>
            <a:ext cx="99614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57930" y="3679775"/>
            <a:ext cx="9961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Pass down the row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922005" y="3481388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5807" y="3267224"/>
            <a:ext cx="1323677" cy="656927"/>
          </a:xfrm>
          <a:prstGeom prst="roundRect">
            <a:avLst>
              <a:gd name="adj" fmla="val 154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58018" y="3368725"/>
            <a:ext cx="103925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58018" y="3679775"/>
            <a:ext cx="10392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Last student says it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664782" y="3481388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958584" y="3267224"/>
            <a:ext cx="1330970" cy="656927"/>
          </a:xfrm>
          <a:prstGeom prst="roundRect">
            <a:avLst>
              <a:gd name="adj" fmla="val 154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100722" y="3368725"/>
            <a:ext cx="104669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🔍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100722" y="3679775"/>
            <a:ext cx="10466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Compare to original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603998" y="4076551"/>
            <a:ext cx="2984004" cy="552450"/>
          </a:xfrm>
          <a:prstGeom prst="roundRect">
            <a:avLst>
              <a:gd name="adj" fmla="val 18391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852568" y="4209901"/>
            <a:ext cx="24868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你爸爸怎么上班？坐火车。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681046" y="4781401"/>
            <a:ext cx="20308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🤫 Whisper only once — no repeats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882613" y="4781401"/>
            <a:ext cx="38725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Last student says or writes the sentence, then reveal the original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920332" y="4781401"/>
            <a:ext cx="25961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🚫 No devices needed — whole-class activity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6752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怎么问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284238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11188" y="144363"/>
            <a:ext cx="1056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3490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904726"/>
            <a:ext cx="1098519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11101" y="1520577"/>
            <a:ext cx="1098519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11101" y="1766590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14251" y="1704677"/>
            <a:ext cx="44196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"how do you get to school/work?" (你怎么上学/上班？)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1101" y="2017365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14251" y="1955453"/>
            <a:ext cx="59767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the words for train, taxi, public bus and subway (火车, 出租车, 公共汽车, 地铁)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1101" y="2268141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14251" y="2206228"/>
            <a:ext cx="435527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answer using 坐 + the correct vehicle (用坐+交通工具回答)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1101" y="2533204"/>
            <a:ext cx="10769798" cy="700236"/>
          </a:xfrm>
          <a:prstGeom prst="roundRect">
            <a:avLst>
              <a:gd name="adj" fmla="val 145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14251" y="2660154"/>
            <a:ext cx="105707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251" y="2910929"/>
            <a:ext cx="10570768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whiteboards: write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怎么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rate your confidence 👍/😐/👎.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1101" y="3360390"/>
            <a:ext cx="10769798" cy="706487"/>
          </a:xfrm>
          <a:prstGeom prst="roundRect">
            <a:avLst>
              <a:gd name="adj" fmla="val 14381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58751" y="3506391"/>
            <a:ext cx="104799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58751" y="3706416"/>
            <a:ext cx="10479988" cy="214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</a:t>
            </a:r>
            <a:pPr algn="l" indent="0" marL="0">
              <a:lnSpc>
                <a:spcPts val="169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"How does your mum get to work?"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1101" y="4193828"/>
            <a:ext cx="73564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Achieved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686223" y="4193828"/>
            <a:ext cx="9870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907804" y="4193828"/>
            <a:ext cx="7974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71025" y="1497509"/>
            <a:ext cx="449949" cy="5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buNone/>
            </a:pPr>
            <a:r>
              <a:rPr lang="en-US" sz="46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839057" y="2183160"/>
            <a:ext cx="251388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940286" y="2751386"/>
            <a:ext cx="631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ask 你怎么上学/上班？ and answer with 火车、出租车、公共汽车、地铁.</a:t>
            </a:r>
            <a:endParaRPr lang="en-US" sz="1200" dirty="0"/>
          </a:p>
          <a:p>
            <a:pPr algn="ctr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Remember: </a:t>
            </a:r>
            <a:endParaRPr lang="en-US" sz="1200" dirty="0"/>
          </a:p>
          <a:p>
            <a:pPr algn="ctr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怎么 comes BEFORE the verb phrase — 你怎么上学？ not 你上学怎么！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00301" y="3437037"/>
            <a:ext cx="4991398" cy="1117402"/>
          </a:xfrm>
          <a:prstGeom prst="roundRect">
            <a:avLst>
              <a:gd name="adj" fmla="val 9093"/>
            </a:avLst>
          </a:prstGeom>
          <a:solidFill>
            <a:srgbClr val="F6F2E8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906521" y="3633788"/>
            <a:ext cx="4378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906521" y="3814763"/>
            <a:ext cx="437895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 / 下 Pairs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906521" y="4167188"/>
            <a:ext cx="43789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tricky 上/下 pairs — like 上车 and 下车 — plus pinyin practice.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799715" y="4757440"/>
            <a:ext cx="65924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pPr algn="ctr" indent="0" marL="0">
              <a:spcBef>
                <a:spcPts val="8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怎么</a:t>
            </a:r>
            <a:pPr algn="ctr" indent="0" marL="0">
              <a:spcBef>
                <a:spcPts val="8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how (asking about method) · </a:t>
            </a:r>
            <a:pPr algn="ctr" indent="0" marL="0">
              <a:spcBef>
                <a:spcPts val="8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火车/出租车/公共汽车/地铁</a:t>
            </a:r>
            <a:pPr algn="ctr" indent="0" marL="0">
              <a:spcBef>
                <a:spcPts val="8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train/taxi/bus/subway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62317" y="5160466"/>
            <a:ext cx="30673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master the 上/下 pairs and their pinyin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2026-07-18T08:48:12Z</dcterms:created>
  <dcterms:modified xsi:type="dcterms:W3CDTF">2026-07-18T08:48:12Z</dcterms:modified>
</cp:coreProperties>
</file>