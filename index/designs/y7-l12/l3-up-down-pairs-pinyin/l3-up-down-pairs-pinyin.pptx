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45360" y="1916609"/>
            <a:ext cx="1754088" cy="352425"/>
          </a:xfrm>
          <a:prstGeom prst="roundRect">
            <a:avLst>
              <a:gd name="adj" fmla="val 3600000"/>
            </a:avLst>
          </a:prstGeom>
          <a:solidFill>
            <a:srgbClr val="E8CD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760991" y="1992809"/>
            <a:ext cx="132282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上/下 Phrase Pairs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26398" y="1916609"/>
            <a:ext cx="1220093" cy="352425"/>
          </a:xfrm>
          <a:prstGeom prst="roundRect">
            <a:avLst>
              <a:gd name="adj" fmla="val 3600000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647370" y="1992809"/>
            <a:ext cx="77815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EFC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拼音 Pinyin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10630" y="2497485"/>
            <a:ext cx="277073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LESSON 3 · Y7 UNIT 4.3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764280" y="2903786"/>
            <a:ext cx="4663440" cy="100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920"/>
              </a:lnSpc>
              <a:spcAft>
                <a:spcPts val="400"/>
              </a:spcAft>
              <a:buNone/>
            </a:pPr>
            <a:r>
              <a:rPr lang="en-US" sz="72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上课</a:t>
            </a:r>
            <a:r>
              <a:rPr lang="en-US" sz="72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·</a:t>
            </a:r>
            <a:r>
              <a:rPr lang="en-US" sz="72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下课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3487388" y="4087267"/>
            <a:ext cx="5217224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600"/>
              </a:spcAft>
              <a:buNone/>
            </a:pPr>
            <a:r>
              <a:rPr lang="en-US" sz="1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上/下 Phrase Pairs + Pinyin · 上下词组与拼音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019162" y="4731693"/>
            <a:ext cx="415352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Year 7 Chinese  ·  50 mins  ·  Writing + Speaking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698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39601"/>
            <a:ext cx="79409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L3 · 上下词组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400770" y="141238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27721" y="139601"/>
            <a:ext cx="184807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Review · Lesson 2 Recap · 0–8 min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34901" y="634901"/>
            <a:ext cx="1114064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0–8 MIN · PAIR DIALOGUE RECAP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34901" y="898327"/>
            <a:ext cx="11140642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怎么上学？· Pair Dialogue Recap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634901" y="1437977"/>
            <a:ext cx="1114064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With your partner, redo the Lesson 2 Text 2 dialogue from memory — then swap in different vehicles.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34901" y="1790254"/>
            <a:ext cx="10922198" cy="1602879"/>
          </a:xfrm>
          <a:prstGeom prst="roundRect">
            <a:avLst>
              <a:gd name="adj" fmla="val 6339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888802" y="2252067"/>
            <a:ext cx="10414397" cy="0"/>
          </a:xfrm>
          <a:prstGeom prst="line">
            <a:avLst/>
          </a:prstGeom>
          <a:noFill/>
          <a:ln w="9525">
            <a:solidFill>
              <a:srgbClr val="D5CEB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8802" y="1967954"/>
            <a:ext cx="13469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你爸爸怎么上班？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336304" y="1967954"/>
            <a:ext cx="1685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628454" y="1967954"/>
            <a:ext cx="67355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坐火车。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88802" y="2591693"/>
            <a:ext cx="10414397" cy="0"/>
          </a:xfrm>
          <a:prstGeom prst="line">
            <a:avLst/>
          </a:prstGeom>
          <a:noFill/>
          <a:ln w="9525">
            <a:solidFill>
              <a:srgbClr val="D5CEB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8802" y="2307580"/>
            <a:ext cx="84190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你妈妈呢？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841153" y="2307580"/>
            <a:ext cx="1685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133302" y="2307580"/>
            <a:ext cx="84190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坐出租车。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88802" y="2931319"/>
            <a:ext cx="10414397" cy="0"/>
          </a:xfrm>
          <a:prstGeom prst="line">
            <a:avLst/>
          </a:prstGeom>
          <a:noFill/>
          <a:ln w="9525">
            <a:solidFill>
              <a:srgbClr val="D5CEB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88802" y="2647206"/>
            <a:ext cx="13469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你哥哥怎么上学？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336304" y="2647206"/>
            <a:ext cx="1685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628454" y="2647206"/>
            <a:ext cx="10102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坐公共汽车。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88802" y="2986832"/>
            <a:ext cx="10102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你怎么上学？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006203" y="2986832"/>
            <a:ext cx="1685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298353" y="2986832"/>
            <a:ext cx="67355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坐地铁。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34901" y="3494633"/>
            <a:ext cx="2616250" cy="656927"/>
          </a:xfrm>
          <a:prstGeom prst="roundRect">
            <a:avLst>
              <a:gd name="adj" fmla="val 11599"/>
            </a:avLst>
          </a:prstGeom>
          <a:solidFill>
            <a:srgbClr val="3A7D8C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86462" y="3596134"/>
            <a:ext cx="251312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火车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86462" y="3888135"/>
            <a:ext cx="251312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huǒ chē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403550" y="3494633"/>
            <a:ext cx="2616250" cy="656927"/>
          </a:xfrm>
          <a:prstGeom prst="roundRect">
            <a:avLst>
              <a:gd name="adj" fmla="val 11599"/>
            </a:avLst>
          </a:prstGeom>
          <a:solidFill>
            <a:srgbClr val="3A7D8C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455112" y="3596134"/>
            <a:ext cx="251312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出租车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3455112" y="3888135"/>
            <a:ext cx="251312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chū zū chē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172200" y="3494633"/>
            <a:ext cx="2616250" cy="656927"/>
          </a:xfrm>
          <a:prstGeom prst="roundRect">
            <a:avLst>
              <a:gd name="adj" fmla="val 11599"/>
            </a:avLst>
          </a:prstGeom>
          <a:solidFill>
            <a:srgbClr val="3A7D8C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223762" y="3596134"/>
            <a:ext cx="251312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公共汽车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223762" y="3888135"/>
            <a:ext cx="251312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gōng gòng qì chē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940850" y="3494633"/>
            <a:ext cx="2616250" cy="656927"/>
          </a:xfrm>
          <a:prstGeom prst="roundRect">
            <a:avLst>
              <a:gd name="adj" fmla="val 11599"/>
            </a:avLst>
          </a:prstGeom>
          <a:solidFill>
            <a:srgbClr val="3A7D8C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8992411" y="3596134"/>
            <a:ext cx="251312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地铁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8992411" y="3888135"/>
            <a:ext cx="251312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dì tiě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34901" y="4253061"/>
            <a:ext cx="4453533" cy="336352"/>
          </a:xfrm>
          <a:prstGeom prst="roundRect">
            <a:avLst>
              <a:gd name="adj" fmla="val 3772030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812602" y="4316462"/>
            <a:ext cx="418009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🗣️ Round 1 — recite the dialogue with your partner from memory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215384" y="4253061"/>
            <a:ext cx="4097089" cy="336352"/>
          </a:xfrm>
          <a:prstGeom prst="roundRect">
            <a:avLst>
              <a:gd name="adj" fmla="val 3772030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5393085" y="4316462"/>
            <a:ext cx="381652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🔄 Round 2 — swap in different family members &amp; vehicles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34901" y="4716363"/>
            <a:ext cx="2298055" cy="336352"/>
          </a:xfrm>
          <a:prstGeom prst="roundRect">
            <a:avLst>
              <a:gd name="adj" fmla="val 3772030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812602" y="4779764"/>
            <a:ext cx="19815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🎯 Cold call 2 pairs to perform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0" y="658341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7950" y="6661100"/>
            <a:ext cx="136017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4.3 交通工具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698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39601"/>
            <a:ext cx="79409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L3 · 上下词组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400770" y="141238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27721" y="139601"/>
            <a:ext cx="24920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Learning Intention &amp; Success Criteria · 8–10 min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11101" y="660350"/>
            <a:ext cx="1098519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8–10 MIN · DISPLAY ON PROJECTOR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11101" y="999976"/>
            <a:ext cx="10985194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今日目标 · Today's Goal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711101" y="1733252"/>
            <a:ext cx="10769798" cy="853827"/>
          </a:xfrm>
          <a:prstGeom prst="rect">
            <a:avLst/>
          </a:prstGeom>
          <a:solidFill>
            <a:srgbClr val="E8CD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739676" y="1733252"/>
            <a:ext cx="0" cy="853827"/>
          </a:xfrm>
          <a:prstGeom prst="line">
            <a:avLst/>
          </a:prstGeom>
          <a:noFill/>
          <a:ln w="57150">
            <a:solidFill>
              <a:srgbClr val="C894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2152" y="1910953"/>
            <a:ext cx="1040894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8A642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LEARNING INTENTION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22152" y="2123629"/>
            <a:ext cx="1040894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are learning to use the </a:t>
            </a:r>
            <a:r>
              <a:rPr lang="en-US" sz="1500" b="1" dirty="0">
                <a:solidFill>
                  <a:srgbClr val="8A642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上/下 phrase pairs</a:t>
            </a:r>
            <a:r>
              <a:rPr lang="en-US" sz="15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correctly and read </a:t>
            </a:r>
            <a:r>
              <a:rPr lang="en-US" sz="1500" b="1" dirty="0">
                <a:solidFill>
                  <a:srgbClr val="20586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pinyin</a:t>
            </a:r>
            <a:r>
              <a:rPr lang="en-US" sz="15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for Lesson 12 vocabulary.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11101" y="2764780"/>
            <a:ext cx="253901" cy="253901"/>
          </a:xfrm>
          <a:prstGeom prst="roundRect">
            <a:avLst>
              <a:gd name="adj" fmla="val 360140"/>
            </a:avLst>
          </a:prstGeom>
          <a:noFill/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09327" y="2801243"/>
            <a:ext cx="5844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17402" y="2777430"/>
            <a:ext cx="40884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match </a:t>
            </a:r>
            <a:r>
              <a:rPr lang="en-US" sz="13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上/下 phrase pairs</a:t>
            </a:r>
            <a:r>
              <a:rPr lang="en-US" sz="13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to their meanings.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17402" y="3120182"/>
            <a:ext cx="1057076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匹配上/下词组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11101" y="3402657"/>
            <a:ext cx="253901" cy="253901"/>
          </a:xfrm>
          <a:prstGeom prst="roundRect">
            <a:avLst>
              <a:gd name="adj" fmla="val 360140"/>
            </a:avLst>
          </a:prstGeom>
          <a:noFill/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97719" y="3439120"/>
            <a:ext cx="8212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17402" y="3415308"/>
            <a:ext cx="4178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explain the difference between </a:t>
            </a:r>
            <a:r>
              <a:rPr lang="en-US" sz="13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上车</a:t>
            </a:r>
            <a:r>
              <a:rPr lang="en-US" sz="13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and </a:t>
            </a:r>
            <a:r>
              <a:rPr lang="en-US" sz="13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下车</a:t>
            </a:r>
            <a:r>
              <a:rPr lang="en-US" sz="13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17402" y="3758059"/>
            <a:ext cx="1057076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说出上车/下车的区别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11101" y="4040535"/>
            <a:ext cx="253901" cy="253901"/>
          </a:xfrm>
          <a:prstGeom prst="roundRect">
            <a:avLst>
              <a:gd name="adj" fmla="val 360140"/>
            </a:avLst>
          </a:prstGeom>
          <a:noFill/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97421" y="4076998"/>
            <a:ext cx="8273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17402" y="4053185"/>
            <a:ext cx="417144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circle the correct </a:t>
            </a:r>
            <a:r>
              <a:rPr lang="en-US" sz="13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pinyin</a:t>
            </a:r>
            <a:r>
              <a:rPr lang="en-US" sz="13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for Lesson 12 words.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17402" y="4395936"/>
            <a:ext cx="1057076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选出正确的拼音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0" y="658341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7950" y="6661100"/>
            <a:ext cx="136017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4.3 交通工具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698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39601"/>
            <a:ext cx="79409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L3 · 上下词组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400770" y="141238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27721" y="139601"/>
            <a:ext cx="192928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上/下 Phrase Pairs · 10–20 min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34901" y="584150"/>
            <a:ext cx="1114064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10–20 MIN · I DO · EX2, P.88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34901" y="822275"/>
            <a:ext cx="11140642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上/下 Phrase Pairs · 上下词组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34901" y="1587401"/>
            <a:ext cx="10922198" cy="0"/>
          </a:xfrm>
          <a:prstGeom prst="line">
            <a:avLst/>
          </a:prstGeom>
          <a:noFill/>
          <a:ln w="19050">
            <a:solidFill>
              <a:srgbClr val="C8943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2602" y="1377851"/>
            <a:ext cx="116586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汉字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133302" y="1377851"/>
            <a:ext cx="142483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拼音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07904" y="1377851"/>
            <a:ext cx="782492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English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34901" y="2046089"/>
            <a:ext cx="10922198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2602" y="1723876"/>
            <a:ext cx="11658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上课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133302" y="1757214"/>
            <a:ext cx="142483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shàng kè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707904" y="1757214"/>
            <a:ext cx="782492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attend class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34901" y="2500015"/>
            <a:ext cx="10922198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2602" y="2177802"/>
            <a:ext cx="11658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下课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133302" y="2211139"/>
            <a:ext cx="142483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xià kè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707904" y="2211139"/>
            <a:ext cx="782492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finish class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4901" y="2580977"/>
            <a:ext cx="10922198" cy="377726"/>
          </a:xfrm>
          <a:prstGeom prst="rect">
            <a:avLst/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634901" y="2953941"/>
            <a:ext cx="10922198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2602" y="2631728"/>
            <a:ext cx="11658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上学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2133302" y="2665065"/>
            <a:ext cx="142483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shàng xué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707904" y="2665065"/>
            <a:ext cx="782492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go to school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4901" y="3034903"/>
            <a:ext cx="10922198" cy="377726"/>
          </a:xfrm>
          <a:prstGeom prst="rect">
            <a:avLst/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634901" y="3407866"/>
            <a:ext cx="10922198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2602" y="3085654"/>
            <a:ext cx="11658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放学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2133302" y="3118991"/>
            <a:ext cx="142483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fàng xué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707904" y="3118991"/>
            <a:ext cx="782492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classes are over </a:t>
            </a:r>
            <a:r>
              <a:rPr lang="en-US" sz="9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odd one out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34901" y="3861792"/>
            <a:ext cx="10922198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2602" y="3539579"/>
            <a:ext cx="11658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上班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2133302" y="3572917"/>
            <a:ext cx="142483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shàng bān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707904" y="3572917"/>
            <a:ext cx="782492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go to work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34901" y="4315718"/>
            <a:ext cx="10922198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12602" y="3993505"/>
            <a:ext cx="11658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下班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2133302" y="4026843"/>
            <a:ext cx="142483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xià bān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707904" y="4026843"/>
            <a:ext cx="782492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finish work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34901" y="4396680"/>
            <a:ext cx="10922198" cy="377726"/>
          </a:xfrm>
          <a:prstGeom prst="rect">
            <a:avLst/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Shape 38"/>
          <p:cNvSpPr/>
          <p:nvPr/>
        </p:nvSpPr>
        <p:spPr>
          <a:xfrm>
            <a:off x="634901" y="4769644"/>
            <a:ext cx="10922198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12602" y="4447431"/>
            <a:ext cx="11658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上车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2133302" y="4480768"/>
            <a:ext cx="142483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shàng chē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707904" y="4480768"/>
            <a:ext cx="782492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get on the vehicle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34901" y="4850606"/>
            <a:ext cx="10922198" cy="377726"/>
          </a:xfrm>
          <a:prstGeom prst="rect">
            <a:avLst/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Shape 43"/>
          <p:cNvSpPr/>
          <p:nvPr/>
        </p:nvSpPr>
        <p:spPr>
          <a:xfrm>
            <a:off x="634901" y="5223570"/>
            <a:ext cx="10922198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12602" y="4901357"/>
            <a:ext cx="11658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下车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2133302" y="4934694"/>
            <a:ext cx="142483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xià chē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3707904" y="4934694"/>
            <a:ext cx="782492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get off the vehicle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34901" y="5304532"/>
            <a:ext cx="6036618" cy="739378"/>
          </a:xfrm>
          <a:prstGeom prst="roundRect">
            <a:avLst>
              <a:gd name="adj" fmla="val 10306"/>
            </a:avLst>
          </a:prstGeom>
          <a:solidFill>
            <a:srgbClr val="D4756B">
              <a:alpha val="12000"/>
            </a:srgbClr>
          </a:solidFill>
          <a:ln w="19050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857101" y="5476131"/>
            <a:ext cx="5304511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⚠️ Word order: 坐 + vehicle + activity — NOT activity + 坐 + vehicle
</a:t>
            </a: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我上学坐校车 ✗ → 我坐校车上学 ✓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6849219" y="5304532"/>
            <a:ext cx="4707880" cy="739378"/>
          </a:xfrm>
          <a:prstGeom prst="roundRect">
            <a:avLst>
              <a:gd name="adj" fmla="val 10306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7052370" y="5406033"/>
            <a:ext cx="438761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ODD ONE OUT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7052370" y="5587008"/>
            <a:ext cx="4387611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上学/放学 doesn't use 下 — it uses </a:t>
            </a:r>
            <a:r>
              <a:rPr lang="en-US" sz="10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放</a:t>
            </a: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, because school "releases" you rather than you "descending" from it.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0" y="658341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07950" y="6661100"/>
            <a:ext cx="136017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4.3 交通工具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698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39601"/>
            <a:ext cx="79409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L3 · 上下词组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400770" y="141238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27721" y="139601"/>
            <a:ext cx="238819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Pinyin Discrimination Focus · 10–20 min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34901" y="660350"/>
            <a:ext cx="1114064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10–20 MIN · I DO · EX3, P.88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34901" y="974675"/>
            <a:ext cx="1114064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Pinyin Focus · 拼音辨析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34901" y="1555700"/>
            <a:ext cx="1114064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Each character has two possible readings — which one is correct?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34901" y="1917650"/>
            <a:ext cx="1693366" cy="1152227"/>
          </a:xfrm>
          <a:prstGeom prst="roundRect">
            <a:avLst>
              <a:gd name="adj" fmla="val 8818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95691" y="2095351"/>
            <a:ext cx="1571786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2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作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95691" y="2663577"/>
            <a:ext cx="15717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zuò </a:t>
            </a:r>
            <a:r>
              <a:rPr lang="en-US" sz="13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/</a:t>
            </a:r>
            <a:r>
              <a:rPr lang="en-US" sz="13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zòu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480667" y="1917650"/>
            <a:ext cx="1693366" cy="1152227"/>
          </a:xfrm>
          <a:prstGeom prst="roundRect">
            <a:avLst>
              <a:gd name="adj" fmla="val 8818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541458" y="2095351"/>
            <a:ext cx="1571786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2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分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2541458" y="2663577"/>
            <a:ext cx="15717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fēn </a:t>
            </a:r>
            <a:r>
              <a:rPr lang="en-US" sz="13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/</a:t>
            </a:r>
            <a:r>
              <a:rPr lang="en-US" sz="13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fān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326434" y="1917650"/>
            <a:ext cx="1693366" cy="1152227"/>
          </a:xfrm>
          <a:prstGeom prst="roundRect">
            <a:avLst>
              <a:gd name="adj" fmla="val 8818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387224" y="2095351"/>
            <a:ext cx="1571786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2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谁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387224" y="2663577"/>
            <a:ext cx="15717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suí </a:t>
            </a:r>
            <a:r>
              <a:rPr lang="en-US" sz="13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/</a:t>
            </a:r>
            <a:r>
              <a:rPr lang="en-US" sz="13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shuí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72200" y="1917650"/>
            <a:ext cx="1693366" cy="1152227"/>
          </a:xfrm>
          <a:prstGeom prst="roundRect">
            <a:avLst>
              <a:gd name="adj" fmla="val 8818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232990" y="2095351"/>
            <a:ext cx="1571786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2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点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232990" y="2663577"/>
            <a:ext cx="15717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dǎn </a:t>
            </a:r>
            <a:r>
              <a:rPr lang="en-US" sz="13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/</a:t>
            </a:r>
            <a:r>
              <a:rPr lang="en-US" sz="13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diǎn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017966" y="1917650"/>
            <a:ext cx="1693366" cy="1152227"/>
          </a:xfrm>
          <a:prstGeom prst="roundRect">
            <a:avLst>
              <a:gd name="adj" fmla="val 8818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8078757" y="2095351"/>
            <a:ext cx="1571786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2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住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8078757" y="2663577"/>
            <a:ext cx="15717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zhù </a:t>
            </a:r>
            <a:r>
              <a:rPr lang="en-US" sz="13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/</a:t>
            </a:r>
            <a:r>
              <a:rPr lang="en-US" sz="13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jù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863733" y="1917650"/>
            <a:ext cx="1693366" cy="1152227"/>
          </a:xfrm>
          <a:prstGeom prst="roundRect">
            <a:avLst>
              <a:gd name="adj" fmla="val 8818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9924523" y="2095351"/>
            <a:ext cx="1571786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2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年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9924523" y="2663577"/>
            <a:ext cx="15717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nián </a:t>
            </a:r>
            <a:r>
              <a:rPr lang="en-US" sz="13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/</a:t>
            </a:r>
            <a:r>
              <a:rPr lang="en-US" sz="13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nán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34901" y="3222278"/>
            <a:ext cx="10922198" cy="828675"/>
          </a:xfrm>
          <a:prstGeom prst="roundRect">
            <a:avLst>
              <a:gd name="adj" fmla="val 12261"/>
            </a:avLst>
          </a:prstGeom>
          <a:solidFill>
            <a:srgbClr val="D4756B">
              <a:alpha val="12000"/>
            </a:srgbClr>
          </a:solidFill>
          <a:ln w="19050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907852" y="3393728"/>
            <a:ext cx="6726314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🔊 Model 2 examples on the projector
</a:t>
            </a: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Think aloud through the tone/final difference for 2 pairs — then work through the rest together as a class.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0" y="658341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7950" y="6661100"/>
            <a:ext cx="136017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4.3 交通工具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698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39601"/>
            <a:ext cx="79409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L3 · 上下词组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400770" y="141238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27721" y="139601"/>
            <a:ext cx="22559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Check for Understanding · 10–20 min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11101" y="660350"/>
            <a:ext cx="1098519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10–20 MIN · CFU CHECKPOINTS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11101" y="999976"/>
            <a:ext cx="10985194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Check for Understanding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711101" y="1682502"/>
            <a:ext cx="10769798" cy="800100"/>
          </a:xfrm>
          <a:prstGeom prst="roundRect">
            <a:avLst>
              <a:gd name="adj" fmla="val 12698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61192" y="1868239"/>
            <a:ext cx="38862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CD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549152" y="1834902"/>
            <a:ext cx="471976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Error correction: </a:t>
            </a:r>
            <a:r>
              <a:rPr lang="en-US" sz="14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「我上学坐校车。」</a:t>
            </a:r>
            <a:r>
              <a:rPr lang="en-US" sz="1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what's wrong?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549152" y="2120652"/>
            <a:ext cx="471976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✍️ Write the correction on paper, hold it up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11101" y="2609552"/>
            <a:ext cx="10769798" cy="800100"/>
          </a:xfrm>
          <a:prstGeom prst="roundRect">
            <a:avLst>
              <a:gd name="adj" fmla="val 12698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961192" y="2795290"/>
            <a:ext cx="38862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CD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549152" y="2761952"/>
            <a:ext cx="495490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What's the odd one out: </a:t>
            </a:r>
            <a:r>
              <a:rPr lang="en-US" sz="14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上班/下班</a:t>
            </a:r>
            <a:r>
              <a:rPr lang="en-US" sz="1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, </a:t>
            </a:r>
            <a:r>
              <a:rPr lang="en-US" sz="14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上车/下车</a:t>
            </a:r>
            <a:r>
              <a:rPr lang="en-US" sz="1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, </a:t>
            </a:r>
            <a:r>
              <a:rPr lang="en-US" sz="14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上学/放学</a:t>
            </a:r>
            <a:r>
              <a:rPr lang="en-US" sz="1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?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549152" y="3047702"/>
            <a:ext cx="495490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🎯 Cold call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11101" y="3536603"/>
            <a:ext cx="10769798" cy="800100"/>
          </a:xfrm>
          <a:prstGeom prst="roundRect">
            <a:avLst>
              <a:gd name="adj" fmla="val 12698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961192" y="3722340"/>
            <a:ext cx="38862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CD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549152" y="3689003"/>
            <a:ext cx="321522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Quick translate: "get off the vehicle"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549152" y="3974753"/>
            <a:ext cx="321522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✍️ Write in Chinese, hold it up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11101" y="4514404"/>
            <a:ext cx="10769798" cy="371475"/>
          </a:xfrm>
          <a:prstGeom prst="roundRect">
            <a:avLst>
              <a:gd name="adj" fmla="val 27351"/>
            </a:avLst>
          </a:prstGeom>
          <a:noFill/>
          <a:ln w="19050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933301" y="4609654"/>
            <a:ext cx="1053190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答案见下一张 · Answers on next slide →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0" y="658341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7950" y="6661100"/>
            <a:ext cx="136017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4.3 交通工具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698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39601"/>
            <a:ext cx="79409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L3 · 上下词组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400770" y="141238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27721" y="139601"/>
            <a:ext cx="109420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CFU · Answers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11101" y="660350"/>
            <a:ext cx="1098519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 CHECK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11101" y="974675"/>
            <a:ext cx="10985194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Check for Understanding: Answers · 答案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11101" y="1593800"/>
            <a:ext cx="10769798" cy="381000"/>
          </a:xfrm>
          <a:prstGeom prst="roundRect">
            <a:avLst>
              <a:gd name="adj" fmla="val 3330000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65002" y="1670000"/>
            <a:ext cx="1046723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EFC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🔑 Answer Key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11101" y="2127200"/>
            <a:ext cx="10769798" cy="840879"/>
          </a:xfrm>
          <a:prstGeom prst="roundRect">
            <a:avLst>
              <a:gd name="adj" fmla="val 12083"/>
            </a:avLst>
          </a:prstGeom>
          <a:solidFill>
            <a:srgbClr val="FEFCF7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984052" y="2433340"/>
            <a:ext cx="596228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Error correction: </a:t>
            </a:r>
            <a:r>
              <a:rPr lang="en-US" sz="13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「我上学坐校车。」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949068" y="2298650"/>
            <a:ext cx="4258881" cy="4979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我坐校车上学 ✓
</a:t>
            </a: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坐 + vehicle + activity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11101" y="3095030"/>
            <a:ext cx="10769798" cy="840879"/>
          </a:xfrm>
          <a:prstGeom prst="roundRect">
            <a:avLst>
              <a:gd name="adj" fmla="val 12083"/>
            </a:avLst>
          </a:prstGeom>
          <a:solidFill>
            <a:srgbClr val="FEFCF7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984052" y="3401169"/>
            <a:ext cx="596228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Odd one out: 上班/下班, 上车/下车, 上学/放学?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949068" y="3266480"/>
            <a:ext cx="4258881" cy="4979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上学/放学
</a:t>
            </a: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uses 放, not 下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11101" y="4062859"/>
            <a:ext cx="10769798" cy="591889"/>
          </a:xfrm>
          <a:prstGeom prst="roundRect">
            <a:avLst>
              <a:gd name="adj" fmla="val 17165"/>
            </a:avLst>
          </a:prstGeom>
          <a:solidFill>
            <a:srgbClr val="FEFCF7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984052" y="4244429"/>
            <a:ext cx="596228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"get off the vehicle"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949068" y="4234309"/>
            <a:ext cx="4258881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下车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658341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7950" y="6661100"/>
            <a:ext cx="136017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4.3 交通工具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698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39601"/>
            <a:ext cx="79409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L3 · 上下词组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400770" y="141238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27721" y="139601"/>
            <a:ext cx="159941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Do · Activity 1 · 20–43 min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84150" y="558701"/>
            <a:ext cx="1124417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1 · 8 MIN · WE DO · EX2, P.88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84150" y="777776"/>
            <a:ext cx="1124417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Phrase-Pair Matching · 词组配对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84150" y="1206401"/>
            <a:ext cx="1124417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Match each picture to its phrase in the box below. Write the matching letter under the picture.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84150" y="1514326"/>
            <a:ext cx="1323082" cy="1150144"/>
          </a:xfrm>
          <a:prstGeom prst="roundRect">
            <a:avLst>
              <a:gd name="adj" fmla="val 6625"/>
            </a:avLst>
          </a:prstGeom>
          <a:solidFill>
            <a:srgbClr val="F6F2E8"/>
          </a:solidFill>
          <a:ln w="19050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42116" y="1634877"/>
            <a:ext cx="120715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42116" y="1815852"/>
            <a:ext cx="1207151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🎒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49821" y="2193578"/>
            <a:ext cx="591741" cy="25301"/>
          </a:xfrm>
          <a:prstGeom prst="roundRect">
            <a:avLst>
              <a:gd name="adj" fmla="val 50196"/>
            </a:avLst>
          </a:prstGeom>
          <a:solidFill>
            <a:srgbClr val="D5CEB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008733" y="1514326"/>
            <a:ext cx="1323082" cy="1150144"/>
          </a:xfrm>
          <a:prstGeom prst="roundRect">
            <a:avLst>
              <a:gd name="adj" fmla="val 6625"/>
            </a:avLst>
          </a:prstGeom>
          <a:solidFill>
            <a:srgbClr val="F6F2E8"/>
          </a:solidFill>
          <a:ln w="19050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066699" y="1634877"/>
            <a:ext cx="120715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066699" y="1815852"/>
            <a:ext cx="1207151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📖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374404" y="2193578"/>
            <a:ext cx="591741" cy="25301"/>
          </a:xfrm>
          <a:prstGeom prst="roundRect">
            <a:avLst>
              <a:gd name="adj" fmla="val 50196"/>
            </a:avLst>
          </a:prstGeom>
          <a:solidFill>
            <a:srgbClr val="D5CEB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433316" y="1514326"/>
            <a:ext cx="1323082" cy="1150144"/>
          </a:xfrm>
          <a:prstGeom prst="roundRect">
            <a:avLst>
              <a:gd name="adj" fmla="val 6625"/>
            </a:avLst>
          </a:prstGeom>
          <a:solidFill>
            <a:srgbClr val="F6F2E8"/>
          </a:solidFill>
          <a:ln w="19050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491282" y="1634877"/>
            <a:ext cx="120715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491282" y="1815852"/>
            <a:ext cx="1207151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🚪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798987" y="2193578"/>
            <a:ext cx="591741" cy="25301"/>
          </a:xfrm>
          <a:prstGeom prst="roundRect">
            <a:avLst>
              <a:gd name="adj" fmla="val 50196"/>
            </a:avLst>
          </a:prstGeom>
          <a:solidFill>
            <a:srgbClr val="D5CEB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857899" y="1514326"/>
            <a:ext cx="1323082" cy="1150144"/>
          </a:xfrm>
          <a:prstGeom prst="roundRect">
            <a:avLst>
              <a:gd name="adj" fmla="val 6625"/>
            </a:avLst>
          </a:prstGeom>
          <a:solidFill>
            <a:srgbClr val="F6F2E8"/>
          </a:solidFill>
          <a:ln w="19050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915864" y="1634877"/>
            <a:ext cx="120715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915864" y="1815852"/>
            <a:ext cx="1207151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🏫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223570" y="2193578"/>
            <a:ext cx="591741" cy="25301"/>
          </a:xfrm>
          <a:prstGeom prst="roundRect">
            <a:avLst>
              <a:gd name="adj" fmla="val 50196"/>
            </a:avLst>
          </a:prstGeom>
          <a:solidFill>
            <a:srgbClr val="D5CEB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84150" y="2765971"/>
            <a:ext cx="1323082" cy="1149995"/>
          </a:xfrm>
          <a:prstGeom prst="roundRect">
            <a:avLst>
              <a:gd name="adj" fmla="val 6626"/>
            </a:avLst>
          </a:prstGeom>
          <a:solidFill>
            <a:srgbClr val="F6F2E8"/>
          </a:solidFill>
          <a:ln w="19050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42116" y="2886521"/>
            <a:ext cx="120715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42116" y="3067496"/>
            <a:ext cx="1207151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🚌⬆️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49821" y="3445222"/>
            <a:ext cx="591741" cy="25301"/>
          </a:xfrm>
          <a:prstGeom prst="roundRect">
            <a:avLst>
              <a:gd name="adj" fmla="val 50196"/>
            </a:avLst>
          </a:prstGeom>
          <a:solidFill>
            <a:srgbClr val="D5CEB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2008733" y="2765971"/>
            <a:ext cx="1323082" cy="1149995"/>
          </a:xfrm>
          <a:prstGeom prst="roundRect">
            <a:avLst>
              <a:gd name="adj" fmla="val 6626"/>
            </a:avLst>
          </a:prstGeom>
          <a:solidFill>
            <a:srgbClr val="F6F2E8"/>
          </a:solidFill>
          <a:ln w="19050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2066699" y="2886521"/>
            <a:ext cx="120715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2066699" y="3067496"/>
            <a:ext cx="1207151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🔔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2374404" y="3445222"/>
            <a:ext cx="591741" cy="25301"/>
          </a:xfrm>
          <a:prstGeom prst="roundRect">
            <a:avLst>
              <a:gd name="adj" fmla="val 50196"/>
            </a:avLst>
          </a:prstGeom>
          <a:solidFill>
            <a:srgbClr val="D5CEB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3433316" y="2765971"/>
            <a:ext cx="1323082" cy="1149995"/>
          </a:xfrm>
          <a:prstGeom prst="roundRect">
            <a:avLst>
              <a:gd name="adj" fmla="val 6626"/>
            </a:avLst>
          </a:prstGeom>
          <a:solidFill>
            <a:srgbClr val="F6F2E8"/>
          </a:solidFill>
          <a:ln w="19050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3491282" y="2886521"/>
            <a:ext cx="120715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491282" y="3067496"/>
            <a:ext cx="1207151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💼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3798987" y="3445222"/>
            <a:ext cx="591741" cy="25301"/>
          </a:xfrm>
          <a:prstGeom prst="roundRect">
            <a:avLst>
              <a:gd name="adj" fmla="val 50196"/>
            </a:avLst>
          </a:prstGeom>
          <a:solidFill>
            <a:srgbClr val="D5CEB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4857899" y="2765971"/>
            <a:ext cx="1323082" cy="1149995"/>
          </a:xfrm>
          <a:prstGeom prst="roundRect">
            <a:avLst>
              <a:gd name="adj" fmla="val 6626"/>
            </a:avLst>
          </a:prstGeom>
          <a:solidFill>
            <a:srgbClr val="F6F2E8"/>
          </a:solidFill>
          <a:ln w="19050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4915864" y="2886521"/>
            <a:ext cx="120715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915864" y="3067496"/>
            <a:ext cx="1207151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🚌⬇️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5223570" y="3445222"/>
            <a:ext cx="591741" cy="25301"/>
          </a:xfrm>
          <a:prstGeom prst="roundRect">
            <a:avLst>
              <a:gd name="adj" fmla="val 50196"/>
            </a:avLst>
          </a:prstGeom>
          <a:solidFill>
            <a:srgbClr val="D5CEB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6384875" y="1514326"/>
            <a:ext cx="5222974" cy="2401639"/>
          </a:xfrm>
          <a:prstGeom prst="roundRect">
            <a:avLst>
              <a:gd name="adj" fmla="val 3173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6562576" y="1615827"/>
            <a:ext cx="496492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PHRASE BOX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562576" y="1834753"/>
            <a:ext cx="15544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816477" y="1834753"/>
            <a:ext cx="28493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上课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197328" y="1863328"/>
            <a:ext cx="50323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shàng kè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562576" y="2085380"/>
            <a:ext cx="15544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816477" y="2085380"/>
            <a:ext cx="28493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下课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7197328" y="2113955"/>
            <a:ext cx="32972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xià kè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562576" y="2336006"/>
            <a:ext cx="15544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816477" y="2336006"/>
            <a:ext cx="28493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上学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7197328" y="2364581"/>
            <a:ext cx="56866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shàng xué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562576" y="2586633"/>
            <a:ext cx="15544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6816477" y="2586633"/>
            <a:ext cx="28493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放学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7197328" y="2615208"/>
            <a:ext cx="48577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fàng xué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6562576" y="2837259"/>
            <a:ext cx="15544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6816477" y="2837259"/>
            <a:ext cx="28493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上班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7197328" y="2865834"/>
            <a:ext cx="57746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shàng bān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6562576" y="3087886"/>
            <a:ext cx="15544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6816477" y="3087886"/>
            <a:ext cx="28493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下班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7197328" y="3116461"/>
            <a:ext cx="40395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xià bān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6562576" y="3338513"/>
            <a:ext cx="15544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6816477" y="3338513"/>
            <a:ext cx="28493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上车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7197328" y="3367088"/>
            <a:ext cx="57260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shàng chē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6562576" y="3589139"/>
            <a:ext cx="15544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6816477" y="3589139"/>
            <a:ext cx="28493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下车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7197328" y="3617714"/>
            <a:ext cx="39924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xià chē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584150" y="4017466"/>
            <a:ext cx="36443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584150" y="4185642"/>
            <a:ext cx="3644375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Pinyin printed next to each phrase option.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4309467" y="4017466"/>
            <a:ext cx="364452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4309467" y="4185642"/>
            <a:ext cx="3644527" cy="308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one full sentence using each of 2 chosen pairs — e.g. 我们八点上课，三点半下课。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8034933" y="4017466"/>
            <a:ext cx="36443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OTR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8034933" y="4185642"/>
            <a:ext cx="3644375" cy="308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Mini whiteboards — hold up the matched letter as the teacher reveals each picture.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584150" y="4595515"/>
            <a:ext cx="11023699" cy="301526"/>
          </a:xfrm>
          <a:prstGeom prst="roundRect">
            <a:avLst>
              <a:gd name="adj" fmla="val 25271"/>
            </a:avLst>
          </a:prstGeom>
          <a:noFill/>
          <a:ln w="19050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5" name="Text 73"/>
          <p:cNvSpPr/>
          <p:nvPr/>
        </p:nvSpPr>
        <p:spPr>
          <a:xfrm>
            <a:off x="755600" y="4665315"/>
            <a:ext cx="1089441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答案见下一张 · Checked as a class on next slide →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0" y="658341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07950" y="6661100"/>
            <a:ext cx="136017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4.3 交通工具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698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39601"/>
            <a:ext cx="79409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L3 · 上下词组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400770" y="141238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27721" y="139601"/>
            <a:ext cx="146127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Do · Activity 1 · Answers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34901" y="609451"/>
            <a:ext cx="1114064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1 · WE DO · EX2, P.88 · CHECKED AS A CLASS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34901" y="872877"/>
            <a:ext cx="11140642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Phrase-Pair Matching · 词组配对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34901" y="1364903"/>
            <a:ext cx="1114064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Cold call for each picture — correct matches below.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34901" y="1647379"/>
            <a:ext cx="10922198" cy="292001"/>
          </a:xfrm>
          <a:prstGeom prst="roundRect">
            <a:avLst>
              <a:gd name="adj" fmla="val 4344951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38051" y="1698129"/>
            <a:ext cx="1072621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EFC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🔑 Answer Key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34901" y="2040880"/>
            <a:ext cx="2635300" cy="1368028"/>
          </a:xfrm>
          <a:prstGeom prst="roundRect">
            <a:avLst>
              <a:gd name="adj" fmla="val 7427"/>
            </a:avLst>
          </a:prstGeom>
          <a:solidFill>
            <a:srgbClr val="FEFCF7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79744" y="2161431"/>
            <a:ext cx="254561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79744" y="2342406"/>
            <a:ext cx="2545613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🎒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863626" y="2707481"/>
            <a:ext cx="177701" cy="177701"/>
          </a:xfrm>
          <a:prstGeom prst="roundRect">
            <a:avLst>
              <a:gd name="adj" fmla="val 7139690"/>
            </a:avLst>
          </a:prstGeom>
          <a:solidFill>
            <a:srgbClr val="E8CD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907238" y="2715369"/>
            <a:ext cx="9047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79744" y="2923282"/>
            <a:ext cx="254561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放学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79744" y="3145482"/>
            <a:ext cx="254561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fàng xué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397151" y="2040880"/>
            <a:ext cx="2635448" cy="1368028"/>
          </a:xfrm>
          <a:prstGeom prst="roundRect">
            <a:avLst>
              <a:gd name="adj" fmla="val 7427"/>
            </a:avLst>
          </a:prstGeom>
          <a:solidFill>
            <a:srgbClr val="FEFCF7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441993" y="2161431"/>
            <a:ext cx="254576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441993" y="2342406"/>
            <a:ext cx="254576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📖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626025" y="2707481"/>
            <a:ext cx="177701" cy="177701"/>
          </a:xfrm>
          <a:prstGeom prst="roundRect">
            <a:avLst>
              <a:gd name="adj" fmla="val 7139690"/>
            </a:avLst>
          </a:prstGeom>
          <a:solidFill>
            <a:srgbClr val="E8CD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674345" y="2715369"/>
            <a:ext cx="8091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441993" y="2923282"/>
            <a:ext cx="254576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上课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441993" y="3145482"/>
            <a:ext cx="254576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shàng kè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159550" y="2040880"/>
            <a:ext cx="2635300" cy="1368028"/>
          </a:xfrm>
          <a:prstGeom prst="roundRect">
            <a:avLst>
              <a:gd name="adj" fmla="val 7427"/>
            </a:avLst>
          </a:prstGeom>
          <a:solidFill>
            <a:srgbClr val="FEFCF7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204393" y="2161431"/>
            <a:ext cx="254561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204393" y="2342406"/>
            <a:ext cx="2545613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🚪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388275" y="2707481"/>
            <a:ext cx="177701" cy="177701"/>
          </a:xfrm>
          <a:prstGeom prst="roundRect">
            <a:avLst>
              <a:gd name="adj" fmla="val 7139690"/>
            </a:avLst>
          </a:prstGeom>
          <a:solidFill>
            <a:srgbClr val="E8CD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7442969" y="2715369"/>
            <a:ext cx="6831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F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204393" y="2923282"/>
            <a:ext cx="254561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下班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204393" y="3145482"/>
            <a:ext cx="254561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xià bān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8921800" y="2040880"/>
            <a:ext cx="2635300" cy="1368028"/>
          </a:xfrm>
          <a:prstGeom prst="roundRect">
            <a:avLst>
              <a:gd name="adj" fmla="val 7427"/>
            </a:avLst>
          </a:prstGeom>
          <a:solidFill>
            <a:srgbClr val="FEFCF7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8966643" y="2161431"/>
            <a:ext cx="254561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8966643" y="2342406"/>
            <a:ext cx="2545613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🏫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0150525" y="2707481"/>
            <a:ext cx="177701" cy="177701"/>
          </a:xfrm>
          <a:prstGeom prst="roundRect">
            <a:avLst>
              <a:gd name="adj" fmla="val 7139690"/>
            </a:avLst>
          </a:prstGeom>
          <a:solidFill>
            <a:srgbClr val="E8CD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10202184" y="2715369"/>
            <a:ext cx="7423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C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966643" y="2923282"/>
            <a:ext cx="254561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上学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966643" y="3145482"/>
            <a:ext cx="254561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shàng xué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34901" y="3510409"/>
            <a:ext cx="2635300" cy="1368028"/>
          </a:xfrm>
          <a:prstGeom prst="roundRect">
            <a:avLst>
              <a:gd name="adj" fmla="val 7427"/>
            </a:avLst>
          </a:prstGeom>
          <a:solidFill>
            <a:srgbClr val="FEFCF7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679744" y="3630960"/>
            <a:ext cx="254561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79744" y="3811935"/>
            <a:ext cx="2545613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🚌⬆️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1863626" y="4177010"/>
            <a:ext cx="177701" cy="177701"/>
          </a:xfrm>
          <a:prstGeom prst="roundRect">
            <a:avLst>
              <a:gd name="adj" fmla="val 7139690"/>
            </a:avLst>
          </a:prstGeom>
          <a:solidFill>
            <a:srgbClr val="E8CD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1907542" y="4184898"/>
            <a:ext cx="8986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G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79744" y="4392811"/>
            <a:ext cx="254561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上车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79744" y="4615011"/>
            <a:ext cx="254561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shàng chē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3397151" y="3510409"/>
            <a:ext cx="2635448" cy="1368028"/>
          </a:xfrm>
          <a:prstGeom prst="roundRect">
            <a:avLst>
              <a:gd name="adj" fmla="val 7427"/>
            </a:avLst>
          </a:prstGeom>
          <a:solidFill>
            <a:srgbClr val="FEFCF7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3441993" y="3630960"/>
            <a:ext cx="254576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3441993" y="3811935"/>
            <a:ext cx="254576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🔔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4626025" y="4177010"/>
            <a:ext cx="177701" cy="177701"/>
          </a:xfrm>
          <a:prstGeom prst="roundRect">
            <a:avLst>
              <a:gd name="adj" fmla="val 7139690"/>
            </a:avLst>
          </a:prstGeom>
          <a:solidFill>
            <a:srgbClr val="E8CD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4677683" y="4184898"/>
            <a:ext cx="7438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3441993" y="4392811"/>
            <a:ext cx="254576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下课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3441993" y="4615011"/>
            <a:ext cx="254576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xià kè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6159550" y="3510409"/>
            <a:ext cx="2635300" cy="1368028"/>
          </a:xfrm>
          <a:prstGeom prst="roundRect">
            <a:avLst>
              <a:gd name="adj" fmla="val 7427"/>
            </a:avLst>
          </a:prstGeom>
          <a:solidFill>
            <a:srgbClr val="FEFCF7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6204393" y="3630960"/>
            <a:ext cx="254561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6204393" y="3811935"/>
            <a:ext cx="2545613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💼</a:t>
            </a:r>
            <a:endParaRPr lang="en-US" sz="1800" dirty="0"/>
          </a:p>
        </p:txBody>
      </p:sp>
      <p:sp>
        <p:nvSpPr>
          <p:cNvPr id="57" name="Text 55"/>
          <p:cNvSpPr/>
          <p:nvPr/>
        </p:nvSpPr>
        <p:spPr>
          <a:xfrm>
            <a:off x="7388275" y="4177010"/>
            <a:ext cx="177701" cy="177701"/>
          </a:xfrm>
          <a:prstGeom prst="roundRect">
            <a:avLst>
              <a:gd name="adj" fmla="val 7139690"/>
            </a:avLst>
          </a:prstGeom>
          <a:solidFill>
            <a:srgbClr val="E8CD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7437961" y="4184898"/>
            <a:ext cx="7817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E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6204393" y="4392811"/>
            <a:ext cx="254561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上班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6204393" y="4615011"/>
            <a:ext cx="254561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shàng bān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8921800" y="3510409"/>
            <a:ext cx="2635300" cy="1368028"/>
          </a:xfrm>
          <a:prstGeom prst="roundRect">
            <a:avLst>
              <a:gd name="adj" fmla="val 7427"/>
            </a:avLst>
          </a:prstGeom>
          <a:solidFill>
            <a:srgbClr val="FEFCF7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8966643" y="3630960"/>
            <a:ext cx="254561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8966643" y="3811935"/>
            <a:ext cx="2545613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🚌⬇️</a:t>
            </a:r>
            <a:endParaRPr lang="en-US" sz="1800" dirty="0"/>
          </a:p>
        </p:txBody>
      </p:sp>
      <p:sp>
        <p:nvSpPr>
          <p:cNvPr id="64" name="Text 62"/>
          <p:cNvSpPr/>
          <p:nvPr/>
        </p:nvSpPr>
        <p:spPr>
          <a:xfrm>
            <a:off x="10150525" y="4177010"/>
            <a:ext cx="177701" cy="177701"/>
          </a:xfrm>
          <a:prstGeom prst="roundRect">
            <a:avLst>
              <a:gd name="adj" fmla="val 7139690"/>
            </a:avLst>
          </a:prstGeom>
          <a:solidFill>
            <a:srgbClr val="E8CD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10192012" y="4184898"/>
            <a:ext cx="9472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H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8966643" y="4392811"/>
            <a:ext cx="254561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下车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8966643" y="4615011"/>
            <a:ext cx="254561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xià chē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0" y="658341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07950" y="6661100"/>
            <a:ext cx="136017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4.3 交通工具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698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39601"/>
            <a:ext cx="79409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L3 · 上下词组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400770" y="141238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27721" y="139601"/>
            <a:ext cx="165573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 Do · Activity 2 · 20–43 min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34901" y="634901"/>
            <a:ext cx="1114064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2 · 8 MIN · YOU DO · SPEAKING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34901" y="949226"/>
            <a:ext cx="11140642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Pair Drill · 上下词组对话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34901" y="1568351"/>
            <a:ext cx="1114064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Partner A says a phrase, Partner B gives its pair + the English. Switch roles halfway.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34901" y="1930301"/>
            <a:ext cx="2397175" cy="774502"/>
          </a:xfrm>
          <a:prstGeom prst="roundRect">
            <a:avLst>
              <a:gd name="adj" fmla="val 13118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66377" y="2057251"/>
            <a:ext cx="213422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🗣️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66377" y="2396877"/>
            <a:ext cx="213422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 says 上车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159026" y="2184202"/>
            <a:ext cx="1943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15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76476" y="1930301"/>
            <a:ext cx="2397323" cy="774502"/>
          </a:xfrm>
          <a:prstGeom prst="roundRect">
            <a:avLst>
              <a:gd name="adj" fmla="val 13118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607951" y="2057251"/>
            <a:ext cx="2134374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🔁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607951" y="2396877"/>
            <a:ext cx="213437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 says 下车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000750" y="2184202"/>
            <a:ext cx="1943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15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18200" y="1930301"/>
            <a:ext cx="2397175" cy="774502"/>
          </a:xfrm>
          <a:prstGeom prst="roundRect">
            <a:avLst>
              <a:gd name="adj" fmla="val 13118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449677" y="2057251"/>
            <a:ext cx="213422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🇬🇧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449677" y="2396877"/>
            <a:ext cx="213422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 gives English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842325" y="2184202"/>
            <a:ext cx="1943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15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159776" y="1930301"/>
            <a:ext cx="2397323" cy="774502"/>
          </a:xfrm>
          <a:prstGeom prst="roundRect">
            <a:avLst>
              <a:gd name="adj" fmla="val 13118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9291251" y="2057251"/>
            <a:ext cx="2134374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🔄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291251" y="2396877"/>
            <a:ext cx="213437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Switch roles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34901" y="2857202"/>
            <a:ext cx="1384250" cy="425351"/>
          </a:xfrm>
          <a:prstGeom prst="roundRect">
            <a:avLst>
              <a:gd name="adj" fmla="val 23886"/>
            </a:avLst>
          </a:prstGeom>
          <a:solidFill>
            <a:srgbClr val="3A7D8C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838051" y="2946053"/>
            <a:ext cx="99750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上课 </a:t>
            </a:r>
            <a:r>
              <a:rPr lang="en-US" sz="14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↔</a:t>
            </a:r>
            <a:r>
              <a:rPr lang="en-US" sz="14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下课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146102" y="2857202"/>
            <a:ext cx="1384250" cy="425351"/>
          </a:xfrm>
          <a:prstGeom prst="roundRect">
            <a:avLst>
              <a:gd name="adj" fmla="val 23886"/>
            </a:avLst>
          </a:prstGeom>
          <a:solidFill>
            <a:srgbClr val="3A7D8C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2349252" y="2946053"/>
            <a:ext cx="99750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上学 </a:t>
            </a:r>
            <a:r>
              <a:rPr lang="en-US" sz="14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↔</a:t>
            </a:r>
            <a:r>
              <a:rPr lang="en-US" sz="14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放学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657302" y="2857202"/>
            <a:ext cx="1384250" cy="425351"/>
          </a:xfrm>
          <a:prstGeom prst="roundRect">
            <a:avLst>
              <a:gd name="adj" fmla="val 23886"/>
            </a:avLst>
          </a:prstGeom>
          <a:solidFill>
            <a:srgbClr val="3A7D8C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860453" y="2946053"/>
            <a:ext cx="99750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上班 </a:t>
            </a:r>
            <a:r>
              <a:rPr lang="en-US" sz="14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↔</a:t>
            </a:r>
            <a:r>
              <a:rPr lang="en-US" sz="14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下班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168503" y="2857202"/>
            <a:ext cx="1384250" cy="425351"/>
          </a:xfrm>
          <a:prstGeom prst="roundRect">
            <a:avLst>
              <a:gd name="adj" fmla="val 23886"/>
            </a:avLst>
          </a:prstGeom>
          <a:solidFill>
            <a:srgbClr val="3A7D8C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371654" y="2946053"/>
            <a:ext cx="99750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上车 </a:t>
            </a:r>
            <a:r>
              <a:rPr lang="en-US" sz="14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↔</a:t>
            </a:r>
            <a:r>
              <a:rPr lang="en-US" sz="14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下车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34901" y="3434953"/>
            <a:ext cx="10922198" cy="934045"/>
          </a:xfrm>
          <a:prstGeom prst="roundRect">
            <a:avLst>
              <a:gd name="adj" fmla="val 10877"/>
            </a:avLst>
          </a:prstGeom>
          <a:solidFill>
            <a:srgbClr val="F6F2E8"/>
          </a:solidFill>
          <a:ln w="19050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907852" y="3606403"/>
            <a:ext cx="34071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907852" y="3806428"/>
            <a:ext cx="3407104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Word bank visible on the projector throughout.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425851" y="3606403"/>
            <a:ext cx="34071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425851" y="3806428"/>
            <a:ext cx="3407104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Build a mini dialogue using 2 pairs in context — e.g. 我们几点上课？八点。几点下课？三点半。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943850" y="3606403"/>
            <a:ext cx="34071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OTR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943850" y="3806428"/>
            <a:ext cx="3407104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Turn-and-talk — every student responds each round.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0" y="658341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7950" y="6661100"/>
            <a:ext cx="136017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4.3 交通工具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698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39601"/>
            <a:ext cx="79409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L3 · 上下词组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400770" y="141238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27721" y="139601"/>
            <a:ext cx="265567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 · Pinyin Discrimination Quickfire · 20–43 min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598993" y="634901"/>
            <a:ext cx="99386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 · 5 MIN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872063" y="949226"/>
            <a:ext cx="4447726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Pinyin Discrimination Quickfire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009811" y="1568351"/>
            <a:ext cx="617237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Project one pair at a time. Write which pinyin is correct on your whiteboard — hold it up!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889498" y="1920776"/>
            <a:ext cx="1143000" cy="774502"/>
          </a:xfrm>
          <a:prstGeom prst="roundRect">
            <a:avLst>
              <a:gd name="adj" fmla="val 13118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059323" y="2047726"/>
            <a:ext cx="80335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📽️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059323" y="2387352"/>
            <a:ext cx="8033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Project pair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82993" y="2174677"/>
            <a:ext cx="1943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15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27798" y="1920776"/>
            <a:ext cx="1163092" cy="774502"/>
          </a:xfrm>
          <a:prstGeom prst="roundRect">
            <a:avLst>
              <a:gd name="adj" fmla="val 13118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697422" y="2047726"/>
            <a:ext cx="823844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✍️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697422" y="2387352"/>
            <a:ext cx="82384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choice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841385" y="2174677"/>
            <a:ext cx="1943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15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186190" y="1920776"/>
            <a:ext cx="1143000" cy="774502"/>
          </a:xfrm>
          <a:prstGeom prst="roundRect">
            <a:avLst>
              <a:gd name="adj" fmla="val 13118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356015" y="2047726"/>
            <a:ext cx="80335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🙌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356015" y="2387352"/>
            <a:ext cx="8033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Hold up!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479685" y="2174677"/>
            <a:ext cx="1943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15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824490" y="1920776"/>
            <a:ext cx="1477863" cy="774502"/>
          </a:xfrm>
          <a:prstGeom prst="roundRect">
            <a:avLst>
              <a:gd name="adj" fmla="val 13118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990966" y="2047726"/>
            <a:ext cx="1144911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🔊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990966" y="2387352"/>
            <a:ext cx="114491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confirms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34901" y="2847677"/>
            <a:ext cx="1714500" cy="1031677"/>
          </a:xfrm>
          <a:prstGeom prst="roundRect">
            <a:avLst>
              <a:gd name="adj" fmla="val 9848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69521" y="2974628"/>
            <a:ext cx="16452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ROUND 1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69521" y="3168253"/>
            <a:ext cx="1645259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作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69521" y="3571429"/>
            <a:ext cx="164525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zuò </a:t>
            </a: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/</a:t>
            </a:r>
            <a:r>
              <a:rPr lang="en-US" sz="10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zòu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476351" y="2847677"/>
            <a:ext cx="1714649" cy="1031677"/>
          </a:xfrm>
          <a:prstGeom prst="roundRect">
            <a:avLst>
              <a:gd name="adj" fmla="val 9848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2510970" y="2974628"/>
            <a:ext cx="164541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ROUND 2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510970" y="3168253"/>
            <a:ext cx="164541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分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2510970" y="3571429"/>
            <a:ext cx="164541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fēn </a:t>
            </a: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/</a:t>
            </a:r>
            <a:r>
              <a:rPr lang="en-US" sz="10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fān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317950" y="2847677"/>
            <a:ext cx="1714500" cy="1031677"/>
          </a:xfrm>
          <a:prstGeom prst="roundRect">
            <a:avLst>
              <a:gd name="adj" fmla="val 9848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352571" y="2974628"/>
            <a:ext cx="16452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ROUND 3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352571" y="3168253"/>
            <a:ext cx="1645259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谁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4352571" y="3571429"/>
            <a:ext cx="164525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suí </a:t>
            </a: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/</a:t>
            </a:r>
            <a:r>
              <a:rPr lang="en-US" sz="10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shuí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159401" y="2847677"/>
            <a:ext cx="1714649" cy="1031677"/>
          </a:xfrm>
          <a:prstGeom prst="roundRect">
            <a:avLst>
              <a:gd name="adj" fmla="val 9848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6194020" y="2974628"/>
            <a:ext cx="164541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ROUND 4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194020" y="3168253"/>
            <a:ext cx="164541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点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6194020" y="3571429"/>
            <a:ext cx="164541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dǎn </a:t>
            </a: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/</a:t>
            </a:r>
            <a:r>
              <a:rPr lang="en-US" sz="10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diǎn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001000" y="2847677"/>
            <a:ext cx="1714500" cy="1031677"/>
          </a:xfrm>
          <a:prstGeom prst="roundRect">
            <a:avLst>
              <a:gd name="adj" fmla="val 9848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8035620" y="2974628"/>
            <a:ext cx="16452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ROUND 5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8035620" y="3168253"/>
            <a:ext cx="1645259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住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8035620" y="3571429"/>
            <a:ext cx="164525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zhù </a:t>
            </a: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/</a:t>
            </a:r>
            <a:r>
              <a:rPr lang="en-US" sz="10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jù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9842450" y="2847677"/>
            <a:ext cx="1714649" cy="1031677"/>
          </a:xfrm>
          <a:prstGeom prst="roundRect">
            <a:avLst>
              <a:gd name="adj" fmla="val 9848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9877069" y="2974628"/>
            <a:ext cx="164541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ROUND 6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9877069" y="3168253"/>
            <a:ext cx="164541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年</a:t>
            </a:r>
            <a:endParaRPr lang="en-US" sz="2000" dirty="0"/>
          </a:p>
        </p:txBody>
      </p:sp>
      <p:sp>
        <p:nvSpPr>
          <p:cNvPr id="48" name="Text 46"/>
          <p:cNvSpPr/>
          <p:nvPr/>
        </p:nvSpPr>
        <p:spPr>
          <a:xfrm>
            <a:off x="9877069" y="3571429"/>
            <a:ext cx="164541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nián </a:t>
            </a: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/</a:t>
            </a:r>
            <a:r>
              <a:rPr lang="en-US" sz="10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nán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918347" y="4031754"/>
            <a:ext cx="339253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⚡ Fast-paced — no time to look it up, go on instinct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444567" y="4031754"/>
            <a:ext cx="369249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🔊 Teacher confirms the correct reading aloud each round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8274652" y="4031754"/>
            <a:ext cx="299495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🎯 No devices needed — mini whiteboards only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0" y="658341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07950" y="6661100"/>
            <a:ext cx="136017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4.3 交通工具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698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39601"/>
            <a:ext cx="79409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L3 · 上下词组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400770" y="141238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27721" y="139601"/>
            <a:ext cx="105610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Plenary · 43–50 min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11101" y="634901"/>
            <a:ext cx="1098519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43–50 MIN · PLENARY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11101" y="923776"/>
            <a:ext cx="10985194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Review &amp; Reflect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11101" y="1517452"/>
            <a:ext cx="1098519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REVISIT SUCCESS CRITERIA · CHORAL READ · SHOW 👍/😐/👎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11101" y="1818977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926902" y="1758702"/>
            <a:ext cx="368961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match 上/下 phrase pairs to their meanings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11101" y="2028527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926902" y="1968252"/>
            <a:ext cx="382077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explain the difference between 上车 and 下车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11101" y="2238077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926902" y="2177802"/>
            <a:ext cx="378707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circle the correct pinyin for Lesson 12 words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11101" y="2514302"/>
            <a:ext cx="10769798" cy="711101"/>
          </a:xfrm>
          <a:prstGeom prst="roundRect">
            <a:avLst>
              <a:gd name="adj" fmla="val 14288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965002" y="2641253"/>
            <a:ext cx="1046723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📝 Self-Assessment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65002" y="2888903"/>
            <a:ext cx="1046723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On whiteboards: write the </a:t>
            </a:r>
            <a:r>
              <a:rPr lang="en-US" sz="12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上/下 pair</a:t>
            </a: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you find trickiest.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11101" y="3352354"/>
            <a:ext cx="10769798" cy="819150"/>
          </a:xfrm>
          <a:prstGeom prst="roundRect">
            <a:avLst>
              <a:gd name="adj" fmla="val 12403"/>
            </a:avLst>
          </a:prstGeom>
          <a:solidFill>
            <a:srgbClr val="E8CD8A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984052" y="3523804"/>
            <a:ext cx="10428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8A642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🚪 EXIT TICKET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84052" y="3752404"/>
            <a:ext cx="104283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Correct this sentence: </a:t>
            </a:r>
            <a:r>
              <a:rPr lang="en-US" sz="1400" b="1" dirty="0">
                <a:solidFill>
                  <a:srgbClr val="8A642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我上学坐地铁。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11101" y="4298454"/>
            <a:ext cx="7755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👍 Achieved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674614" y="4298454"/>
            <a:ext cx="104016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😐 Getting there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897535" y="4298454"/>
            <a:ext cx="84069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👎 Need help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521053" y="4307979"/>
            <a:ext cx="505904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👀 Next lesson: </a:t>
            </a:r>
            <a:r>
              <a:rPr lang="en-US" sz="9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 new radicals, a pinyin listening exercise, and a radical puzzle game.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0" y="658341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7950" y="6661100"/>
            <a:ext cx="136017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4.3 交通工具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02563" y="1109067"/>
            <a:ext cx="58672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00"/>
              </a:lnSpc>
              <a:buNone/>
            </a:pPr>
            <a:r>
              <a:rPr lang="en-US" sz="6000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✓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645356" y="1998018"/>
            <a:ext cx="2901139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Great work today!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451928" y="2658368"/>
            <a:ext cx="7288143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4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 can now use the 上/下 phrase pairs correctly and read tricky Lesson 12 pinyin.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74950" y="3196828"/>
            <a:ext cx="5841950" cy="1587401"/>
          </a:xfrm>
          <a:prstGeom prst="roundRect">
            <a:avLst>
              <a:gd name="adj" fmla="val 6400"/>
            </a:avLst>
          </a:prstGeom>
          <a:solidFill>
            <a:srgbClr val="3A7D8C">
              <a:alpha val="12000"/>
            </a:srgbClr>
          </a:solidFill>
          <a:ln w="19050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550389" y="3444478"/>
            <a:ext cx="509107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NEXT LESSON →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550389" y="3676204"/>
            <a:ext cx="5091074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部首 · 拼音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550389" y="4117479"/>
            <a:ext cx="5091074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 new radicals, a pinyin listening exercise, and a radical puzzle game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15061" y="5088880"/>
            <a:ext cx="4161877" cy="495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50"/>
              </a:lnSpc>
              <a:spcBef>
                <a:spcPts val="1400"/>
              </a:spcBef>
              <a:spcAft>
                <a:spcPts val="1300"/>
              </a:spcAft>
              <a:buNone/>
            </a:pPr>
            <a:r>
              <a:rPr lang="en-US" sz="13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Today: </a:t>
            </a:r>
            <a:r>
              <a:rPr lang="en-US" sz="13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上/下 phrase pairs</a:t>
            </a:r>
            <a:r>
              <a:rPr lang="en-US" sz="13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&amp; </a:t>
            </a:r>
            <a:r>
              <a:rPr lang="en-US" sz="13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pinyin discrimination</a:t>
            </a:r>
            <a:endParaRPr lang="en-US" sz="1300" dirty="0"/>
          </a:p>
          <a:p>
            <a:pPr algn="ctr" indent="0" marL="0">
              <a:lnSpc>
                <a:spcPts val="1950"/>
              </a:lnSpc>
              <a:spcBef>
                <a:spcPts val="1400"/>
              </a:spcBef>
              <a:spcAft>
                <a:spcPts val="1300"/>
              </a:spcAft>
              <a:buNone/>
            </a:pPr>
            <a:r>
              <a:rPr lang="en-US" sz="13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Next: new radicals + pinyin listening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2026-07-18T08:53:28Z</dcterms:created>
  <dcterms:modified xsi:type="dcterms:W3CDTF">2026-07-18T08:53:28Z</dcterms:modified>
</cp:coreProperties>
</file>