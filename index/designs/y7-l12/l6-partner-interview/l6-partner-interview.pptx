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83952" y="2082850"/>
            <a:ext cx="262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· Y7 UNIT 4.3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334308" y="2514600"/>
            <a:ext cx="3523235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采访同伴</a:t>
            </a:r>
            <a:endParaRPr lang="en-US" sz="6800" dirty="0"/>
          </a:p>
        </p:txBody>
      </p:sp>
      <p:sp>
        <p:nvSpPr>
          <p:cNvPr id="4" name="Text 2"/>
          <p:cNvSpPr/>
          <p:nvPr/>
        </p:nvSpPr>
        <p:spPr>
          <a:xfrm>
            <a:off x="4480041" y="3927425"/>
            <a:ext cx="32317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Interviews · 采访同伴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56961" y="4546402"/>
            <a:ext cx="40779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Writing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0572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Correct the Teacher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72877"/>
            <a:ext cx="1114064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改错句 · Correct the Teacher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34901" y="1412528"/>
            <a:ext cx="1114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 word-order mistake. Find it and write the correct sentence on your whiteboard.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4901" y="1704529"/>
            <a:ext cx="10922198" cy="488752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3501" y="182195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61727" y="1858417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95102" y="1806029"/>
            <a:ext cx="92505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我开车七点上班。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41943" y="1863179"/>
            <a:ext cx="8022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 word order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4901" y="2282130"/>
            <a:ext cx="10922198" cy="488752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3501" y="239955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50119" y="2436019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95102" y="2383631"/>
            <a:ext cx="92505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他坐地铁每天上学。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41943" y="2440781"/>
            <a:ext cx="8022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 word order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4901" y="2859732"/>
            <a:ext cx="10922198" cy="488752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3501" y="297715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9821" y="3013621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95102" y="2961233"/>
            <a:ext cx="92505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你怎么上学几点？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541943" y="3018383"/>
            <a:ext cx="8022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 word order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4901" y="3449985"/>
            <a:ext cx="2393305" cy="326827"/>
          </a:xfrm>
          <a:prstGeom prst="roundRect">
            <a:avLst>
              <a:gd name="adj" fmla="val 388196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2602" y="3513386"/>
            <a:ext cx="207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the correction → hold up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155156" y="3449985"/>
            <a:ext cx="2674888" cy="326827"/>
          </a:xfrm>
          <a:prstGeom prst="roundRect">
            <a:avLst>
              <a:gd name="adj" fmla="val 388196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332857" y="3513386"/>
            <a:ext cx="23658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 Cold call students to explain the fix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951" y="3878312"/>
            <a:ext cx="0" cy="1689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401" y="3878312"/>
            <a:ext cx="10946332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 Connection: You can build these sentences confidently now. Today you'll use them to interview a partner — asking real questions and reporting back.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4901" y="4148733"/>
            <a:ext cx="3085802" cy="342900"/>
          </a:xfrm>
          <a:prstGeom prst="roundRect">
            <a:avLst>
              <a:gd name="adj" fmla="val 29630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57101" y="4243983"/>
            <a:ext cx="26942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Corrected versions on next slide →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6055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Correct the Teacher · Answers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8565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ANSWERS · 0–8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1025277"/>
            <a:ext cx="1114064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改错句 · Corrected Sentences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34901" y="1641128"/>
            <a:ext cx="10922198" cy="622102"/>
          </a:xfrm>
          <a:prstGeom prst="roundRect">
            <a:avLst>
              <a:gd name="adj" fmla="val 1633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07852" y="181242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18877" y="1861542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90352" y="1828354"/>
            <a:ext cx="14503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我开车七点上班。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5407" y="1837879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756" y="1799779"/>
            <a:ext cx="17612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我七点开车上班。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4901" y="2390180"/>
            <a:ext cx="10922198" cy="622102"/>
          </a:xfrm>
          <a:prstGeom prst="roundRect">
            <a:avLst>
              <a:gd name="adj" fmla="val 1633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7852" y="256148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07269" y="2610594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90352" y="2577405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他坐地铁每天上学。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93256" y="2586930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1606" y="2548830"/>
            <a:ext cx="198150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他每天坐地铁上学。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4901" y="3139232"/>
            <a:ext cx="10922198" cy="622102"/>
          </a:xfrm>
          <a:prstGeom prst="roundRect">
            <a:avLst>
              <a:gd name="adj" fmla="val 1633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07852" y="331053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06971" y="3359646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90352" y="3326457"/>
            <a:ext cx="14503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你怎么上学几点？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15407" y="3335982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83756" y="3297882"/>
            <a:ext cx="17612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你几点怎么上学？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34901" y="3939034"/>
            <a:ext cx="10922198" cy="500360"/>
          </a:xfrm>
          <a:prstGeom prst="roundRect">
            <a:avLst>
              <a:gd name="adj" fmla="val 2538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88802" y="4091434"/>
            <a:ext cx="1062268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rule: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 words (七点 / 几点) and frequency words (每天) come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transport word and the verb — not after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8565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050727"/>
            <a:ext cx="1088136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62000" y="1730127"/>
            <a:ext cx="10668000" cy="742950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90575" y="1730127"/>
            <a:ext cx="0" cy="742950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3051" y="1882527"/>
            <a:ext cx="103051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73051" y="2073027"/>
            <a:ext cx="103051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and answer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 full set of interview questions about routine and transport.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2000" y="2676227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0765" y="2741265"/>
            <a:ext cx="555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206401" y="2707928"/>
            <a:ext cx="6545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at least </a:t>
            </a:r>
            <a:pPr algn="l" indent="0" marL="0">
              <a:buNone/>
            </a:pP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interview questions</a:t>
            </a:r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a classmate's routine and commute.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68301" y="3069729"/>
            <a:ext cx="104669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用中文访问同学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2000" y="3352205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9752" y="3417243"/>
            <a:ext cx="780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06401" y="3383905"/>
            <a:ext cx="4338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interview questions about </a:t>
            </a:r>
            <a:pPr algn="l" indent="0" marL="0"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own family</a:t>
            </a:r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68301" y="3745706"/>
            <a:ext cx="104669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回答关于自己家庭的问题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2000" y="4028182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9454" y="4093220"/>
            <a:ext cx="786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206401" y="4059882"/>
            <a:ext cx="4091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buNone/>
            </a:pPr>
            <a:r>
              <a:rPr lang="en-US" sz="12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report one fact</a:t>
            </a:r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my partner to the class.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68301" y="4421684"/>
            <a:ext cx="104669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向全班报告同伴的信息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1311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Interview Question Set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58701"/>
            <a:ext cx="112441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EX8, P.92 + EX9, P.93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4150" y="787301"/>
            <a:ext cx="1124417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采访问题 · Interview Question Set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84150" y="1215926"/>
            <a:ext cx="11244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are the questions you'll use to interview a partner later in the lesson.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4150" y="1682651"/>
            <a:ext cx="11023699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4352" y="1492151"/>
            <a:ext cx="73584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80319" y="1492151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84150" y="2116038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1851" y="1835051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352" y="1806476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80319" y="1839813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wake up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4150" y="2197001"/>
            <a:ext cx="11023699" cy="35242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84150" y="2544663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51" y="2263676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44352" y="2235101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80319" y="2268438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you get to school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4150" y="2973288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51" y="2692301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44352" y="2663726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你几点上课？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80319" y="2697063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class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4150" y="3054251"/>
            <a:ext cx="11023699" cy="35242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84150" y="3401913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1851" y="3120926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44352" y="3092351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你爸爸/妈妈怎么上班？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80319" y="3125688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parent's commute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上班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84150" y="3830538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851" y="3549551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44352" y="3520976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你爸爸/妈妈几点下班？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80319" y="3554313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parent finishes work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下班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4150" y="3911501"/>
            <a:ext cx="11023699" cy="35242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84150" y="4259163"/>
            <a:ext cx="110236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1851" y="3978176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44352" y="3949601"/>
            <a:ext cx="7358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你几点睡觉？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80319" y="3982938"/>
            <a:ext cx="2849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sleep · </a:t>
            </a:r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84150" y="4390876"/>
            <a:ext cx="11023699" cy="696813"/>
          </a:xfrm>
          <a:prstGeom prst="roundRect">
            <a:avLst>
              <a:gd name="adj" fmla="val 1458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2750" y="4492377"/>
            <a:ext cx="10777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&amp; THINK ALOUD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2750" y="4660553"/>
            <a:ext cx="10777829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the full Q&amp;A once with a confident volunteer student in front of the class (teacher asks, student answers), thinking aloud about turning a one-word answer into a full sentence.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8565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025277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669703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11838" y="1822103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25352" y="1898303"/>
            <a:ext cx="626634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ask </a:t>
            </a:r>
            <a:pPr algn="l"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 time do you get up"</a:t>
            </a:r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Write it on your whiteboard.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2000" y="2491978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11838" y="2644378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25352" y="2720578"/>
            <a:ext cx="33882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up/down: </a:t>
            </a:r>
            <a:pPr algn="l"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means </a:t>
            </a:r>
            <a:pPr algn="l"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"get up"</a:t>
            </a:r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2000" y="3314254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11838" y="3466654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25352" y="3542854"/>
            <a:ext cx="39857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your partner says </a:t>
            </a:r>
            <a:pPr algn="l"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坐地铁</a:t>
            </a:r>
            <a:pPr algn="l"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what's the English?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62000" y="5972324"/>
            <a:ext cx="265315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84200" y="6067574"/>
            <a:ext cx="22529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8565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025277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669703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11838" y="1822103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25352" y="1903065"/>
            <a:ext cx="5561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 time do you get up?"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03371" y="1903065"/>
            <a:ext cx="39727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2000" y="2491978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11838" y="2644378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25352" y="2725341"/>
            <a:ext cx="5561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means "get up".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203371" y="2711053"/>
            <a:ext cx="397272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👍 correct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2000" y="3314254"/>
            <a:ext cx="10668000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11838" y="3466654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25352" y="3547616"/>
            <a:ext cx="5561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坐地铁</a:t>
            </a:r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English?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203371" y="3547616"/>
            <a:ext cx="39727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take the subway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150"/>
            <a:ext cx="768548" cy="238125"/>
          </a:xfrm>
          <a:prstGeom prst="roundRect">
            <a:avLst>
              <a:gd name="adj" fmla="val 5328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622250"/>
            <a:ext cx="4214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04950" y="584150"/>
            <a:ext cx="2454920" cy="238125"/>
          </a:xfrm>
          <a:prstGeom prst="roundRect">
            <a:avLst>
              <a:gd name="adj" fmla="val 5328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82651" y="622250"/>
            <a:ext cx="21415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Full Scaffold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4901" y="923776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采访练习一 · Guided Interview Round 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4901" y="1415802"/>
            <a:ext cx="1114064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ask each other any 3 of the 6 questions from the printed question sheet. Teacher circulates, prompting.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4901" y="1703933"/>
            <a:ext cx="2251472" cy="469702"/>
          </a:xfrm>
          <a:prstGeom prst="roundRect">
            <a:avLst>
              <a:gd name="adj" fmla="val 216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3501" y="1805434"/>
            <a:ext cx="18301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+ [时间] + [动词]。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64073" y="1862584"/>
            <a:ext cx="4243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printed on the handout — fill the slots to answer any question.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4901" y="2275136"/>
            <a:ext cx="10922198" cy="631627"/>
          </a:xfrm>
          <a:prstGeom prst="roundRect">
            <a:avLst>
              <a:gd name="adj" fmla="val 160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63501" y="2376636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词汇表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63501" y="2557611"/>
            <a:ext cx="106742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 · 上学 · 上课 · 上班 · 下班 · 睡觉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901" y="3084463"/>
            <a:ext cx="10922198" cy="993428"/>
          </a:xfrm>
          <a:prstGeom prst="roundRect">
            <a:avLst>
              <a:gd name="adj" fmla="val 12784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07852" y="2976563"/>
            <a:ext cx="1171277" cy="228600"/>
          </a:xfrm>
          <a:prstGeom prst="roundRect">
            <a:avLst>
              <a:gd name="adj" fmla="val 55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60252" y="3014663"/>
            <a:ext cx="8838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07852" y="3357414"/>
            <a:ext cx="5175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07852" y="3551039"/>
            <a:ext cx="51753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 frames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and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word bank are printed on the handout. Weaker pairs may answer in short phrases rather than full sentences.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0300" y="3357414"/>
            <a:ext cx="51753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0300" y="3551039"/>
            <a:ext cx="517532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pairs must answer in full sentences, not single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58701"/>
            <a:ext cx="820192" cy="238125"/>
          </a:xfrm>
          <a:prstGeom prst="roundRect">
            <a:avLst>
              <a:gd name="adj" fmla="val 5328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596801"/>
            <a:ext cx="4740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56593" y="558701"/>
            <a:ext cx="2792164" cy="238125"/>
          </a:xfrm>
          <a:prstGeom prst="roundRect">
            <a:avLst>
              <a:gd name="adj" fmla="val 5328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734294" y="596801"/>
            <a:ext cx="24854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Reduced Scaffold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4901" y="885676"/>
            <a:ext cx="111406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采访练习二 · Interview Round 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4901" y="1326952"/>
            <a:ext cx="1114064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partners and ask 3 different questions — the word bank stays, but the sentence frame is gone.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4901" y="1593503"/>
            <a:ext cx="1999059" cy="419100"/>
          </a:xfrm>
          <a:prstGeom prst="roundRect">
            <a:avLst>
              <a:gd name="adj" fmla="val 24243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101" y="1688753"/>
            <a:ext cx="1585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+ [时间] + [动词]。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11661" y="1722090"/>
            <a:ext cx="15690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 sentence frame removed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4901" y="2101453"/>
            <a:ext cx="10922198" cy="574477"/>
          </a:xfrm>
          <a:prstGeom prst="roundRect">
            <a:avLst>
              <a:gd name="adj" fmla="val 176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63501" y="2190304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STILL VISIBLE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63501" y="2358479"/>
            <a:ext cx="10674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 · 上学 · 上课 · 上班 · 下班 · 睡觉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4901" y="2764780"/>
            <a:ext cx="3958828" cy="444401"/>
          </a:xfrm>
          <a:prstGeom prst="roundRect">
            <a:avLst>
              <a:gd name="adj" fmla="val 2286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2551" y="2872680"/>
            <a:ext cx="1767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你爸爸/妈妈怎么上班？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2754" y="2915543"/>
            <a:ext cx="1635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· FATHER'S COMMUTE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4901" y="3348782"/>
            <a:ext cx="10922198" cy="848023"/>
          </a:xfrm>
          <a:prstGeom prst="roundRect">
            <a:avLst>
              <a:gd name="adj" fmla="val 1497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7852" y="3240881"/>
            <a:ext cx="1219051" cy="228600"/>
          </a:xfrm>
          <a:prstGeom prst="roundRect">
            <a:avLst>
              <a:gd name="adj" fmla="val 5550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60252" y="3278981"/>
            <a:ext cx="9325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07852" y="3570982"/>
            <a:ext cx="33897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907852" y="3742432"/>
            <a:ext cx="33897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remains visible; teacher gives a sentence-starter card to pairs who need it.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34334" y="3570982"/>
            <a:ext cx="33897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434334" y="3742432"/>
            <a:ext cx="33897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</a:t>
            </a:r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follow-up question of their own choosing, and note the partner's answer to report back.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60816" y="3570982"/>
            <a:ext cx="33897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960816" y="3742432"/>
            <a:ext cx="33897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 students to report one fact about their partner to the class, e.g. </a:t>
            </a:r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"我的同伴每天坐公共汽车上学。"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2110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Closer · Find Someone Who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9703" y="1905446"/>
            <a:ext cx="24725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CLOSER · 3 MIN, IF TIME REMAINS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085500" y="2245072"/>
            <a:ext cx="4020851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找一找 · Find Someone Who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2771934" y="2860923"/>
            <a:ext cx="66479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Mingle around the room. Ask the question below and find 3 classmates who each answer differently.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111800" y="3229124"/>
            <a:ext cx="1968401" cy="555427"/>
          </a:xfrm>
          <a:prstGeom prst="roundRect">
            <a:avLst>
              <a:gd name="adj" fmla="val 1829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96484" y="3349675"/>
            <a:ext cx="13990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77938" y="3962251"/>
            <a:ext cx="1396901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271183" y="4089202"/>
            <a:ext cx="101041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🚶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71183" y="4428827"/>
            <a:ext cx="10104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MINGLE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00011" y="421615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06589" y="3962251"/>
            <a:ext cx="1776413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96039" y="4089202"/>
            <a:ext cx="13975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096039" y="4428827"/>
            <a:ext cx="13975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THE QUESTION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8174" y="421615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14752" y="3962251"/>
            <a:ext cx="1888331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03082" y="4089202"/>
            <a:ext cx="15116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03082" y="4428827"/>
            <a:ext cx="15116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THEIR ANSWER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128255" y="421615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34834" y="3962251"/>
            <a:ext cx="1679228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25255" y="4089202"/>
            <a:ext cx="129838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625255" y="4428827"/>
            <a:ext cx="12983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3 DIFFERENT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4179" y="4895404"/>
            <a:ext cx="3023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📄 Printed question sheets · no devices needed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50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采访同伴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663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614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584150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847576"/>
            <a:ext cx="109851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Plenary + Exit Ticket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11101" y="134912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CHORAL 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11101" y="1593503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6902" y="1542752"/>
            <a:ext cx="54393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at least 6 interview questions about a classmate's routine and commute.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1101" y="1834753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26902" y="1784003"/>
            <a:ext cx="36047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interview questions about my own family.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1101" y="2076004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6902" y="2025253"/>
            <a:ext cx="34016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report one fact about my partner to the class.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1101" y="2317254"/>
            <a:ext cx="5296049" cy="869603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444204"/>
            <a:ext cx="49875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251" y="2704505"/>
            <a:ext cx="498754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"Did you need the word bank by the end? 👍 no / 😐 sometimes / 👎 yes."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4850" y="2317254"/>
            <a:ext cx="5296049" cy="869603"/>
          </a:xfrm>
          <a:prstGeom prst="roundRect">
            <a:avLst>
              <a:gd name="adj" fmla="val 14604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7051" y="2463254"/>
            <a:ext cx="49486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7051" y="2723555"/>
            <a:ext cx="494868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reporting a fact about your partner's commute.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1101" y="3288357"/>
            <a:ext cx="7356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86223" y="3288357"/>
            <a:ext cx="987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07804" y="3288357"/>
            <a:ext cx="7974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1101" y="3594646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1101" y="3675608"/>
            <a:ext cx="10985194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Preview: Next lesson we tighten up the grammar —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matching sentence halves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forming questions from answers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spotting negation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31861" y="1574155"/>
            <a:ext cx="5281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473119" y="2386905"/>
            <a:ext cx="524576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今天学得真棒！Great Work Today!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175189" y="2990106"/>
            <a:ext cx="784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interviewed a partner about their daily routine and commute, and reported a fact back to the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40000" y="3421856"/>
            <a:ext cx="7912001" cy="1433513"/>
          </a:xfrm>
          <a:prstGeom prst="roundRect">
            <a:avLst>
              <a:gd name="adj" fmla="val 8859"/>
            </a:avLst>
          </a:prstGeom>
          <a:solidFill>
            <a:srgbClr val="EDE7D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468931" y="3644057"/>
            <a:ext cx="72541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468931" y="3856732"/>
            <a:ext cx="725413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语法巩固 · Grammar Consolidation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468931" y="4259907"/>
            <a:ext cx="725413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tighten up the grammar — matching sentence halves, forming questions from answers, and spotting negation.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68070" y="5083820"/>
            <a:ext cx="54558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spcBef>
                <a:spcPts val="800"/>
              </a:spcBef>
              <a:buNone/>
            </a:pPr>
            <a:r>
              <a:rPr lang="en-US" sz="11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采访 (cǎifǎng)</a:t>
            </a:r>
            <a:pPr algn="ctr" indent="0" marL="0">
              <a:spcBef>
                <a:spcPts val="800"/>
              </a:spcBef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interview · 6 questions about routine and transport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2026-07-18T08:49:18Z</dcterms:created>
  <dcterms:modified xsi:type="dcterms:W3CDTF">2026-07-18T08:49:18Z</dcterms:modified>
</cp:coreProperties>
</file>