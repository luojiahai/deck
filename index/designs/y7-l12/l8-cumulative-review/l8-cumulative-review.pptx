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73662" y="2315319"/>
            <a:ext cx="26975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8 · Y7 UNIT 4.3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470350" y="2721620"/>
            <a:ext cx="3316173" cy="894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040"/>
              </a:lnSpc>
              <a:buNone/>
            </a:pPr>
            <a:r>
              <a:rPr lang="en-US" sz="6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综合复习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3718620" y="3768030"/>
            <a:ext cx="48497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1600"/>
              </a:spcAft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Full Synthesis · Test 4.3 Prep · 综合运用与备考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275981" y="4333131"/>
            <a:ext cx="3712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· 50 mins · Writing-Focused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44363"/>
            <a:ext cx="18433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Lesson 7 Recap · 0–8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634901"/>
            <a:ext cx="1114064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— 8 MIN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34901" y="942826"/>
            <a:ext cx="1114064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答案找问题 · Answer → Question + Negation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34901" y="1536502"/>
            <a:ext cx="1114064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mini whiteboards: write the matching 怎么 question for each answer below. Hold up after each item.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1873002"/>
            <a:ext cx="5133380" cy="796826"/>
          </a:xfrm>
          <a:prstGeom prst="roundRect">
            <a:avLst>
              <a:gd name="adj" fmla="val 1275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8051" y="211901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58900" y="2171402"/>
            <a:ext cx="643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95251" y="2025402"/>
            <a:ext cx="43552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坐火车。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95251" y="2355503"/>
            <a:ext cx="43552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matching question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95231" y="1873002"/>
            <a:ext cx="5133380" cy="796826"/>
          </a:xfrm>
          <a:prstGeom prst="roundRect">
            <a:avLst>
              <a:gd name="adj" fmla="val 1275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98381" y="211901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06579" y="2171402"/>
            <a:ext cx="901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55581" y="2025402"/>
            <a:ext cx="43552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开车。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55581" y="2355503"/>
            <a:ext cx="43552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matching question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4901" y="2796778"/>
            <a:ext cx="5133380" cy="796826"/>
          </a:xfrm>
          <a:prstGeom prst="roundRect">
            <a:avLst>
              <a:gd name="adj" fmla="val 1275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38051" y="304279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45803" y="3095179"/>
            <a:ext cx="909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295251" y="2949178"/>
            <a:ext cx="43552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坐地铁。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295251" y="3279279"/>
            <a:ext cx="43552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matching question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895231" y="2796778"/>
            <a:ext cx="5133380" cy="796826"/>
          </a:xfrm>
          <a:prstGeom prst="roundRect">
            <a:avLst>
              <a:gd name="adj" fmla="val 1275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098381" y="304279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205686" y="3095179"/>
            <a:ext cx="919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55581" y="2949178"/>
            <a:ext cx="43552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走路。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555581" y="3279279"/>
            <a:ext cx="43552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matching question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34901" y="3720554"/>
            <a:ext cx="10922198" cy="739676"/>
          </a:xfrm>
          <a:prstGeom prst="roundRect">
            <a:avLst>
              <a:gd name="adj" fmla="val 13736"/>
            </a:avLst>
          </a:prstGeom>
          <a:solidFill>
            <a:srgbClr val="F6E4E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38051" y="393799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45952" y="3990380"/>
            <a:ext cx="9062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295251" y="3872954"/>
            <a:ext cx="901962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"My dad doesn't drive."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295251" y="4145905"/>
            <a:ext cx="90196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 into Chinese — remember 不 goes right before the verb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290423" y="3980855"/>
            <a:ext cx="1063526" cy="219075"/>
          </a:xfrm>
          <a:prstGeom prst="roundRect">
            <a:avLst>
              <a:gd name="adj" fmla="val 5791304"/>
            </a:avLst>
          </a:prstGeom>
          <a:solidFill>
            <a:srgbClr val="F6E4E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0417373" y="4018955"/>
            <a:ext cx="8258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否定句 Negation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34901" y="4612481"/>
            <a:ext cx="2546747" cy="361950"/>
          </a:xfrm>
          <a:prstGeom prst="roundRect">
            <a:avLst>
              <a:gd name="adj" fmla="val 350526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812602" y="4688681"/>
            <a:ext cx="223517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→ hold up after each item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334048" y="4612481"/>
            <a:ext cx="3275558" cy="361950"/>
          </a:xfrm>
          <a:prstGeom prst="roundRect">
            <a:avLst>
              <a:gd name="adj" fmla="val 350526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3511748" y="4688681"/>
            <a:ext cx="297856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Cold call 2 students per item to say it aloud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44363"/>
            <a:ext cx="14612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Answers · 0–8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634901"/>
            <a:ext cx="1114064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— ANSWERS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34901" y="968276"/>
            <a:ext cx="1114064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答案找问题 · Model Answers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34901" y="1587401"/>
            <a:ext cx="5133380" cy="577751"/>
          </a:xfrm>
          <a:prstGeom prst="roundRect">
            <a:avLst>
              <a:gd name="adj" fmla="val 17585"/>
            </a:avLst>
          </a:prstGeom>
          <a:solidFill>
            <a:srgbClr val="F3E6C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57101" y="1736527"/>
            <a:ext cx="279350" cy="279350"/>
          </a:xfrm>
          <a:prstGeom prst="roundRect">
            <a:avLst>
              <a:gd name="adj" fmla="val 50009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68127" y="1785640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263402" y="1752451"/>
            <a:ext cx="72517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坐火车。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075855" y="1771501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329755" y="1733401"/>
            <a:ext cx="124343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你怎么上班？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895231" y="1587401"/>
            <a:ext cx="5133380" cy="577751"/>
          </a:xfrm>
          <a:prstGeom prst="roundRect">
            <a:avLst>
              <a:gd name="adj" fmla="val 17585"/>
            </a:avLst>
          </a:prstGeom>
          <a:solidFill>
            <a:srgbClr val="F3E6C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17431" y="1736527"/>
            <a:ext cx="279350" cy="279350"/>
          </a:xfrm>
          <a:prstGeom prst="roundRect">
            <a:avLst>
              <a:gd name="adj" fmla="val 50009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16848" y="1785640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3732" y="1752451"/>
            <a:ext cx="5439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开车。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158484" y="1771501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12385" y="1733401"/>
            <a:ext cx="165785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你爸爸怎么上班？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4901" y="2292102"/>
            <a:ext cx="5133380" cy="577751"/>
          </a:xfrm>
          <a:prstGeom prst="roundRect">
            <a:avLst>
              <a:gd name="adj" fmla="val 17585"/>
            </a:avLst>
          </a:prstGeom>
          <a:solidFill>
            <a:srgbClr val="F3E6C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57101" y="2441228"/>
            <a:ext cx="279350" cy="279350"/>
          </a:xfrm>
          <a:prstGeom prst="roundRect">
            <a:avLst>
              <a:gd name="adj" fmla="val 50009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56221" y="2490341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63402" y="2457152"/>
            <a:ext cx="72517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坐地铁。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075855" y="2476202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329755" y="2438102"/>
            <a:ext cx="124343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你怎么上学？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895231" y="2292102"/>
            <a:ext cx="5133380" cy="577751"/>
          </a:xfrm>
          <a:prstGeom prst="roundRect">
            <a:avLst>
              <a:gd name="adj" fmla="val 17585"/>
            </a:avLst>
          </a:prstGeom>
          <a:solidFill>
            <a:srgbClr val="F3E6C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117431" y="2441228"/>
            <a:ext cx="279350" cy="279350"/>
          </a:xfrm>
          <a:prstGeom prst="roundRect">
            <a:avLst>
              <a:gd name="adj" fmla="val 50009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216104" y="2490341"/>
            <a:ext cx="8364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523732" y="2457152"/>
            <a:ext cx="5439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走路。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58484" y="2476202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12385" y="2438102"/>
            <a:ext cx="124343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你怎么上学？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4901" y="2996803"/>
            <a:ext cx="10922198" cy="577751"/>
          </a:xfrm>
          <a:prstGeom prst="roundRect">
            <a:avLst>
              <a:gd name="adj" fmla="val 17585"/>
            </a:avLst>
          </a:prstGeom>
          <a:solidFill>
            <a:srgbClr val="F6E4E1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57101" y="3145929"/>
            <a:ext cx="279350" cy="279350"/>
          </a:xfrm>
          <a:prstGeom prst="roundRect">
            <a:avLst>
              <a:gd name="adj" fmla="val 50009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956370" y="3195042"/>
            <a:ext cx="824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263402" y="3180904"/>
            <a:ext cx="185338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"My dad doesn't drive."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181945" y="3180904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435846" y="3142804"/>
            <a:ext cx="145064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我爸爸不开车。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34901" y="3726954"/>
            <a:ext cx="10922198" cy="666750"/>
          </a:xfrm>
          <a:prstGeom prst="roundRect">
            <a:avLst>
              <a:gd name="adj" fmla="val 190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63501" y="3879354"/>
            <a:ext cx="10674298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More than one valid question can be correct as long as the grammar is right — e.g. 你怎么上学？or 你怎么上班？both work for most answers here, depending on who you imagine is speaking.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44363"/>
            <a:ext cx="24920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 · 8–10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8950" y="685651"/>
            <a:ext cx="106223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88950" y="1069777"/>
            <a:ext cx="1062238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888950" y="1806327"/>
            <a:ext cx="10414099" cy="1101477"/>
          </a:xfrm>
          <a:prstGeom prst="rect">
            <a:avLst/>
          </a:prstGeom>
          <a:solidFill>
            <a:srgbClr val="F3E6C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917525" y="1806327"/>
            <a:ext cx="0" cy="1101477"/>
          </a:xfrm>
          <a:prstGeom prst="line">
            <a:avLst/>
          </a:prstGeom>
          <a:noFill/>
          <a:ln w="57150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0001" y="1984028"/>
            <a:ext cx="100461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200001" y="2196703"/>
            <a:ext cx="1004613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write a full paragraph describing someone's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daily routine, including time and transport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88950" y="3110954"/>
            <a:ext cx="317450" cy="317450"/>
          </a:xfrm>
          <a:prstGeom prst="roundRect">
            <a:avLst>
              <a:gd name="adj" fmla="val 44007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19026" y="3179118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58801" y="3155305"/>
            <a:ext cx="5390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at least 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connected sentences</a:t>
            </a:r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about someone's day.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20701" y="3453705"/>
            <a:ext cx="101819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写出连贯的四句话描述一天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88950" y="3761631"/>
            <a:ext cx="317450" cy="317450"/>
          </a:xfrm>
          <a:prstGeom prst="roundRect">
            <a:avLst>
              <a:gd name="adj" fmla="val 44007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07418" y="3829794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358801" y="3805982"/>
            <a:ext cx="64328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correctly </a:t>
            </a:r>
            <a:pPr algn="l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sequence time, transport, and routine verbs</a:t>
            </a:r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each sentence.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20701" y="4104382"/>
            <a:ext cx="101819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正确排列时间、交通工具和动词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88950" y="4412307"/>
            <a:ext cx="317450" cy="317450"/>
          </a:xfrm>
          <a:prstGeom prst="roundRect">
            <a:avLst>
              <a:gd name="adj" fmla="val 44007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07120" y="4480471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358801" y="4456658"/>
            <a:ext cx="50534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review and </a:t>
            </a:r>
            <a:pPr algn="l" indent="0" marL="0">
              <a:buNone/>
            </a:pPr>
            <a:r>
              <a:rPr lang="en-US" sz="13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self-correct</a:t>
            </a:r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using the Unit 4 vocabulary list.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20701" y="4755059"/>
            <a:ext cx="101819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核对第四单元词汇表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44363"/>
            <a:ext cx="2349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Unit 4 Vocabulary Revision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33251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TEST 4.3 COVERAGE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726877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第四单元词汇复习 · Unit 4 Vocabulary Revision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1091952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read through every word — this is the full Test 4.3 coverage list.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1329928"/>
            <a:ext cx="55703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 / 下 · TIME &amp; ROUTINE PAIRS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07950" y="1498104"/>
            <a:ext cx="5461099" cy="190500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507950" y="1679079"/>
            <a:ext cx="5461099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150" y="1517154"/>
            <a:ext cx="7253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汉字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371451" y="1517154"/>
            <a:ext cx="80304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2234952" y="1517154"/>
            <a:ext cx="37310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507950" y="1931491"/>
            <a:ext cx="5461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4150" y="1707654"/>
            <a:ext cx="7253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点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451" y="172670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diǎn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34952" y="1726704"/>
            <a:ext cx="37310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o'clock; point in time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7950" y="1936254"/>
            <a:ext cx="5461099" cy="247650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507950" y="2179141"/>
            <a:ext cx="5461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4150" y="1955304"/>
            <a:ext cx="7253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一刻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371451" y="197435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yī kè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234952" y="1974354"/>
            <a:ext cx="37310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quarter (hour)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07950" y="2426791"/>
            <a:ext cx="5461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4150" y="2202954"/>
            <a:ext cx="7253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上班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371451" y="222200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bān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234952" y="2222004"/>
            <a:ext cx="37310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to work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07950" y="2431554"/>
            <a:ext cx="5461099" cy="247650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507950" y="2674441"/>
            <a:ext cx="5461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4150" y="2450604"/>
            <a:ext cx="7253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上学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371451" y="246965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xué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234952" y="2469654"/>
            <a:ext cx="37310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to school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07950" y="2922091"/>
            <a:ext cx="5461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4150" y="2698254"/>
            <a:ext cx="7253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上车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371451" y="271730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chē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234952" y="2717304"/>
            <a:ext cx="37310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get on (a vehicle)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7950" y="2926854"/>
            <a:ext cx="5461099" cy="247650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507950" y="3169741"/>
            <a:ext cx="5461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4150" y="2945904"/>
            <a:ext cx="7253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上课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371451" y="296495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kè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234952" y="2964954"/>
            <a:ext cx="37310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to class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07950" y="3417391"/>
            <a:ext cx="5461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84150" y="3193554"/>
            <a:ext cx="7253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放学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371451" y="321260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fàng xué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234952" y="3212604"/>
            <a:ext cx="37310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finish school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07950" y="3422154"/>
            <a:ext cx="5461099" cy="247650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Shape 46"/>
          <p:cNvSpPr/>
          <p:nvPr/>
        </p:nvSpPr>
        <p:spPr>
          <a:xfrm>
            <a:off x="507950" y="3665041"/>
            <a:ext cx="5461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4150" y="3441204"/>
            <a:ext cx="7253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下车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371451" y="346025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 chē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2234952" y="3460254"/>
            <a:ext cx="37310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get off (a vehicle)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07950" y="3912691"/>
            <a:ext cx="5461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4150" y="3688854"/>
            <a:ext cx="7253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下课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1371451" y="370790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 kè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234952" y="3707904"/>
            <a:ext cx="37310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finish class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07950" y="3917454"/>
            <a:ext cx="5461099" cy="247650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Shape 55"/>
          <p:cNvSpPr/>
          <p:nvPr/>
        </p:nvSpPr>
        <p:spPr>
          <a:xfrm>
            <a:off x="507950" y="4160341"/>
            <a:ext cx="5461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4150" y="3936504"/>
            <a:ext cx="7253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下班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1371451" y="395555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 bān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2234952" y="3955554"/>
            <a:ext cx="37310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finish work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6222950" y="1329928"/>
            <a:ext cx="55703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日常起居 &amp; 交通工具 · ROUTINE &amp; TRANSPORT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6222950" y="1498104"/>
            <a:ext cx="5461099" cy="190500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Shape 61"/>
          <p:cNvSpPr/>
          <p:nvPr/>
        </p:nvSpPr>
        <p:spPr>
          <a:xfrm>
            <a:off x="6222950" y="1679079"/>
            <a:ext cx="5461099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299150" y="1517154"/>
            <a:ext cx="7253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汉字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7086451" y="1517154"/>
            <a:ext cx="80304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7949952" y="1517154"/>
            <a:ext cx="373105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222950" y="1931491"/>
            <a:ext cx="5461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299150" y="1707654"/>
            <a:ext cx="7253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起床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7086451" y="172670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qǐ chuáng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7949952" y="1726704"/>
            <a:ext cx="37310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get up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6222950" y="1936254"/>
            <a:ext cx="5461099" cy="247650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Shape 70"/>
          <p:cNvSpPr/>
          <p:nvPr/>
        </p:nvSpPr>
        <p:spPr>
          <a:xfrm>
            <a:off x="6222950" y="2179141"/>
            <a:ext cx="5461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299150" y="1955304"/>
            <a:ext cx="7253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睡觉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7086451" y="197435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shuì jiào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7949952" y="1974354"/>
            <a:ext cx="37310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to sleep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6222950" y="2426791"/>
            <a:ext cx="5461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299150" y="2202954"/>
            <a:ext cx="7253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工作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7086451" y="222200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gōng zuò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7949952" y="2222004"/>
            <a:ext cx="37310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work; job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6222950" y="2431554"/>
            <a:ext cx="5461099" cy="247650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Shape 79"/>
          <p:cNvSpPr/>
          <p:nvPr/>
        </p:nvSpPr>
        <p:spPr>
          <a:xfrm>
            <a:off x="6222950" y="2674441"/>
            <a:ext cx="5461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299150" y="2450604"/>
            <a:ext cx="7253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每天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7086451" y="246965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měi tiān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7949952" y="2469654"/>
            <a:ext cx="37310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day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222950" y="2922091"/>
            <a:ext cx="5461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299150" y="2698254"/>
            <a:ext cx="7253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开车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7086451" y="271730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kāi chē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7949952" y="2717304"/>
            <a:ext cx="37310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drive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6222950" y="2926854"/>
            <a:ext cx="5461099" cy="247650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Shape 88"/>
          <p:cNvSpPr/>
          <p:nvPr/>
        </p:nvSpPr>
        <p:spPr>
          <a:xfrm>
            <a:off x="6222950" y="3169741"/>
            <a:ext cx="5461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299150" y="2945904"/>
            <a:ext cx="7253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走路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7086451" y="296495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zǒu lù</a:t>
            </a:r>
            <a:endParaRPr lang="en-US" sz="900" dirty="0"/>
          </a:p>
        </p:txBody>
      </p:sp>
      <p:sp>
        <p:nvSpPr>
          <p:cNvPr id="93" name="Text 91"/>
          <p:cNvSpPr/>
          <p:nvPr/>
        </p:nvSpPr>
        <p:spPr>
          <a:xfrm>
            <a:off x="7949952" y="2964954"/>
            <a:ext cx="37310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walk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6222950" y="3417391"/>
            <a:ext cx="5461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299150" y="3193554"/>
            <a:ext cx="7253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汽车</a:t>
            </a:r>
            <a:endParaRPr lang="en-US" sz="1100" dirty="0"/>
          </a:p>
        </p:txBody>
      </p:sp>
      <p:sp>
        <p:nvSpPr>
          <p:cNvPr id="96" name="Text 94"/>
          <p:cNvSpPr/>
          <p:nvPr/>
        </p:nvSpPr>
        <p:spPr>
          <a:xfrm>
            <a:off x="7086451" y="321260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qì chē</a:t>
            </a:r>
            <a:endParaRPr lang="en-US" sz="900" dirty="0"/>
          </a:p>
        </p:txBody>
      </p:sp>
      <p:sp>
        <p:nvSpPr>
          <p:cNvPr id="97" name="Text 95"/>
          <p:cNvSpPr/>
          <p:nvPr/>
        </p:nvSpPr>
        <p:spPr>
          <a:xfrm>
            <a:off x="7949952" y="3212604"/>
            <a:ext cx="37310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car</a:t>
            </a:r>
            <a:endParaRPr lang="en-US" sz="900" dirty="0"/>
          </a:p>
        </p:txBody>
      </p:sp>
      <p:sp>
        <p:nvSpPr>
          <p:cNvPr id="98" name="Text 96"/>
          <p:cNvSpPr/>
          <p:nvPr/>
        </p:nvSpPr>
        <p:spPr>
          <a:xfrm>
            <a:off x="6222950" y="3422154"/>
            <a:ext cx="5461099" cy="247650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Shape 97"/>
          <p:cNvSpPr/>
          <p:nvPr/>
        </p:nvSpPr>
        <p:spPr>
          <a:xfrm>
            <a:off x="6222950" y="3665041"/>
            <a:ext cx="5461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299150" y="3441204"/>
            <a:ext cx="7253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地铁</a:t>
            </a:r>
            <a:endParaRPr lang="en-US" sz="1100" dirty="0"/>
          </a:p>
        </p:txBody>
      </p:sp>
      <p:sp>
        <p:nvSpPr>
          <p:cNvPr id="101" name="Text 99"/>
          <p:cNvSpPr/>
          <p:nvPr/>
        </p:nvSpPr>
        <p:spPr>
          <a:xfrm>
            <a:off x="7086451" y="346025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dì tiě</a:t>
            </a:r>
            <a:endParaRPr lang="en-US" sz="900" dirty="0"/>
          </a:p>
        </p:txBody>
      </p:sp>
      <p:sp>
        <p:nvSpPr>
          <p:cNvPr id="102" name="Text 100"/>
          <p:cNvSpPr/>
          <p:nvPr/>
        </p:nvSpPr>
        <p:spPr>
          <a:xfrm>
            <a:off x="7949952" y="3460254"/>
            <a:ext cx="37310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subway; metro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6222950" y="3912691"/>
            <a:ext cx="5461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299150" y="3688854"/>
            <a:ext cx="7253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飞机</a:t>
            </a:r>
            <a:endParaRPr lang="en-US" sz="1100" dirty="0"/>
          </a:p>
        </p:txBody>
      </p:sp>
      <p:sp>
        <p:nvSpPr>
          <p:cNvPr id="105" name="Text 103"/>
          <p:cNvSpPr/>
          <p:nvPr/>
        </p:nvSpPr>
        <p:spPr>
          <a:xfrm>
            <a:off x="7086451" y="370790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fēi jī</a:t>
            </a:r>
            <a:endParaRPr lang="en-US" sz="900" dirty="0"/>
          </a:p>
        </p:txBody>
      </p:sp>
      <p:sp>
        <p:nvSpPr>
          <p:cNvPr id="106" name="Text 104"/>
          <p:cNvSpPr/>
          <p:nvPr/>
        </p:nvSpPr>
        <p:spPr>
          <a:xfrm>
            <a:off x="7949952" y="3707904"/>
            <a:ext cx="37310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airplane</a:t>
            </a:r>
            <a:endParaRPr lang="en-US" sz="900" dirty="0"/>
          </a:p>
        </p:txBody>
      </p:sp>
      <p:sp>
        <p:nvSpPr>
          <p:cNvPr id="107" name="Text 105"/>
          <p:cNvSpPr/>
          <p:nvPr/>
        </p:nvSpPr>
        <p:spPr>
          <a:xfrm>
            <a:off x="6222950" y="3917454"/>
            <a:ext cx="5461099" cy="247650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Shape 106"/>
          <p:cNvSpPr/>
          <p:nvPr/>
        </p:nvSpPr>
        <p:spPr>
          <a:xfrm>
            <a:off x="6222950" y="4160341"/>
            <a:ext cx="5461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299150" y="3936504"/>
            <a:ext cx="72532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出租车</a:t>
            </a:r>
            <a:endParaRPr lang="en-US" sz="1100" dirty="0"/>
          </a:p>
        </p:txBody>
      </p:sp>
      <p:sp>
        <p:nvSpPr>
          <p:cNvPr id="110" name="Text 108"/>
          <p:cNvSpPr/>
          <p:nvPr/>
        </p:nvSpPr>
        <p:spPr>
          <a:xfrm>
            <a:off x="7086451" y="395555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chū zū chē</a:t>
            </a:r>
            <a:endParaRPr lang="en-US" sz="900" dirty="0"/>
          </a:p>
        </p:txBody>
      </p:sp>
      <p:sp>
        <p:nvSpPr>
          <p:cNvPr id="111" name="Text 109"/>
          <p:cNvSpPr/>
          <p:nvPr/>
        </p:nvSpPr>
        <p:spPr>
          <a:xfrm>
            <a:off x="7949952" y="3955554"/>
            <a:ext cx="37310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taxi</a:t>
            </a:r>
            <a:endParaRPr lang="en-US" sz="900" dirty="0"/>
          </a:p>
        </p:txBody>
      </p:sp>
      <p:sp>
        <p:nvSpPr>
          <p:cNvPr id="112" name="Text 110"/>
          <p:cNvSpPr/>
          <p:nvPr/>
        </p:nvSpPr>
        <p:spPr>
          <a:xfrm>
            <a:off x="507950" y="4266605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ITEMS FOR TODAY ONLY — IN TEST 4.3 BUT NOT IN EARLIER NEW WORDS TABLES</a:t>
            </a:r>
            <a:endParaRPr lang="en-US" sz="800" dirty="0"/>
          </a:p>
        </p:txBody>
      </p:sp>
      <p:sp>
        <p:nvSpPr>
          <p:cNvPr id="113" name="Text 111"/>
          <p:cNvSpPr/>
          <p:nvPr/>
        </p:nvSpPr>
        <p:spPr>
          <a:xfrm>
            <a:off x="507950" y="4485531"/>
            <a:ext cx="11176099" cy="203002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Shape 112"/>
          <p:cNvSpPr/>
          <p:nvPr/>
        </p:nvSpPr>
        <p:spPr>
          <a:xfrm>
            <a:off x="507950" y="4679007"/>
            <a:ext cx="11176099" cy="0"/>
          </a:xfrm>
          <a:prstGeom prst="line">
            <a:avLst/>
          </a:prstGeom>
          <a:noFill/>
          <a:ln w="19050">
            <a:solidFill>
              <a:srgbClr val="D4756B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84150" y="4510832"/>
            <a:ext cx="8549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汉字</a:t>
            </a:r>
            <a:endParaRPr lang="en-US" sz="750" dirty="0"/>
          </a:p>
        </p:txBody>
      </p:sp>
      <p:sp>
        <p:nvSpPr>
          <p:cNvPr id="116" name="Text 114"/>
          <p:cNvSpPr/>
          <p:nvPr/>
        </p:nvSpPr>
        <p:spPr>
          <a:xfrm>
            <a:off x="1523851" y="4510832"/>
            <a:ext cx="9584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750" dirty="0"/>
          </a:p>
        </p:txBody>
      </p:sp>
      <p:sp>
        <p:nvSpPr>
          <p:cNvPr id="117" name="Text 115"/>
          <p:cNvSpPr/>
          <p:nvPr/>
        </p:nvSpPr>
        <p:spPr>
          <a:xfrm>
            <a:off x="2565053" y="4510832"/>
            <a:ext cx="246120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750" dirty="0"/>
          </a:p>
        </p:txBody>
      </p:sp>
      <p:sp>
        <p:nvSpPr>
          <p:cNvPr id="118" name="Text 116"/>
          <p:cNvSpPr/>
          <p:nvPr/>
        </p:nvSpPr>
        <p:spPr>
          <a:xfrm>
            <a:off x="5079504" y="4510832"/>
            <a:ext cx="665891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NOTE</a:t>
            </a:r>
            <a:endParaRPr lang="en-US" sz="750" dirty="0"/>
          </a:p>
        </p:txBody>
      </p:sp>
      <p:sp>
        <p:nvSpPr>
          <p:cNvPr id="119" name="Shape 117"/>
          <p:cNvSpPr/>
          <p:nvPr/>
        </p:nvSpPr>
        <p:spPr>
          <a:xfrm>
            <a:off x="507950" y="4994672"/>
            <a:ext cx="11176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84150" y="4764584"/>
            <a:ext cx="8549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分钟</a:t>
            </a:r>
            <a:endParaRPr lang="en-US" sz="1100" dirty="0"/>
          </a:p>
        </p:txBody>
      </p:sp>
      <p:sp>
        <p:nvSpPr>
          <p:cNvPr id="121" name="Text 119"/>
          <p:cNvSpPr/>
          <p:nvPr/>
        </p:nvSpPr>
        <p:spPr>
          <a:xfrm>
            <a:off x="1523851" y="4783634"/>
            <a:ext cx="9584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fēn zhōng</a:t>
            </a:r>
            <a:endParaRPr lang="en-US" sz="900" dirty="0"/>
          </a:p>
        </p:txBody>
      </p:sp>
      <p:sp>
        <p:nvSpPr>
          <p:cNvPr id="122" name="Text 120"/>
          <p:cNvSpPr/>
          <p:nvPr/>
        </p:nvSpPr>
        <p:spPr>
          <a:xfrm>
            <a:off x="2565053" y="4783634"/>
            <a:ext cx="24612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 (duration)</a:t>
            </a:r>
            <a:endParaRPr lang="en-US" sz="900" dirty="0"/>
          </a:p>
        </p:txBody>
      </p:sp>
      <p:sp>
        <p:nvSpPr>
          <p:cNvPr id="123" name="Text 121"/>
          <p:cNvSpPr/>
          <p:nvPr/>
        </p:nvSpPr>
        <p:spPr>
          <a:xfrm>
            <a:off x="5079504" y="4783634"/>
            <a:ext cx="665891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Measures how long — e.g. 三十分钟</a:t>
            </a:r>
            <a:endParaRPr lang="en-US" sz="900" dirty="0"/>
          </a:p>
        </p:txBody>
      </p:sp>
      <p:sp>
        <p:nvSpPr>
          <p:cNvPr id="124" name="Text 122"/>
          <p:cNvSpPr/>
          <p:nvPr/>
        </p:nvSpPr>
        <p:spPr>
          <a:xfrm>
            <a:off x="507950" y="5050185"/>
            <a:ext cx="11176099" cy="260152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Shape 123"/>
          <p:cNvSpPr/>
          <p:nvPr/>
        </p:nvSpPr>
        <p:spPr>
          <a:xfrm>
            <a:off x="507950" y="5305574"/>
            <a:ext cx="11176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584150" y="5075486"/>
            <a:ext cx="8549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公车</a:t>
            </a:r>
            <a:endParaRPr lang="en-US" sz="1100" dirty="0"/>
          </a:p>
        </p:txBody>
      </p:sp>
      <p:sp>
        <p:nvSpPr>
          <p:cNvPr id="127" name="Text 125"/>
          <p:cNvSpPr/>
          <p:nvPr/>
        </p:nvSpPr>
        <p:spPr>
          <a:xfrm>
            <a:off x="1523851" y="5094536"/>
            <a:ext cx="9584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gōng chē</a:t>
            </a:r>
            <a:endParaRPr lang="en-US" sz="900" dirty="0"/>
          </a:p>
        </p:txBody>
      </p:sp>
      <p:sp>
        <p:nvSpPr>
          <p:cNvPr id="128" name="Text 126"/>
          <p:cNvSpPr/>
          <p:nvPr/>
        </p:nvSpPr>
        <p:spPr>
          <a:xfrm>
            <a:off x="2565053" y="5094536"/>
            <a:ext cx="24612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public bus (short form)</a:t>
            </a:r>
            <a:endParaRPr lang="en-US" sz="900" dirty="0"/>
          </a:p>
        </p:txBody>
      </p:sp>
      <p:sp>
        <p:nvSpPr>
          <p:cNvPr id="129" name="Text 127"/>
          <p:cNvSpPr/>
          <p:nvPr/>
        </p:nvSpPr>
        <p:spPr>
          <a:xfrm>
            <a:off x="5079504" y="5094536"/>
            <a:ext cx="665891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Abbreviation of 公共汽车</a:t>
            </a:r>
            <a:endParaRPr lang="en-US" sz="900" dirty="0"/>
          </a:p>
        </p:txBody>
      </p:sp>
      <p:sp>
        <p:nvSpPr>
          <p:cNvPr id="130" name="Shape 128"/>
          <p:cNvSpPr/>
          <p:nvPr/>
        </p:nvSpPr>
        <p:spPr>
          <a:xfrm>
            <a:off x="507950" y="5616476"/>
            <a:ext cx="11176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84150" y="5386388"/>
            <a:ext cx="8549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坐车</a:t>
            </a:r>
            <a:endParaRPr lang="en-US" sz="1100" dirty="0"/>
          </a:p>
        </p:txBody>
      </p:sp>
      <p:sp>
        <p:nvSpPr>
          <p:cNvPr id="132" name="Text 130"/>
          <p:cNvSpPr/>
          <p:nvPr/>
        </p:nvSpPr>
        <p:spPr>
          <a:xfrm>
            <a:off x="1523851" y="5405438"/>
            <a:ext cx="9584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zuò chē</a:t>
            </a:r>
            <a:endParaRPr lang="en-US" sz="900" dirty="0"/>
          </a:p>
        </p:txBody>
      </p:sp>
      <p:sp>
        <p:nvSpPr>
          <p:cNvPr id="133" name="Text 131"/>
          <p:cNvSpPr/>
          <p:nvPr/>
        </p:nvSpPr>
        <p:spPr>
          <a:xfrm>
            <a:off x="2565053" y="5405438"/>
            <a:ext cx="24612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travel by vehicle (general)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5079504" y="5405438"/>
            <a:ext cx="665891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Used when the specific vehicle isn't named</a:t>
            </a:r>
            <a:endParaRPr lang="en-US" sz="900" dirty="0"/>
          </a:p>
        </p:txBody>
      </p:sp>
      <p:sp>
        <p:nvSpPr>
          <p:cNvPr id="135" name="Text 133"/>
          <p:cNvSpPr/>
          <p:nvPr/>
        </p:nvSpPr>
        <p:spPr>
          <a:xfrm>
            <a:off x="507950" y="5671989"/>
            <a:ext cx="11176099" cy="260152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6" name="Shape 134"/>
          <p:cNvSpPr/>
          <p:nvPr/>
        </p:nvSpPr>
        <p:spPr>
          <a:xfrm>
            <a:off x="507950" y="5927378"/>
            <a:ext cx="11176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584150" y="5697289"/>
            <a:ext cx="8549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怎么去</a:t>
            </a:r>
            <a:endParaRPr lang="en-US" sz="1100" dirty="0"/>
          </a:p>
        </p:txBody>
      </p:sp>
      <p:sp>
        <p:nvSpPr>
          <p:cNvPr id="138" name="Text 136"/>
          <p:cNvSpPr/>
          <p:nvPr/>
        </p:nvSpPr>
        <p:spPr>
          <a:xfrm>
            <a:off x="1523851" y="5716339"/>
            <a:ext cx="9584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zěn me qù</a:t>
            </a:r>
            <a:endParaRPr lang="en-US" sz="900" dirty="0"/>
          </a:p>
        </p:txBody>
      </p:sp>
      <p:sp>
        <p:nvSpPr>
          <p:cNvPr id="139" name="Text 137"/>
          <p:cNvSpPr/>
          <p:nvPr/>
        </p:nvSpPr>
        <p:spPr>
          <a:xfrm>
            <a:off x="2565053" y="5716339"/>
            <a:ext cx="24612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get (there)</a:t>
            </a:r>
            <a:endParaRPr lang="en-US" sz="900" dirty="0"/>
          </a:p>
        </p:txBody>
      </p:sp>
      <p:sp>
        <p:nvSpPr>
          <p:cNvPr id="140" name="Text 138"/>
          <p:cNvSpPr/>
          <p:nvPr/>
        </p:nvSpPr>
        <p:spPr>
          <a:xfrm>
            <a:off x="5079504" y="5716339"/>
            <a:ext cx="665891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General form of 怎么上学/上班, for any destination</a:t>
            </a:r>
            <a:endParaRPr lang="en-US" sz="900" dirty="0"/>
          </a:p>
        </p:txBody>
      </p:sp>
      <p:sp>
        <p:nvSpPr>
          <p:cNvPr id="141" name="Shape 139"/>
          <p:cNvSpPr/>
          <p:nvPr/>
        </p:nvSpPr>
        <p:spPr>
          <a:xfrm>
            <a:off x="507950" y="6238280"/>
            <a:ext cx="11176099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584150" y="6008191"/>
            <a:ext cx="8549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船</a:t>
            </a:r>
            <a:endParaRPr lang="en-US" sz="1100" dirty="0"/>
          </a:p>
        </p:txBody>
      </p:sp>
      <p:sp>
        <p:nvSpPr>
          <p:cNvPr id="143" name="Text 141"/>
          <p:cNvSpPr/>
          <p:nvPr/>
        </p:nvSpPr>
        <p:spPr>
          <a:xfrm>
            <a:off x="1523851" y="6027241"/>
            <a:ext cx="9584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chuán</a:t>
            </a:r>
            <a:endParaRPr lang="en-US" sz="900" dirty="0"/>
          </a:p>
        </p:txBody>
      </p:sp>
      <p:sp>
        <p:nvSpPr>
          <p:cNvPr id="144" name="Text 142"/>
          <p:cNvSpPr/>
          <p:nvPr/>
        </p:nvSpPr>
        <p:spPr>
          <a:xfrm>
            <a:off x="2565053" y="6027241"/>
            <a:ext cx="24612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boat</a:t>
            </a:r>
            <a:endParaRPr lang="en-US" sz="900" dirty="0"/>
          </a:p>
        </p:txBody>
      </p:sp>
      <p:sp>
        <p:nvSpPr>
          <p:cNvPr id="145" name="Text 143"/>
          <p:cNvSpPr/>
          <p:nvPr/>
        </p:nvSpPr>
        <p:spPr>
          <a:xfrm>
            <a:off x="5079504" y="6027241"/>
            <a:ext cx="665891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Recall 渡船 (ferry) from Lesson 1</a:t>
            </a:r>
            <a:endParaRPr lang="en-US" sz="900" dirty="0"/>
          </a:p>
        </p:txBody>
      </p:sp>
      <p:sp>
        <p:nvSpPr>
          <p:cNvPr id="146" name="Text 144"/>
          <p:cNvSpPr/>
          <p:nvPr/>
        </p:nvSpPr>
        <p:spPr>
          <a:xfrm>
            <a:off x="507950" y="6331893"/>
            <a:ext cx="11176099" cy="477292"/>
          </a:xfrm>
          <a:prstGeom prst="roundRect">
            <a:avLst>
              <a:gd name="adj" fmla="val 15965"/>
            </a:avLst>
          </a:prstGeom>
          <a:solidFill>
            <a:srgbClr val="F6E4E1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Text 145"/>
          <p:cNvSpPr/>
          <p:nvPr/>
        </p:nvSpPr>
        <p:spPr>
          <a:xfrm>
            <a:off x="730151" y="6414343"/>
            <a:ext cx="595059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en-US" sz="9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 (a point in time, e.g. 三点) ≠ 分钟 (a duration, e.g. 三十分钟)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730151" y="6583859"/>
            <a:ext cx="59505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点/分 tells you WHEN something happens · 分钟 tells you HOW LONG it lasts — don't mix them up in your paragraph.</a:t>
            </a:r>
            <a:endParaRPr lang="en-US" sz="800" dirty="0"/>
          </a:p>
        </p:txBody>
      </p:sp>
      <p:sp>
        <p:nvSpPr>
          <p:cNvPr id="149" name="Shape 147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44363"/>
            <a:ext cx="29975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Speaking Warm-Up &amp; Model Paragraph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584150"/>
            <a:ext cx="11140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EX14, P.95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34901" y="847576"/>
            <a:ext cx="111406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示范段落 · Speaking Warm-Up &amp; Model Paragraph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634901" y="1330077"/>
            <a:ext cx="1114064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Bridge straight from oral sentence production into today's written paragraph.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34901" y="1647379"/>
            <a:ext cx="10922198" cy="1203424"/>
          </a:xfrm>
          <a:prstGeom prst="roundRect">
            <a:avLst>
              <a:gd name="adj" fmla="val 844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8051" y="1748879"/>
            <a:ext cx="107262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SPEAKING WARM-UP · EX14, P.95 · 2–3 MIN · PAIRS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38051" y="1929854"/>
            <a:ext cx="10726216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the 5 compound-sentence scenes — each combines subject + time + transport + activity. In pairs, produce each sentence aloud before moving to writing.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38051" y="2187625"/>
            <a:ext cx="2021979" cy="561677"/>
          </a:xfrm>
          <a:prstGeom prst="roundRect">
            <a:avLst>
              <a:gd name="adj" fmla="val 11305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79312" y="2260550"/>
            <a:ext cx="193945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1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879312" y="2419201"/>
            <a:ext cx="193945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👤🕐🚌✅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961531" y="2187625"/>
            <a:ext cx="2021979" cy="561677"/>
          </a:xfrm>
          <a:prstGeom prst="roundRect">
            <a:avLst>
              <a:gd name="adj" fmla="val 11305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002792" y="2260550"/>
            <a:ext cx="193945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2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3002792" y="2419201"/>
            <a:ext cx="193945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👤🕐🚗✅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85011" y="2187625"/>
            <a:ext cx="2021979" cy="561677"/>
          </a:xfrm>
          <a:prstGeom prst="roundRect">
            <a:avLst>
              <a:gd name="adj" fmla="val 11305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26272" y="2260550"/>
            <a:ext cx="193945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3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126272" y="2419201"/>
            <a:ext cx="193945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👤🕐🚶✅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208490" y="2187625"/>
            <a:ext cx="2021979" cy="561677"/>
          </a:xfrm>
          <a:prstGeom prst="roundRect">
            <a:avLst>
              <a:gd name="adj" fmla="val 11305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249751" y="2260550"/>
            <a:ext cx="193945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4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249751" y="2419201"/>
            <a:ext cx="193945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👤🕐🚍✅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331970" y="2187625"/>
            <a:ext cx="2021979" cy="561677"/>
          </a:xfrm>
          <a:prstGeom prst="roundRect">
            <a:avLst>
              <a:gd name="adj" fmla="val 11305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373231" y="2260550"/>
            <a:ext cx="193945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5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9373231" y="2419201"/>
            <a:ext cx="193945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👤🕐✈️✅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34901" y="2977604"/>
            <a:ext cx="111406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PARAGRAPH · BUILT STEP BY STEP ON THE PROJECTOR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34901" y="3221980"/>
            <a:ext cx="10922198" cy="400050"/>
          </a:xfrm>
          <a:prstGeom prst="roundRect">
            <a:avLst>
              <a:gd name="adj" fmla="val 190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12602" y="330770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901005" y="3341043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68152" y="3298180"/>
            <a:ext cx="145034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王小天七点起床。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34901" y="3685431"/>
            <a:ext cx="10922198" cy="400050"/>
          </a:xfrm>
          <a:prstGeom prst="roundRect">
            <a:avLst>
              <a:gd name="adj" fmla="val 190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12602" y="3771156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890588" y="3804493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68152" y="3761631"/>
            <a:ext cx="163174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他七点一刻吃早饭。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34901" y="4148882"/>
            <a:ext cx="10922198" cy="400050"/>
          </a:xfrm>
          <a:prstGeom prst="roundRect">
            <a:avLst>
              <a:gd name="adj" fmla="val 190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812602" y="4234607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890290" y="4267944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68152" y="4225082"/>
            <a:ext cx="199425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他每天坐公共汽车上学。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34901" y="4612332"/>
            <a:ext cx="10922198" cy="400050"/>
          </a:xfrm>
          <a:prstGeom prst="roundRect">
            <a:avLst>
              <a:gd name="adj" fmla="val 190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12602" y="4698057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89843" y="4731395"/>
            <a:ext cx="754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68152" y="4688532"/>
            <a:ext cx="271942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他们八点上课，下午三点半放学。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34901" y="5075783"/>
            <a:ext cx="10922198" cy="400050"/>
          </a:xfrm>
          <a:prstGeom prst="roundRect">
            <a:avLst>
              <a:gd name="adj" fmla="val 190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12602" y="5161508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90439" y="5194846"/>
            <a:ext cx="743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68152" y="5151983"/>
            <a:ext cx="163174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他晚上九点半睡觉。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34901" y="5602635"/>
            <a:ext cx="3778151" cy="361950"/>
          </a:xfrm>
          <a:prstGeom prst="roundRect">
            <a:avLst>
              <a:gd name="adj" fmla="val 21053"/>
            </a:avLst>
          </a:prstGeom>
          <a:solidFill>
            <a:srgbClr val="F3E6C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812602" y="5678835"/>
            <a:ext cx="349120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起居动词 </a:t>
            </a:r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时间 </a:t>
            </a:r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交通工具 </a:t>
            </a:r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下一个起居动词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616202" y="5702647"/>
            <a:ext cx="707971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Routine verb → Time → Transport (where relevant) → Next routine verb — every sentence follows this sequence.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44363"/>
            <a:ext cx="22559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8950" y="1500188"/>
            <a:ext cx="106223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88950" y="1884313"/>
            <a:ext cx="1062238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888950" y="2563713"/>
            <a:ext cx="10414099" cy="695325"/>
          </a:xfrm>
          <a:prstGeom prst="roundRect">
            <a:avLst>
              <a:gd name="adj" fmla="val 146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113233" y="2716113"/>
            <a:ext cx="44038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727002" y="2797076"/>
            <a:ext cx="8381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are the 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ingredients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every good sentence needs in today's paragraph?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122247" y="2792313"/>
            <a:ext cx="952202" cy="238125"/>
          </a:xfrm>
          <a:prstGeom prst="roundRect">
            <a:avLst>
              <a:gd name="adj" fmla="val 5328000"/>
            </a:avLst>
          </a:prstGeom>
          <a:solidFill>
            <a:srgbClr val="DCEA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274647" y="2830413"/>
            <a:ext cx="6603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Cold call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88950" y="3411438"/>
            <a:ext cx="10414099" cy="695325"/>
          </a:xfrm>
          <a:prstGeom prst="roundRect">
            <a:avLst>
              <a:gd name="adj" fmla="val 146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113233" y="3563838"/>
            <a:ext cx="44038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727002" y="3644801"/>
            <a:ext cx="80025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Translate: 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"He goes to school by subway."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750326" y="3640038"/>
            <a:ext cx="1324124" cy="238125"/>
          </a:xfrm>
          <a:prstGeom prst="roundRect">
            <a:avLst>
              <a:gd name="adj" fmla="val 5328000"/>
            </a:avLst>
          </a:prstGeom>
          <a:solidFill>
            <a:srgbClr val="DCEA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902726" y="3678138"/>
            <a:ext cx="103971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&amp; hold up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88950" y="4259163"/>
            <a:ext cx="10414099" cy="695325"/>
          </a:xfrm>
          <a:prstGeom prst="roundRect">
            <a:avLst>
              <a:gd name="adj" fmla="val 146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113233" y="4411563"/>
            <a:ext cx="44038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727002" y="4492526"/>
            <a:ext cx="81792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Fix the word order: 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他上学每天坐公共汽车。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923562" y="4487763"/>
            <a:ext cx="1150888" cy="238125"/>
          </a:xfrm>
          <a:prstGeom prst="roundRect">
            <a:avLst>
              <a:gd name="adj" fmla="val 5328000"/>
            </a:avLst>
          </a:prstGeom>
          <a:solidFill>
            <a:srgbClr val="DCEA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0075962" y="4525863"/>
            <a:ext cx="86301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Whiteboards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88950" y="5157639"/>
            <a:ext cx="10414099" cy="352425"/>
          </a:xfrm>
          <a:prstGeom prst="roundRect">
            <a:avLst>
              <a:gd name="adj" fmla="val 28829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085701" y="5252889"/>
            <a:ext cx="22529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44363"/>
            <a:ext cx="17594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· Answers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8950" y="1403598"/>
            <a:ext cx="106223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88950" y="1762274"/>
            <a:ext cx="1062238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888950" y="2416225"/>
            <a:ext cx="10414099" cy="695325"/>
          </a:xfrm>
          <a:prstGeom prst="roundRect">
            <a:avLst>
              <a:gd name="adj" fmla="val 146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113233" y="2568625"/>
            <a:ext cx="44038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727002" y="2659112"/>
            <a:ext cx="52865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3 ingredients every good sentence needs: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07906" y="2649587"/>
            <a:ext cx="40665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 · 交通工具 · 活动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88950" y="3238500"/>
            <a:ext cx="10414099" cy="695325"/>
          </a:xfrm>
          <a:prstGeom prst="roundRect">
            <a:avLst>
              <a:gd name="adj" fmla="val 1461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113233" y="3390900"/>
            <a:ext cx="44038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727002" y="3481388"/>
            <a:ext cx="52865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Translate: "He goes to school by subway."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007906" y="3471863"/>
            <a:ext cx="40665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他坐地铁上学。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88950" y="4060775"/>
            <a:ext cx="10414099" cy="695325"/>
          </a:xfrm>
          <a:prstGeom prst="roundRect">
            <a:avLst>
              <a:gd name="adj" fmla="val 14612"/>
            </a:avLst>
          </a:prstGeom>
          <a:solidFill>
            <a:srgbClr val="F6E4E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113233" y="4213175"/>
            <a:ext cx="44038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727002" y="4303663"/>
            <a:ext cx="52865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Fix the word order: 他上学每天坐公共汽车。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007906" y="4294138"/>
            <a:ext cx="40665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他每天坐公共汽车上学。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88950" y="4933801"/>
            <a:ext cx="10414099" cy="673001"/>
          </a:xfrm>
          <a:prstGeom prst="roundRect">
            <a:avLst>
              <a:gd name="adj" fmla="val 15097"/>
            </a:avLst>
          </a:prstGeom>
          <a:solidFill>
            <a:srgbClr val="F3E6C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136600" y="5079802"/>
            <a:ext cx="101171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Q3 —</a:t>
            </a:r>
            <a:pPr algn="l" indent="0" marL="0"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每天 (time) must come right after the subject, before the transport word and the verb — the same order rule you'll use in your own paragraph today.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44363"/>
            <a:ext cx="15994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Activity 1 · 20–43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609451"/>
            <a:ext cx="1114064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8 MIN · WE DO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34901" y="917377"/>
            <a:ext cx="1114064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段落搭建 · Guided Paragraph Drafting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634901" y="1444377"/>
            <a:ext cx="111406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Fill the 5-blank template with your OWN information, supported by the vocabulary sheet.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4901" y="1796653"/>
            <a:ext cx="10922198" cy="425351"/>
          </a:xfrm>
          <a:prstGeom prst="roundRect">
            <a:avLst>
              <a:gd name="adj" fmla="val 179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8051" y="1895029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26455" y="1928366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219051" y="1928366"/>
            <a:ext cx="19431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WAKE UP 起床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76451" y="1885504"/>
            <a:ext cx="100115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pPr algn="l" indent="0" marL="0">
              <a:buNone/>
            </a:pP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起床。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4901" y="2298204"/>
            <a:ext cx="10922198" cy="425351"/>
          </a:xfrm>
          <a:prstGeom prst="roundRect">
            <a:avLst>
              <a:gd name="adj" fmla="val 179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38051" y="2396579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16037" y="2429917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219051" y="2429917"/>
            <a:ext cx="19431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BREAKFAST 吃早饭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76451" y="2387054"/>
            <a:ext cx="1182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pPr algn="l" indent="0" marL="0">
              <a:buNone/>
            </a:pP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吃早饭。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4901" y="2799755"/>
            <a:ext cx="10922198" cy="425351"/>
          </a:xfrm>
          <a:prstGeom prst="roundRect">
            <a:avLst>
              <a:gd name="adj" fmla="val 179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38051" y="289813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15739" y="2931468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219051" y="2931468"/>
            <a:ext cx="19431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SCHOOL + TRANSPORT 上学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76451" y="2888605"/>
            <a:ext cx="136366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我每天</a:t>
            </a:r>
            <a:pPr algn="l" indent="0" marL="0">
              <a:buNone/>
            </a:pP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上学。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4901" y="3301305"/>
            <a:ext cx="10922198" cy="425351"/>
          </a:xfrm>
          <a:prstGeom prst="roundRect">
            <a:avLst>
              <a:gd name="adj" fmla="val 179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38051" y="3399681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15293" y="3433018"/>
            <a:ext cx="754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219051" y="3433018"/>
            <a:ext cx="19431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 TIMES 上课/放学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276451" y="3390156"/>
            <a:ext cx="200215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</a:t>
            </a:r>
            <a:pPr algn="l" indent="0" marL="0">
              <a:buNone/>
            </a:pP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上课，</a:t>
            </a:r>
            <a:pPr algn="l" indent="0" marL="0">
              <a:buNone/>
            </a:pP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放学。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4901" y="3802856"/>
            <a:ext cx="10922198" cy="425351"/>
          </a:xfrm>
          <a:prstGeom prst="roundRect">
            <a:avLst>
              <a:gd name="adj" fmla="val 179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38051" y="390123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15888" y="3934569"/>
            <a:ext cx="743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219051" y="3934569"/>
            <a:ext cx="19431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BEDTIME 睡觉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276451" y="3891707"/>
            <a:ext cx="100115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pPr algn="l" indent="0" marL="0">
              <a:buNone/>
            </a:pP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睡觉。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34901" y="4431357"/>
            <a:ext cx="10922198" cy="1354485"/>
          </a:xfrm>
          <a:prstGeom prst="roundRect">
            <a:avLst>
              <a:gd name="adj" fmla="val 9376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933301" y="4602807"/>
            <a:ext cx="1257300" cy="238125"/>
          </a:xfrm>
          <a:prstGeom prst="roundRect">
            <a:avLst>
              <a:gd name="adj" fmla="val 5328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111002" y="4640907"/>
            <a:ext cx="9199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8 min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33301" y="4917132"/>
            <a:ext cx="3372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933301" y="5107632"/>
            <a:ext cx="3372493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+ sentence frames provided for each of the 5 slots; shorter, simpler sentences are fine.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442817" y="4917132"/>
            <a:ext cx="3372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442817" y="5107632"/>
            <a:ext cx="3372493" cy="506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a 6th sentence about a family member's commute — 我爸爸每天开车上班，五点半下班。Use 不 correctly if applicable.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952333" y="4917132"/>
            <a:ext cx="3372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7952333" y="5107632"/>
            <a:ext cx="3372493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 whiteboards for the trickiest slot (transport + time) — check before moving on.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44363"/>
            <a:ext cx="16557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Activity 2 · 20–43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609451"/>
            <a:ext cx="1114064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8 MIN · YOU DO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34901" y="917377"/>
            <a:ext cx="1114064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独立写作 + 同伴校对 · Independent Writing + Peer Proofreading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634901" y="1444377"/>
            <a:ext cx="111406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Complete your full paragraph independently, then swap with a partner and check against this checklist.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4901" y="1796653"/>
            <a:ext cx="10922198" cy="669727"/>
          </a:xfrm>
          <a:prstGeom prst="roundRect">
            <a:avLst>
              <a:gd name="adj" fmla="val 1517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63501" y="1972717"/>
            <a:ext cx="317450" cy="317450"/>
          </a:xfrm>
          <a:prstGeom prst="roundRect">
            <a:avLst>
              <a:gd name="adj" fmla="val 44007"/>
            </a:avLst>
          </a:prstGeom>
          <a:noFill/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93577" y="2040880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358652" y="1923604"/>
            <a:ext cx="41347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order: </a:t>
            </a:r>
            <a:pPr algn="l" indent="0" marL="0">
              <a:buNone/>
            </a:pPr>
            <a:r>
              <a:rPr lang="en-US" sz="13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 before transport before activity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58652" y="2177504"/>
            <a:ext cx="41347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 → 交通工具 → 活动 顺序正确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4901" y="2567880"/>
            <a:ext cx="10922198" cy="669727"/>
          </a:xfrm>
          <a:prstGeom prst="roundRect">
            <a:avLst>
              <a:gd name="adj" fmla="val 1517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3501" y="2743944"/>
            <a:ext cx="317450" cy="317450"/>
          </a:xfrm>
          <a:prstGeom prst="roundRect">
            <a:avLst>
              <a:gd name="adj" fmla="val 44007"/>
            </a:avLst>
          </a:prstGeom>
          <a:noFill/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81968" y="2812107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358652" y="2694831"/>
            <a:ext cx="25885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goes directly before the verb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58652" y="2948732"/>
            <a:ext cx="25885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否定词"不"位于动词前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4901" y="3339108"/>
            <a:ext cx="10922198" cy="669727"/>
          </a:xfrm>
          <a:prstGeom prst="roundRect">
            <a:avLst>
              <a:gd name="adj" fmla="val 1517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63501" y="3515171"/>
            <a:ext cx="317450" cy="317450"/>
          </a:xfrm>
          <a:prstGeom prst="roundRect">
            <a:avLst>
              <a:gd name="adj" fmla="val 44007"/>
            </a:avLst>
          </a:prstGeom>
          <a:noFill/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81670" y="3583335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358652" y="3466058"/>
            <a:ext cx="2801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</a:t>
            </a:r>
            <a:pPr algn="l" indent="0" marL="0">
              <a:buNone/>
            </a:pPr>
            <a:r>
              <a:rPr lang="en-US" sz="13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radicals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key characters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58652" y="3719959"/>
            <a:ext cx="28015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关键汉字部首正确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34901" y="4211985"/>
            <a:ext cx="10922198" cy="1354485"/>
          </a:xfrm>
          <a:prstGeom prst="roundRect">
            <a:avLst>
              <a:gd name="adj" fmla="val 9376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33301" y="4383435"/>
            <a:ext cx="1306711" cy="238125"/>
          </a:xfrm>
          <a:prstGeom prst="roundRect">
            <a:avLst>
              <a:gd name="adj" fmla="val 532800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111002" y="4421535"/>
            <a:ext cx="9703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8 min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33301" y="4697760"/>
            <a:ext cx="3372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33301" y="4888260"/>
            <a:ext cx="3372493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Checklist provided with the 3 key rules highlighted.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442817" y="4697760"/>
            <a:ext cx="3372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442817" y="4888260"/>
            <a:ext cx="3372493" cy="506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paragraph about someone else — a family member or friend — instead of themselves, requiring third-person adjustment.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952333" y="4697760"/>
            <a:ext cx="3372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952333" y="4888260"/>
            <a:ext cx="3372493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Turn-and-talk peer check — every paragraph gets a second pair of eyes.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44363"/>
            <a:ext cx="27224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Activity · Whiteboard Quiz Relay · 20–43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680423" y="609451"/>
            <a:ext cx="28310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MIN · WHOLE CLASS · QUICKFIRE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424694" y="917377"/>
            <a:ext cx="534246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白板接力问答 · Whiteboard Quiz Relay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34146" y="1472952"/>
            <a:ext cx="51235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Live-paced quickfire round through the full Unit 4 vocabulary revision list.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6018" y="1799927"/>
            <a:ext cx="833735" cy="326827"/>
          </a:xfrm>
          <a:prstGeom prst="roundRect">
            <a:avLst>
              <a:gd name="adj" fmla="val 3881962"/>
            </a:avLst>
          </a:prstGeom>
          <a:solidFill>
            <a:srgbClr val="DCEA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779169" y="1863328"/>
            <a:ext cx="4359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时间词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536704" y="1799927"/>
            <a:ext cx="976164" cy="326827"/>
          </a:xfrm>
          <a:prstGeom prst="roundRect">
            <a:avLst>
              <a:gd name="adj" fmla="val 3881962"/>
            </a:avLst>
          </a:prstGeom>
          <a:solidFill>
            <a:srgbClr val="DCEA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739854" y="1863328"/>
            <a:ext cx="5812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日常起居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39818" y="1799927"/>
            <a:ext cx="976164" cy="326827"/>
          </a:xfrm>
          <a:prstGeom prst="roundRect">
            <a:avLst>
              <a:gd name="adj" fmla="val 3881962"/>
            </a:avLst>
          </a:prstGeom>
          <a:solidFill>
            <a:srgbClr val="DCEA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842968" y="1863328"/>
            <a:ext cx="5812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交通工具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62000" y="2253704"/>
            <a:ext cx="10668000" cy="2386757"/>
          </a:xfrm>
          <a:prstGeom prst="roundRect">
            <a:avLst>
              <a:gd name="adj" fmla="val 5321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111151" y="2450455"/>
            <a:ext cx="1969145" cy="238125"/>
          </a:xfrm>
          <a:prstGeom prst="roundRect">
            <a:avLst>
              <a:gd name="adj" fmla="val 5328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288852" y="2488555"/>
            <a:ext cx="164601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Whole Class · No Devices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864941" y="2790081"/>
            <a:ext cx="1928813" cy="371475"/>
          </a:xfrm>
          <a:prstGeom prst="roundRect">
            <a:avLst>
              <a:gd name="adj" fmla="val 27351"/>
            </a:avLst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017341" y="2866281"/>
            <a:ext cx="1656493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📢 Teacher calls a word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95255" y="2861518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161955" y="2790081"/>
            <a:ext cx="1889968" cy="371475"/>
          </a:xfrm>
          <a:prstGeom prst="roundRect">
            <a:avLst>
              <a:gd name="adj" fmla="val 27351"/>
            </a:avLst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314355" y="2866281"/>
            <a:ext cx="161687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on whiteboard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153424" y="2861518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420124" y="2790081"/>
            <a:ext cx="1906786" cy="371475"/>
          </a:xfrm>
          <a:prstGeom prst="roundRect">
            <a:avLst>
              <a:gd name="adj" fmla="val 27351"/>
            </a:avLst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572524" y="2866281"/>
            <a:ext cx="163402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🙌 Hold up immediately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111151" y="3288506"/>
            <a:ext cx="4785420" cy="526852"/>
          </a:xfrm>
          <a:prstGeom prst="roundRect">
            <a:avLst>
              <a:gd name="adj" fmla="val 19284"/>
            </a:avLst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288852" y="3390007"/>
            <a:ext cx="20402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🔁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590377" y="3390007"/>
            <a:ext cx="421106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gives </a:t>
            </a:r>
            <a:pPr algn="l" indent="0" marL="0">
              <a:buNone/>
            </a:pPr>
            <a:r>
              <a:rPr lang="en-US" sz="9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pPr algn="l" indent="0" marL="0"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(or Chinese) — students write the translation on mini whiteboards.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998071" y="3288506"/>
            <a:ext cx="4785420" cy="526852"/>
          </a:xfrm>
          <a:prstGeom prst="roundRect">
            <a:avLst>
              <a:gd name="adj" fmla="val 19284"/>
            </a:avLst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175772" y="3390007"/>
            <a:ext cx="20402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⚡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77298" y="3390007"/>
            <a:ext cx="421106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Quickfire pace — hold up </a:t>
            </a:r>
            <a:pPr algn="l" indent="0" marL="0">
              <a:buNone/>
            </a:pPr>
            <a:r>
              <a:rPr lang="en-US" sz="9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immediately</a:t>
            </a:r>
            <a:pPr algn="l" indent="0" marL="0"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no long pauses between call-outs.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111151" y="3916859"/>
            <a:ext cx="4785420" cy="526852"/>
          </a:xfrm>
          <a:prstGeom prst="roundRect">
            <a:avLst>
              <a:gd name="adj" fmla="val 19284"/>
            </a:avLst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288852" y="4018359"/>
            <a:ext cx="20402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📂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590377" y="4018359"/>
            <a:ext cx="421106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Extension: fluent students also sort each word into a category — </a:t>
            </a:r>
            <a:pPr algn="l" indent="0" marL="0">
              <a:buNone/>
            </a:pPr>
            <a:r>
              <a:rPr lang="en-US" sz="9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transport / routine / time</a:t>
            </a:r>
            <a:pPr algn="l" indent="0" marL="0"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as they go.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998071" y="3916859"/>
            <a:ext cx="4785420" cy="526852"/>
          </a:xfrm>
          <a:prstGeom prst="roundRect">
            <a:avLst>
              <a:gd name="adj" fmla="val 19284"/>
            </a:avLst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175772" y="4018359"/>
            <a:ext cx="20402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💻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77298" y="4018359"/>
            <a:ext cx="407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Setup: projector showing the vocabulary list — </a:t>
            </a:r>
            <a:pPr algn="l" indent="0" marL="0">
              <a:buNone/>
            </a:pPr>
            <a:r>
              <a:rPr lang="en-US" sz="9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devices</a:t>
            </a:r>
            <a:pPr algn="l" indent="0" marL="0"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required.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44363"/>
            <a:ext cx="10561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8950" y="634901"/>
            <a:ext cx="106223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88950" y="968276"/>
            <a:ext cx="1062238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回顾与反思 · Review &amp; Reflect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88950" y="1587401"/>
            <a:ext cx="1062238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88950" y="1898303"/>
            <a:ext cx="88850" cy="88850"/>
          </a:xfrm>
          <a:prstGeom prst="roundRect">
            <a:avLst>
              <a:gd name="adj" fmla="val 5717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04751" y="1838027"/>
            <a:ext cx="49116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at least 4 connected sentences about someone's day.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88950" y="2171254"/>
            <a:ext cx="88850" cy="88850"/>
          </a:xfrm>
          <a:prstGeom prst="roundRect">
            <a:avLst>
              <a:gd name="adj" fmla="val 5717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4751" y="2110978"/>
            <a:ext cx="580227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correctly sequence time, transport, and routine verbs in each sentence.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88950" y="2444204"/>
            <a:ext cx="88850" cy="88850"/>
          </a:xfrm>
          <a:prstGeom prst="roundRect">
            <a:avLst>
              <a:gd name="adj" fmla="val 5717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104751" y="2383929"/>
            <a:ext cx="463262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review and self-correct using the Unit 4 vocabulary list.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8950" y="2745879"/>
            <a:ext cx="5073700" cy="1028551"/>
          </a:xfrm>
          <a:prstGeom prst="roundRect">
            <a:avLst>
              <a:gd name="adj" fmla="val 1234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117550" y="2898279"/>
            <a:ext cx="470883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17550" y="3171230"/>
            <a:ext cx="4708830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your own paragraph, highlight: </a:t>
            </a:r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sentence you're proud of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and </a:t>
            </a:r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you're unsure about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91250" y="2745879"/>
            <a:ext cx="5111800" cy="1028551"/>
          </a:xfrm>
          <a:prstGeom prst="roundRect">
            <a:avLst>
              <a:gd name="adj" fmla="val 12347"/>
            </a:avLst>
          </a:prstGeom>
          <a:solidFill>
            <a:srgbClr val="F3E6C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38900" y="2917329"/>
            <a:ext cx="470883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🎭 EXIT TICKET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38900" y="3158579"/>
            <a:ext cx="4708830" cy="444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your paragraph once more and circle the transport word you used.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88950" y="3977580"/>
            <a:ext cx="81595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Achieved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917502" y="3977580"/>
            <a:ext cx="109390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 Getting there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218557" y="3977580"/>
            <a:ext cx="88441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Need help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647337" y="3991868"/>
            <a:ext cx="168882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lesson: Test 4.3! →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71025" y="1560909"/>
            <a:ext cx="449949" cy="5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buNone/>
            </a:pPr>
            <a:r>
              <a:rPr lang="en-US" sz="46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4790480" y="2246561"/>
            <a:ext cx="261104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Great work today!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043940" y="2824311"/>
            <a:ext cx="1010412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75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wrote a full paragraph combining time, daily routine, and transport — </a:t>
            </a:r>
            <a:pPr algn="ctr" indent="0" marL="0">
              <a:lnSpc>
                <a:spcPts val="1875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sentence follows the same order: time before transport before activity.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3726954" y="3529013"/>
            <a:ext cx="4738092" cy="1174552"/>
          </a:xfrm>
          <a:prstGeom prst="roundRect">
            <a:avLst>
              <a:gd name="adj" fmla="val 10813"/>
            </a:avLst>
          </a:prstGeom>
          <a:solidFill>
            <a:srgbClr val="DCEAEC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061665" y="3725763"/>
            <a:ext cx="40686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061665" y="3925788"/>
            <a:ext cx="406866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Test 4.3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061665" y="4306788"/>
            <a:ext cx="40686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Covering time, daily routine, and transport — you're ready!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1637" y="4932015"/>
            <a:ext cx="8548577" cy="218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5"/>
              </a:lnSpc>
              <a:spcBef>
                <a:spcPts val="1000"/>
              </a:spcBef>
              <a:spcAft>
                <a:spcPts val="1150"/>
              </a:spcAft>
              <a:buNone/>
            </a:pPr>
            <a:r>
              <a:rPr lang="en-US" sz="11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</a:t>
            </a:r>
            <a:pPr algn="ctr" indent="0" marL="0">
              <a:lnSpc>
                <a:spcPts val="1725"/>
              </a:lnSpc>
              <a:spcBef>
                <a:spcPts val="1000"/>
              </a:spcBef>
              <a:spcAft>
                <a:spcPts val="1150"/>
              </a:spcAft>
              <a:buNone/>
            </a:pPr>
            <a:r>
              <a:rPr lang="en-US" sz="11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cumulative paragraph writing</a:t>
            </a:r>
            <a:pPr algn="ctr" indent="0" marL="0">
              <a:lnSpc>
                <a:spcPts val="1725"/>
              </a:lnSpc>
              <a:spcBef>
                <a:spcPts val="1000"/>
              </a:spcBef>
              <a:spcAft>
                <a:spcPts val="1150"/>
              </a:spcAft>
              <a:buNone/>
            </a:pPr>
            <a:r>
              <a:rPr lang="en-US" sz="11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across the whole unit — time, routine, and transport, all in one piece of writing.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2026-07-18T08:51:17Z</dcterms:created>
  <dcterms:modified xsi:type="dcterms:W3CDTF">2026-07-18T08:51:17Z</dcterms:modified>
</cp:coreProperties>
</file>