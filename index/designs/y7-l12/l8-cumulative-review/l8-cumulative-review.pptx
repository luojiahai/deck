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73662" y="2315319"/>
            <a:ext cx="2697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8 · Y7 UNIT 4.3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70350" y="2721620"/>
            <a:ext cx="3316173" cy="89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综合复习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718620" y="3768030"/>
            <a:ext cx="48497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Synthesis · Test 4.3 Prep · 综合运用与备考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75981" y="4333131"/>
            <a:ext cx="3712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· 50 mins · Writing-Focused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44363"/>
            <a:ext cx="18433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Lesson 7 Recap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34901"/>
            <a:ext cx="11140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— 8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942826"/>
            <a:ext cx="1114064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答案找问题 · Answer → Question + Negation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34901" y="1536502"/>
            <a:ext cx="111406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mini whiteboards: write the matching 怎么 question for each answer below. Hold up after each item.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1873002"/>
            <a:ext cx="5133380" cy="796826"/>
          </a:xfrm>
          <a:prstGeom prst="roundRect">
            <a:avLst>
              <a:gd name="adj" fmla="val 127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051" y="211901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58900" y="2171402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95251" y="2025402"/>
            <a:ext cx="43552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坐火车。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95251" y="2355503"/>
            <a:ext cx="43552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matching question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95231" y="1873002"/>
            <a:ext cx="5133380" cy="796826"/>
          </a:xfrm>
          <a:prstGeom prst="roundRect">
            <a:avLst>
              <a:gd name="adj" fmla="val 127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8381" y="211901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06579" y="2171402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55581" y="2025402"/>
            <a:ext cx="43552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开车。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55581" y="2355503"/>
            <a:ext cx="43552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matching question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4901" y="2796778"/>
            <a:ext cx="5133380" cy="796826"/>
          </a:xfrm>
          <a:prstGeom prst="roundRect">
            <a:avLst>
              <a:gd name="adj" fmla="val 127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8051" y="304279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45803" y="3095179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95251" y="2949178"/>
            <a:ext cx="43552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坐地铁。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95251" y="3279279"/>
            <a:ext cx="43552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matching question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95231" y="2796778"/>
            <a:ext cx="5133380" cy="796826"/>
          </a:xfrm>
          <a:prstGeom prst="roundRect">
            <a:avLst>
              <a:gd name="adj" fmla="val 1275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98381" y="304279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05686" y="3095179"/>
            <a:ext cx="9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55581" y="2949178"/>
            <a:ext cx="43552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走路。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555581" y="3279279"/>
            <a:ext cx="43552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matching question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4901" y="3720554"/>
            <a:ext cx="10922198" cy="739676"/>
          </a:xfrm>
          <a:prstGeom prst="roundRect">
            <a:avLst>
              <a:gd name="adj" fmla="val 13736"/>
            </a:avLst>
          </a:prstGeom>
          <a:solidFill>
            <a:srgbClr val="F6E4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38051" y="393799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45952" y="3990380"/>
            <a:ext cx="906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95251" y="3872954"/>
            <a:ext cx="90196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"My dad doesn't drive."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95251" y="4145905"/>
            <a:ext cx="90196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into Chinese — remember 不 goes right before the verb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90423" y="3980855"/>
            <a:ext cx="1063526" cy="219075"/>
          </a:xfrm>
          <a:prstGeom prst="roundRect">
            <a:avLst>
              <a:gd name="adj" fmla="val 5791304"/>
            </a:avLst>
          </a:prstGeom>
          <a:solidFill>
            <a:srgbClr val="F6E4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417373" y="4018955"/>
            <a:ext cx="8258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否定句 Negation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4901" y="4612481"/>
            <a:ext cx="2546747" cy="361950"/>
          </a:xfrm>
          <a:prstGeom prst="roundRect">
            <a:avLst>
              <a:gd name="adj" fmla="val 350526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12602" y="4688681"/>
            <a:ext cx="22351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→ hold up after each item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34048" y="4612481"/>
            <a:ext cx="3275558" cy="361950"/>
          </a:xfrm>
          <a:prstGeom prst="roundRect">
            <a:avLst>
              <a:gd name="adj" fmla="val 350526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511748" y="4688681"/>
            <a:ext cx="29785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Cold call 2 students per item to say it aloud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44363"/>
            <a:ext cx="14612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Answers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34901"/>
            <a:ext cx="11140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— ANSWERS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968276"/>
            <a:ext cx="1114064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答案找问题 · Model Answers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34901" y="1587401"/>
            <a:ext cx="5133380" cy="577751"/>
          </a:xfrm>
          <a:prstGeom prst="roundRect">
            <a:avLst>
              <a:gd name="adj" fmla="val 17585"/>
            </a:avLst>
          </a:prstGeom>
          <a:solidFill>
            <a:srgbClr val="F3E6C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7101" y="1736527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68127" y="1785640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63402" y="1752451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坐火车。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75855" y="1771501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29755" y="1733401"/>
            <a:ext cx="12434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你怎么上班？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95231" y="1587401"/>
            <a:ext cx="5133380" cy="577751"/>
          </a:xfrm>
          <a:prstGeom prst="roundRect">
            <a:avLst>
              <a:gd name="adj" fmla="val 17585"/>
            </a:avLst>
          </a:prstGeom>
          <a:solidFill>
            <a:srgbClr val="F3E6C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17431" y="1736527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6848" y="1785640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23732" y="1752451"/>
            <a:ext cx="5439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开车。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58484" y="1771501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12385" y="1733401"/>
            <a:ext cx="16578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你爸爸怎么上班？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901" y="2292102"/>
            <a:ext cx="5133380" cy="577751"/>
          </a:xfrm>
          <a:prstGeom prst="roundRect">
            <a:avLst>
              <a:gd name="adj" fmla="val 17585"/>
            </a:avLst>
          </a:prstGeom>
          <a:solidFill>
            <a:srgbClr val="F3E6C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57101" y="2441228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56221" y="2490341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63402" y="2457152"/>
            <a:ext cx="7251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坐地铁。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75855" y="2476202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29755" y="2438102"/>
            <a:ext cx="12434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你怎么上学？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95231" y="2292102"/>
            <a:ext cx="5133380" cy="577751"/>
          </a:xfrm>
          <a:prstGeom prst="roundRect">
            <a:avLst>
              <a:gd name="adj" fmla="val 17585"/>
            </a:avLst>
          </a:prstGeom>
          <a:solidFill>
            <a:srgbClr val="F3E6C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17431" y="2441228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16104" y="2490341"/>
            <a:ext cx="836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23732" y="2457152"/>
            <a:ext cx="5439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58484" y="2476202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12385" y="2438102"/>
            <a:ext cx="12434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你怎么上学？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4901" y="2996803"/>
            <a:ext cx="10922198" cy="577751"/>
          </a:xfrm>
          <a:prstGeom prst="roundRect">
            <a:avLst>
              <a:gd name="adj" fmla="val 17585"/>
            </a:avLst>
          </a:prstGeom>
          <a:solidFill>
            <a:srgbClr val="F6E4E1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57101" y="3145929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56370" y="3195042"/>
            <a:ext cx="82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63402" y="3180904"/>
            <a:ext cx="18533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"My dad doesn't drive."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181945" y="318090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35846" y="3142804"/>
            <a:ext cx="1450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我爸爸不开车。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4901" y="3726954"/>
            <a:ext cx="10922198" cy="666750"/>
          </a:xfrm>
          <a:prstGeom prst="roundRect">
            <a:avLst>
              <a:gd name="adj" fmla="val 190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63501" y="3879354"/>
            <a:ext cx="1067429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More than one valid question can be correct as long as the grammar is right — e.g. 你怎么上学？or 你怎么上班？both work for most answers here, depending on who you imagine is speaking.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44363"/>
            <a:ext cx="2492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685651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1069777"/>
            <a:ext cx="1062238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88950" y="1806327"/>
            <a:ext cx="10414099" cy="1101477"/>
          </a:xfrm>
          <a:prstGeom prst="rect">
            <a:avLst/>
          </a:prstGeom>
          <a:solidFill>
            <a:srgbClr val="F3E6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17525" y="1806327"/>
            <a:ext cx="0" cy="1101477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0001" y="1984028"/>
            <a:ext cx="100461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00001" y="2196703"/>
            <a:ext cx="100461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write a full paragraph describing someone's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daily routine, including time and transport</a:t>
            </a: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8950" y="3110954"/>
            <a:ext cx="317450" cy="317450"/>
          </a:xfrm>
          <a:prstGeom prst="roundRect">
            <a:avLst>
              <a:gd name="adj" fmla="val 44007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19026" y="3179118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58801" y="3155305"/>
            <a:ext cx="5390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at least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connected sentences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someone's day.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0701" y="3453705"/>
            <a:ext cx="101819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写出连贯的四句话描述一天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8950" y="3761631"/>
            <a:ext cx="317450" cy="317450"/>
          </a:xfrm>
          <a:prstGeom prst="roundRect">
            <a:avLst>
              <a:gd name="adj" fmla="val 44007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07418" y="3829794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58801" y="3805982"/>
            <a:ext cx="643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correctly </a:t>
            </a: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sequence time, transport, and routine verbs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each sentence.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0701" y="4104382"/>
            <a:ext cx="101819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正确排列时间、交通工具和动词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8950" y="4412307"/>
            <a:ext cx="317450" cy="317450"/>
          </a:xfrm>
          <a:prstGeom prst="roundRect">
            <a:avLst>
              <a:gd name="adj" fmla="val 44007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07120" y="4480471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58801" y="4456658"/>
            <a:ext cx="50534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review and </a:t>
            </a: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self-correct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the Unit 4 vocabulary list.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0701" y="4755059"/>
            <a:ext cx="101819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核对第四单元词汇表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44363"/>
            <a:ext cx="2349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Unit 4 Vocabulary Revision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33251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TEST 4.3 COVERAGE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726877"/>
            <a:ext cx="113996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第四单元词汇复习 · Unit 4 Vocabulary Revision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1091952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read through every word — this is the full Test 4.3 coverage list.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1329928"/>
            <a:ext cx="55703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 / 下 · TIME &amp; ROUTINE PAIRS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1498104"/>
            <a:ext cx="5461099" cy="19050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7950" y="1679079"/>
            <a:ext cx="5461099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4150" y="1517154"/>
            <a:ext cx="725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汉字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71451" y="1517154"/>
            <a:ext cx="803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34952" y="1517154"/>
            <a:ext cx="37310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7950" y="193149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4150" y="170765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451" y="172670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diǎn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34952" y="172670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o'clock; point in time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1936254"/>
            <a:ext cx="5461099" cy="24765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7950" y="217914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150" y="195530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451" y="197435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kè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34952" y="197435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quarter (hour)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7950" y="242679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4150" y="220295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451" y="222200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bān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34952" y="222200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work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950" y="2431554"/>
            <a:ext cx="5461099" cy="24765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07950" y="267444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4150" y="245060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451" y="246965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xué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34952" y="246965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school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7950" y="292209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4150" y="269825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371451" y="271730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chē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34952" y="271730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 on (a vehicle)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7950" y="2926854"/>
            <a:ext cx="5461099" cy="24765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07950" y="316974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4150" y="294590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371451" y="296495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kè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34952" y="296495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class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7950" y="341739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4150" y="319355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放学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371451" y="321260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fàng xué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34952" y="321260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finish school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7950" y="3422154"/>
            <a:ext cx="5461099" cy="24765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507950" y="366504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4150" y="344120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下车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371451" y="346025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chē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234952" y="346025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 off (a vehicle)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7950" y="391269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4150" y="368885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下课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371451" y="370790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kè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234952" y="370790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finish class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7950" y="3917454"/>
            <a:ext cx="5461099" cy="24765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507950" y="416034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4150" y="393650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下班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371451" y="395555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bān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234952" y="395555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finish work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22950" y="1329928"/>
            <a:ext cx="55703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日常起居 &amp; 交通工具 · ROUTINE &amp; TRANSPORT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22950" y="1498104"/>
            <a:ext cx="5461099" cy="19050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6222950" y="1679079"/>
            <a:ext cx="5461099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99150" y="1517154"/>
            <a:ext cx="725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汉字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086451" y="1517154"/>
            <a:ext cx="803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949952" y="1517154"/>
            <a:ext cx="37310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222950" y="193149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99150" y="170765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086451" y="172670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qǐ chuáng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949952" y="172670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 up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222950" y="1936254"/>
            <a:ext cx="5461099" cy="24765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6222950" y="217914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99150" y="195530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睡觉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086451" y="197435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shuì jiào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949952" y="197435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sleep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222950" y="242679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99150" y="220295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工作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086451" y="222200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gōng zuò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949952" y="222200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work; job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222950" y="2431554"/>
            <a:ext cx="5461099" cy="24765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6222950" y="267444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99150" y="245060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7086451" y="246965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měi tiān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949952" y="246965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day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222950" y="292209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99150" y="269825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开车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086451" y="271730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kāi chē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949952" y="271730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drive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222950" y="2926854"/>
            <a:ext cx="5461099" cy="24765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Shape 88"/>
          <p:cNvSpPr/>
          <p:nvPr/>
        </p:nvSpPr>
        <p:spPr>
          <a:xfrm>
            <a:off x="6222950" y="316974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99150" y="294590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走路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7086451" y="296495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zǒu lù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949952" y="296495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walk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22950" y="341739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99150" y="319355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汽车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7086451" y="321260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qì chē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949952" y="321260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222950" y="3422154"/>
            <a:ext cx="5461099" cy="24765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Shape 97"/>
          <p:cNvSpPr/>
          <p:nvPr/>
        </p:nvSpPr>
        <p:spPr>
          <a:xfrm>
            <a:off x="6222950" y="366504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299150" y="344120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地铁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7086451" y="346025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dì tiě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949952" y="346025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subway; metro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222950" y="391269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99150" y="368885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飞机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7086451" y="370790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fēi jī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949952" y="370790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airplane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6222950" y="3917454"/>
            <a:ext cx="5461099" cy="247650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Shape 106"/>
          <p:cNvSpPr/>
          <p:nvPr/>
        </p:nvSpPr>
        <p:spPr>
          <a:xfrm>
            <a:off x="6222950" y="4160341"/>
            <a:ext cx="5461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299150" y="3936504"/>
            <a:ext cx="725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7086451" y="395555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chū zū chē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949952" y="3955554"/>
            <a:ext cx="3731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taxi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507950" y="4266605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ITEMS FOR TODAY ONLY — IN TEST 4.3 BUT NOT IN EARLIER NEW WORDS TABLES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507950" y="4485531"/>
            <a:ext cx="11176099" cy="203002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Shape 112"/>
          <p:cNvSpPr/>
          <p:nvPr/>
        </p:nvSpPr>
        <p:spPr>
          <a:xfrm>
            <a:off x="507950" y="4679007"/>
            <a:ext cx="11176099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84150" y="4510832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汉字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1523851" y="4510832"/>
            <a:ext cx="9584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2565053" y="4510832"/>
            <a:ext cx="2461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5079504" y="4510832"/>
            <a:ext cx="6658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NOTE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507950" y="4994672"/>
            <a:ext cx="11176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84150" y="4764584"/>
            <a:ext cx="854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分钟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1523851" y="4783634"/>
            <a:ext cx="9584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fēn zhōng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2565053" y="4783634"/>
            <a:ext cx="24612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 (duration)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5079504" y="4783634"/>
            <a:ext cx="66589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Measures how long — e.g. 三十分钟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507950" y="5050185"/>
            <a:ext cx="11176099" cy="260152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Shape 123"/>
          <p:cNvSpPr/>
          <p:nvPr/>
        </p:nvSpPr>
        <p:spPr>
          <a:xfrm>
            <a:off x="507950" y="5305574"/>
            <a:ext cx="11176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84150" y="5075486"/>
            <a:ext cx="854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公车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1523851" y="5094536"/>
            <a:ext cx="9584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gōng chē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2565053" y="5094536"/>
            <a:ext cx="24612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public bus (short form)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5079504" y="5094536"/>
            <a:ext cx="66589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Abbreviation of 公共汽车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507950" y="5616476"/>
            <a:ext cx="11176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84150" y="5386388"/>
            <a:ext cx="854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坐车</a:t>
            </a:r>
            <a:endParaRPr lang="en-US" sz="1100" dirty="0"/>
          </a:p>
        </p:txBody>
      </p:sp>
      <p:sp>
        <p:nvSpPr>
          <p:cNvPr id="132" name="Text 130"/>
          <p:cNvSpPr/>
          <p:nvPr/>
        </p:nvSpPr>
        <p:spPr>
          <a:xfrm>
            <a:off x="1523851" y="5405438"/>
            <a:ext cx="9584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zuò chē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2565053" y="5405438"/>
            <a:ext cx="24612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travel by vehicle (general)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5079504" y="5405438"/>
            <a:ext cx="66589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Used when the specific vehicle isn't named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507950" y="5671989"/>
            <a:ext cx="11176099" cy="260152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Shape 134"/>
          <p:cNvSpPr/>
          <p:nvPr/>
        </p:nvSpPr>
        <p:spPr>
          <a:xfrm>
            <a:off x="507950" y="5927378"/>
            <a:ext cx="11176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84150" y="5697289"/>
            <a:ext cx="854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怎么去</a:t>
            </a:r>
            <a:endParaRPr lang="en-US" sz="1100" dirty="0"/>
          </a:p>
        </p:txBody>
      </p:sp>
      <p:sp>
        <p:nvSpPr>
          <p:cNvPr id="138" name="Text 136"/>
          <p:cNvSpPr/>
          <p:nvPr/>
        </p:nvSpPr>
        <p:spPr>
          <a:xfrm>
            <a:off x="1523851" y="5716339"/>
            <a:ext cx="9584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zěn me qù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2565053" y="5716339"/>
            <a:ext cx="24612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get (there)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5079504" y="5716339"/>
            <a:ext cx="66589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General form of 怎么上学/上班, for any destination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507950" y="6238280"/>
            <a:ext cx="11176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84150" y="6008191"/>
            <a:ext cx="854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船</a:t>
            </a:r>
            <a:endParaRPr lang="en-US" sz="1100" dirty="0"/>
          </a:p>
        </p:txBody>
      </p:sp>
      <p:sp>
        <p:nvSpPr>
          <p:cNvPr id="143" name="Text 141"/>
          <p:cNvSpPr/>
          <p:nvPr/>
        </p:nvSpPr>
        <p:spPr>
          <a:xfrm>
            <a:off x="1523851" y="6027241"/>
            <a:ext cx="9584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chuán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2565053" y="6027241"/>
            <a:ext cx="24612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boat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5079504" y="6027241"/>
            <a:ext cx="66589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 渡船 (ferry) from Lesson 1</a:t>
            </a:r>
            <a:endParaRPr lang="en-US" sz="900" dirty="0"/>
          </a:p>
        </p:txBody>
      </p:sp>
      <p:sp>
        <p:nvSpPr>
          <p:cNvPr id="146" name="Text 144"/>
          <p:cNvSpPr/>
          <p:nvPr/>
        </p:nvSpPr>
        <p:spPr>
          <a:xfrm>
            <a:off x="507950" y="6331893"/>
            <a:ext cx="11176099" cy="477292"/>
          </a:xfrm>
          <a:prstGeom prst="roundRect">
            <a:avLst>
              <a:gd name="adj" fmla="val 15965"/>
            </a:avLst>
          </a:prstGeom>
          <a:solidFill>
            <a:srgbClr val="F6E4E1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7" name="Text 145"/>
          <p:cNvSpPr/>
          <p:nvPr/>
        </p:nvSpPr>
        <p:spPr>
          <a:xfrm>
            <a:off x="730151" y="6414343"/>
            <a:ext cx="5950592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 (a point in time, e.g. 三点) ≠ 分钟 (a duration, e.g. 三十分钟)</a:t>
            </a:r>
            <a:endParaRPr lang="en-US" sz="950" dirty="0"/>
          </a:p>
        </p:txBody>
      </p:sp>
      <p:sp>
        <p:nvSpPr>
          <p:cNvPr id="148" name="Text 146"/>
          <p:cNvSpPr/>
          <p:nvPr/>
        </p:nvSpPr>
        <p:spPr>
          <a:xfrm>
            <a:off x="730151" y="6583859"/>
            <a:ext cx="59505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点/分 tells you WHEN something happens · 分钟 tells you HOW LONG it lasts — don't mix them up in your paragraph.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44363"/>
            <a:ext cx="2997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Speaking Warm-Up &amp; Model Paragraph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84150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EX14, P.95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847576"/>
            <a:ext cx="111406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示范段落 · Speaking Warm-Up &amp; Model Paragraph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4901" y="1330077"/>
            <a:ext cx="111406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Bridge straight from oral sentence production into today's written paragraph.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4901" y="1647379"/>
            <a:ext cx="10922198" cy="1203424"/>
          </a:xfrm>
          <a:prstGeom prst="roundRect">
            <a:avLst>
              <a:gd name="adj" fmla="val 844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051" y="1748879"/>
            <a:ext cx="10726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 WARM-UP · EX14, P.95 · 2–3 MIN · PAIRS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38051" y="1929854"/>
            <a:ext cx="10726216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5 compound-sentence scenes — each combines subject + time + transport + activity. In pairs, produce each sentence aloud before moving to writing.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38051" y="2187625"/>
            <a:ext cx="2021979" cy="561677"/>
          </a:xfrm>
          <a:prstGeom prst="roundRect">
            <a:avLst>
              <a:gd name="adj" fmla="val 11305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9312" y="2260550"/>
            <a:ext cx="1939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79312" y="2419201"/>
            <a:ext cx="19394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👤🕐🚌✅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61531" y="2187625"/>
            <a:ext cx="2021979" cy="561677"/>
          </a:xfrm>
          <a:prstGeom prst="roundRect">
            <a:avLst>
              <a:gd name="adj" fmla="val 11305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02792" y="2260550"/>
            <a:ext cx="1939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02792" y="2419201"/>
            <a:ext cx="19394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👤🕐🚗✅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85011" y="2187625"/>
            <a:ext cx="2021979" cy="561677"/>
          </a:xfrm>
          <a:prstGeom prst="roundRect">
            <a:avLst>
              <a:gd name="adj" fmla="val 11305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26272" y="2260550"/>
            <a:ext cx="1939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26272" y="2419201"/>
            <a:ext cx="19394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👤🕐🚶✅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08490" y="2187625"/>
            <a:ext cx="2021979" cy="561677"/>
          </a:xfrm>
          <a:prstGeom prst="roundRect">
            <a:avLst>
              <a:gd name="adj" fmla="val 11305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49751" y="2260550"/>
            <a:ext cx="1939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249751" y="2419201"/>
            <a:ext cx="19394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👤🕐🚍✅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31970" y="2187625"/>
            <a:ext cx="2021979" cy="561677"/>
          </a:xfrm>
          <a:prstGeom prst="roundRect">
            <a:avLst>
              <a:gd name="adj" fmla="val 11305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373231" y="2260550"/>
            <a:ext cx="1939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 5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373231" y="2419201"/>
            <a:ext cx="19394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👤🕐✈️✅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4901" y="2977604"/>
            <a:ext cx="111406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PARAGRAPH · BUILT STEP BY STEP ON THE PROJECTOR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4901" y="3221980"/>
            <a:ext cx="10922198" cy="400050"/>
          </a:xfrm>
          <a:prstGeom prst="roundRect">
            <a:avLst>
              <a:gd name="adj" fmla="val 190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2602" y="330770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01005" y="334104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68152" y="3298180"/>
            <a:ext cx="14503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王小天七点起床。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4901" y="3685431"/>
            <a:ext cx="10922198" cy="400050"/>
          </a:xfrm>
          <a:prstGeom prst="roundRect">
            <a:avLst>
              <a:gd name="adj" fmla="val 190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12602" y="377115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90588" y="3804493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68152" y="3761631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他七点一刻吃早饭。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4901" y="4148882"/>
            <a:ext cx="10922198" cy="400050"/>
          </a:xfrm>
          <a:prstGeom prst="roundRect">
            <a:avLst>
              <a:gd name="adj" fmla="val 190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12602" y="423460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90290" y="4267944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68152" y="4225082"/>
            <a:ext cx="19942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他每天坐公共汽车上学。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34901" y="4612332"/>
            <a:ext cx="10922198" cy="400050"/>
          </a:xfrm>
          <a:prstGeom prst="roundRect">
            <a:avLst>
              <a:gd name="adj" fmla="val 190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12602" y="469805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89843" y="4731395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68152" y="4688532"/>
            <a:ext cx="27194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他们八点上课，下午三点半放学。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34901" y="5075783"/>
            <a:ext cx="10922198" cy="400050"/>
          </a:xfrm>
          <a:prstGeom prst="roundRect">
            <a:avLst>
              <a:gd name="adj" fmla="val 190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12602" y="516150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90439" y="5194846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68152" y="5151983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他晚上九点半睡觉。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34901" y="5602635"/>
            <a:ext cx="3778151" cy="361950"/>
          </a:xfrm>
          <a:prstGeom prst="roundRect">
            <a:avLst>
              <a:gd name="adj" fmla="val 21053"/>
            </a:avLst>
          </a:prstGeom>
          <a:solidFill>
            <a:srgbClr val="F3E6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12602" y="5678835"/>
            <a:ext cx="34912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起居动词 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时间 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交通工具 </a:t>
            </a: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下一个起居动词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616202" y="5702647"/>
            <a:ext cx="70797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Routine verb → Time → Transport (where relevant) → Next routine verb — every sentence follows this sequence.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44363"/>
            <a:ext cx="2255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1500188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1884313"/>
            <a:ext cx="1062238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88950" y="2563713"/>
            <a:ext cx="10414099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3233" y="2716113"/>
            <a:ext cx="4403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27002" y="2797076"/>
            <a:ext cx="8381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are the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ingredients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every good sentence needs in today's paragraph?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122247" y="2792313"/>
            <a:ext cx="952202" cy="238125"/>
          </a:xfrm>
          <a:prstGeom prst="roundRect">
            <a:avLst>
              <a:gd name="adj" fmla="val 5328000"/>
            </a:avLst>
          </a:prstGeom>
          <a:solidFill>
            <a:srgbClr val="DCEA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274647" y="2830413"/>
            <a:ext cx="660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Cold call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88950" y="3411438"/>
            <a:ext cx="10414099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13233" y="3563838"/>
            <a:ext cx="4403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27002" y="3644801"/>
            <a:ext cx="8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"He goes to school by subway."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50326" y="3640038"/>
            <a:ext cx="1324124" cy="238125"/>
          </a:xfrm>
          <a:prstGeom prst="roundRect">
            <a:avLst>
              <a:gd name="adj" fmla="val 5328000"/>
            </a:avLst>
          </a:prstGeom>
          <a:solidFill>
            <a:srgbClr val="DCEA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902726" y="3678138"/>
            <a:ext cx="10397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&amp; hold up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88950" y="4259163"/>
            <a:ext cx="10414099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13233" y="4411563"/>
            <a:ext cx="4403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27002" y="4492526"/>
            <a:ext cx="8179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Fix the word order: </a:t>
            </a: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他上学每天坐公共汽车。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23562" y="4487763"/>
            <a:ext cx="1150888" cy="238125"/>
          </a:xfrm>
          <a:prstGeom prst="roundRect">
            <a:avLst>
              <a:gd name="adj" fmla="val 5328000"/>
            </a:avLst>
          </a:prstGeom>
          <a:solidFill>
            <a:srgbClr val="DCEA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075962" y="4525863"/>
            <a:ext cx="8630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Whiteboards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88950" y="5157639"/>
            <a:ext cx="10414099" cy="352425"/>
          </a:xfrm>
          <a:prstGeom prst="roundRect">
            <a:avLst>
              <a:gd name="adj" fmla="val 28829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85701" y="5252889"/>
            <a:ext cx="22529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44363"/>
            <a:ext cx="17594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1403598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1762274"/>
            <a:ext cx="1062238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88950" y="2416225"/>
            <a:ext cx="10414099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3233" y="2568625"/>
            <a:ext cx="4403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27002" y="2659112"/>
            <a:ext cx="52865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3 ingredients every good sentence needs: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07906" y="2649587"/>
            <a:ext cx="4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 · 交通工具 · 活动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8950" y="3238500"/>
            <a:ext cx="10414099" cy="695325"/>
          </a:xfrm>
          <a:prstGeom prst="roundRect">
            <a:avLst>
              <a:gd name="adj" fmla="val 1461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13233" y="3390900"/>
            <a:ext cx="4403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27002" y="3481388"/>
            <a:ext cx="52865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"He goes to school by subway."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07906" y="3471863"/>
            <a:ext cx="4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他坐地铁上学。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8950" y="4060775"/>
            <a:ext cx="10414099" cy="695325"/>
          </a:xfrm>
          <a:prstGeom prst="roundRect">
            <a:avLst>
              <a:gd name="adj" fmla="val 14612"/>
            </a:avLst>
          </a:prstGeom>
          <a:solidFill>
            <a:srgbClr val="F6E4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13233" y="4213175"/>
            <a:ext cx="4403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27002" y="4303663"/>
            <a:ext cx="52865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Fix the word order: 他上学每天坐公共汽车。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07906" y="4294138"/>
            <a:ext cx="4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他每天坐公共汽车上学。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8950" y="4933801"/>
            <a:ext cx="10414099" cy="673001"/>
          </a:xfrm>
          <a:prstGeom prst="roundRect">
            <a:avLst>
              <a:gd name="adj" fmla="val 15097"/>
            </a:avLst>
          </a:prstGeom>
          <a:solidFill>
            <a:srgbClr val="F3E6C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36600" y="5079802"/>
            <a:ext cx="10117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Q3 —</a:t>
            </a: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每天 (time) must come right after the subject, before the transport word and the verb — the same order rule you'll use in your own paragraph today.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44363"/>
            <a:ext cx="15994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09451"/>
            <a:ext cx="11140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8 MIN · WE 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917377"/>
            <a:ext cx="111406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段落搭建 · Guided Paragraph Drafting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34901" y="1444377"/>
            <a:ext cx="11140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the 5-blank template with your OWN information, supported by the vocabulary sheet.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1796653"/>
            <a:ext cx="10922198" cy="425351"/>
          </a:xfrm>
          <a:prstGeom prst="roundRect">
            <a:avLst>
              <a:gd name="adj" fmla="val 179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051" y="189502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26455" y="1928366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19051" y="1928366"/>
            <a:ext cx="1943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WAKE UP 起床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76451" y="1885504"/>
            <a:ext cx="10011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4901" y="2298204"/>
            <a:ext cx="10922198" cy="425351"/>
          </a:xfrm>
          <a:prstGeom prst="roundRect">
            <a:avLst>
              <a:gd name="adj" fmla="val 179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8051" y="239657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6037" y="2429917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19051" y="2429917"/>
            <a:ext cx="1943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BREAKFAST 吃早饭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76451" y="2387054"/>
            <a:ext cx="1182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吃早饭。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4901" y="2799755"/>
            <a:ext cx="10922198" cy="425351"/>
          </a:xfrm>
          <a:prstGeom prst="roundRect">
            <a:avLst>
              <a:gd name="adj" fmla="val 179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8051" y="289813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15739" y="2931468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19051" y="2931468"/>
            <a:ext cx="1943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+ TRANSPORT 上学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76451" y="2888605"/>
            <a:ext cx="136366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</a:t>
            </a: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4901" y="3301305"/>
            <a:ext cx="10922198" cy="425351"/>
          </a:xfrm>
          <a:prstGeom prst="roundRect">
            <a:avLst>
              <a:gd name="adj" fmla="val 179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38051" y="339968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15293" y="3433018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19051" y="3433018"/>
            <a:ext cx="1943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TIMES 上课/放学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76451" y="3390156"/>
            <a:ext cx="20021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</a:t>
            </a: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上课，</a:t>
            </a: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放学。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4901" y="3802856"/>
            <a:ext cx="10922198" cy="425351"/>
          </a:xfrm>
          <a:prstGeom prst="roundRect">
            <a:avLst>
              <a:gd name="adj" fmla="val 179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38051" y="390123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15888" y="3934569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19051" y="3934569"/>
            <a:ext cx="1943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BEDTIME 睡觉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76451" y="3891707"/>
            <a:ext cx="10011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</a:t>
            </a: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睡觉。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4901" y="4431357"/>
            <a:ext cx="10922198" cy="1354485"/>
          </a:xfrm>
          <a:prstGeom prst="roundRect">
            <a:avLst>
              <a:gd name="adj" fmla="val 9376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33301" y="4602807"/>
            <a:ext cx="1257300" cy="238125"/>
          </a:xfrm>
          <a:prstGeom prst="roundRect">
            <a:avLst>
              <a:gd name="adj" fmla="val 5328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11002" y="4640907"/>
            <a:ext cx="9199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8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33301" y="4917132"/>
            <a:ext cx="33724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33301" y="5107632"/>
            <a:ext cx="3372493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+ sentence frames provided for each of the 5 slots; shorter, simpler sentences are fine.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42817" y="4917132"/>
            <a:ext cx="33724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442817" y="5107632"/>
            <a:ext cx="3372493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6th sentence about a family member's commute — 我爸爸每天开车上班，五点半下班。Use 不 correctly if applicable.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952333" y="4917132"/>
            <a:ext cx="33724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952333" y="5107632"/>
            <a:ext cx="3372493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for the trickiest slot (transport + time) — check before moving on.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44363"/>
            <a:ext cx="16557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09451"/>
            <a:ext cx="11140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8 MIN · YOU 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917377"/>
            <a:ext cx="111406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独立写作 + 同伴校对 · Independent Writing + Peer Proofreading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34901" y="1444377"/>
            <a:ext cx="11140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your full paragraph independently, then swap with a partner and check against this checklist.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1796653"/>
            <a:ext cx="10922198" cy="669727"/>
          </a:xfrm>
          <a:prstGeom prst="roundRect">
            <a:avLst>
              <a:gd name="adj" fmla="val 151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3501" y="1972717"/>
            <a:ext cx="317450" cy="317450"/>
          </a:xfrm>
          <a:prstGeom prst="roundRect">
            <a:avLst>
              <a:gd name="adj" fmla="val 44007"/>
            </a:avLst>
          </a:prstGeom>
          <a:noFill/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93577" y="2040880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58652" y="1923604"/>
            <a:ext cx="4134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order: </a:t>
            </a: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before transport before activity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58652" y="2177504"/>
            <a:ext cx="41347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 → 交通工具 → 活动 顺序正确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4901" y="2567880"/>
            <a:ext cx="10922198" cy="669727"/>
          </a:xfrm>
          <a:prstGeom prst="roundRect">
            <a:avLst>
              <a:gd name="adj" fmla="val 151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3501" y="2743944"/>
            <a:ext cx="317450" cy="317450"/>
          </a:xfrm>
          <a:prstGeom prst="roundRect">
            <a:avLst>
              <a:gd name="adj" fmla="val 44007"/>
            </a:avLst>
          </a:prstGeom>
          <a:noFill/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81968" y="2812107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58652" y="2694831"/>
            <a:ext cx="2588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goes directly before the verb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8652" y="2948732"/>
            <a:ext cx="25885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否定词"不"位于动词前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4901" y="3339108"/>
            <a:ext cx="10922198" cy="669727"/>
          </a:xfrm>
          <a:prstGeom prst="roundRect">
            <a:avLst>
              <a:gd name="adj" fmla="val 1517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3501" y="3515171"/>
            <a:ext cx="317450" cy="317450"/>
          </a:xfrm>
          <a:prstGeom prst="roundRect">
            <a:avLst>
              <a:gd name="adj" fmla="val 44007"/>
            </a:avLst>
          </a:prstGeom>
          <a:noFill/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81670" y="3583335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58652" y="3466058"/>
            <a:ext cx="2801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</a:t>
            </a: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radicals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key characters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58652" y="3719959"/>
            <a:ext cx="28015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关键汉字部首正确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4901" y="4211985"/>
            <a:ext cx="10922198" cy="1354485"/>
          </a:xfrm>
          <a:prstGeom prst="roundRect">
            <a:avLst>
              <a:gd name="adj" fmla="val 9376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33301" y="4383435"/>
            <a:ext cx="1306711" cy="238125"/>
          </a:xfrm>
          <a:prstGeom prst="roundRect">
            <a:avLst>
              <a:gd name="adj" fmla="val 532800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11002" y="4421535"/>
            <a:ext cx="9703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8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3301" y="4697760"/>
            <a:ext cx="33724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33301" y="4888260"/>
            <a:ext cx="337249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Checklist provided with the 3 key rules highlighted.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42817" y="4697760"/>
            <a:ext cx="33724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442817" y="4888260"/>
            <a:ext cx="3372493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paragraph about someone else — a family member or friend — instead of themselves, requiring third-person adjustment.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52333" y="4697760"/>
            <a:ext cx="33724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952333" y="4888260"/>
            <a:ext cx="3372493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 peer check — every paragraph gets a second pair of eyes.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44363"/>
            <a:ext cx="2722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Activity · Whiteboard Quiz Relay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80423" y="609451"/>
            <a:ext cx="28310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MIN · WHOLE CLASS · QUICKFIRE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4694" y="917377"/>
            <a:ext cx="534246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白板接力问答 · Whiteboard Quiz Relay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34146" y="1472952"/>
            <a:ext cx="51235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Live-paced quickfire round through the full Unit 4 vocabulary revision list.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6018" y="1799927"/>
            <a:ext cx="833735" cy="326827"/>
          </a:xfrm>
          <a:prstGeom prst="roundRect">
            <a:avLst>
              <a:gd name="adj" fmla="val 3881962"/>
            </a:avLst>
          </a:prstGeom>
          <a:solidFill>
            <a:srgbClr val="DCEA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79169" y="1863328"/>
            <a:ext cx="4359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6704" y="1799927"/>
            <a:ext cx="976164" cy="326827"/>
          </a:xfrm>
          <a:prstGeom prst="roundRect">
            <a:avLst>
              <a:gd name="adj" fmla="val 3881962"/>
            </a:avLst>
          </a:prstGeom>
          <a:solidFill>
            <a:srgbClr val="DCEA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39854" y="1863328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日常起居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39818" y="1799927"/>
            <a:ext cx="976164" cy="326827"/>
          </a:xfrm>
          <a:prstGeom prst="roundRect">
            <a:avLst>
              <a:gd name="adj" fmla="val 3881962"/>
            </a:avLst>
          </a:prstGeom>
          <a:solidFill>
            <a:srgbClr val="DCEA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42968" y="1863328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交通工具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2000" y="2253704"/>
            <a:ext cx="10668000" cy="2386757"/>
          </a:xfrm>
          <a:prstGeom prst="roundRect">
            <a:avLst>
              <a:gd name="adj" fmla="val 5321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11151" y="2450455"/>
            <a:ext cx="1969145" cy="238125"/>
          </a:xfrm>
          <a:prstGeom prst="roundRect">
            <a:avLst>
              <a:gd name="adj" fmla="val 5328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88852" y="2488555"/>
            <a:ext cx="16460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 · No Devices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64941" y="2790081"/>
            <a:ext cx="1928813" cy="371475"/>
          </a:xfrm>
          <a:prstGeom prst="roundRect">
            <a:avLst>
              <a:gd name="adj" fmla="val 27351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017341" y="2866281"/>
            <a:ext cx="165649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📢 Teacher calls a word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5255" y="2861518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1955" y="2790081"/>
            <a:ext cx="1889968" cy="371475"/>
          </a:xfrm>
          <a:prstGeom prst="roundRect">
            <a:avLst>
              <a:gd name="adj" fmla="val 27351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14355" y="2866281"/>
            <a:ext cx="161687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on whiteboard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53424" y="2861518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20124" y="2790081"/>
            <a:ext cx="1906786" cy="371475"/>
          </a:xfrm>
          <a:prstGeom prst="roundRect">
            <a:avLst>
              <a:gd name="adj" fmla="val 27351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72524" y="2866281"/>
            <a:ext cx="16340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🙌 Hold up immediately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11151" y="3288506"/>
            <a:ext cx="4785420" cy="526852"/>
          </a:xfrm>
          <a:prstGeom prst="roundRect">
            <a:avLst>
              <a:gd name="adj" fmla="val 19284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88852" y="3390007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90377" y="3390007"/>
            <a:ext cx="42110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gives </a:t>
            </a: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(or Chinese) — students write the translation on mini whiteboards.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98071" y="3288506"/>
            <a:ext cx="4785420" cy="526852"/>
          </a:xfrm>
          <a:prstGeom prst="roundRect">
            <a:avLst>
              <a:gd name="adj" fmla="val 19284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75772" y="3390007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⚡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77298" y="3390007"/>
            <a:ext cx="42110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Quickfire pace — hold up </a:t>
            </a: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immediately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no long pauses between call-outs.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11151" y="3916859"/>
            <a:ext cx="4785420" cy="526852"/>
          </a:xfrm>
          <a:prstGeom prst="roundRect">
            <a:avLst>
              <a:gd name="adj" fmla="val 19284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288852" y="4018359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590377" y="4018359"/>
            <a:ext cx="42110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fluent students also sort each word into a category — </a:t>
            </a: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transport / routine / time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as they go.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98071" y="3916859"/>
            <a:ext cx="4785420" cy="526852"/>
          </a:xfrm>
          <a:prstGeom prst="roundRect">
            <a:avLst>
              <a:gd name="adj" fmla="val 19284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75772" y="4018359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💻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77298" y="4018359"/>
            <a:ext cx="4075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Setup: projector showing the vocabulary list — </a:t>
            </a: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devices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required.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44363"/>
            <a:ext cx="1056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634901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968276"/>
            <a:ext cx="106223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回顾与反思 · Review &amp; Reflect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8950" y="1587401"/>
            <a:ext cx="106223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8950" y="1898303"/>
            <a:ext cx="88850" cy="88850"/>
          </a:xfrm>
          <a:prstGeom prst="roundRect">
            <a:avLst>
              <a:gd name="adj" fmla="val 5717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751" y="1838027"/>
            <a:ext cx="49116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at least 4 connected sentences about someone's day.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8950" y="2171254"/>
            <a:ext cx="88850" cy="88850"/>
          </a:xfrm>
          <a:prstGeom prst="roundRect">
            <a:avLst>
              <a:gd name="adj" fmla="val 5717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04751" y="2110978"/>
            <a:ext cx="58022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correctly sequence time, transport, and routine verbs in each sentence.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8950" y="2444204"/>
            <a:ext cx="88850" cy="88850"/>
          </a:xfrm>
          <a:prstGeom prst="roundRect">
            <a:avLst>
              <a:gd name="adj" fmla="val 5717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04751" y="2383929"/>
            <a:ext cx="46326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review and self-correct using the Unit 4 vocabulary list.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8950" y="2745879"/>
            <a:ext cx="5073700" cy="1028551"/>
          </a:xfrm>
          <a:prstGeom prst="roundRect">
            <a:avLst>
              <a:gd name="adj" fmla="val 1234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17550" y="2898279"/>
            <a:ext cx="47088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7550" y="3171230"/>
            <a:ext cx="470883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your own paragraph, highlight: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sentence you're proud of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you're unsure about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1250" y="2745879"/>
            <a:ext cx="5111800" cy="1028551"/>
          </a:xfrm>
          <a:prstGeom prst="roundRect">
            <a:avLst>
              <a:gd name="adj" fmla="val 12347"/>
            </a:avLst>
          </a:prstGeom>
          <a:solidFill>
            <a:srgbClr val="F3E6C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38900" y="2917329"/>
            <a:ext cx="47088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🎭 EXIT TICKET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38900" y="3158579"/>
            <a:ext cx="4708830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your paragraph once more and circle the transport word you used.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8950" y="3977580"/>
            <a:ext cx="815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Achieved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17502" y="3977580"/>
            <a:ext cx="109390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18557" y="3977580"/>
            <a:ext cx="88441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47337" y="3991868"/>
            <a:ext cx="16888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lesson: Test 4.3! →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1025" y="1560909"/>
            <a:ext cx="449949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6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790480" y="2246561"/>
            <a:ext cx="26110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43940" y="2824311"/>
            <a:ext cx="1010412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75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wrote a full paragraph combining time, daily routine, and transport — </a:t>
            </a:r>
            <a:r>
              <a:rPr lang="en-US" sz="12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sentence follows the same order: time before transport before activity.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726954" y="3529013"/>
            <a:ext cx="4738092" cy="1174552"/>
          </a:xfrm>
          <a:prstGeom prst="roundRect">
            <a:avLst>
              <a:gd name="adj" fmla="val 10813"/>
            </a:avLst>
          </a:prstGeom>
          <a:solidFill>
            <a:srgbClr val="DCEAEC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1665" y="3725763"/>
            <a:ext cx="40686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61665" y="3925788"/>
            <a:ext cx="40686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Test 4.3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061665" y="4306788"/>
            <a:ext cx="40686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Covering time, daily routine, and transport — you're ready!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1637" y="4932015"/>
            <a:ext cx="8548577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spcBef>
                <a:spcPts val="1000"/>
              </a:spcBef>
              <a:spcAft>
                <a:spcPts val="1150"/>
              </a:spcAft>
              <a:buNone/>
            </a:pPr>
            <a:r>
              <a:rPr lang="en-US" sz="11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r>
              <a:rPr lang="en-US" sz="11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cumulative paragraph writing</a:t>
            </a:r>
            <a:r>
              <a:rPr lang="en-US" sz="11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across the whole unit — time, routine, and transport, all in one piece of writing.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2026-07-18T08:51:17Z</dcterms:created>
  <dcterms:modified xsi:type="dcterms:W3CDTF">2026-07-18T08:51:17Z</dcterms:modified>
</cp:coreProperties>
</file>