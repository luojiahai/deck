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78185" y="2267843"/>
            <a:ext cx="26354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· Y7 Unit 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023260" y="2699445"/>
            <a:ext cx="4145331" cy="89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40"/>
              </a:lnSpc>
              <a:spcBef>
                <a:spcPts val="800"/>
              </a:spcBef>
              <a:buNone/>
            </a:pPr>
            <a:r>
              <a:rPr lang="en-US" sz="6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交通工具</a:t>
            </a:r>
            <a:r>
              <a:rPr lang="en-US" sz="6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71268" y="3745706"/>
            <a:ext cx="38494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Transport Modes + 坐/走路/开车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58213" y="4390132"/>
            <a:ext cx="38755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Writing + Speaking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74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交通工具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817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8671" y="144363"/>
            <a:ext cx="1870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Lesson 11 Recap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8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8701" y="872877"/>
            <a:ext cx="11296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几点做什么？· Daily Routine Recap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8701" y="1403003"/>
            <a:ext cx="11296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matching Chinese sentence for each time + activity on your whiteboard. Hold it up when ready.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8701" y="1755279"/>
            <a:ext cx="2113359" cy="1390352"/>
          </a:xfrm>
          <a:prstGeom prst="roundRect">
            <a:avLst>
              <a:gd name="adj" fmla="val 730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13731" y="18822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92163" y="1912293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86793" y="2136130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🛏️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02854" y="2539305"/>
            <a:ext cx="4334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37680" y="2856756"/>
            <a:ext cx="3623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up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99011" y="1755279"/>
            <a:ext cx="2113359" cy="1390352"/>
          </a:xfrm>
          <a:prstGeom prst="roundRect">
            <a:avLst>
              <a:gd name="adj" fmla="val 730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54041" y="18822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23246" y="1912293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27103" y="2136130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🍳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67720" y="2539305"/>
            <a:ext cx="383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7:15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86001" y="2856756"/>
            <a:ext cx="754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eat breakfast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39320" y="1755279"/>
            <a:ext cx="2113359" cy="1390352"/>
          </a:xfrm>
          <a:prstGeom prst="roundRect">
            <a:avLst>
              <a:gd name="adj" fmla="val 730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94350" y="18822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63407" y="1912293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67413" y="2136130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🏫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889575" y="2539305"/>
            <a:ext cx="4211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7:45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749677" y="2856756"/>
            <a:ext cx="7064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school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79630" y="1755279"/>
            <a:ext cx="2113359" cy="1390352"/>
          </a:xfrm>
          <a:prstGeom prst="roundRect">
            <a:avLst>
              <a:gd name="adj" fmla="val 730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34660" y="18822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03270" y="1912293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07722" y="2136130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081962" y="2539305"/>
            <a:ext cx="518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15:30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85373" y="2856756"/>
            <a:ext cx="7157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finish school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519940" y="1755279"/>
            <a:ext cx="2113359" cy="1390352"/>
          </a:xfrm>
          <a:prstGeom prst="roundRect">
            <a:avLst>
              <a:gd name="adj" fmla="val 730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74970" y="18822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544026" y="1912293"/>
            <a:ext cx="66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448032" y="2136130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😴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322570" y="2539305"/>
            <a:ext cx="518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21:30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264825" y="2856756"/>
            <a:ext cx="6360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sleep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8701" y="3247132"/>
            <a:ext cx="2557463" cy="336352"/>
          </a:xfrm>
          <a:prstGeom prst="roundRect">
            <a:avLst>
              <a:gd name="adj" fmla="val 75516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36402" y="3310533"/>
            <a:ext cx="22461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the sentence → hold it up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68563" y="3247132"/>
            <a:ext cx="3279725" cy="336352"/>
          </a:xfrm>
          <a:prstGeom prst="roundRect">
            <a:avLst>
              <a:gd name="adj" fmla="val 75516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446264" y="3310533"/>
            <a:ext cx="29828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Cold call 2–3 students to read theirs aloud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8701" y="3684984"/>
            <a:ext cx="11074598" cy="566738"/>
          </a:xfrm>
          <a:prstGeom prst="rect">
            <a:avLst/>
          </a:prstGeom>
          <a:solidFill>
            <a:srgbClr val="F5E4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82513" y="3684984"/>
            <a:ext cx="0" cy="566738"/>
          </a:xfrm>
          <a:prstGeom prst="line">
            <a:avLst/>
          </a:prstGeom>
          <a:noFill/>
          <a:ln w="47625">
            <a:solidFill>
              <a:srgbClr val="D475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9476" y="3786485"/>
            <a:ext cx="108330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09476" y="3954661"/>
            <a:ext cx="1083308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say WHEN you go to school. Today we learn HOW you get there — by bus, on foot, driving...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74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交通工具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817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8671" y="144363"/>
            <a:ext cx="2492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85651"/>
            <a:ext cx="10881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1025277"/>
            <a:ext cx="108813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2000" y="1784003"/>
            <a:ext cx="10668000" cy="1031825"/>
          </a:xfrm>
          <a:prstGeom prst="rect">
            <a:avLst/>
          </a:prstGeom>
          <a:solidFill>
            <a:srgbClr val="F3E6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85813" y="1784003"/>
            <a:ext cx="0" cy="1031825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8225" y="1936403"/>
            <a:ext cx="103664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8225" y="2130028"/>
            <a:ext cx="103664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name common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modes of transport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and describe how family members get to school or work.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2000" y="2993529"/>
            <a:ext cx="266700" cy="266700"/>
          </a:xfrm>
          <a:prstGeom prst="roundRect">
            <a:avLst>
              <a:gd name="adj" fmla="val 34285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9454" y="3045916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5650" y="3003054"/>
            <a:ext cx="47136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at least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modes of transport</a:t>
            </a: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7550" y="3361730"/>
            <a:ext cx="10518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说出交通工具的名称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2000" y="3663255"/>
            <a:ext cx="266700" cy="266700"/>
          </a:xfrm>
          <a:prstGeom prst="roundRect">
            <a:avLst>
              <a:gd name="adj" fmla="val 34285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9036" y="3715643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5650" y="3672780"/>
            <a:ext cx="50397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sentences using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 + vehicle</a:t>
            </a: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走路 / 开车</a:t>
            </a: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7550" y="4031456"/>
            <a:ext cx="10518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用坐/走路/开车造句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2000" y="4332982"/>
            <a:ext cx="266700" cy="266700"/>
          </a:xfrm>
          <a:prstGeom prst="roundRect">
            <a:avLst>
              <a:gd name="adj" fmla="val 34285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58738" y="4385370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5650" y="4342507"/>
            <a:ext cx="46743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how someone in my </a:t>
            </a:r>
            <a:r>
              <a:rPr lang="en-US" sz="14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family</a:t>
            </a: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commutes.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7550" y="4701183"/>
            <a:ext cx="10518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描述家人怎么上班/上学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74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交通工具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817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8671" y="144363"/>
            <a:ext cx="18043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5870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p.86–87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777776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1206401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pronunciation twice per word — class repeats twice (choral).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7950" y="1685627"/>
            <a:ext cx="63182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4150" y="1501527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47651" y="1501527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11152" y="1501527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7950" y="1991916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4150" y="1726853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47651" y="1764953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kāi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11152" y="1769715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drive; open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65800" y="1799927"/>
            <a:ext cx="430709" cy="139601"/>
          </a:xfrm>
          <a:prstGeom prst="roundRect">
            <a:avLst>
              <a:gd name="adj" fmla="val 90973"/>
            </a:avLst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54651" y="1812578"/>
            <a:ext cx="2580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部件字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07950" y="1996678"/>
            <a:ext cx="6318200" cy="3015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7950" y="2293441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150" y="2028379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47651" y="2066479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chē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11152" y="2071241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vehicle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65800" y="2101453"/>
            <a:ext cx="430709" cy="139601"/>
          </a:xfrm>
          <a:prstGeom prst="roundRect">
            <a:avLst>
              <a:gd name="adj" fmla="val 90973"/>
            </a:avLst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54651" y="2114104"/>
            <a:ext cx="2580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部件字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07950" y="2594967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4150" y="232990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47651" y="2368004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kāi chē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11152" y="2372767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drive a car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65800" y="2402979"/>
            <a:ext cx="346323" cy="139601"/>
          </a:xfrm>
          <a:prstGeom prst="roundRect">
            <a:avLst>
              <a:gd name="adj" fmla="val 90973"/>
            </a:avLst>
          </a:prstGeom>
          <a:solidFill>
            <a:srgbClr val="F3E6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54651" y="2415629"/>
            <a:ext cx="1719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词组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07950" y="2599730"/>
            <a:ext cx="6318200" cy="3015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07950" y="2896493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4150" y="263143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班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47651" y="2669530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bān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311152" y="2674293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65800" y="2704505"/>
            <a:ext cx="430709" cy="139601"/>
          </a:xfrm>
          <a:prstGeom prst="roundRect">
            <a:avLst>
              <a:gd name="adj" fmla="val 90973"/>
            </a:avLst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54651" y="2717155"/>
            <a:ext cx="2580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部件字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07950" y="3198019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4150" y="29329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上班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447651" y="2971056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bān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311152" y="2975818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work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65800" y="3006030"/>
            <a:ext cx="346323" cy="139601"/>
          </a:xfrm>
          <a:prstGeom prst="roundRect">
            <a:avLst>
              <a:gd name="adj" fmla="val 90973"/>
            </a:avLst>
          </a:prstGeom>
          <a:solidFill>
            <a:srgbClr val="F3E6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54651" y="3018681"/>
            <a:ext cx="1719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词组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07950" y="3202781"/>
            <a:ext cx="6318200" cy="3015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07950" y="3499545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4150" y="323448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447651" y="3272582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311152" y="3277344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65800" y="3307556"/>
            <a:ext cx="430709" cy="139601"/>
          </a:xfrm>
          <a:prstGeom prst="roundRect">
            <a:avLst>
              <a:gd name="adj" fmla="val 90973"/>
            </a:avLst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254651" y="3320207"/>
            <a:ext cx="2580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部件字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507950" y="3801070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4150" y="3536007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447651" y="3574107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lù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311152" y="3578870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road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65800" y="3609082"/>
            <a:ext cx="430709" cy="139601"/>
          </a:xfrm>
          <a:prstGeom prst="roundRect">
            <a:avLst>
              <a:gd name="adj" fmla="val 90973"/>
            </a:avLst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254651" y="3621732"/>
            <a:ext cx="2580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部件字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07950" y="3805833"/>
            <a:ext cx="6318200" cy="3015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507950" y="4102596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4150" y="3837533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447651" y="3875633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 lù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311152" y="3880396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165800" y="3910608"/>
            <a:ext cx="346323" cy="139601"/>
          </a:xfrm>
          <a:prstGeom prst="roundRect">
            <a:avLst>
              <a:gd name="adj" fmla="val 90973"/>
            </a:avLst>
          </a:prstGeom>
          <a:solidFill>
            <a:srgbClr val="F3E6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254651" y="3923258"/>
            <a:ext cx="1719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词组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507950" y="4404122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4150" y="4139059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447651" y="4177159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měi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311152" y="4181921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165800" y="4212134"/>
            <a:ext cx="430709" cy="139601"/>
          </a:xfrm>
          <a:prstGeom prst="roundRect">
            <a:avLst>
              <a:gd name="adj" fmla="val 90973"/>
            </a:avLst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254651" y="4224784"/>
            <a:ext cx="2580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部件字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07950" y="4408884"/>
            <a:ext cx="6318200" cy="3015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507950" y="4705648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4150" y="4440585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447651" y="4478685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měi tiān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311152" y="4483447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day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165800" y="4513659"/>
            <a:ext cx="346323" cy="139601"/>
          </a:xfrm>
          <a:prstGeom prst="roundRect">
            <a:avLst>
              <a:gd name="adj" fmla="val 90973"/>
            </a:avLst>
          </a:prstGeom>
          <a:solidFill>
            <a:srgbClr val="F3E6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6254651" y="4526310"/>
            <a:ext cx="1719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词组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507950" y="5007173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4150" y="4742111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1447651" y="4780211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2311152" y="4784973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sit; travel by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165800" y="4815185"/>
            <a:ext cx="430709" cy="139601"/>
          </a:xfrm>
          <a:prstGeom prst="roundRect">
            <a:avLst>
              <a:gd name="adj" fmla="val 90973"/>
            </a:avLst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254651" y="4827836"/>
            <a:ext cx="2580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部件字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507950" y="5011936"/>
            <a:ext cx="6318200" cy="3015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Shape 84"/>
          <p:cNvSpPr/>
          <p:nvPr/>
        </p:nvSpPr>
        <p:spPr>
          <a:xfrm>
            <a:off x="507950" y="5308699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4150" y="50436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1447651" y="5081736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2311152" y="5086499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165800" y="5116711"/>
            <a:ext cx="430709" cy="139601"/>
          </a:xfrm>
          <a:prstGeom prst="roundRect">
            <a:avLst>
              <a:gd name="adj" fmla="val 90973"/>
            </a:avLst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6254651" y="5129361"/>
            <a:ext cx="2580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部件字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507950" y="5610225"/>
            <a:ext cx="63182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84150" y="534516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1447651" y="5383262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 chē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2311152" y="5388025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bus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165800" y="5418237"/>
            <a:ext cx="346323" cy="139601"/>
          </a:xfrm>
          <a:prstGeom prst="roundRect">
            <a:avLst>
              <a:gd name="adj" fmla="val 90973"/>
            </a:avLst>
          </a:prstGeom>
          <a:solidFill>
            <a:srgbClr val="F3E6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6254651" y="5430887"/>
            <a:ext cx="1719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词组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7003852" y="1469827"/>
            <a:ext cx="4680198" cy="1853952"/>
          </a:xfrm>
          <a:prstGeom prst="roundRect">
            <a:avLst>
              <a:gd name="adj" fmla="val 548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7156252" y="1571327"/>
            <a:ext cx="446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Extra Words · for recognition (p.87)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7156252" y="1774478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7994452" y="1798290"/>
            <a:ext cx="854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huǒ chē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8908852" y="1803053"/>
            <a:ext cx="214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train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7156252" y="2003078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电车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7994452" y="2026890"/>
            <a:ext cx="854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diàn chē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8908852" y="2031653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tram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7156252" y="2231678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7994452" y="2255490"/>
            <a:ext cx="854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fēi jī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8908852" y="2260253"/>
            <a:ext cx="2533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plane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7156252" y="2460278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渡船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7994452" y="2484090"/>
            <a:ext cx="854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dù chuán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8908852" y="2488853"/>
            <a:ext cx="220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ferry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7156252" y="2688878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7994452" y="2712690"/>
            <a:ext cx="854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 zū chē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8908852" y="2717453"/>
            <a:ext cx="1721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taxi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7156252" y="2965103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7994452" y="2917478"/>
            <a:ext cx="8549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 gòng qì chē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8908852" y="2993678"/>
            <a:ext cx="4839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public bus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7003852" y="3425279"/>
            <a:ext cx="4680198" cy="776288"/>
          </a:xfrm>
          <a:prstGeom prst="roundRect">
            <a:avLst>
              <a:gd name="adj" fmla="val 1308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7"/>
          <p:cNvSpPr/>
          <p:nvPr/>
        </p:nvSpPr>
        <p:spPr>
          <a:xfrm>
            <a:off x="7156252" y="3526780"/>
            <a:ext cx="446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Note · 每 + time word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7156252" y="3710880"/>
            <a:ext cx="44629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 </a:t>
            </a: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 word </a:t>
            </a: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"every"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7156252" y="3949005"/>
            <a:ext cx="4462906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每天 (every day) · 每年 (every year) · 每个星期 (every week)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507950" y="6153448"/>
            <a:ext cx="11176099" cy="298252"/>
          </a:xfrm>
          <a:prstGeom prst="rect">
            <a:avLst/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Shape 121"/>
          <p:cNvSpPr/>
          <p:nvPr/>
        </p:nvSpPr>
        <p:spPr>
          <a:xfrm>
            <a:off x="527000" y="6153448"/>
            <a:ext cx="0" cy="298252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23751" y="6216848"/>
            <a:ext cx="1099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走 is also a radical (走字旁) — recall Lesson 11's radical group: 走 → 起.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74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交通工具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817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8671" y="144363"/>
            <a:ext cx="2316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1 &amp; Sentence Pattern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Text 1, p.86 · CD T55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923776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关键课文 · Key Text 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1479352"/>
            <a:ext cx="10769798" cy="1391692"/>
          </a:xfrm>
          <a:prstGeom prst="roundRect">
            <a:avLst>
              <a:gd name="adj" fmla="val 912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5002" y="1657052"/>
            <a:ext cx="1046723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我爸爸开车上班。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5002" y="2002482"/>
            <a:ext cx="1046723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我妈妈走路上班。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5002" y="2347913"/>
            <a:ext cx="1046723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我每天坐校车上学。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1101" y="2997994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Sentence Pattern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1101" y="3267819"/>
            <a:ext cx="2034183" cy="336352"/>
          </a:xfrm>
          <a:prstGeom prst="roundRect">
            <a:avLst>
              <a:gd name="adj" fmla="val 2265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3501" y="3331220"/>
            <a:ext cx="17639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vehicle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(+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activity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2984" y="3340745"/>
            <a:ext cx="18136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</a:t>
            </a: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坐校车上学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坐飞机上班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1101" y="3680371"/>
            <a:ext cx="1154311" cy="336352"/>
          </a:xfrm>
          <a:prstGeom prst="roundRect">
            <a:avLst>
              <a:gd name="adj" fmla="val 2265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3501" y="3743771"/>
            <a:ext cx="8665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走路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walk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43113" y="3753296"/>
            <a:ext cx="23335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坐 needed — </a:t>
            </a: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走路上班 / 走路上学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1101" y="4092922"/>
            <a:ext cx="1184225" cy="336352"/>
          </a:xfrm>
          <a:prstGeom prst="roundRect">
            <a:avLst>
              <a:gd name="adj" fmla="val 2265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3501" y="4156323"/>
            <a:ext cx="8970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开车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drive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73027" y="4165848"/>
            <a:ext cx="5440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开车上班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1101" y="4556224"/>
            <a:ext cx="10769798" cy="698302"/>
          </a:xfrm>
          <a:prstGeom prst="roundRect">
            <a:avLst>
              <a:gd name="adj" fmla="val 14550"/>
            </a:avLst>
          </a:prstGeom>
          <a:solidFill>
            <a:srgbClr val="F5E4E1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58751" y="4729163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😄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68326" y="4702225"/>
            <a:ext cx="38380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我每天坐飞机上学。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68326" y="4956125"/>
            <a:ext cx="38380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take a plane to school every day" — silly example, wait for reactions!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74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交通工具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817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8671" y="144363"/>
            <a:ext cx="2255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60350"/>
            <a:ext cx="10881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999976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1644402"/>
            <a:ext cx="10668000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1595" y="1784003"/>
            <a:ext cx="362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73101" y="1850678"/>
            <a:ext cx="99488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走路 mean? 👍 Thumbs up if you know.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2418904"/>
            <a:ext cx="10668000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1595" y="2558504"/>
            <a:ext cx="362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73101" y="2644229"/>
            <a:ext cx="99488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 we say 「坐走路」, or just 「走路」?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坐走路, 2 fingers = 走路.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000" y="3193405"/>
            <a:ext cx="10668000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1595" y="3333006"/>
            <a:ext cx="362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73101" y="3418731"/>
            <a:ext cx="99488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would you say "I drive to work"? Write it on your whiteboard.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2000" y="4031307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☝️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8025" y="4093220"/>
            <a:ext cx="4715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 坐走路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00386" y="4031307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✌️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246412" y="4093220"/>
            <a:ext cx="3523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 走路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2000" y="4494758"/>
            <a:ext cx="10668000" cy="307777"/>
          </a:xfrm>
          <a:prstGeom prst="roundRect">
            <a:avLst>
              <a:gd name="adj" fmla="val 33011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58751" y="4577209"/>
            <a:ext cx="104799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74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交通工具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817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8671" y="144363"/>
            <a:ext cx="17594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60350"/>
            <a:ext cx="10881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974675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1593800"/>
            <a:ext cx="10668000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1595" y="1733401"/>
            <a:ext cx="362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73101" y="1819126"/>
            <a:ext cx="5712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走路 mean?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46340" y="1823889"/>
            <a:ext cx="4080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 walk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2000" y="2368302"/>
            <a:ext cx="10668000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1595" y="2507903"/>
            <a:ext cx="362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73101" y="2593628"/>
            <a:ext cx="5712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 we say 「坐走路」, or just 「走路」?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46340" y="2584103"/>
            <a:ext cx="408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just 走路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2000" y="3142804"/>
            <a:ext cx="10668000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1595" y="3282404"/>
            <a:ext cx="362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473101" y="3368129"/>
            <a:ext cx="5712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would you say "I drive to work"?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46340" y="3372892"/>
            <a:ext cx="4080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我开车上班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2000" y="3955405"/>
            <a:ext cx="10668000" cy="863054"/>
          </a:xfrm>
          <a:prstGeom prst="roundRect">
            <a:avLst>
              <a:gd name="adj" fmla="val 11772"/>
            </a:avLst>
          </a:prstGeom>
          <a:solidFill>
            <a:srgbClr val="F3E6C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84200" y="4101405"/>
            <a:ext cx="10428071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Q2 — 坐走路 or 走路?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走路 already means "to walk" on its own — it does not take 坐 in front of it. 坐 is only used before a vehicle (坐校车, 坐飞机). 开车 works the same way as 走路 — no 坐 needed.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74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交通工具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817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8671" y="144363"/>
            <a:ext cx="1599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09451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 · We 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872877"/>
            <a:ext cx="111406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Vocab Matching · 词汇配对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4901" y="1364903"/>
            <a:ext cx="111406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each card. Write the pinyin + English on your mini whiteboard, then hold it up.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4901" y="1707654"/>
            <a:ext cx="2631728" cy="999679"/>
          </a:xfrm>
          <a:prstGeom prst="roundRect">
            <a:avLst>
              <a:gd name="adj" fmla="val 101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6308" y="1809155"/>
            <a:ext cx="252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6308" y="2174230"/>
            <a:ext cx="2528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3022" y="2504331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83022" y="2586782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68129" y="1707654"/>
            <a:ext cx="2631728" cy="999679"/>
          </a:xfrm>
          <a:prstGeom prst="roundRect">
            <a:avLst>
              <a:gd name="adj" fmla="val 101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19536" y="1809155"/>
            <a:ext cx="252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19536" y="2174230"/>
            <a:ext cx="2528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16251" y="2504331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16251" y="2586782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01358" y="1707654"/>
            <a:ext cx="2631728" cy="999679"/>
          </a:xfrm>
          <a:prstGeom prst="roundRect">
            <a:avLst>
              <a:gd name="adj" fmla="val 101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52765" y="1809155"/>
            <a:ext cx="252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52765" y="2174230"/>
            <a:ext cx="2528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49479" y="2504331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49479" y="2586782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834586" y="1707654"/>
            <a:ext cx="2631728" cy="999679"/>
          </a:xfrm>
          <a:prstGeom prst="roundRect">
            <a:avLst>
              <a:gd name="adj" fmla="val 101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85993" y="1809155"/>
            <a:ext cx="252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✈️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85993" y="2174230"/>
            <a:ext cx="2528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82708" y="2504331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282708" y="2586782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4901" y="2808833"/>
            <a:ext cx="2631728" cy="999679"/>
          </a:xfrm>
          <a:prstGeom prst="roundRect">
            <a:avLst>
              <a:gd name="adj" fmla="val 101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6308" y="2910334"/>
            <a:ext cx="252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⛴️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6308" y="3275409"/>
            <a:ext cx="2528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渡船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83022" y="3605510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83022" y="3687961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68129" y="2808833"/>
            <a:ext cx="2631728" cy="999679"/>
          </a:xfrm>
          <a:prstGeom prst="roundRect">
            <a:avLst>
              <a:gd name="adj" fmla="val 101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419536" y="2910334"/>
            <a:ext cx="252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🚕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419536" y="3275409"/>
            <a:ext cx="2528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816251" y="3605510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816251" y="3687961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01358" y="2808833"/>
            <a:ext cx="2631728" cy="999679"/>
          </a:xfrm>
          <a:prstGeom prst="roundRect">
            <a:avLst>
              <a:gd name="adj" fmla="val 101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52765" y="2910334"/>
            <a:ext cx="252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🚍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152765" y="3275409"/>
            <a:ext cx="2528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549479" y="3605510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549479" y="3687961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834586" y="2808833"/>
            <a:ext cx="2631728" cy="999679"/>
          </a:xfrm>
          <a:prstGeom prst="roundRect">
            <a:avLst>
              <a:gd name="adj" fmla="val 101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885993" y="2910334"/>
            <a:ext cx="2528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🚶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885993" y="3275409"/>
            <a:ext cx="2528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282708" y="3605510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9282708" y="3687961"/>
            <a:ext cx="1735485" cy="19050"/>
          </a:xfrm>
          <a:prstGeom prst="roundRect">
            <a:avLst>
              <a:gd name="adj" fmla="val 66667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34901" y="4011513"/>
            <a:ext cx="10922198" cy="816322"/>
          </a:xfrm>
          <a:prstGeom prst="roundRect">
            <a:avLst>
              <a:gd name="adj" fmla="val 12446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57101" y="3929063"/>
            <a:ext cx="1006673" cy="183952"/>
          </a:xfrm>
          <a:prstGeom prst="roundRect">
            <a:avLst>
              <a:gd name="adj" fmla="val 13808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84052" y="3954363"/>
            <a:ext cx="7678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8 min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07852" y="4233714"/>
            <a:ext cx="3424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07852" y="4405164"/>
            <a:ext cx="3424258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with pinyin + English printed at the bottom of the desk card for reference.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417368" y="4233714"/>
            <a:ext cx="3424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417368" y="4405164"/>
            <a:ext cx="3424410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Also write the character (not just pinyin) for at least 4 of the 8 items.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927032" y="4233714"/>
            <a:ext cx="3424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927032" y="4405164"/>
            <a:ext cx="3424258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every student responds each round. Teacher reveals and corrects.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74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交通工具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817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8671" y="144363"/>
            <a:ext cx="16557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84150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 · You 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834926"/>
            <a:ext cx="111406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Sentence Building · 造句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4901" y="1276201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each family member + vehicle below, write the full sentence on your worksheet.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4901" y="1526977"/>
            <a:ext cx="10922198" cy="400050"/>
          </a:xfrm>
          <a:prstGeom prst="roundRect">
            <a:avLst>
              <a:gd name="adj" fmla="val 25397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7101" y="1622227"/>
            <a:ext cx="106873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（家人）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（坐+vehicle / 走路 / 开车）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（上班/上学）。 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provided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2015877"/>
            <a:ext cx="3556099" cy="952202"/>
          </a:xfrm>
          <a:prstGeom prst="roundRect">
            <a:avLst>
              <a:gd name="adj" fmla="val 106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2871" y="2117378"/>
            <a:ext cx="3420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· 爸爸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02871" y="2301478"/>
            <a:ext cx="342016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👨 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2871" y="2666554"/>
            <a:ext cx="3420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5CEB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我爸爸___。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17950" y="2015877"/>
            <a:ext cx="3556099" cy="952202"/>
          </a:xfrm>
          <a:prstGeom prst="roundRect">
            <a:avLst>
              <a:gd name="adj" fmla="val 106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85920" y="2117378"/>
            <a:ext cx="3420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· 妈妈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385920" y="2301478"/>
            <a:ext cx="342016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👩 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85920" y="2666554"/>
            <a:ext cx="3420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5CEB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我妈妈___。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01000" y="2015877"/>
            <a:ext cx="3556099" cy="952202"/>
          </a:xfrm>
          <a:prstGeom prst="roundRect">
            <a:avLst>
              <a:gd name="adj" fmla="val 106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68970" y="2117378"/>
            <a:ext cx="3420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· 哥哥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068970" y="2301478"/>
            <a:ext cx="342016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👦 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68970" y="2666554"/>
            <a:ext cx="3420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5CEB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我哥哥___。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901" y="3056930"/>
            <a:ext cx="111406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➕ Then write </a:t>
            </a: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original sentences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your own family's commute.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4901" y="3336280"/>
            <a:ext cx="10922198" cy="472976"/>
          </a:xfrm>
          <a:prstGeom prst="rect">
            <a:avLst/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3951" y="3336280"/>
            <a:ext cx="0" cy="472976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702" y="3412480"/>
            <a:ext cx="107392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Fold-in Q&amp;A · p.87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50702" y="3571131"/>
            <a:ext cx="107392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pairs: ask &amp; answer one of the 3 yes/no questions about family commute — e.g.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你爸爸走路上班吗？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4901" y="3898106"/>
            <a:ext cx="10922198" cy="674340"/>
          </a:xfrm>
          <a:prstGeom prst="roundRect">
            <a:avLst>
              <a:gd name="adj" fmla="val 15067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7101" y="3815655"/>
            <a:ext cx="1048048" cy="183952"/>
          </a:xfrm>
          <a:prstGeom prst="roundRect">
            <a:avLst>
              <a:gd name="adj" fmla="val 13808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84052" y="3840956"/>
            <a:ext cx="810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8 min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82551" y="4044107"/>
            <a:ext cx="3441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82551" y="4202757"/>
            <a:ext cx="3441412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我___（家人）___（坐+vehicle / 走路 / 开车）___（上班/上学）。 with word bank visible.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08884" y="4044107"/>
            <a:ext cx="3441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408884" y="4202757"/>
            <a:ext cx="3441564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每天 + a time expression from Lesson 10/11 — 我爸爸每天七点半开车上班。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935367" y="4044107"/>
            <a:ext cx="3441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935367" y="4202757"/>
            <a:ext cx="3441564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— pairs check each other's sentences before the teacher reveals model answers verbally.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74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交通工具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817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8671" y="144363"/>
            <a:ext cx="19168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Transport Bingo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20851" y="634901"/>
            <a:ext cx="9502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7545" y="923776"/>
            <a:ext cx="44169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Transport Bingo · 交通工具宾果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052253" y="1479352"/>
            <a:ext cx="40874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Cross off the square when the teacher calls its Chinese word.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80147" y="1847552"/>
            <a:ext cx="1193602" cy="675977"/>
          </a:xfrm>
          <a:prstGeom prst="roundRect">
            <a:avLst>
              <a:gd name="adj" fmla="val 150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49466" y="1949053"/>
            <a:ext cx="854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49466" y="2279154"/>
            <a:ext cx="854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Call word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99047" y="2071241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92848" y="1847552"/>
            <a:ext cx="1193602" cy="675977"/>
          </a:xfrm>
          <a:prstGeom prst="roundRect">
            <a:avLst>
              <a:gd name="adj" fmla="val 150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62167" y="1949053"/>
            <a:ext cx="854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62167" y="2279154"/>
            <a:ext cx="854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Cross off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11748" y="2071241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5550" y="1847552"/>
            <a:ext cx="1193602" cy="675977"/>
          </a:xfrm>
          <a:prstGeom prst="roundRect">
            <a:avLst>
              <a:gd name="adj" fmla="val 150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74869" y="1949053"/>
            <a:ext cx="854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📣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74869" y="2279154"/>
            <a:ext cx="854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"Bingo!"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24450" y="2071241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18252" y="1847552"/>
            <a:ext cx="1193602" cy="675977"/>
          </a:xfrm>
          <a:prstGeom prst="roundRect">
            <a:avLst>
              <a:gd name="adj" fmla="val 150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87570" y="1949053"/>
            <a:ext cx="854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087570" y="2279154"/>
            <a:ext cx="854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line aloud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5499" y="2650480"/>
            <a:ext cx="2781002" cy="1501080"/>
          </a:xfrm>
          <a:prstGeom prst="roundRect">
            <a:avLst>
              <a:gd name="adj" fmla="val 6768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26050" y="2771031"/>
            <a:ext cx="804267" cy="377726"/>
          </a:xfrm>
          <a:prstGeom prst="roundRect">
            <a:avLst>
              <a:gd name="adj" fmla="val 134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56869" y="2859881"/>
            <a:ext cx="7426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93718" y="2771031"/>
            <a:ext cx="804416" cy="377726"/>
          </a:xfrm>
          <a:prstGeom prst="roundRect">
            <a:avLst>
              <a:gd name="adj" fmla="val 134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24535" y="2859881"/>
            <a:ext cx="742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1534" y="2771031"/>
            <a:ext cx="804267" cy="377726"/>
          </a:xfrm>
          <a:prstGeom prst="roundRect">
            <a:avLst>
              <a:gd name="adj" fmla="val 134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92354" y="2859881"/>
            <a:ext cx="7426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6050" y="3212157"/>
            <a:ext cx="804267" cy="377726"/>
          </a:xfrm>
          <a:prstGeom prst="roundRect">
            <a:avLst>
              <a:gd name="adj" fmla="val 134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56869" y="3301008"/>
            <a:ext cx="7426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93718" y="3212157"/>
            <a:ext cx="804416" cy="377726"/>
          </a:xfrm>
          <a:prstGeom prst="roundRect">
            <a:avLst>
              <a:gd name="adj" fmla="val 134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24535" y="3301008"/>
            <a:ext cx="742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渡船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61534" y="3212157"/>
            <a:ext cx="804267" cy="377726"/>
          </a:xfrm>
          <a:prstGeom prst="roundRect">
            <a:avLst>
              <a:gd name="adj" fmla="val 134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592354" y="3301008"/>
            <a:ext cx="7426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26050" y="3653284"/>
            <a:ext cx="804267" cy="377726"/>
          </a:xfrm>
          <a:prstGeom prst="roundRect">
            <a:avLst>
              <a:gd name="adj" fmla="val 134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56869" y="3742134"/>
            <a:ext cx="7426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93718" y="3653284"/>
            <a:ext cx="804416" cy="377726"/>
          </a:xfrm>
          <a:prstGeom prst="roundRect">
            <a:avLst>
              <a:gd name="adj" fmla="val 134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24535" y="3742134"/>
            <a:ext cx="742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61534" y="3653284"/>
            <a:ext cx="804267" cy="377726"/>
          </a:xfrm>
          <a:prstGeom prst="roundRect">
            <a:avLst>
              <a:gd name="adj" fmla="val 134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592354" y="3742134"/>
            <a:ext cx="7426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开车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87317" y="4278511"/>
            <a:ext cx="26626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🎴 9-square cards, printed — pinyin or picture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73945" y="4278511"/>
            <a:ext cx="28174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First "Bingo!" reads their line aloud to confirm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29148" y="4278511"/>
            <a:ext cx="1261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🚫 No devices needed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74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交通工具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81720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08671" y="144363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09451"/>
            <a:ext cx="10881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872877"/>
            <a:ext cx="108813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2000" y="1403003"/>
            <a:ext cx="108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2000" y="167119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9701" y="1609279"/>
            <a:ext cx="36093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at least 6 modes of transport in Chinese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000" y="19093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9701" y="1847404"/>
            <a:ext cx="37901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sentences using 坐 + vehicle, and 走路/开车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2000" y="214744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9701" y="2085529"/>
            <a:ext cx="36137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how someone in my family commutes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2000" y="2387054"/>
            <a:ext cx="10668000" cy="643830"/>
          </a:xfrm>
          <a:prstGeom prst="roundRect">
            <a:avLst>
              <a:gd name="adj" fmla="val 1578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5150" y="2501354"/>
            <a:ext cx="10466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5150" y="2729954"/>
            <a:ext cx="104669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whiteboards: write one transport word you're </a:t>
            </a:r>
            <a:r>
              <a:rPr lang="en-US" sz="10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confident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with, and one you're still </a:t>
            </a:r>
            <a:r>
              <a:rPr lang="en-US" sz="10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2000" y="3132386"/>
            <a:ext cx="10668000" cy="697706"/>
          </a:xfrm>
          <a:prstGeom prst="roundRect">
            <a:avLst>
              <a:gd name="adj" fmla="val 14562"/>
            </a:avLst>
          </a:prstGeom>
          <a:solidFill>
            <a:srgbClr val="F3E6C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84200" y="3265736"/>
            <a:ext cx="10428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84200" y="3465761"/>
            <a:ext cx="1042807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sentence about how you get to school, using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走路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2000" y="3931593"/>
            <a:ext cx="6963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7825" y="3931593"/>
            <a:ext cx="9351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67757" y="3931593"/>
            <a:ext cx="755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2000" y="4223593"/>
            <a:ext cx="10668000" cy="326827"/>
          </a:xfrm>
          <a:prstGeom prst="rect">
            <a:avLst/>
          </a:prstGeom>
          <a:solidFill>
            <a:srgbClr val="DC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81050" y="4223593"/>
            <a:ext cx="0" cy="326827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7801" y="4286994"/>
            <a:ext cx="104799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➡️ Next lesson: we learn how to ASK someone how they get to school or work — 怎么.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2144" y="1340941"/>
            <a:ext cx="547711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839057" y="2179141"/>
            <a:ext cx="251388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891708" y="2722066"/>
            <a:ext cx="640843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name transport modes and say how your family gets to school or work.</a:t>
            </a:r>
            <a:endParaRPr lang="en-US" sz="1200" dirty="0"/>
          </a:p>
          <a:p>
            <a:pPr algn="ctr" indent="0" marL="0">
              <a:lnSpc>
                <a:spcPts val="192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Remember: </a:t>
            </a:r>
            <a:endParaRPr lang="en-US" sz="1200" dirty="0"/>
          </a:p>
          <a:p>
            <a:pPr algn="ctr" indent="0" marL="0">
              <a:lnSpc>
                <a:spcPts val="192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走路 and 开车 don't take 坐 in front of them!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25800" y="3438227"/>
            <a:ext cx="6540252" cy="1377702"/>
          </a:xfrm>
          <a:prstGeom prst="roundRect">
            <a:avLst>
              <a:gd name="adj" fmla="val 7375"/>
            </a:avLst>
          </a:prstGeom>
          <a:solidFill>
            <a:srgbClr val="DCEBEE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16531" y="3634978"/>
            <a:ext cx="59587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16531" y="3847654"/>
            <a:ext cx="59587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怎么去？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16531" y="4238179"/>
            <a:ext cx="59587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 how to ASK someone how they get to school or work — using 怎么 — plus more vehicle vocabulary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45338" y="5069830"/>
            <a:ext cx="5301323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校车 / 火车 / 电车 / 飞机 / 渡船 / 出租车 / 公共汽车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 / 走路 / 开车</a:t>
            </a:r>
            <a:endParaRPr lang="en-US" sz="1100" dirty="0"/>
          </a:p>
          <a:p>
            <a:pPr algn="ctr" indent="0" marL="0">
              <a:lnSpc>
                <a:spcPts val="176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ask the question — 你怎么上学？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2026-07-18T08:47:18Z</dcterms:created>
  <dcterms:modified xsi:type="dcterms:W3CDTF">2026-07-18T08:47:18Z</dcterms:modified>
</cp:coreProperties>
</file>