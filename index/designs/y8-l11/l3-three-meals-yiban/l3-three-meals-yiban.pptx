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2453580"/>
            <a:ext cx="167106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800" y="3082230"/>
            <a:ext cx="16710660" cy="184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5"/>
              </a:lnSpc>
              <a:spcBef>
                <a:spcPts val="1950"/>
              </a:spcBef>
              <a:spcAft>
                <a:spcPts val="750"/>
              </a:spcAft>
              <a:buNone/>
            </a:pPr>
            <a:r>
              <a:rPr lang="en-US" sz="14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一日三餐</a:t>
            </a:r>
            <a:endParaRPr lang="en-US" sz="14250" dirty="0"/>
          </a:p>
        </p:txBody>
      </p:sp>
      <p:sp>
        <p:nvSpPr>
          <p:cNvPr id="7" name="Text 5"/>
          <p:cNvSpPr/>
          <p:nvPr/>
        </p:nvSpPr>
        <p:spPr>
          <a:xfrm>
            <a:off x="1066800" y="5023396"/>
            <a:ext cx="1671066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Three Meals a Day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066800" y="6271171"/>
            <a:ext cx="167106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5 · 50 minutes · 课本 p.101, p.105, p.107</a:t>
            </a:r>
            <a:endParaRPr lang="en-US" sz="2250" dirty="0"/>
          </a:p>
        </p:txBody>
      </p:sp>
      <p:pic>
        <p:nvPicPr>
          <p:cNvPr id="9" name="Image 0" descr="/Users/luojiahai/code/deck/index/designs/y8-l11/img/zaoc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7128421"/>
            <a:ext cx="1428750" cy="1428750"/>
          </a:xfrm>
          <a:prstGeom prst="rect">
            <a:avLst/>
          </a:prstGeom>
        </p:spPr>
      </p:pic>
      <p:pic>
        <p:nvPicPr>
          <p:cNvPr id="10" name="Image 1" descr="/Users/luojiahai/code/deck/index/designs/y8-l11/img/wuf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250" y="7128421"/>
            <a:ext cx="1428750" cy="1428750"/>
          </a:xfrm>
          <a:prstGeom prst="rect">
            <a:avLst/>
          </a:prstGeom>
        </p:spPr>
      </p:pic>
      <p:pic>
        <p:nvPicPr>
          <p:cNvPr id="11" name="Image 2" descr="/Users/luojiahai/code/deck/index/designs/y8-l11/img/wanfa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7700" y="7128421"/>
            <a:ext cx="1428750" cy="1428750"/>
          </a:xfrm>
          <a:prstGeom prst="rect">
            <a:avLst/>
          </a:prstGeom>
        </p:spPr>
      </p:pic>
      <p:pic>
        <p:nvPicPr>
          <p:cNvPr id="12" name="Image 3" descr="/Users/luojiahai/code/deck/index/designs/y8-l11/img/zhou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150" y="7128421"/>
            <a:ext cx="1428750" cy="1428750"/>
          </a:xfrm>
          <a:prstGeom prst="rect">
            <a:avLst/>
          </a:prstGeom>
        </p:spPr>
      </p:pic>
      <p:pic>
        <p:nvPicPr>
          <p:cNvPr id="13" name="Image 4" descr="/Users/luojiahai/code/deck/index/designs/y8-l11/img/quanjiaren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8600" y="7128421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544366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BINGO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030141"/>
            <a:ext cx="3122414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3106341"/>
            <a:ext cx="28351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WHOLE CLASS · 6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3620691"/>
            <a:ext cx="16611600" cy="2876996"/>
          </a:xfrm>
          <a:prstGeom prst="roundRect">
            <a:avLst>
              <a:gd name="adj" fmla="val 6621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3896916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Draw a 3×3 grid. Fill it with any </a:t>
            </a: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nine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of these ten words — in characters.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4493121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 · 西餐 · 快餐 · 热狗 · 汉堡包 · 比萨饼 · 喝 · 饮料 · 可乐 · 汽水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190625" y="5152876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Teacher calls each word in </a:t>
            </a: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Chinese only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no English, no pinyin.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90625" y="5749082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to a line calls 我赢了！ Play on to two winners.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8200" y="6688187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52525" y="6926312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52525" y="7307312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one whiteboard question — everyone writes their own answer and holds it up.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52525" y="7721650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你喜欢吃中餐还是西餐？</a:t>
            </a:r>
            <a:endParaRPr lang="en-US" sz="2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72209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207865"/>
            <a:ext cx="16611600" cy="1962150"/>
          </a:xfrm>
          <a:prstGeom prst="roundRect">
            <a:avLst>
              <a:gd name="adj" fmla="val 9709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9851" y="2503140"/>
            <a:ext cx="161082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name the three meals and say what we normally eat at each one.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838200" y="4474815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4960590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5160615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762125" y="5160615"/>
            <a:ext cx="64922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read the three meals and 一般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62125" y="5663505"/>
            <a:ext cx="64922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早餐、午饭、晚饭、一般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38200" y="6444555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14425" y="6644580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762125" y="6644580"/>
            <a:ext cx="421637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what I normally eat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62125" y="7147471"/>
            <a:ext cx="42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我早餐一般吃粥。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38200" y="7928521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14425" y="8128546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762125" y="8128546"/>
            <a:ext cx="477107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talk about my whole family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62125" y="8631436"/>
            <a:ext cx="4771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我们全家人都喜欢吃中餐。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2793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zaoc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2951857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07656" y="5466457"/>
            <a:ext cx="14911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zǎocān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657600" y="6190357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早餐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4115246" y="7563743"/>
            <a:ext cx="14758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breakfast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4488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luojiahai/code/deck/index/designs/y8-l11/img/wuf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2951857"/>
            <a:ext cx="2381250" cy="238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18715" y="5466457"/>
            <a:ext cx="128639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wǔfàn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12268200" y="6190357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</a:t>
            </a:r>
            <a:endParaRPr lang="en-US" sz="9300" dirty="0"/>
          </a:p>
        </p:txBody>
      </p:sp>
      <p:sp>
        <p:nvSpPr>
          <p:cNvPr id="15" name="Text 11"/>
          <p:cNvSpPr/>
          <p:nvPr/>
        </p:nvSpPr>
        <p:spPr>
          <a:xfrm>
            <a:off x="13043743" y="7563743"/>
            <a:ext cx="827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lunch</a:t>
            </a:r>
            <a:endParaRPr lang="en-US" sz="2550" dirty="0"/>
          </a:p>
        </p:txBody>
      </p:sp>
      <p:sp>
        <p:nvSpPr>
          <p:cNvPr id="16" name="Text 12"/>
          <p:cNvSpPr/>
          <p:nvPr/>
        </p:nvSpPr>
        <p:spPr>
          <a:xfrm>
            <a:off x="13198376" y="8154293"/>
            <a:ext cx="5118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午飯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251496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737271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1737271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192777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zǎocān chī shuǐguǒ.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238497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早餐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吃水果。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16512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eat fruit for breakfast.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3946178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3946178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136678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wǔfàn chī kuàicān.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4593878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吃快餐。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5374035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eat fast food for lunch.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155085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155085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6345585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zǎocān chī shuǐguǒ, wǔfàn chī kuàicān.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6802785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早餐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吃水果，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吃快餐。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7582942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Fruit for breakfast, fast food for lunch.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38200" y="8173492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23950" y="8402092"/>
            <a:ext cx="96622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两个说法 · TWO WORDS, ONE MEAL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23950" y="8687842"/>
            <a:ext cx="9662217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book writes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早餐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Text 2 and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早饭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the workbook. Same meal.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23950" y="9178379"/>
            <a:ext cx="966221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餐 and 饭 swap freely here — which is why 午饭 and 晚饭 take 饭.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11899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604766"/>
            <a:ext cx="16611600" cy="2318296"/>
          </a:xfrm>
          <a:prstGeom prst="roundRect">
            <a:avLst>
              <a:gd name="adj" fmla="val 8217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976241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我早餐吃 ______ ，午饭吃 ______ 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5151537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Real food — what you actually ate.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200" y="6113562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6351687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6732687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about a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family member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three clauses, ending with a contrast.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52525" y="7147024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我爸爸早餐吃中餐，午饭吃西餐，可是他不喜欢吃快餐。</a:t>
            </a:r>
            <a:endParaRPr lang="en-US" sz="2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2793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wanf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2951857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93369" y="5466457"/>
            <a:ext cx="15203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wǎnfàn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657600" y="6190357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晚饭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4363194" y="7563743"/>
            <a:ext cx="9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dinner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4587776" y="8154293"/>
            <a:ext cx="5118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晚飯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4488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2895213" y="3656707"/>
            <a:ext cx="113033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yìbān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12020550" y="4437757"/>
            <a:ext cx="2914650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3"/>
              </a:lnSpc>
              <a:buNone/>
            </a:pPr>
            <a:r>
              <a:rPr lang="en-US" sz="11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endParaRPr lang="en-US" sz="11250" dirty="0"/>
          </a:p>
        </p:txBody>
      </p:sp>
      <p:sp>
        <p:nvSpPr>
          <p:cNvPr id="15" name="Text 12"/>
          <p:cNvSpPr/>
          <p:nvPr/>
        </p:nvSpPr>
        <p:spPr>
          <a:xfrm>
            <a:off x="12806958" y="6128445"/>
            <a:ext cx="1310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normally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wǎnfàn chī zhōngcān.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晚饭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吃中餐。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eat Chinese food for dinner.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yìbān hē shuǐ.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喝水。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normally drink water.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wǎnfàn yìbān chī zhōngcān.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晚饭一般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吃中餐。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normally eat Chinese food for dinner — today's pattern.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11899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604766"/>
            <a:ext cx="16611600" cy="2318296"/>
          </a:xfrm>
          <a:prstGeom prst="roundRect">
            <a:avLst>
              <a:gd name="adj" fmla="val 8217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976241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我晚饭一般吃 ______ 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5151537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一般 goes before the verb.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200" y="6113562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6351687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6732687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clauses contrasting weekdays and the weekend — then one more sentence saying which you prefer.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52525" y="7147024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我晚饭一般吃中餐，可是周末我们一般吃西餐。</a:t>
            </a:r>
            <a:endParaRPr lang="en-US" sz="2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27082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quanjiare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3194745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34768" y="5709345"/>
            <a:ext cx="102787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quán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4248150" y="6433245"/>
            <a:ext cx="1204722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4395936" y="7806630"/>
            <a:ext cx="903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whole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4488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luojiahai/code/deck/index/designs/y8-l11/img/zhou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3194745"/>
            <a:ext cx="2381250" cy="238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54893" y="5709345"/>
            <a:ext cx="100843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zhōu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12858750" y="6433245"/>
            <a:ext cx="1204722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粥</a:t>
            </a:r>
            <a:endParaRPr lang="en-US" sz="9300" dirty="0"/>
          </a:p>
        </p:txBody>
      </p:sp>
      <p:sp>
        <p:nvSpPr>
          <p:cNvPr id="15" name="Text 11"/>
          <p:cNvSpPr/>
          <p:nvPr/>
        </p:nvSpPr>
        <p:spPr>
          <a:xfrm>
            <a:off x="12149882" y="7806630"/>
            <a:ext cx="2650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porridge; congee</a:t>
            </a:r>
            <a:endParaRPr lang="en-US" sz="2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Wǒmen quán jiā rén dōu xǐhuan chī zhōngcān.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家人都喜欢吃中餐。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whole family likes eating Chinese food. — straight from Text 2.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zǎocān yìbān chī zhōu.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我早餐一般吃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粥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normally eat congee for breakfast.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Wǒmen quán jiā rén zǎocān yìbān dōu chī zhōu.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家人早餐一般都吃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粥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whole family normally eats congee for breakfast.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11899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604766"/>
            <a:ext cx="16611600" cy="2318296"/>
          </a:xfrm>
          <a:prstGeom prst="roundRect">
            <a:avLst>
              <a:gd name="adj" fmla="val 8217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976241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我们全家人 ______ 喜欢吃 ______ 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5151537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Then two of you read yours aloud.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200" y="6113562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6351687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6732687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clauses, ending on yourself as the exception — then deliver it to the class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without looking at your board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52525" y="7147024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我们全家人早餐一般吃粥，可是我不太喜欢吃粥，我一般吃水果。</a:t>
            </a:r>
            <a:endParaRPr lang="en-US" sz="2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52246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THEM BACK — NO PINYIN, NO ENGLISH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0369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早餐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6451550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3720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12064901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47070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晚饭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838200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0369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endParaRPr lang="en-US" sz="7050" dirty="0"/>
          </a:p>
        </p:txBody>
      </p:sp>
      <p:sp>
        <p:nvSpPr>
          <p:cNvPr id="14" name="Text 12"/>
          <p:cNvSpPr/>
          <p:nvPr/>
        </p:nvSpPr>
        <p:spPr>
          <a:xfrm>
            <a:off x="6451550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3720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</a:t>
            </a:r>
            <a:endParaRPr lang="en-US" sz="7050" dirty="0"/>
          </a:p>
        </p:txBody>
      </p:sp>
      <p:sp>
        <p:nvSpPr>
          <p:cNvPr id="16" name="Text 14"/>
          <p:cNvSpPr/>
          <p:nvPr/>
        </p:nvSpPr>
        <p:spPr>
          <a:xfrm>
            <a:off x="12064901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147070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粥</a:t>
            </a:r>
            <a:endParaRPr lang="en-US" sz="7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805583"/>
            <a:ext cx="16611600" cy="1922115"/>
          </a:xfrm>
          <a:prstGeom prst="roundRect">
            <a:avLst>
              <a:gd name="adj" fmla="val 9911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89851" y="2100858"/>
            <a:ext cx="16108299" cy="817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35"/>
              </a:lnSpc>
              <a:buNone/>
            </a:pPr>
            <a:r>
              <a:rPr lang="en-US" sz="4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+ 时间 + </a:t>
            </a:r>
            <a:r>
              <a:rPr lang="en-US" sz="49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r>
              <a:rPr lang="en-US" sz="4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吃／喝 + X</a:t>
            </a:r>
            <a:endParaRPr lang="en-US" sz="4950" dirty="0"/>
          </a:p>
        </p:txBody>
      </p:sp>
      <p:sp>
        <p:nvSpPr>
          <p:cNvPr id="7" name="Text 5"/>
          <p:cNvSpPr/>
          <p:nvPr/>
        </p:nvSpPr>
        <p:spPr>
          <a:xfrm>
            <a:off x="1089851" y="3051423"/>
            <a:ext cx="161082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时间先，</a:t>
            </a:r>
            <a:r>
              <a:rPr lang="en-US" sz="2100" b="1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一般</a:t>
            </a: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第二，动词第三 — 我 / 早餐 / 一般 / 吃 / 粥。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93724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模仿我说 · WATCH ME BUILD 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4527798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47800" y="4423023"/>
            <a:ext cx="3575304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我早餐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吃粥。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838200" y="5252591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447800" y="5147816"/>
            <a:ext cx="5809869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吃快餐，喝可乐。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838200" y="5977384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47800" y="5872609"/>
            <a:ext cx="5809869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我们全家人晚饭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吃中餐。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838200" y="6702177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47800" y="6597402"/>
            <a:ext cx="9385173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我早餐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r>
              <a:rPr lang="en-US" sz="345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吃水果，可是周末我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r>
              <a:rPr lang="en-US" sz="345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吃汉堡包。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447800" y="7188845"/>
            <a:ext cx="938517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pattern twice, joined by 可是.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38200" y="7541270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3950" y="7769870"/>
            <a:ext cx="69503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常见错误 · WATCH OUT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3950" y="8055620"/>
            <a:ext cx="695037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一般 goes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before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verb, never after it.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" y="8469957"/>
            <a:ext cx="695037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✗ 我吃一般早餐粥。　✓ 我早餐一般吃粥。</a:t>
            </a:r>
            <a:endParaRPr lang="en-US" sz="2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407625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 FOR THE WHOLE TASK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zaoc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3525" y="4771579"/>
            <a:ext cx="1219200" cy="121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2575" y="608602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早餐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363855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Users/luojiahai/code/deck/index/designs/y8-l11/img/wuf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3875" y="4771579"/>
            <a:ext cx="1219200" cy="1219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2925" y="608602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</a:t>
            </a:r>
            <a:endParaRPr lang="en-US" sz="4650" dirty="0"/>
          </a:p>
        </p:txBody>
      </p:sp>
      <p:sp>
        <p:nvSpPr>
          <p:cNvPr id="12" name="Text 8"/>
          <p:cNvSpPr/>
          <p:nvPr/>
        </p:nvSpPr>
        <p:spPr>
          <a:xfrm>
            <a:off x="643890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Users/luojiahai/code/deck/index/designs/y8-l11/img/wanfa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4225" y="4771579"/>
            <a:ext cx="1219200" cy="1219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3275" y="608602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晚饭</a:t>
            </a:r>
            <a:endParaRPr lang="en-US" sz="4650" dirty="0"/>
          </a:p>
        </p:txBody>
      </p:sp>
      <p:sp>
        <p:nvSpPr>
          <p:cNvPr id="15" name="Text 10"/>
          <p:cNvSpPr/>
          <p:nvPr/>
        </p:nvSpPr>
        <p:spPr>
          <a:xfrm>
            <a:off x="923925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9953625" y="496207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endParaRPr lang="en-US" sz="4650" dirty="0"/>
          </a:p>
        </p:txBody>
      </p:sp>
      <p:sp>
        <p:nvSpPr>
          <p:cNvPr id="17" name="Text 12"/>
          <p:cNvSpPr/>
          <p:nvPr/>
        </p:nvSpPr>
        <p:spPr>
          <a:xfrm>
            <a:off x="1203960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Users/luojiahai/code/deck/index/designs/y8-l11/img/quanjiaren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34925" y="4771579"/>
            <a:ext cx="1219200" cy="1219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049250" y="6086029"/>
            <a:ext cx="602361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</a:t>
            </a:r>
            <a:endParaRPr lang="en-US" sz="4650" dirty="0"/>
          </a:p>
        </p:txBody>
      </p:sp>
      <p:sp>
        <p:nvSpPr>
          <p:cNvPr id="20" name="Text 14"/>
          <p:cNvSpPr/>
          <p:nvPr/>
        </p:nvSpPr>
        <p:spPr>
          <a:xfrm>
            <a:off x="1483995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/Users/luojiahai/code/deck/index/designs/y8-l11/img/zhou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535275" y="4771579"/>
            <a:ext cx="1219200" cy="1219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849600" y="6086029"/>
            <a:ext cx="602361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粥</a:t>
            </a:r>
            <a:endParaRPr lang="en-US" sz="4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64574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一日三餐表 · YOUR OWN MEAL GRID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131516"/>
            <a:ext cx="3138339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2207716"/>
            <a:ext cx="28513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SOLO → PAIRS · 7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722066"/>
            <a:ext cx="16611600" cy="4260056"/>
          </a:xfrm>
          <a:prstGeom prst="roundRect">
            <a:avLst>
              <a:gd name="adj" fmla="val 4472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2998291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p.101 Ex.2. Fill the grid with </a:t>
            </a: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own real food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Chinese only.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3594497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　　　　　喝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190625" y="425425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早餐　　___　　　___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190625" y="4914007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午餐　　___　　　___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190625" y="557376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晚餐　　___　　　___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190625" y="6233517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report to your partner: 我早饭一般吃……，喝……。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8200" y="7172623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2525" y="7410748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52525" y="7791748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row uses a frequency word instead of plain 一般 — 有时候 / 经常 / 常常 / 差不多每天都. Then fill a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grid for a family member and present that one, in the third person.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52525" y="8620423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我妈妈早饭差不多每天都喝咖啡，很少吃东西。</a:t>
            </a:r>
            <a:endParaRPr lang="en-US" sz="2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88848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我们一起去吃午饭吧！· 课本 P.103 EX.5 · PAIRS · 5 MIN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431405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62100" y="2431405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Wǒmen yìqǐ qù chī wǔfàn ba!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62100" y="2821930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我们一起去吃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吧！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38200" y="3568601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62100" y="3568601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Hǎo a. Nǐ xiǎng chī xīcān háishi zhōngcān?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62100" y="3959126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好啊。你想吃西餐还是中餐？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38200" y="4705796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62100" y="4705796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xiǎng chī zhōngcān.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62100" y="5096321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我想吃中餐。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8200" y="5842992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62100" y="5842992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xiǎng hē shénme yǐnliào?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562100" y="6233517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你想喝什么饮料？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8200" y="6980188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562100" y="6980188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xiǎng hē kělè.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562100" y="7370713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我想喝可乐。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38200" y="7964984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23950" y="8193584"/>
            <a:ext cx="112453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演两遍 · RUN IT TWICE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23950" y="8479334"/>
            <a:ext cx="112453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Swap roles the second time. Then keep your partner — the next slide uses them.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337197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猜一猜 · 20 QUESTIONS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822972"/>
            <a:ext cx="3110359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2899172"/>
            <a:ext cx="28228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WHOLE CLASS · 7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3413522"/>
            <a:ext cx="16611600" cy="2876996"/>
          </a:xfrm>
          <a:prstGeom prst="roundRect">
            <a:avLst>
              <a:gd name="adj" fmla="val 6621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3689747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student holds a food or drink card from Lessons 1–3.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4285952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class asks yes/no or 还是 questions — </a:t>
            </a: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Chinese only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90625" y="4882158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是饮料吗？　是中餐还是西餐？　早餐吃吗？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190625" y="5541913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 to twenty questions, then guess. Beanbag passes to whoever asks next.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8200" y="6481018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52525" y="6719143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52525" y="7100143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holder may only answer in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sentences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never a bare 是 or 不是. Fluent students take the card first, so they carry the answering load.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52525" y="7928818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这不是饮料，这是快餐。</a:t>
            </a:r>
            <a:endParaRPr lang="en-US" sz="2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353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采访 · INTERVIEW YOUR PARTNER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21075"/>
            <a:ext cx="2073176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3197275"/>
            <a:ext cx="17648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4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3711625"/>
            <a:ext cx="16611600" cy="2280791"/>
          </a:xfrm>
          <a:prstGeom prst="roundRect">
            <a:avLst>
              <a:gd name="adj" fmla="val 8352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3987850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 about all three meals. Note the answers.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4584055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你早饭一般吃什么？　午饭呢？　晚饭呢？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190625" y="5243810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report </a:t>
            </a: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of them back to the class — in the third person.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200" y="6182916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52525" y="6421041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52525" y="6802041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three-turn version where you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disagree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resolved in Chinese without switching to English. Use 可是 to object and 应该 to argue, then report the outcome in the third person.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52525" y="7630716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可是我们昨天吃了西餐，今天应该吃中餐。</a:t>
            </a:r>
            <a:endParaRPr lang="en-US" sz="2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3515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20926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23950" y="3349526"/>
            <a:ext cx="136675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SELF-ASSESSMENT · 自评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23950" y="3635276"/>
            <a:ext cx="1366758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Thumbs on each criterion —  /  /</a:t>
            </a:r>
            <a:endParaRPr lang="en-US" sz="2250" dirty="0"/>
          </a:p>
        </p:txBody>
      </p:sp>
      <p:pic>
        <p:nvPicPr>
          <p:cNvPr id="9" name="Image 0" descr="/Users/luojiahai/code/deck/index/designs/y8-l11/img/rate-u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6499" y="3644801"/>
            <a:ext cx="381000" cy="381000"/>
          </a:xfrm>
          <a:prstGeom prst="rect">
            <a:avLst/>
          </a:prstGeom>
        </p:spPr>
      </p:pic>
      <p:pic>
        <p:nvPicPr>
          <p:cNvPr id="10" name="Image 1" descr="/Users/luojiahai/code/deck/index/designs/y8-l11/img/rate-mid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636" y="3644801"/>
            <a:ext cx="381000" cy="381000"/>
          </a:xfrm>
          <a:prstGeom prst="rect">
            <a:avLst/>
          </a:prstGeom>
        </p:spPr>
      </p:pic>
      <p:pic>
        <p:nvPicPr>
          <p:cNvPr id="11" name="Image 2" descr="/Users/luojiahai/code/deck/index/designs/y8-l11/img/rate-dow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4774" y="3644801"/>
            <a:ext cx="38100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3950" y="4125813"/>
            <a:ext cx="1366758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30 seconds on 早饭 / 午饭 / 晚饭 / 米饭 — class gives the English. The fourth is new: it arrives next lesson.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38200" y="4916388"/>
            <a:ext cx="16611600" cy="2092523"/>
          </a:xfrm>
          <a:prstGeom prst="roundRect">
            <a:avLst>
              <a:gd name="adj" fmla="val 5462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123950" y="5144988"/>
            <a:ext cx="92441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123950" y="5430738"/>
            <a:ext cx="9244146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one sentence using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一般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about any meal.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1123950" y="5845076"/>
            <a:ext cx="9244146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我晚饭一般吃米饭。</a:t>
            </a:r>
            <a:endParaRPr lang="en-US" sz="2850" dirty="0"/>
          </a:p>
        </p:txBody>
      </p:sp>
      <p:sp>
        <p:nvSpPr>
          <p:cNvPr id="17" name="Text 12"/>
          <p:cNvSpPr/>
          <p:nvPr/>
        </p:nvSpPr>
        <p:spPr>
          <a:xfrm>
            <a:off x="1123950" y="6427887"/>
            <a:ext cx="924414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Whiteboards, held up together. Teacher scans for 一般 sitting after the verb.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838200" y="7218462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1123950" y="7447062"/>
            <a:ext cx="124523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NEXT LESSON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123950" y="7732812"/>
            <a:ext cx="12452387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dishes themselves — 面条、炒面、米饭、炒菜、包子 — and the second word for “or”.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2026-09-14T08:16:46Z</dcterms:created>
  <dcterms:modified xsi:type="dcterms:W3CDTF">2026-09-14T08:16:46Z</dcterms:modified>
</cp:coreProperties>
</file>