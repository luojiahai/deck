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去饭店吃饭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Eating Out · 会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5 · 50 minutes · 课本 p.105, p.108</a:t>
            </a:r>
            <a:endParaRPr lang="en-US" sz="2250" dirty="0"/>
          </a:p>
        </p:txBody>
      </p:sp>
      <p:pic>
        <p:nvPicPr>
          <p:cNvPr id="9" name="Image 0" descr="/Users/luojiahai/code/deck/index/designs/y8-l11/img/fandi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1/img/chi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1/img/kuaicandi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1/img/shuiguodia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82178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阅读 · READ IT SILENTLY, THEN IN PAIRS · 练习册 P.122 EX.10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307556"/>
            <a:ext cx="16611600" cy="3295650"/>
          </a:xfrm>
          <a:prstGeom prst="roundRect">
            <a:avLst>
              <a:gd name="adj" fmla="val 5780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0625" y="3583781"/>
            <a:ext cx="1622488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田方住在香港。她非常喜欢香港，因为香港有很多好吃的东西。在香港，除了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，她还可以吃到各种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。她最喜欢吃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，还经常吃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、炸鸡翅、炸薯条等。她每个星期六都去吃汉堡包。她妈妈说她应该少吃快餐，多吃蔬菜和水果。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8200" y="660320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23950" y="6831806"/>
            <a:ext cx="140776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不用问 · DON'T ASK ABOUT 炸鸡翅 OR 炸薯条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23950" y="7117556"/>
            <a:ext cx="1407760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Meet them as unknowns and work around them — that is the skill the test's reading section asks for.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23950" y="7608094"/>
            <a:ext cx="1407760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Everything else is Lessons 1–2 plus Lesson 10's 应该 and 可是.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84380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对还是错 · TRUE OR FALSE — WHITEBOARDS, HELD UP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32958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 · FOUR STATEMENTS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3920133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47800" y="3815358"/>
            <a:ext cx="4916043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田方不太喜欢住在香港。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38200" y="4644926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4540151"/>
            <a:ext cx="715060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她除了爱吃汉堡包，还爱吃比萨饼。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5369719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5264944"/>
            <a:ext cx="402221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她每天都吃汉堡包。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6094512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5989737"/>
            <a:ext cx="580986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她妈妈叫她多吃蔬菜和水果。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6581180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3950" y="6809780"/>
            <a:ext cx="132290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 · THEN — 3 MINUTES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950" y="7095530"/>
            <a:ext cx="1322901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discrimination: teacher reads six sentence halves aloud, students write only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还是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or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或者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23950" y="7586067"/>
            <a:ext cx="132290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questions, three statements, mixed order.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talk about eating out, and to say something is likely to happen using 会.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724988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饭店 and 吃饭, and build other 店 words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724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快餐店、水果店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55776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会 to say something is likely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557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这个周末我们会去饭店吃饭。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686551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2 aloud and answer in Chinese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6865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他们下个周末会去哪儿？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fandi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67770" y="5466457"/>
            <a:ext cx="157269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fàndiàn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056757" y="7563743"/>
            <a:ext cx="159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restaurant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5877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飯店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8-l11/img/chi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778234" y="5466457"/>
            <a:ext cx="136882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chīfàn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9300" dirty="0"/>
          </a:p>
        </p:txBody>
      </p:sp>
      <p:sp>
        <p:nvSpPr>
          <p:cNvPr id="16" name="Text 12"/>
          <p:cNvSpPr/>
          <p:nvPr/>
        </p:nvSpPr>
        <p:spPr>
          <a:xfrm>
            <a:off x="12431018" y="7563743"/>
            <a:ext cx="20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eat a meal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31983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吃飯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zhōumò qù fàndiàn.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我们周末去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go to a restaurant at the weekend.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quán jiā rén yìqǐ chīfàn.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我们全家人一起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whole family eats together.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zhōumò qù fàndiàn chīfàn.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我们周末去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饭店吃饭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eat out at the weekend — straight from Text 2.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 ______ 去饭店吃饭。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clauses contrasting home and out — then add what you eat there, using 或者.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我们全家人一般在家吃饭，可是周末有时候去饭店吃饭。</a:t>
            </a:r>
            <a:endParaRPr lang="en-US" sz="2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kuaicandi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00599" y="5709345"/>
            <a:ext cx="25257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kuàicāndiàn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067050" y="6433245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3669953" y="7806630"/>
            <a:ext cx="23840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fast-food shop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1/img/shuiguodi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91851" y="5709345"/>
            <a:ext cx="25651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shuǐguǒdiàn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1677650" y="6433245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709773" y="7806630"/>
            <a:ext cx="1508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fruit shop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6580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51583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1951583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142083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qù kuàicāndiàn chīfàn.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2599283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我喜欢去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379440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at a fast-food shop.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160490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160490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350990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Shuǐguǒdiàn yǒu hěn duō shuǐguǒ.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4808190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有很多水果。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5588347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fruit shop has a lot of fruit.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369397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369397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655989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qù kuàicāndiàn, wǒ māma xǐhuan qù shuǐguǒdiàn.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01709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我喜欢去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，我妈妈喜欢去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779725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the fast-food shop, my mother likes the fruit shop.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8200" y="8387804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616404"/>
            <a:ext cx="103038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店 · A SHOP, ON THE END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902154"/>
            <a:ext cx="1030389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words are built from things you already know — 快餐 + 店, 水果 + 店.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0997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95749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267224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店　·　______ 店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271070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店有 ______ 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446365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two more 店 words from words you know, then use one in a sentence.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408390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64651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02751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full family from 练习册 Ex.13 — 玩具店、书店、花店. One sentence each with 有, then rank them with a 可是 clause.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85619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花店有很多花。　我最喜欢去书店，可是我妈妈最喜欢去花店。</a:t>
            </a:r>
            <a:endParaRPr lang="en-US" sz="2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4496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935438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4403" y="5278338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5048250" y="4935438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4453" y="5278338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9258300" y="4935438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54503" y="5278338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13468350" y="4935438"/>
            <a:ext cx="39814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64553" y="5278338"/>
            <a:ext cx="3789045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7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286470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9851" y="1581745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动词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089851" y="2532311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huì · “is likely to / will” — before the verb, like 应该 and 一般.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39908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989636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3884861"/>
            <a:ext cx="274887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下雨。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447800" y="4476304"/>
            <a:ext cx="27488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It's likely to rain today.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38200" y="5066854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447800" y="4962079"/>
            <a:ext cx="402221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今晚爸爸不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回家。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447800" y="5553521"/>
            <a:ext cx="4022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Negative: 不会.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38200" y="614407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6039296"/>
            <a:ext cx="4274365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4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吃快餐。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6630739"/>
            <a:ext cx="42743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I'll probably eat fast food for lunch.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8200" y="7221289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447800" y="7116514"/>
            <a:ext cx="959891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我们下个周末</a:t>
            </a:r>
            <a:r>
              <a:rPr lang="en-US" sz="34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45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去一家北京饭店吃饭。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447800" y="7707957"/>
            <a:ext cx="95989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2's own final sentence — 会 + measure word 家 + a two-part verb phrase.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38200" y="8060382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288982"/>
            <a:ext cx="104692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两个意思 · TWO MEANINGS OF 会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574732"/>
            <a:ext cx="1046921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 also means “be able to” — 我会游泳. The time word tells you which one.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3950" y="8989070"/>
            <a:ext cx="10469210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明天会下雨 = likely　·　我会游泳 = ability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3045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· 全文 · CD TRACK 54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16226"/>
            <a:ext cx="16611600" cy="2678162"/>
          </a:xfrm>
          <a:prstGeom prst="roundRect">
            <a:avLst>
              <a:gd name="adj" fmla="val 7113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0625" y="3892451"/>
            <a:ext cx="16224885" cy="2125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我们全家人都喜欢吃中餐。早餐我们一般吃粥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面条。我们午饭吃炒面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包子。我们晚饭一般吃米饭、炒菜。我们家周末有时候去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饭店吃饭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。我们下个周末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去一家北京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饭店吃饭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8200" y="6294388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23950" y="6522988"/>
            <a:ext cx="126167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你们已经会了 · YOU BUILT THIS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23950" y="6808738"/>
            <a:ext cx="1261679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sentence here is language you have made yourself over the last four lessons.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23950" y="7299275"/>
            <a:ext cx="1261679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only genuinely new word is 会, in the last sentence. — 他们早餐一般吃什么？ 他们下个周末会去哪儿？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78517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TODAY'S WORDS PLUS LESSON 4'S DISHES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270945"/>
            <a:ext cx="3154561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fandi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5880" y="3480495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4930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4202311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1/img/chif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9991" y="3480495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9041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7566571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1/img/kuaicandi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251" y="3480495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8026" y="4794945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10930830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1/img/shuiguodia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98511" y="3480495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622286" y="4794945"/>
            <a:ext cx="180708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4295090" y="3270945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1/img/miantiao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2771" y="3480495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281821" y="479494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endParaRPr lang="en-US" sz="4650" dirty="0"/>
          </a:p>
        </p:txBody>
      </p:sp>
      <p:sp>
        <p:nvSpPr>
          <p:cNvPr id="21" name="Text 14"/>
          <p:cNvSpPr/>
          <p:nvPr/>
        </p:nvSpPr>
        <p:spPr>
          <a:xfrm>
            <a:off x="838200" y="5853113"/>
            <a:ext cx="3154561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Users/luojiahai/code/deck/index/designs/y8-l11/img/chaomian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5880" y="6062663"/>
            <a:ext cx="1219200" cy="1219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824930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4650" dirty="0"/>
          </a:p>
        </p:txBody>
      </p:sp>
      <p:sp>
        <p:nvSpPr>
          <p:cNvPr id="24" name="Text 16"/>
          <p:cNvSpPr/>
          <p:nvPr/>
        </p:nvSpPr>
        <p:spPr>
          <a:xfrm>
            <a:off x="4202311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/Users/luojiahai/code/deck/index/designs/y8-l11/img/mifan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69991" y="6062663"/>
            <a:ext cx="1219200" cy="1219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8904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endParaRPr lang="en-US" sz="4650" dirty="0"/>
          </a:p>
        </p:txBody>
      </p:sp>
      <p:sp>
        <p:nvSpPr>
          <p:cNvPr id="27" name="Text 18"/>
          <p:cNvSpPr/>
          <p:nvPr/>
        </p:nvSpPr>
        <p:spPr>
          <a:xfrm>
            <a:off x="7566571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/Users/luojiahai/code/deck/index/designs/y8-l11/img/chaocai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251" y="6062663"/>
            <a:ext cx="1219200" cy="1219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55330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4650" dirty="0"/>
          </a:p>
        </p:txBody>
      </p:sp>
      <p:sp>
        <p:nvSpPr>
          <p:cNvPr id="30" name="Text 20"/>
          <p:cNvSpPr/>
          <p:nvPr/>
        </p:nvSpPr>
        <p:spPr>
          <a:xfrm>
            <a:off x="10930830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8" descr="/Users/luojiahai/code/deck/index/designs/y8-l11/img/baozi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898511" y="6062663"/>
            <a:ext cx="1219200" cy="1219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1917561" y="7377113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endParaRPr lang="en-US" sz="4650" dirty="0"/>
          </a:p>
        </p:txBody>
      </p:sp>
      <p:sp>
        <p:nvSpPr>
          <p:cNvPr id="33" name="Text 22"/>
          <p:cNvSpPr/>
          <p:nvPr/>
        </p:nvSpPr>
        <p:spPr>
          <a:xfrm>
            <a:off x="14295090" y="5853113"/>
            <a:ext cx="315471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3"/>
          <p:cNvSpPr/>
          <p:nvPr/>
        </p:nvSpPr>
        <p:spPr>
          <a:xfrm>
            <a:off x="15577096" y="6253163"/>
            <a:ext cx="602361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endParaRPr lang="en-US" sz="4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94384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这个周末 · YOUR FAMILY'S WEEKEND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429619"/>
            <a:ext cx="2020193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505819"/>
            <a:ext cx="17108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 · 6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020169"/>
            <a:ext cx="16611600" cy="3663851"/>
          </a:xfrm>
          <a:prstGeom prst="roundRect">
            <a:avLst>
              <a:gd name="adj" fmla="val 5199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296394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sentences. Every one uses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 at least one uses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或者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3892600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这个周末我们全家人会去饭店吃饭。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455235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我们会吃面条或者炒面。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90625" y="5212110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我会喝可乐。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190625" y="587186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星期天我们会去水果店。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838200" y="6874520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52525" y="711264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52525" y="749364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sentences across two days and all three meals, with two of them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negative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using 不会. Then a partner asks you two 还是 questions about the plan, answered live without your paper.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52525" y="832232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星期六我们不会在家吃饭。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26563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听一听 (CD 55, 3 MIN)，然后演一演 · PAIRS · 6 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08559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1808559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xiǎng chī zhōngcān háishi xīcān?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62100" y="2199084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你们想吃中餐还是西餐？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200" y="2945755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62100" y="2945755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Zhōngcān. Wǒmen huì chī miàntiáo huòzhě chǎomiàn.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62100" y="3336280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中餐。我们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吃面条</a:t>
            </a:r>
            <a:r>
              <a:rPr lang="en-US" sz="3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6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8200" y="4082951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100" y="4082951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xiǎng hē shénme yǐnliào?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62100" y="4473476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你们想喝什么饮料？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8200" y="5220146"/>
            <a:ext cx="505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62100" y="5220146"/>
            <a:ext cx="162054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9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Kělè, xièxie.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62100" y="5610671"/>
            <a:ext cx="1620545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可乐，谢谢。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8200" y="6204942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433542"/>
            <a:ext cx="133389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规则 · THE RULES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6719292"/>
            <a:ext cx="1333892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Restaurant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asks two 还是 questions.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uses 或者 and 会 once each. Swap, run it again.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838200" y="7552730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525" y="779085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2525" y="817185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restaurant has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out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whatever the customer asks for first — change the order in Chinese without restarting the dialogue. No word bank; fluent students take the restaurant role.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52525" y="900053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对不起，今天没有炒面。／ 没关系，那我们吃面条或者包子。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1446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写字接力 · WRITING RELAY — TWO ROUNDS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00238"/>
            <a:ext cx="3367385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976438"/>
            <a:ext cx="3084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OF FOUR · 8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471738"/>
            <a:ext cx="16611600" cy="3155752"/>
          </a:xfrm>
          <a:prstGeom prst="roundRect">
            <a:avLst>
              <a:gd name="adj" fmla="val 6037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274796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第一轮 · Round 1 (4 min)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简单字, 练习册 p.126 Ex.19. Teacher calls the English meaning.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3220343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虫　贝　刀　民　食　果　欠　石　东　南　西　北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90625" y="3870573"/>
            <a:ext cx="16224885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spcBef>
                <a:spcPts val="900"/>
              </a:spcBef>
              <a:buNone/>
            </a:pP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 · Round 2 (4 min)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部首, 练习册 p.120 Ex.6. Teacher calls the radical's meaning; write the radical only.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815334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革　厂　车　广　贝　礻　犭　虫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838200" y="5627489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23950" y="5856089"/>
            <a:ext cx="108737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贝 出现两次 · 贝 APPEARS IN BOTH ROUNDS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23950" y="6141839"/>
            <a:ext cx="1087377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Shell as a simple character, treasure as a radical. Two glosses, one character.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23950" y="6632377"/>
            <a:ext cx="108737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That's exactly what the test's Part 3 turns on.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38200" y="7403902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764202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525" y="8023027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Round 1 — also write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two-character word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containing it. Round 2 — write a character that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that radical. Worth two points; a wrong answer costs one.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52525" y="8851702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食 → 食物　·　西 → 西餐　·　犭 → 狗　·　饣 → 饭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3125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全课复习 · EVERYTHING FROM LESSON 11 — READ THEM DOWN IN FOUR CHUNKS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91258" y="3126581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</a:t>
            </a:r>
            <a:endParaRPr lang="en-US" sz="3750" dirty="0"/>
          </a:p>
        </p:txBody>
      </p:sp>
      <p:sp>
        <p:nvSpPr>
          <p:cNvPr id="8" name="Text 6"/>
          <p:cNvSpPr/>
          <p:nvPr/>
        </p:nvSpPr>
        <p:spPr>
          <a:xfrm>
            <a:off x="3230314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83372" y="3126581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西餐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5622429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5487" y="3126581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8014543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67601" y="3126581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10406658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059716" y="3126581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12798772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356580" y="3126581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190887" y="2917031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748695" y="3126581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8200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29383" y="4179094"/>
            <a:ext cx="4857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喝</a:t>
            </a:r>
            <a:endParaRPr lang="en-US" sz="3750" dirty="0"/>
          </a:p>
        </p:txBody>
      </p:sp>
      <p:sp>
        <p:nvSpPr>
          <p:cNvPr id="22" name="Text 20"/>
          <p:cNvSpPr/>
          <p:nvPr/>
        </p:nvSpPr>
        <p:spPr>
          <a:xfrm>
            <a:off x="3230314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3372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饮料</a:t>
            </a:r>
            <a:endParaRPr lang="en-US" sz="3750" dirty="0"/>
          </a:p>
        </p:txBody>
      </p:sp>
      <p:sp>
        <p:nvSpPr>
          <p:cNvPr id="24" name="Text 22"/>
          <p:cNvSpPr/>
          <p:nvPr/>
        </p:nvSpPr>
        <p:spPr>
          <a:xfrm>
            <a:off x="5622429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75487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</a:t>
            </a:r>
            <a:endParaRPr lang="en-US" sz="3750" dirty="0"/>
          </a:p>
        </p:txBody>
      </p:sp>
      <p:sp>
        <p:nvSpPr>
          <p:cNvPr id="26" name="Text 24"/>
          <p:cNvSpPr/>
          <p:nvPr/>
        </p:nvSpPr>
        <p:spPr>
          <a:xfrm>
            <a:off x="8014543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667601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</a:t>
            </a:r>
            <a:endParaRPr lang="en-US" sz="3750" dirty="0"/>
          </a:p>
        </p:txBody>
      </p:sp>
      <p:sp>
        <p:nvSpPr>
          <p:cNvPr id="28" name="Text 26"/>
          <p:cNvSpPr/>
          <p:nvPr/>
        </p:nvSpPr>
        <p:spPr>
          <a:xfrm>
            <a:off x="10406658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59716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endParaRPr lang="en-US" sz="3750" dirty="0"/>
          </a:p>
        </p:txBody>
      </p:sp>
      <p:sp>
        <p:nvSpPr>
          <p:cNvPr id="30" name="Text 28"/>
          <p:cNvSpPr/>
          <p:nvPr/>
        </p:nvSpPr>
        <p:spPr>
          <a:xfrm>
            <a:off x="12798772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451830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3750" dirty="0"/>
          </a:p>
        </p:txBody>
      </p:sp>
      <p:sp>
        <p:nvSpPr>
          <p:cNvPr id="32" name="Text 30"/>
          <p:cNvSpPr/>
          <p:nvPr/>
        </p:nvSpPr>
        <p:spPr>
          <a:xfrm>
            <a:off x="15190887" y="3969544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843945" y="4179094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3750" dirty="0"/>
          </a:p>
        </p:txBody>
      </p:sp>
      <p:sp>
        <p:nvSpPr>
          <p:cNvPr id="34" name="Text 32"/>
          <p:cNvSpPr/>
          <p:nvPr/>
        </p:nvSpPr>
        <p:spPr>
          <a:xfrm>
            <a:off x="838200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491258" y="5231606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3750" dirty="0"/>
          </a:p>
        </p:txBody>
      </p:sp>
      <p:sp>
        <p:nvSpPr>
          <p:cNvPr id="36" name="Text 34"/>
          <p:cNvSpPr/>
          <p:nvPr/>
        </p:nvSpPr>
        <p:spPr>
          <a:xfrm>
            <a:off x="3230314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121497" y="5231606"/>
            <a:ext cx="4857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</a:t>
            </a:r>
            <a:endParaRPr lang="en-US" sz="3750" dirty="0"/>
          </a:p>
        </p:txBody>
      </p:sp>
      <p:sp>
        <p:nvSpPr>
          <p:cNvPr id="38" name="Text 36"/>
          <p:cNvSpPr/>
          <p:nvPr/>
        </p:nvSpPr>
        <p:spPr>
          <a:xfrm>
            <a:off x="5622429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3612" y="5231606"/>
            <a:ext cx="4857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endParaRPr lang="en-US" sz="3750" dirty="0"/>
          </a:p>
        </p:txBody>
      </p:sp>
      <p:sp>
        <p:nvSpPr>
          <p:cNvPr id="40" name="Text 38"/>
          <p:cNvSpPr/>
          <p:nvPr/>
        </p:nvSpPr>
        <p:spPr>
          <a:xfrm>
            <a:off x="8014543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667601" y="5231606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endParaRPr lang="en-US" sz="3750" dirty="0"/>
          </a:p>
        </p:txBody>
      </p:sp>
      <p:sp>
        <p:nvSpPr>
          <p:cNvPr id="42" name="Text 40"/>
          <p:cNvSpPr/>
          <p:nvPr/>
        </p:nvSpPr>
        <p:spPr>
          <a:xfrm>
            <a:off x="10406658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059716" y="5231606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3750" dirty="0"/>
          </a:p>
        </p:txBody>
      </p:sp>
      <p:sp>
        <p:nvSpPr>
          <p:cNvPr id="44" name="Text 42"/>
          <p:cNvSpPr/>
          <p:nvPr/>
        </p:nvSpPr>
        <p:spPr>
          <a:xfrm>
            <a:off x="12798772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451830" y="5231606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endParaRPr lang="en-US" sz="3750" dirty="0"/>
          </a:p>
        </p:txBody>
      </p:sp>
      <p:sp>
        <p:nvSpPr>
          <p:cNvPr id="46" name="Text 44"/>
          <p:cNvSpPr/>
          <p:nvPr/>
        </p:nvSpPr>
        <p:spPr>
          <a:xfrm>
            <a:off x="15190887" y="5022056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843945" y="5231606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3750" dirty="0"/>
          </a:p>
        </p:txBody>
      </p:sp>
      <p:sp>
        <p:nvSpPr>
          <p:cNvPr id="48" name="Text 46"/>
          <p:cNvSpPr/>
          <p:nvPr/>
        </p:nvSpPr>
        <p:spPr>
          <a:xfrm>
            <a:off x="838200" y="6074569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491258" y="6284119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endParaRPr lang="en-US" sz="3750" dirty="0"/>
          </a:p>
        </p:txBody>
      </p:sp>
      <p:sp>
        <p:nvSpPr>
          <p:cNvPr id="50" name="Text 48"/>
          <p:cNvSpPr/>
          <p:nvPr/>
        </p:nvSpPr>
        <p:spPr>
          <a:xfrm>
            <a:off x="3230314" y="6074569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883372" y="6284119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endParaRPr lang="en-US" sz="3750" dirty="0"/>
          </a:p>
        </p:txBody>
      </p:sp>
      <p:sp>
        <p:nvSpPr>
          <p:cNvPr id="52" name="Text 50"/>
          <p:cNvSpPr/>
          <p:nvPr/>
        </p:nvSpPr>
        <p:spPr>
          <a:xfrm>
            <a:off x="5622429" y="6074569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275487" y="6284119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endParaRPr lang="en-US" sz="3750" dirty="0"/>
          </a:p>
        </p:txBody>
      </p:sp>
      <p:sp>
        <p:nvSpPr>
          <p:cNvPr id="54" name="Text 52"/>
          <p:cNvSpPr/>
          <p:nvPr/>
        </p:nvSpPr>
        <p:spPr>
          <a:xfrm>
            <a:off x="8014543" y="6074569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667601" y="6284119"/>
            <a:ext cx="971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3750" dirty="0"/>
          </a:p>
        </p:txBody>
      </p:sp>
      <p:sp>
        <p:nvSpPr>
          <p:cNvPr id="56" name="Text 54"/>
          <p:cNvSpPr/>
          <p:nvPr/>
        </p:nvSpPr>
        <p:spPr>
          <a:xfrm>
            <a:off x="10406658" y="6074569"/>
            <a:ext cx="2258764" cy="919162"/>
          </a:xfrm>
          <a:prstGeom prst="roundRect">
            <a:avLst>
              <a:gd name="adj" fmla="val 2072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297841" y="6284119"/>
            <a:ext cx="4857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endParaRPr lang="en-US" sz="3750" dirty="0"/>
          </a:p>
        </p:txBody>
      </p:sp>
      <p:sp>
        <p:nvSpPr>
          <p:cNvPr id="58" name="Text 56"/>
          <p:cNvSpPr/>
          <p:nvPr/>
        </p:nvSpPr>
        <p:spPr>
          <a:xfrm>
            <a:off x="838200" y="6993731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23950" y="7222331"/>
            <a:ext cx="92298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读不出来的 · WHATEVER STALLS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123950" y="7508081"/>
            <a:ext cx="922987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Say it aloud. That is exactly what to look at before the Unit 4 test.</a:t>
            </a:r>
            <a:endParaRPr lang="en-US" sz="2250" dirty="0"/>
          </a:p>
        </p:txBody>
      </p:sp>
      <p:sp>
        <p:nvSpPr>
          <p:cNvPr id="61" name="Text 59"/>
          <p:cNvSpPr/>
          <p:nvPr/>
        </p:nvSpPr>
        <p:spPr>
          <a:xfrm>
            <a:off x="1123950" y="7998619"/>
            <a:ext cx="92298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食物类 → 饮料类 → 三餐 → 中餐菜 · four chunks, four passes.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515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 — THE WHOLE SEQUENCE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2092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3349526"/>
            <a:ext cx="1166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635276"/>
            <a:ext cx="1166406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across the whole sequence —  /  /</a:t>
            </a:r>
            <a:endParaRPr lang="en-US" sz="2250" dirty="0"/>
          </a:p>
        </p:txBody>
      </p:sp>
      <p:pic>
        <p:nvPicPr>
          <p:cNvPr id="9" name="Image 0" descr="/Users/luojiahai/code/deck/index/designs/y8-l11/img/rate-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4619" y="3644801"/>
            <a:ext cx="381000" cy="381000"/>
          </a:xfrm>
          <a:prstGeom prst="rect">
            <a:avLst/>
          </a:prstGeom>
        </p:spPr>
      </p:pic>
      <p:pic>
        <p:nvPicPr>
          <p:cNvPr id="10" name="Image 1" descr="/Users/luojiahai/code/deck/index/designs/y8-l11/img/rate-mi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3756" y="3644801"/>
            <a:ext cx="381000" cy="381000"/>
          </a:xfrm>
          <a:prstGeom prst="rect">
            <a:avLst/>
          </a:prstGeom>
        </p:spPr>
      </p:pic>
      <p:pic>
        <p:nvPicPr>
          <p:cNvPr id="11" name="Image 2" descr="/Users/luojiahai/code/deck/index/designs/y8-l11/img/rate-dow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2894" y="3644801"/>
            <a:ext cx="38100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3950" y="4125813"/>
            <a:ext cx="116640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show of hands per group of words, not per criterion. All five lessons' criteria go up at once.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8200" y="4916388"/>
            <a:ext cx="16611600" cy="2092523"/>
          </a:xfrm>
          <a:prstGeom prst="roundRect">
            <a:avLst>
              <a:gd name="adj" fmla="val 5462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23950" y="5144988"/>
            <a:ext cx="73330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123950" y="5430738"/>
            <a:ext cx="733307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— </a:t>
            </a:r>
            <a:r>
              <a:rPr lang="en-US" sz="2250" i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“I will probably eat fast food for lunch.”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123950" y="5845076"/>
            <a:ext cx="7333077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我午饭会吃快餐。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123950" y="6427887"/>
            <a:ext cx="73330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38200" y="7218462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123950" y="7447062"/>
            <a:ext cx="159889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23950" y="7732812"/>
            <a:ext cx="1598898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start Lesson 12 — 外出就餐. Same restaurant, but this time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pay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prices, money, and how much things cost.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2026-09-14T08:20:17Z</dcterms:created>
  <dcterms:modified xsi:type="dcterms:W3CDTF">2026-09-14T08:20:17Z</dcterms:modified>
</cp:coreProperties>
</file>