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image" Target="../media/image-1-7.png"/><Relationship Id="rId8" Type="http://schemas.openxmlformats.org/officeDocument/2006/relationships/image" Target="../media/image-1-8.svg"/><Relationship Id="rId9" Type="http://schemas.openxmlformats.org/officeDocument/2006/relationships/image" Target="../media/image-1-9.png"/><Relationship Id="rId10" Type="http://schemas.openxmlformats.org/officeDocument/2006/relationships/image" Target="../media/image-1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image" Target="../media/image-16-3.png"/><Relationship Id="rId4" Type="http://schemas.openxmlformats.org/officeDocument/2006/relationships/image" Target="../media/image-16-4.svg"/><Relationship Id="rId5" Type="http://schemas.openxmlformats.org/officeDocument/2006/relationships/image" Target="../media/image-16-5.png"/><Relationship Id="rId6" Type="http://schemas.openxmlformats.org/officeDocument/2006/relationships/image" Target="../media/image-16-6.svg"/><Relationship Id="rId7" Type="http://schemas.openxmlformats.org/officeDocument/2006/relationships/image" Target="../media/image-16-7.png"/><Relationship Id="rId8" Type="http://schemas.openxmlformats.org/officeDocument/2006/relationships/image" Target="../media/image-16-8.svg"/><Relationship Id="rId9" Type="http://schemas.openxmlformats.org/officeDocument/2006/relationships/image" Target="../media/image-16-9.png"/><Relationship Id="rId10" Type="http://schemas.openxmlformats.org/officeDocument/2006/relationships/image" Target="../media/image-16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66800" y="2453580"/>
            <a:ext cx="167106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B96A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2 · UNIT 4 · LESSON 11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066800" y="3082230"/>
            <a:ext cx="16710660" cy="184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35"/>
              </a:lnSpc>
              <a:spcBef>
                <a:spcPts val="1950"/>
              </a:spcBef>
              <a:spcAft>
                <a:spcPts val="750"/>
              </a:spcAft>
              <a:buNone/>
            </a:pPr>
            <a:r>
              <a:rPr lang="en-US" sz="142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中餐菜</a:t>
            </a:r>
            <a:endParaRPr lang="en-US" sz="14250" dirty="0"/>
          </a:p>
        </p:txBody>
      </p:sp>
      <p:sp>
        <p:nvSpPr>
          <p:cNvPr id="7" name="Text 5"/>
          <p:cNvSpPr/>
          <p:nvPr/>
        </p:nvSpPr>
        <p:spPr>
          <a:xfrm>
            <a:off x="1066800" y="5023396"/>
            <a:ext cx="1671066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10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Chinese Dishes · 或者</a:t>
            </a:r>
            <a:endParaRPr lang="en-US" sz="5100" dirty="0"/>
          </a:p>
        </p:txBody>
      </p:sp>
      <p:sp>
        <p:nvSpPr>
          <p:cNvPr id="8" name="Text 6"/>
          <p:cNvSpPr/>
          <p:nvPr/>
        </p:nvSpPr>
        <p:spPr>
          <a:xfrm>
            <a:off x="1066800" y="6271171"/>
            <a:ext cx="1671066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700"/>
              </a:spcBef>
              <a:buNone/>
            </a:pPr>
            <a:r>
              <a:rPr lang="en-US" sz="225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4 of 5 · 50 minutes · 课本 p.106–107, p.109</a:t>
            </a:r>
            <a:endParaRPr lang="en-US" sz="2250" dirty="0"/>
          </a:p>
        </p:txBody>
      </p:sp>
      <p:pic>
        <p:nvPicPr>
          <p:cNvPr id="9" name="Image 0" descr="/Users/luojiahai/code/deck/index/designs/y8-l11/img/miantia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6800" y="7128421"/>
            <a:ext cx="1428750" cy="1428750"/>
          </a:xfrm>
          <a:prstGeom prst="rect">
            <a:avLst/>
          </a:prstGeom>
        </p:spPr>
      </p:pic>
      <p:pic>
        <p:nvPicPr>
          <p:cNvPr id="10" name="Image 1" descr="/Users/luojiahai/code/deck/index/designs/y8-l11/img/chaomian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62250" y="7128421"/>
            <a:ext cx="1428750" cy="1428750"/>
          </a:xfrm>
          <a:prstGeom prst="rect">
            <a:avLst/>
          </a:prstGeom>
        </p:spPr>
      </p:pic>
      <p:pic>
        <p:nvPicPr>
          <p:cNvPr id="11" name="Image 2" descr="/Users/luojiahai/code/deck/index/designs/y8-l11/img/mifan.sv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57700" y="7128421"/>
            <a:ext cx="1428750" cy="1428750"/>
          </a:xfrm>
          <a:prstGeom prst="rect">
            <a:avLst/>
          </a:prstGeom>
        </p:spPr>
      </p:pic>
      <p:pic>
        <p:nvPicPr>
          <p:cNvPr id="12" name="Image 3" descr="/Users/luojiahai/code/deck/index/designs/y8-l11/img/chaocai.sv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53150" y="7128421"/>
            <a:ext cx="1428750" cy="1428750"/>
          </a:xfrm>
          <a:prstGeom prst="rect">
            <a:avLst/>
          </a:prstGeom>
        </p:spPr>
      </p:pic>
      <p:pic>
        <p:nvPicPr>
          <p:cNvPr id="13" name="Image 4" descr="/Users/luojiahai/code/deck/index/designs/y8-l11/img/baozi.sv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848600" y="7128421"/>
            <a:ext cx="1428750" cy="14287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2138958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改错 · CORRECT THE TEACHER — THREE OF THESE ARE WRONG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2624733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FIND AND FIX EACH ON YOUR WHITEBOARD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200" y="3215283"/>
            <a:ext cx="3886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B96A1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447800" y="3110508"/>
            <a:ext cx="3575304" cy="591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58"/>
              </a:lnSpc>
              <a:buNone/>
            </a:pPr>
            <a:r>
              <a:rPr lang="en-US" sz="34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我吃一般早餐粥。</a:t>
            </a:r>
            <a:endParaRPr lang="en-US" sz="3450" dirty="0"/>
          </a:p>
        </p:txBody>
      </p:sp>
      <p:sp>
        <p:nvSpPr>
          <p:cNvPr id="9" name="Text 7"/>
          <p:cNvSpPr/>
          <p:nvPr/>
        </p:nvSpPr>
        <p:spPr>
          <a:xfrm>
            <a:off x="1447800" y="3701951"/>
            <a:ext cx="3575304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一般 in the wrong place.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838200" y="4292501"/>
            <a:ext cx="3886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B96A1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1447800" y="4187726"/>
            <a:ext cx="5362956" cy="591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58"/>
              </a:lnSpc>
              <a:buNone/>
            </a:pPr>
            <a:r>
              <a:rPr lang="en-US" sz="34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我们全家人都喜欢吃中餐。</a:t>
            </a:r>
            <a:endParaRPr lang="en-US" sz="3450" dirty="0"/>
          </a:p>
        </p:txBody>
      </p:sp>
      <p:sp>
        <p:nvSpPr>
          <p:cNvPr id="12" name="Text 10"/>
          <p:cNvSpPr/>
          <p:nvPr/>
        </p:nvSpPr>
        <p:spPr>
          <a:xfrm>
            <a:off x="1447800" y="4779169"/>
            <a:ext cx="536295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Nothing wrong with this one.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838200" y="5369719"/>
            <a:ext cx="3886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B96A1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1447800" y="5264944"/>
            <a:ext cx="6256782" cy="591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58"/>
              </a:lnSpc>
              <a:buNone/>
            </a:pPr>
            <a:r>
              <a:rPr lang="en-US" sz="345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我午饭一般吃快餐还是汉堡包。</a:t>
            </a:r>
            <a:endParaRPr lang="en-US" sz="3450" dirty="0"/>
          </a:p>
        </p:txBody>
      </p:sp>
      <p:sp>
        <p:nvSpPr>
          <p:cNvPr id="15" name="Text 13"/>
          <p:cNvSpPr/>
          <p:nvPr/>
        </p:nvSpPr>
        <p:spPr>
          <a:xfrm>
            <a:off x="1447800" y="5856387"/>
            <a:ext cx="625678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You can hear it's broken — but you can't fix it yet.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838200" y="6446937"/>
            <a:ext cx="3886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B96A1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1447800" y="6342162"/>
            <a:ext cx="4022217" cy="591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58"/>
              </a:lnSpc>
              <a:buNone/>
            </a:pPr>
            <a:r>
              <a:rPr lang="en-US" sz="34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我晚饭吃一般中餐。</a:t>
            </a:r>
            <a:endParaRPr lang="en-US" sz="3450" dirty="0"/>
          </a:p>
        </p:txBody>
      </p:sp>
      <p:sp>
        <p:nvSpPr>
          <p:cNvPr id="18" name="Text 16"/>
          <p:cNvSpPr/>
          <p:nvPr/>
        </p:nvSpPr>
        <p:spPr>
          <a:xfrm>
            <a:off x="1447800" y="6933605"/>
            <a:ext cx="4022217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一般 in the wrong place again.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838200" y="7286030"/>
            <a:ext cx="16611600" cy="1585913"/>
          </a:xfrm>
          <a:prstGeom prst="roundRect">
            <a:avLst>
              <a:gd name="adj" fmla="val 7207"/>
            </a:avLst>
          </a:prstGeom>
          <a:solidFill>
            <a:srgbClr val="B93F2C">
              <a:alpha val="11000"/>
            </a:srgbClr>
          </a:solidFill>
          <a:ln w="19050">
            <a:solidFill>
              <a:srgbClr val="B93F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123950" y="7514630"/>
            <a:ext cx="970183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93F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第三句 · LEAVE NUMBER 3 ON THE BOARD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123950" y="7800380"/>
            <a:ext cx="9701838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 haven't got the word for this one. You'll have it in fifteen minutes.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1123950" y="8290917"/>
            <a:ext cx="9701838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95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It stays in the corner of the board all lesson, and gets fixed in the plenary.</a:t>
            </a:r>
            <a:endParaRPr lang="en-US" sz="1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1722090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LEARNING INTENTION · 学习目标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2207865"/>
            <a:ext cx="16611600" cy="1962150"/>
          </a:xfrm>
          <a:prstGeom prst="roundRect">
            <a:avLst>
              <a:gd name="adj" fmla="val 9709"/>
            </a:avLst>
          </a:prstGeom>
          <a:solidFill>
            <a:srgbClr val="E8E2C8"/>
          </a:solidFill>
          <a:ln w="28575">
            <a:solidFill>
              <a:srgbClr val="B93F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89851" y="2503140"/>
            <a:ext cx="1610829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We are learning to name Chinese dishes and use 或者 to say “or” in a statement.</a:t>
            </a:r>
            <a:endParaRPr lang="en-US" sz="4500" dirty="0"/>
          </a:p>
        </p:txBody>
      </p:sp>
      <p:sp>
        <p:nvSpPr>
          <p:cNvPr id="8" name="Text 6"/>
          <p:cNvSpPr/>
          <p:nvPr/>
        </p:nvSpPr>
        <p:spPr>
          <a:xfrm>
            <a:off x="838200" y="4474815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SUCCESS CRITERIA · 我能……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200" y="4960590"/>
            <a:ext cx="16611600" cy="1360140"/>
          </a:xfrm>
          <a:prstGeom prst="roundRect">
            <a:avLst>
              <a:gd name="adj" fmla="val 8404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114425" y="5160615"/>
            <a:ext cx="427482" cy="481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30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1762125" y="5160615"/>
            <a:ext cx="5680380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say and read five Chinese dishes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762125" y="5663505"/>
            <a:ext cx="56803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255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面条、炒面、米饭、炒菜、包子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838200" y="6444555"/>
            <a:ext cx="16611600" cy="1360140"/>
          </a:xfrm>
          <a:prstGeom prst="roundRect">
            <a:avLst>
              <a:gd name="adj" fmla="val 8404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114425" y="6644580"/>
            <a:ext cx="427482" cy="481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30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1762125" y="6644580"/>
            <a:ext cx="4294251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use 或者 in a statement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762125" y="7147471"/>
            <a:ext cx="42942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255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我午饭一般吃面条或者炒面。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838200" y="7928521"/>
            <a:ext cx="16611600" cy="1360140"/>
          </a:xfrm>
          <a:prstGeom prst="roundRect">
            <a:avLst>
              <a:gd name="adj" fmla="val 8404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114425" y="8128546"/>
            <a:ext cx="427482" cy="481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30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3300" dirty="0"/>
          </a:p>
        </p:txBody>
      </p:sp>
      <p:sp>
        <p:nvSpPr>
          <p:cNvPr id="19" name="Text 17"/>
          <p:cNvSpPr/>
          <p:nvPr/>
        </p:nvSpPr>
        <p:spPr>
          <a:xfrm>
            <a:off x="1762125" y="8128546"/>
            <a:ext cx="5329407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choose between 还是 and 或者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762125" y="8631436"/>
            <a:ext cx="53294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255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还是 asks　·　或者 tells</a:t>
            </a:r>
            <a:endParaRPr lang="en-US" sz="2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2027932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NEW WORDS · 跟我读两遍 · REPEAT AFTER ME, TWICE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2513707"/>
            <a:ext cx="8001000" cy="6469261"/>
          </a:xfrm>
          <a:prstGeom prst="roundRect">
            <a:avLst>
              <a:gd name="adj" fmla="val 2945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" name="Image 0" descr="/Users/luojiahai/code/deck/index/designs/y8-l11/img/miantia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48075" y="2951857"/>
            <a:ext cx="2381250" cy="23812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946178" y="5466457"/>
            <a:ext cx="182059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miàntiáo</a:t>
            </a:r>
            <a:endParaRPr lang="en-US" sz="3300" dirty="0"/>
          </a:p>
        </p:txBody>
      </p:sp>
      <p:sp>
        <p:nvSpPr>
          <p:cNvPr id="9" name="Text 6"/>
          <p:cNvSpPr/>
          <p:nvPr/>
        </p:nvSpPr>
        <p:spPr>
          <a:xfrm>
            <a:off x="3657600" y="6190357"/>
            <a:ext cx="2409444" cy="1240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65"/>
              </a:lnSpc>
              <a:buNone/>
            </a:pPr>
            <a:r>
              <a:rPr lang="en-US" sz="93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面条</a:t>
            </a:r>
            <a:endParaRPr lang="en-US" sz="9300" dirty="0"/>
          </a:p>
        </p:txBody>
      </p:sp>
      <p:sp>
        <p:nvSpPr>
          <p:cNvPr id="10" name="Text 7"/>
          <p:cNvSpPr/>
          <p:nvPr/>
        </p:nvSpPr>
        <p:spPr>
          <a:xfrm>
            <a:off x="4243239" y="7563743"/>
            <a:ext cx="121458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noodles</a:t>
            </a:r>
            <a:endParaRPr lang="en-US" sz="2550" dirty="0"/>
          </a:p>
        </p:txBody>
      </p:sp>
      <p:sp>
        <p:nvSpPr>
          <p:cNvPr id="11" name="Text 8"/>
          <p:cNvSpPr/>
          <p:nvPr/>
        </p:nvSpPr>
        <p:spPr>
          <a:xfrm>
            <a:off x="4587776" y="8154293"/>
            <a:ext cx="511885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麵條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9448800" y="2513707"/>
            <a:ext cx="8001000" cy="6469261"/>
          </a:xfrm>
          <a:prstGeom prst="roundRect">
            <a:avLst>
              <a:gd name="adj" fmla="val 2945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3" name="Image 1" descr="/Users/luojiahai/code/deck/index/designs/y8-l11/img/chaomian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258675" y="2951857"/>
            <a:ext cx="2381250" cy="238125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2452300" y="5466457"/>
            <a:ext cx="2033879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chǎomiàn</a:t>
            </a:r>
            <a:endParaRPr lang="en-US" sz="3300" dirty="0"/>
          </a:p>
        </p:txBody>
      </p:sp>
      <p:sp>
        <p:nvSpPr>
          <p:cNvPr id="15" name="Text 11"/>
          <p:cNvSpPr/>
          <p:nvPr/>
        </p:nvSpPr>
        <p:spPr>
          <a:xfrm>
            <a:off x="12268200" y="6190357"/>
            <a:ext cx="2409444" cy="1240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65"/>
              </a:lnSpc>
              <a:buNone/>
            </a:pPr>
            <a:r>
              <a:rPr lang="en-US" sz="93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炒面</a:t>
            </a:r>
            <a:endParaRPr lang="en-US" sz="9300" dirty="0"/>
          </a:p>
        </p:txBody>
      </p:sp>
      <p:sp>
        <p:nvSpPr>
          <p:cNvPr id="16" name="Text 12"/>
          <p:cNvSpPr/>
          <p:nvPr/>
        </p:nvSpPr>
        <p:spPr>
          <a:xfrm>
            <a:off x="12100768" y="7563743"/>
            <a:ext cx="27510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stir-fried noodles</a:t>
            </a:r>
            <a:endParaRPr lang="en-US" sz="2550" dirty="0"/>
          </a:p>
        </p:txBody>
      </p:sp>
      <p:sp>
        <p:nvSpPr>
          <p:cNvPr id="17" name="Text 13"/>
          <p:cNvSpPr/>
          <p:nvPr/>
        </p:nvSpPr>
        <p:spPr>
          <a:xfrm>
            <a:off x="13198376" y="8154293"/>
            <a:ext cx="511885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炒麵</a:t>
            </a:r>
            <a:endParaRPr lang="en-US" sz="1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1465808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· SEE THEM USED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1951583"/>
            <a:ext cx="16611600" cy="2018407"/>
          </a:xfrm>
          <a:prstGeom prst="rect">
            <a:avLst/>
          </a:prstGeom>
          <a:solidFill>
            <a:srgbClr val="F2EF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885825" y="1951583"/>
            <a:ext cx="0" cy="2018407"/>
          </a:xfrm>
          <a:prstGeom prst="line">
            <a:avLst/>
          </a:prstGeom>
          <a:noFill/>
          <a:ln w="95250">
            <a:solidFill>
              <a:srgbClr val="4C7A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8250" y="2142083"/>
            <a:ext cx="1622488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225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 wǔfàn yìbān chī miàntiáo.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238250" y="2599283"/>
            <a:ext cx="16224885" cy="7039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44"/>
              </a:lnSpc>
              <a:buNone/>
            </a:pPr>
            <a:r>
              <a:rPr lang="en-US" sz="42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我午饭一般吃</a:t>
            </a:r>
            <a:r>
              <a:rPr lang="en-US" sz="42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面条</a:t>
            </a:r>
            <a:r>
              <a:rPr lang="en-US" sz="42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1238250" y="3379440"/>
            <a:ext cx="1622488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2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normally eat noodles for lunch.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838200" y="4160490"/>
            <a:ext cx="16611600" cy="2018407"/>
          </a:xfrm>
          <a:prstGeom prst="rect">
            <a:avLst/>
          </a:prstGeom>
          <a:solidFill>
            <a:srgbClr val="F2EF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885825" y="4160490"/>
            <a:ext cx="0" cy="2018407"/>
          </a:xfrm>
          <a:prstGeom prst="line">
            <a:avLst/>
          </a:prstGeom>
          <a:noFill/>
          <a:ln w="95250">
            <a:solidFill>
              <a:srgbClr val="4C7A2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38250" y="4350990"/>
            <a:ext cx="1622488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225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 hěn xǐhuan chī chǎomiàn.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238250" y="4808190"/>
            <a:ext cx="16224885" cy="7039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44"/>
              </a:lnSpc>
              <a:buNone/>
            </a:pPr>
            <a:r>
              <a:rPr lang="en-US" sz="42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我很喜欢吃</a:t>
            </a:r>
            <a:r>
              <a:rPr lang="en-US" sz="42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炒面</a:t>
            </a:r>
            <a:r>
              <a:rPr lang="en-US" sz="42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1238250" y="5588347"/>
            <a:ext cx="1622488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2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really like stir-fried noodles.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838200" y="6369397"/>
            <a:ext cx="16611600" cy="2018407"/>
          </a:xfrm>
          <a:prstGeom prst="rect">
            <a:avLst/>
          </a:prstGeom>
          <a:solidFill>
            <a:srgbClr val="B93F2C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885825" y="6369397"/>
            <a:ext cx="0" cy="2018407"/>
          </a:xfrm>
          <a:prstGeom prst="line">
            <a:avLst/>
          </a:prstGeom>
          <a:noFill/>
          <a:ln w="95250">
            <a:solidFill>
              <a:srgbClr val="B93F2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38250" y="6559897"/>
            <a:ext cx="1622488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225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Miàntiáo hé chǎomiàn wǒ dōu xǐhuan chī.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238250" y="7017097"/>
            <a:ext cx="16224885" cy="7039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44"/>
              </a:lnSpc>
              <a:buNone/>
            </a:pPr>
            <a:r>
              <a:rPr lang="en-US" sz="42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面条</a:t>
            </a:r>
            <a:r>
              <a:rPr lang="en-US" sz="42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和</a:t>
            </a:r>
            <a:r>
              <a:rPr lang="en-US" sz="42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炒面</a:t>
            </a:r>
            <a:r>
              <a:rPr lang="en-US" sz="42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我都喜欢吃。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1238250" y="7797254"/>
            <a:ext cx="1622488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2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like both noodles and stir-fried noodles.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838200" y="8387804"/>
            <a:ext cx="16611600" cy="1157288"/>
          </a:xfrm>
          <a:prstGeom prst="roundRect">
            <a:avLst>
              <a:gd name="adj" fmla="val 9877"/>
            </a:avLst>
          </a:prstGeom>
          <a:solidFill>
            <a:srgbClr val="4C7A2C">
              <a:alpha val="12000"/>
            </a:srgbClr>
          </a:solidFill>
          <a:ln w="19050">
            <a:solidFill>
              <a:srgbClr val="4C7A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123950" y="8616404"/>
            <a:ext cx="1021235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部首 · RADICAL CLUE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1123950" y="8902154"/>
            <a:ext cx="10212357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炒 has 火 (fire) on the left — 炒面 and 炒菜 are both cooked in a hot wok.</a:t>
            </a:r>
            <a:endParaRPr lang="en-US" sz="2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2617143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· WRITE YOUR OWN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3102918"/>
            <a:ext cx="16611600" cy="3322141"/>
          </a:xfrm>
          <a:prstGeom prst="roundRect">
            <a:avLst>
              <a:gd name="adj" fmla="val 5734"/>
            </a:avLst>
          </a:prstGeom>
          <a:solidFill>
            <a:srgbClr val="E8E2C8"/>
          </a:solidFill>
          <a:ln w="28575">
            <a:solidFill>
              <a:srgbClr val="B96A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304925" y="3474393"/>
            <a:ext cx="15991713" cy="1003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5"/>
              </a:lnSpc>
              <a:buNone/>
            </a:pPr>
            <a:r>
              <a:rPr lang="en-US" sz="46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 ______ 喜欢吃面条。</a:t>
            </a:r>
            <a:endParaRPr lang="en-US" sz="4650" dirty="0"/>
          </a:p>
        </p:txBody>
      </p:sp>
      <p:sp>
        <p:nvSpPr>
          <p:cNvPr id="8" name="Text 6"/>
          <p:cNvSpPr/>
          <p:nvPr/>
        </p:nvSpPr>
        <p:spPr>
          <a:xfrm>
            <a:off x="1304925" y="4478238"/>
            <a:ext cx="15991713" cy="1003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5"/>
              </a:lnSpc>
              <a:buNone/>
            </a:pPr>
            <a:r>
              <a:rPr lang="en-US" sz="46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 ______ 喜欢吃炒面。</a:t>
            </a:r>
            <a:endParaRPr lang="en-US" sz="4650" dirty="0"/>
          </a:p>
        </p:txBody>
      </p:sp>
      <p:sp>
        <p:nvSpPr>
          <p:cNvPr id="9" name="Text 7"/>
          <p:cNvSpPr/>
          <p:nvPr/>
        </p:nvSpPr>
        <p:spPr>
          <a:xfrm>
            <a:off x="1304925" y="5653534"/>
            <a:ext cx="1599171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50"/>
              </a:spcBef>
              <a:buNone/>
            </a:pPr>
            <a:r>
              <a:rPr lang="en-US" sz="225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60 seconds. Two sentences.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838200" y="6615559"/>
            <a:ext cx="16611600" cy="1778198"/>
          </a:xfrm>
          <a:prstGeom prst="roundRect">
            <a:avLst>
              <a:gd name="adj" fmla="val 6428"/>
            </a:avLst>
          </a:prstGeom>
          <a:solidFill>
            <a:srgbClr val="4C7A2C">
              <a:alpha val="12000"/>
            </a:srgbClr>
          </a:solidFill>
          <a:ln w="28575">
            <a:solidFill>
              <a:srgbClr val="4C7A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152525" y="6853684"/>
            <a:ext cx="1630260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50"/>
              </a:spcAft>
              <a:buNone/>
            </a:pPr>
            <a:r>
              <a:rPr lang="en-US" sz="165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 · 加油题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152525" y="7234684"/>
            <a:ext cx="16302609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Use 除了……以外, then a second sentence saying which you prefer and when you eat it.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152525" y="7649021"/>
            <a:ext cx="16302609" cy="506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我晚饭一般吃面条，可是我最喜欢吃炒面。</a:t>
            </a:r>
            <a:endParaRPr lang="en-US" sz="2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2027932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NEW WORDS · 跟我读两遍 · REPEAT AFTER ME, TWICE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2513707"/>
            <a:ext cx="8001000" cy="6469261"/>
          </a:xfrm>
          <a:prstGeom prst="roundRect">
            <a:avLst>
              <a:gd name="adj" fmla="val 2945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" name="Image 0" descr="/Users/luojiahai/code/deck/index/designs/y8-l11/img/mifan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48075" y="2951857"/>
            <a:ext cx="2381250" cy="23812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255889" y="5466457"/>
            <a:ext cx="118893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mǐfàn</a:t>
            </a:r>
            <a:endParaRPr lang="en-US" sz="3300" dirty="0"/>
          </a:p>
        </p:txBody>
      </p:sp>
      <p:sp>
        <p:nvSpPr>
          <p:cNvPr id="9" name="Text 6"/>
          <p:cNvSpPr/>
          <p:nvPr/>
        </p:nvSpPr>
        <p:spPr>
          <a:xfrm>
            <a:off x="3657600" y="6190357"/>
            <a:ext cx="2409444" cy="1240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65"/>
              </a:lnSpc>
              <a:buNone/>
            </a:pPr>
            <a:r>
              <a:rPr lang="en-US" sz="93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米饭</a:t>
            </a:r>
            <a:endParaRPr lang="en-US" sz="9300" dirty="0"/>
          </a:p>
        </p:txBody>
      </p:sp>
      <p:sp>
        <p:nvSpPr>
          <p:cNvPr id="10" name="Text 7"/>
          <p:cNvSpPr/>
          <p:nvPr/>
        </p:nvSpPr>
        <p:spPr>
          <a:xfrm>
            <a:off x="3940522" y="7563743"/>
            <a:ext cx="18322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cooked rice</a:t>
            </a:r>
            <a:endParaRPr lang="en-US" sz="2550" dirty="0"/>
          </a:p>
        </p:txBody>
      </p:sp>
      <p:sp>
        <p:nvSpPr>
          <p:cNvPr id="11" name="Text 8"/>
          <p:cNvSpPr/>
          <p:nvPr/>
        </p:nvSpPr>
        <p:spPr>
          <a:xfrm>
            <a:off x="4587776" y="8154293"/>
            <a:ext cx="511885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米飯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9448800" y="2513707"/>
            <a:ext cx="8001000" cy="6469261"/>
          </a:xfrm>
          <a:prstGeom prst="roundRect">
            <a:avLst>
              <a:gd name="adj" fmla="val 2945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3" name="Image 1" descr="/Users/luojiahai/code/deck/index/designs/y8-l11/img/chaocai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258675" y="2951857"/>
            <a:ext cx="2381250" cy="238125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2645182" y="5466457"/>
            <a:ext cx="16402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chǎocài</a:t>
            </a:r>
            <a:endParaRPr lang="en-US" sz="3300" dirty="0"/>
          </a:p>
        </p:txBody>
      </p:sp>
      <p:sp>
        <p:nvSpPr>
          <p:cNvPr id="15" name="Text 11"/>
          <p:cNvSpPr/>
          <p:nvPr/>
        </p:nvSpPr>
        <p:spPr>
          <a:xfrm>
            <a:off x="12268200" y="6190357"/>
            <a:ext cx="2409444" cy="1240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65"/>
              </a:lnSpc>
              <a:buNone/>
            </a:pPr>
            <a:r>
              <a:rPr lang="en-US" sz="93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炒菜</a:t>
            </a:r>
            <a:endParaRPr lang="en-US" sz="9300" dirty="0"/>
          </a:p>
        </p:txBody>
      </p:sp>
      <p:sp>
        <p:nvSpPr>
          <p:cNvPr id="16" name="Text 12"/>
          <p:cNvSpPr/>
          <p:nvPr/>
        </p:nvSpPr>
        <p:spPr>
          <a:xfrm>
            <a:off x="12552015" y="7563743"/>
            <a:ext cx="18304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fried dishes</a:t>
            </a:r>
            <a:endParaRPr lang="en-US" sz="2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2044452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· SEE THEM USED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2530227"/>
            <a:ext cx="16611600" cy="2018407"/>
          </a:xfrm>
          <a:prstGeom prst="rect">
            <a:avLst/>
          </a:prstGeom>
          <a:solidFill>
            <a:srgbClr val="F2EF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885825" y="2530227"/>
            <a:ext cx="0" cy="2018407"/>
          </a:xfrm>
          <a:prstGeom prst="line">
            <a:avLst/>
          </a:prstGeom>
          <a:noFill/>
          <a:ln w="95250">
            <a:solidFill>
              <a:srgbClr val="4C7A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8250" y="2720727"/>
            <a:ext cx="1622488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225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Wǒmen wǎnfàn yìbān chī mǐfàn.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238250" y="3177927"/>
            <a:ext cx="16224885" cy="7039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44"/>
              </a:lnSpc>
              <a:buNone/>
            </a:pPr>
            <a:r>
              <a:rPr lang="en-US" sz="42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我们晚饭一般吃</a:t>
            </a:r>
            <a:r>
              <a:rPr lang="en-US" sz="42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米饭</a:t>
            </a:r>
            <a:r>
              <a:rPr lang="en-US" sz="42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1238250" y="3958084"/>
            <a:ext cx="1622488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2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 normally eat rice for dinner.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838200" y="4739134"/>
            <a:ext cx="16611600" cy="2018407"/>
          </a:xfrm>
          <a:prstGeom prst="rect">
            <a:avLst/>
          </a:prstGeom>
          <a:solidFill>
            <a:srgbClr val="F2EF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885825" y="4739134"/>
            <a:ext cx="0" cy="2018407"/>
          </a:xfrm>
          <a:prstGeom prst="line">
            <a:avLst/>
          </a:prstGeom>
          <a:noFill/>
          <a:ln w="95250">
            <a:solidFill>
              <a:srgbClr val="4C7A2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38250" y="4929634"/>
            <a:ext cx="1622488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225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 māma zuò chǎocài.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238250" y="5386834"/>
            <a:ext cx="16224885" cy="7039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44"/>
              </a:lnSpc>
              <a:buNone/>
            </a:pPr>
            <a:r>
              <a:rPr lang="en-US" sz="42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我妈妈做</a:t>
            </a:r>
            <a:r>
              <a:rPr lang="en-US" sz="42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炒菜</a:t>
            </a:r>
            <a:r>
              <a:rPr lang="en-US" sz="42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1238250" y="6166991"/>
            <a:ext cx="1622488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2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My mother makes stir-fried dishes.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838200" y="6948041"/>
            <a:ext cx="16611600" cy="2018407"/>
          </a:xfrm>
          <a:prstGeom prst="rect">
            <a:avLst/>
          </a:prstGeom>
          <a:solidFill>
            <a:srgbClr val="B93F2C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885825" y="6948041"/>
            <a:ext cx="0" cy="2018407"/>
          </a:xfrm>
          <a:prstGeom prst="line">
            <a:avLst/>
          </a:prstGeom>
          <a:noFill/>
          <a:ln w="95250">
            <a:solidFill>
              <a:srgbClr val="B93F2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38250" y="7138541"/>
            <a:ext cx="1622488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225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Wǒmen wǎnfàn yìbān chī mǐfàn, chǎocài.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238250" y="7595741"/>
            <a:ext cx="16224885" cy="7039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44"/>
              </a:lnSpc>
              <a:buNone/>
            </a:pPr>
            <a:r>
              <a:rPr lang="en-US" sz="42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我们晚饭一般吃</a:t>
            </a:r>
            <a:r>
              <a:rPr lang="en-US" sz="42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米饭</a:t>
            </a:r>
            <a:r>
              <a:rPr lang="en-US" sz="42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、</a:t>
            </a:r>
            <a:r>
              <a:rPr lang="en-US" sz="42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炒菜</a:t>
            </a:r>
            <a:r>
              <a:rPr lang="en-US" sz="42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1238250" y="8375898"/>
            <a:ext cx="1622488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2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Rice and stir-fried dishes — straight from Text 2.</a:t>
            </a:r>
            <a:endParaRPr lang="en-US" sz="2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3118991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· WRITE YOUR OWN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3604766"/>
            <a:ext cx="16611600" cy="2318296"/>
          </a:xfrm>
          <a:prstGeom prst="roundRect">
            <a:avLst>
              <a:gd name="adj" fmla="val 8217"/>
            </a:avLst>
          </a:prstGeom>
          <a:solidFill>
            <a:srgbClr val="E8E2C8"/>
          </a:solidFill>
          <a:ln w="28575">
            <a:solidFill>
              <a:srgbClr val="B96A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304925" y="3976241"/>
            <a:ext cx="15991713" cy="1003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5"/>
              </a:lnSpc>
              <a:buNone/>
            </a:pPr>
            <a:r>
              <a:rPr lang="en-US" sz="46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我们晚饭一般吃 ______ 和 ______ 。</a:t>
            </a:r>
            <a:endParaRPr lang="en-US" sz="4650" dirty="0"/>
          </a:p>
        </p:txBody>
      </p:sp>
      <p:sp>
        <p:nvSpPr>
          <p:cNvPr id="8" name="Text 6"/>
          <p:cNvSpPr/>
          <p:nvPr/>
        </p:nvSpPr>
        <p:spPr>
          <a:xfrm>
            <a:off x="1304925" y="5151537"/>
            <a:ext cx="1599171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50"/>
              </a:spcBef>
              <a:buNone/>
            </a:pPr>
            <a:r>
              <a:rPr lang="en-US" sz="225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60 seconds. Mini whiteboards.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838200" y="6113562"/>
            <a:ext cx="16611600" cy="1778198"/>
          </a:xfrm>
          <a:prstGeom prst="roundRect">
            <a:avLst>
              <a:gd name="adj" fmla="val 6428"/>
            </a:avLst>
          </a:prstGeom>
          <a:solidFill>
            <a:srgbClr val="4C7A2C">
              <a:alpha val="12000"/>
            </a:srgbClr>
          </a:solidFill>
          <a:ln w="28575">
            <a:solidFill>
              <a:srgbClr val="4C7A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152525" y="6351687"/>
            <a:ext cx="1630260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50"/>
              </a:spcAft>
              <a:buNone/>
            </a:pPr>
            <a:r>
              <a:rPr lang="en-US" sz="165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 · 加油题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152525" y="6732687"/>
            <a:ext cx="16302609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Report on the </a:t>
            </a:r>
            <a:r>
              <a:rPr lang="en-US" sz="225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whole family</a:t>
            </a: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, then break it with one exception. Deliver it standing, no notes.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152525" y="7147024"/>
            <a:ext cx="16302609" cy="506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我们全家人晚饭一般吃米饭、炒菜，可是我爸爸不太喜欢吃炒菜。</a:t>
            </a:r>
            <a:endParaRPr lang="en-US" sz="2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2270820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NEW WORDS · 跟我读两遍 · REPEAT AFTER ME, TWICE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2756595"/>
            <a:ext cx="8001000" cy="5983486"/>
          </a:xfrm>
          <a:prstGeom prst="roundRect">
            <a:avLst>
              <a:gd name="adj" fmla="val 3184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" name="Image 0" descr="/Users/luojiahai/code/deck/index/designs/y8-l11/img/baozi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48075" y="3194745"/>
            <a:ext cx="2381250" cy="23812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284018" y="5709345"/>
            <a:ext cx="1131552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bāozi</a:t>
            </a:r>
            <a:endParaRPr lang="en-US" sz="3300" dirty="0"/>
          </a:p>
        </p:txBody>
      </p:sp>
      <p:sp>
        <p:nvSpPr>
          <p:cNvPr id="9" name="Text 6"/>
          <p:cNvSpPr/>
          <p:nvPr/>
        </p:nvSpPr>
        <p:spPr>
          <a:xfrm>
            <a:off x="3657600" y="6433245"/>
            <a:ext cx="2409444" cy="1240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65"/>
              </a:lnSpc>
              <a:buNone/>
            </a:pPr>
            <a:r>
              <a:rPr lang="en-US" sz="93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包子</a:t>
            </a:r>
            <a:endParaRPr lang="en-US" sz="9300" dirty="0"/>
          </a:p>
        </p:txBody>
      </p:sp>
      <p:sp>
        <p:nvSpPr>
          <p:cNvPr id="10" name="Text 7"/>
          <p:cNvSpPr/>
          <p:nvPr/>
        </p:nvSpPr>
        <p:spPr>
          <a:xfrm>
            <a:off x="3249067" y="7806630"/>
            <a:ext cx="3242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steamed stuffed bun</a:t>
            </a:r>
            <a:endParaRPr lang="en-US" sz="2550" dirty="0"/>
          </a:p>
        </p:txBody>
      </p:sp>
      <p:sp>
        <p:nvSpPr>
          <p:cNvPr id="11" name="Text 8"/>
          <p:cNvSpPr/>
          <p:nvPr/>
        </p:nvSpPr>
        <p:spPr>
          <a:xfrm>
            <a:off x="9448800" y="2756595"/>
            <a:ext cx="8001000" cy="5983486"/>
          </a:xfrm>
          <a:prstGeom prst="roundRect">
            <a:avLst>
              <a:gd name="adj" fmla="val 3184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12708880" y="3899595"/>
            <a:ext cx="151030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huòzhě</a:t>
            </a:r>
            <a:endParaRPr lang="en-US" sz="3300" dirty="0"/>
          </a:p>
        </p:txBody>
      </p:sp>
      <p:sp>
        <p:nvSpPr>
          <p:cNvPr id="13" name="Text 10"/>
          <p:cNvSpPr/>
          <p:nvPr/>
        </p:nvSpPr>
        <p:spPr>
          <a:xfrm>
            <a:off x="12020550" y="4680645"/>
            <a:ext cx="2914650" cy="1500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3"/>
              </a:lnSpc>
              <a:buNone/>
            </a:pPr>
            <a:r>
              <a:rPr lang="en-US" sz="112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或者</a:t>
            </a:r>
            <a:endParaRPr lang="en-US" sz="11250" dirty="0"/>
          </a:p>
        </p:txBody>
      </p:sp>
      <p:sp>
        <p:nvSpPr>
          <p:cNvPr id="14" name="Text 11"/>
          <p:cNvSpPr/>
          <p:nvPr/>
        </p:nvSpPr>
        <p:spPr>
          <a:xfrm>
            <a:off x="12089904" y="6371332"/>
            <a:ext cx="2773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or (in statements)</a:t>
            </a:r>
            <a:endParaRPr lang="en-US" sz="2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2044452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· SEE THEM USED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2530227"/>
            <a:ext cx="16611600" cy="2018407"/>
          </a:xfrm>
          <a:prstGeom prst="rect">
            <a:avLst/>
          </a:prstGeom>
          <a:solidFill>
            <a:srgbClr val="F2EF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885825" y="2530227"/>
            <a:ext cx="0" cy="2018407"/>
          </a:xfrm>
          <a:prstGeom prst="line">
            <a:avLst/>
          </a:prstGeom>
          <a:noFill/>
          <a:ln w="95250">
            <a:solidFill>
              <a:srgbClr val="4C7A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8250" y="2720727"/>
            <a:ext cx="1622488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225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 zǎocān yìbān chī bāozi.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238250" y="3177927"/>
            <a:ext cx="16224885" cy="7039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44"/>
              </a:lnSpc>
              <a:buNone/>
            </a:pPr>
            <a:r>
              <a:rPr lang="en-US" sz="42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我早餐一般吃</a:t>
            </a:r>
            <a:r>
              <a:rPr lang="en-US" sz="42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包子</a:t>
            </a:r>
            <a:r>
              <a:rPr lang="en-US" sz="42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1238250" y="3958084"/>
            <a:ext cx="1622488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2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normally eat steamed buns for breakfast.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838200" y="4739134"/>
            <a:ext cx="16611600" cy="2018407"/>
          </a:xfrm>
          <a:prstGeom prst="rect">
            <a:avLst/>
          </a:prstGeom>
          <a:solidFill>
            <a:srgbClr val="F2EF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885825" y="4739134"/>
            <a:ext cx="0" cy="2018407"/>
          </a:xfrm>
          <a:prstGeom prst="line">
            <a:avLst/>
          </a:prstGeom>
          <a:noFill/>
          <a:ln w="95250">
            <a:solidFill>
              <a:srgbClr val="4C7A2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38250" y="4929634"/>
            <a:ext cx="1622488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225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 wǔfàn yìbān chī miàntiáo huòzhě chǎomiàn.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238250" y="5386834"/>
            <a:ext cx="16224885" cy="7039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44"/>
              </a:lnSpc>
              <a:buNone/>
            </a:pPr>
            <a:r>
              <a:rPr lang="en-US" sz="42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我午饭一般吃面条</a:t>
            </a:r>
            <a:r>
              <a:rPr lang="en-US" sz="42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或者</a:t>
            </a:r>
            <a:r>
              <a:rPr lang="en-US" sz="42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炒面。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1238250" y="6166991"/>
            <a:ext cx="1622488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2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normally eat noodles or stir-fried noodles for lunch.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838200" y="6948041"/>
            <a:ext cx="16611600" cy="2018407"/>
          </a:xfrm>
          <a:prstGeom prst="rect">
            <a:avLst/>
          </a:prstGeom>
          <a:solidFill>
            <a:srgbClr val="B93F2C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885825" y="6948041"/>
            <a:ext cx="0" cy="2018407"/>
          </a:xfrm>
          <a:prstGeom prst="line">
            <a:avLst/>
          </a:prstGeom>
          <a:noFill/>
          <a:ln w="95250">
            <a:solidFill>
              <a:srgbClr val="B93F2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38250" y="7138541"/>
            <a:ext cx="1622488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225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 zǎocān yìbān chī zhōu huòzhě bāozi.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238250" y="7595741"/>
            <a:ext cx="16224885" cy="7039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44"/>
              </a:lnSpc>
              <a:buNone/>
            </a:pPr>
            <a:r>
              <a:rPr lang="en-US" sz="42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我早餐一般吃粥</a:t>
            </a:r>
            <a:r>
              <a:rPr lang="en-US" sz="42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或者包子</a:t>
            </a:r>
            <a:r>
              <a:rPr lang="en-US" sz="42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1238250" y="8375898"/>
            <a:ext cx="1622488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2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Congee or steamed buns — Text 2's own sentence shape.</a:t>
            </a:r>
            <a:endParaRPr lang="en-US" sz="2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2911822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· WRITE YOUR OWN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3397597"/>
            <a:ext cx="16611600" cy="2318296"/>
          </a:xfrm>
          <a:prstGeom prst="roundRect">
            <a:avLst>
              <a:gd name="adj" fmla="val 8217"/>
            </a:avLst>
          </a:prstGeom>
          <a:solidFill>
            <a:srgbClr val="E8E2C8"/>
          </a:solidFill>
          <a:ln w="28575">
            <a:solidFill>
              <a:srgbClr val="B96A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304925" y="3769072"/>
            <a:ext cx="15991713" cy="1003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905"/>
              </a:lnSpc>
              <a:buNone/>
            </a:pPr>
            <a:r>
              <a:rPr lang="en-US" sz="46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我早餐一般吃 ______ 或者 ______ 。</a:t>
            </a:r>
            <a:endParaRPr lang="en-US" sz="4650" dirty="0"/>
          </a:p>
        </p:txBody>
      </p:sp>
      <p:sp>
        <p:nvSpPr>
          <p:cNvPr id="8" name="Text 6"/>
          <p:cNvSpPr/>
          <p:nvPr/>
        </p:nvSpPr>
        <p:spPr>
          <a:xfrm>
            <a:off x="1304925" y="4944368"/>
            <a:ext cx="1599171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50"/>
              </a:spcBef>
              <a:buNone/>
            </a:pPr>
            <a:r>
              <a:rPr lang="en-US" sz="225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60 seconds. Both blanks must be real food.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838200" y="5906393"/>
            <a:ext cx="16611600" cy="2192536"/>
          </a:xfrm>
          <a:prstGeom prst="roundRect">
            <a:avLst>
              <a:gd name="adj" fmla="val 5213"/>
            </a:avLst>
          </a:prstGeom>
          <a:solidFill>
            <a:srgbClr val="4C7A2C">
              <a:alpha val="12000"/>
            </a:srgbClr>
          </a:solidFill>
          <a:ln w="28575">
            <a:solidFill>
              <a:srgbClr val="4C7A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152525" y="6144518"/>
            <a:ext cx="1630260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50"/>
              </a:spcAft>
              <a:buNone/>
            </a:pPr>
            <a:r>
              <a:rPr lang="en-US" sz="165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 · 加油题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152525" y="6525518"/>
            <a:ext cx="16302609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Write three 或者 sentences, one per meal — then turn </a:t>
            </a:r>
            <a:r>
              <a:rPr lang="en-US" sz="225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one</a:t>
            </a: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of them into a 还是 question and write both side by side. That pair is what the test asks for.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152525" y="7354193"/>
            <a:ext cx="16302609" cy="506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我早餐一般吃粥或者包子。　／　你早餐吃粥还是包子？</a:t>
            </a:r>
            <a:endParaRPr lang="en-US" sz="2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3522464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认字 · READ THEM BACK — NO PINYIN, NO ENGLISH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4008239"/>
            <a:ext cx="5384750" cy="1625798"/>
          </a:xfrm>
          <a:prstGeom prst="roundRect">
            <a:avLst>
              <a:gd name="adj" fmla="val 11717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20369" y="4351139"/>
            <a:ext cx="5220411" cy="93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403"/>
              </a:lnSpc>
              <a:buNone/>
            </a:pPr>
            <a:r>
              <a:rPr lang="en-US" sz="70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面条</a:t>
            </a:r>
            <a:endParaRPr lang="en-US" sz="7050" dirty="0"/>
          </a:p>
        </p:txBody>
      </p:sp>
      <p:sp>
        <p:nvSpPr>
          <p:cNvPr id="8" name="Text 6"/>
          <p:cNvSpPr/>
          <p:nvPr/>
        </p:nvSpPr>
        <p:spPr>
          <a:xfrm>
            <a:off x="6451550" y="4008239"/>
            <a:ext cx="5384750" cy="1625798"/>
          </a:xfrm>
          <a:prstGeom prst="roundRect">
            <a:avLst>
              <a:gd name="adj" fmla="val 11717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533720" y="4351139"/>
            <a:ext cx="5220411" cy="93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403"/>
              </a:lnSpc>
              <a:buNone/>
            </a:pPr>
            <a:r>
              <a:rPr lang="en-US" sz="70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炒面</a:t>
            </a:r>
            <a:endParaRPr lang="en-US" sz="7050" dirty="0"/>
          </a:p>
        </p:txBody>
      </p:sp>
      <p:sp>
        <p:nvSpPr>
          <p:cNvPr id="10" name="Text 8"/>
          <p:cNvSpPr/>
          <p:nvPr/>
        </p:nvSpPr>
        <p:spPr>
          <a:xfrm>
            <a:off x="12064901" y="4008239"/>
            <a:ext cx="5384750" cy="1625798"/>
          </a:xfrm>
          <a:prstGeom prst="roundRect">
            <a:avLst>
              <a:gd name="adj" fmla="val 11717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2147070" y="4351139"/>
            <a:ext cx="5220411" cy="93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403"/>
              </a:lnSpc>
              <a:buNone/>
            </a:pPr>
            <a:r>
              <a:rPr lang="en-US" sz="70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米饭</a:t>
            </a:r>
            <a:endParaRPr lang="en-US" sz="7050" dirty="0"/>
          </a:p>
        </p:txBody>
      </p:sp>
      <p:sp>
        <p:nvSpPr>
          <p:cNvPr id="12" name="Text 10"/>
          <p:cNvSpPr/>
          <p:nvPr/>
        </p:nvSpPr>
        <p:spPr>
          <a:xfrm>
            <a:off x="838200" y="5862638"/>
            <a:ext cx="5384750" cy="1625798"/>
          </a:xfrm>
          <a:prstGeom prst="roundRect">
            <a:avLst>
              <a:gd name="adj" fmla="val 11717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920369" y="6205538"/>
            <a:ext cx="5220411" cy="93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403"/>
              </a:lnSpc>
              <a:buNone/>
            </a:pPr>
            <a:r>
              <a:rPr lang="en-US" sz="70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炒菜</a:t>
            </a:r>
            <a:endParaRPr lang="en-US" sz="7050" dirty="0"/>
          </a:p>
        </p:txBody>
      </p:sp>
      <p:sp>
        <p:nvSpPr>
          <p:cNvPr id="14" name="Text 12"/>
          <p:cNvSpPr/>
          <p:nvPr/>
        </p:nvSpPr>
        <p:spPr>
          <a:xfrm>
            <a:off x="6451550" y="5862638"/>
            <a:ext cx="5384750" cy="1625798"/>
          </a:xfrm>
          <a:prstGeom prst="roundRect">
            <a:avLst>
              <a:gd name="adj" fmla="val 11717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533720" y="6205538"/>
            <a:ext cx="5220411" cy="93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403"/>
              </a:lnSpc>
              <a:buNone/>
            </a:pPr>
            <a:r>
              <a:rPr lang="en-US" sz="70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包子</a:t>
            </a:r>
            <a:endParaRPr lang="en-US" sz="7050" dirty="0"/>
          </a:p>
        </p:txBody>
      </p:sp>
      <p:sp>
        <p:nvSpPr>
          <p:cNvPr id="16" name="Text 14"/>
          <p:cNvSpPr/>
          <p:nvPr/>
        </p:nvSpPr>
        <p:spPr>
          <a:xfrm>
            <a:off x="12064901" y="5862638"/>
            <a:ext cx="5384750" cy="1625798"/>
          </a:xfrm>
          <a:prstGeom prst="roundRect">
            <a:avLst>
              <a:gd name="adj" fmla="val 11717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2147070" y="6205538"/>
            <a:ext cx="5220411" cy="93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403"/>
              </a:lnSpc>
              <a:buNone/>
            </a:pPr>
            <a:r>
              <a:rPr lang="en-US" sz="70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或者</a:t>
            </a:r>
            <a:endParaRPr lang="en-US" sz="7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2729508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EXTRA WORDS · 认一认 — READ ONCE, NAME ONCE, MOVE 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3215283"/>
            <a:ext cx="5384750" cy="1625798"/>
          </a:xfrm>
          <a:prstGeom prst="roundRect">
            <a:avLst>
              <a:gd name="adj" fmla="val 11717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20369" y="3558183"/>
            <a:ext cx="5220411" cy="93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403"/>
              </a:lnSpc>
              <a:buNone/>
            </a:pPr>
            <a:r>
              <a:rPr lang="en-US" sz="70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春卷</a:t>
            </a:r>
            <a:endParaRPr lang="en-US" sz="7050" dirty="0"/>
          </a:p>
        </p:txBody>
      </p:sp>
      <p:sp>
        <p:nvSpPr>
          <p:cNvPr id="8" name="Text 6"/>
          <p:cNvSpPr/>
          <p:nvPr/>
        </p:nvSpPr>
        <p:spPr>
          <a:xfrm>
            <a:off x="6451550" y="3215283"/>
            <a:ext cx="5384750" cy="1625798"/>
          </a:xfrm>
          <a:prstGeom prst="roundRect">
            <a:avLst>
              <a:gd name="adj" fmla="val 11717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533720" y="3558183"/>
            <a:ext cx="5220411" cy="93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403"/>
              </a:lnSpc>
              <a:buNone/>
            </a:pPr>
            <a:r>
              <a:rPr lang="en-US" sz="70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馄饨</a:t>
            </a:r>
            <a:endParaRPr lang="en-US" sz="7050" dirty="0"/>
          </a:p>
        </p:txBody>
      </p:sp>
      <p:sp>
        <p:nvSpPr>
          <p:cNvPr id="10" name="Text 8"/>
          <p:cNvSpPr/>
          <p:nvPr/>
        </p:nvSpPr>
        <p:spPr>
          <a:xfrm>
            <a:off x="12064901" y="3215283"/>
            <a:ext cx="5384750" cy="1625798"/>
          </a:xfrm>
          <a:prstGeom prst="roundRect">
            <a:avLst>
              <a:gd name="adj" fmla="val 11717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2147070" y="3558183"/>
            <a:ext cx="5220411" cy="93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403"/>
              </a:lnSpc>
              <a:buNone/>
            </a:pPr>
            <a:r>
              <a:rPr lang="en-US" sz="70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饺子</a:t>
            </a:r>
            <a:endParaRPr lang="en-US" sz="7050" dirty="0"/>
          </a:p>
        </p:txBody>
      </p:sp>
      <p:sp>
        <p:nvSpPr>
          <p:cNvPr id="12" name="Text 10"/>
          <p:cNvSpPr/>
          <p:nvPr/>
        </p:nvSpPr>
        <p:spPr>
          <a:xfrm>
            <a:off x="838200" y="5069681"/>
            <a:ext cx="5384750" cy="1625798"/>
          </a:xfrm>
          <a:prstGeom prst="roundRect">
            <a:avLst>
              <a:gd name="adj" fmla="val 11717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920369" y="5412581"/>
            <a:ext cx="5220411" cy="93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403"/>
              </a:lnSpc>
              <a:buNone/>
            </a:pPr>
            <a:r>
              <a:rPr lang="en-US" sz="70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小笼包</a:t>
            </a:r>
            <a:endParaRPr lang="en-US" sz="7050" dirty="0"/>
          </a:p>
        </p:txBody>
      </p:sp>
      <p:sp>
        <p:nvSpPr>
          <p:cNvPr id="14" name="Text 12"/>
          <p:cNvSpPr/>
          <p:nvPr/>
        </p:nvSpPr>
        <p:spPr>
          <a:xfrm>
            <a:off x="6451550" y="5069681"/>
            <a:ext cx="5384750" cy="1625798"/>
          </a:xfrm>
          <a:prstGeom prst="roundRect">
            <a:avLst>
              <a:gd name="adj" fmla="val 11717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533720" y="5412581"/>
            <a:ext cx="5220411" cy="93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403"/>
              </a:lnSpc>
              <a:buNone/>
            </a:pPr>
            <a:r>
              <a:rPr lang="en-US" sz="70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生煎包</a:t>
            </a:r>
            <a:endParaRPr lang="en-US" sz="7050" dirty="0"/>
          </a:p>
        </p:txBody>
      </p:sp>
      <p:sp>
        <p:nvSpPr>
          <p:cNvPr id="16" name="Text 14"/>
          <p:cNvSpPr/>
          <p:nvPr/>
        </p:nvSpPr>
        <p:spPr>
          <a:xfrm>
            <a:off x="12064901" y="5069681"/>
            <a:ext cx="5384750" cy="1625798"/>
          </a:xfrm>
          <a:prstGeom prst="roundRect">
            <a:avLst>
              <a:gd name="adj" fmla="val 11717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2147070" y="5412581"/>
            <a:ext cx="5220411" cy="93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403"/>
              </a:lnSpc>
              <a:buNone/>
            </a:pPr>
            <a:r>
              <a:rPr lang="en-US" sz="70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豆浆</a:t>
            </a:r>
            <a:endParaRPr lang="en-US" sz="7050" dirty="0"/>
          </a:p>
        </p:txBody>
      </p:sp>
      <p:sp>
        <p:nvSpPr>
          <p:cNvPr id="18" name="Text 16"/>
          <p:cNvSpPr/>
          <p:nvPr/>
        </p:nvSpPr>
        <p:spPr>
          <a:xfrm>
            <a:off x="838200" y="6695480"/>
            <a:ext cx="16611600" cy="1585913"/>
          </a:xfrm>
          <a:prstGeom prst="roundRect">
            <a:avLst>
              <a:gd name="adj" fmla="val 7207"/>
            </a:avLst>
          </a:prstGeom>
          <a:solidFill>
            <a:srgbClr val="B96A12">
              <a:alpha val="14000"/>
            </a:srgbClr>
          </a:solidFill>
          <a:ln w="19050">
            <a:solidFill>
              <a:srgbClr val="B96A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123950" y="6924080"/>
            <a:ext cx="782037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96A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认识就好 · RECOGNITION ONLY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123950" y="7209830"/>
            <a:ext cx="7820370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These are </a:t>
            </a:r>
            <a:r>
              <a:rPr lang="en-US" sz="2250" b="1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not</a:t>
            </a: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for production and </a:t>
            </a:r>
            <a:r>
              <a:rPr lang="en-US" sz="2250" b="1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not</a:t>
            </a: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in the Unit 4 test.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1123950" y="7700367"/>
            <a:ext cx="782037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95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小笼包 and 生煎包 both end in 包 — the same 包 as today's 包子.</a:t>
            </a:r>
            <a:endParaRPr lang="en-US" sz="1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2618036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· 两个「OR」· TWO WORDS FOR “OR”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3103811"/>
            <a:ext cx="8153400" cy="3625155"/>
          </a:xfrm>
          <a:prstGeom prst="roundRect">
            <a:avLst>
              <a:gd name="adj" fmla="val 5255"/>
            </a:avLst>
          </a:prstGeom>
          <a:solidFill>
            <a:srgbClr val="B93F2C">
              <a:alpha val="11000"/>
            </a:srgbClr>
          </a:solidFill>
          <a:ln w="28575">
            <a:solidFill>
              <a:srgbClr val="B93F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133475" y="3360986"/>
            <a:ext cx="7714107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20"/>
              </a:lnSpc>
              <a:spcAft>
                <a:spcPts val="450"/>
              </a:spcAft>
              <a:buNone/>
            </a:pPr>
            <a:r>
              <a:rPr lang="en-US" sz="42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还是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1133475" y="4004816"/>
            <a:ext cx="7714107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195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háishi · 问 · asking — ends in </a:t>
            </a:r>
            <a:r>
              <a:rPr lang="en-US" sz="1950" b="1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？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133475" y="4547741"/>
            <a:ext cx="7714107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50"/>
              </a:lnSpc>
              <a:spcBef>
                <a:spcPts val="900"/>
              </a:spcBef>
              <a:buNone/>
            </a:pPr>
            <a:r>
              <a:rPr lang="en-US" sz="30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你午饭吃面条</a:t>
            </a:r>
            <a:r>
              <a:rPr lang="en-US" sz="3000" b="1" dirty="0">
                <a:solidFill>
                  <a:srgbClr val="B96A1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还是</a:t>
            </a:r>
            <a:r>
              <a:rPr lang="en-US" sz="30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炒面？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133475" y="5214491"/>
            <a:ext cx="7714107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50"/>
              </a:lnSpc>
              <a:spcBef>
                <a:spcPts val="900"/>
              </a:spcBef>
              <a:buNone/>
            </a:pPr>
            <a:r>
              <a:rPr lang="en-US" sz="30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你想吃苹果</a:t>
            </a:r>
            <a:r>
              <a:rPr lang="en-US" sz="3000" b="1" dirty="0">
                <a:solidFill>
                  <a:srgbClr val="B96A1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还是</a:t>
            </a:r>
            <a:r>
              <a:rPr lang="en-US" sz="30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香蕉？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133475" y="5881241"/>
            <a:ext cx="7714107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50"/>
              </a:lnSpc>
              <a:spcBef>
                <a:spcPts val="900"/>
              </a:spcBef>
              <a:buNone/>
            </a:pPr>
            <a:r>
              <a:rPr lang="en-US" sz="30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他晚上看书</a:t>
            </a:r>
            <a:r>
              <a:rPr lang="en-US" sz="3000" b="1" dirty="0">
                <a:solidFill>
                  <a:srgbClr val="B96A1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还是</a:t>
            </a:r>
            <a:r>
              <a:rPr lang="en-US" sz="30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看电视？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9296400" y="3103811"/>
            <a:ext cx="8153400" cy="3625155"/>
          </a:xfrm>
          <a:prstGeom prst="roundRect">
            <a:avLst>
              <a:gd name="adj" fmla="val 5255"/>
            </a:avLst>
          </a:prstGeom>
          <a:solidFill>
            <a:srgbClr val="4C7A2C">
              <a:alpha val="12000"/>
            </a:srgbClr>
          </a:solidFill>
          <a:ln w="28575">
            <a:solidFill>
              <a:srgbClr val="4C7A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9591675" y="3360986"/>
            <a:ext cx="7714107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20"/>
              </a:lnSpc>
              <a:spcAft>
                <a:spcPts val="450"/>
              </a:spcAft>
              <a:buNone/>
            </a:pPr>
            <a:r>
              <a:rPr lang="en-US" sz="420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或者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9591675" y="4004816"/>
            <a:ext cx="7714107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195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huòzhě · 说 · telling — ends in </a:t>
            </a:r>
            <a:r>
              <a:rPr lang="en-US" sz="1950" b="1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。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9591675" y="4547741"/>
            <a:ext cx="7714107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50"/>
              </a:lnSpc>
              <a:spcBef>
                <a:spcPts val="900"/>
              </a:spcBef>
              <a:buNone/>
            </a:pPr>
            <a:r>
              <a:rPr lang="en-US" sz="30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我午饭吃面条</a:t>
            </a:r>
            <a:r>
              <a:rPr lang="en-US" sz="3000" b="1" dirty="0">
                <a:solidFill>
                  <a:srgbClr val="B96A1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或者</a:t>
            </a:r>
            <a:r>
              <a:rPr lang="en-US" sz="30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炒面。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9591675" y="5214491"/>
            <a:ext cx="7714107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50"/>
              </a:lnSpc>
              <a:spcBef>
                <a:spcPts val="900"/>
              </a:spcBef>
              <a:buNone/>
            </a:pPr>
            <a:r>
              <a:rPr lang="en-US" sz="30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苹果</a:t>
            </a:r>
            <a:r>
              <a:rPr lang="en-US" sz="3000" b="1" dirty="0">
                <a:solidFill>
                  <a:srgbClr val="B96A1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或者</a:t>
            </a:r>
            <a:r>
              <a:rPr lang="en-US" sz="30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香蕉，都可以。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9591675" y="5881241"/>
            <a:ext cx="7714107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50"/>
              </a:lnSpc>
              <a:spcBef>
                <a:spcPts val="900"/>
              </a:spcBef>
              <a:buNone/>
            </a:pPr>
            <a:r>
              <a:rPr lang="en-US" sz="30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他晚上一般看书，</a:t>
            </a:r>
            <a:r>
              <a:rPr lang="en-US" sz="3000" b="1" dirty="0">
                <a:solidFill>
                  <a:srgbClr val="B96A1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或者</a:t>
            </a:r>
            <a:r>
              <a:rPr lang="en-US" sz="30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看电视。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838200" y="6728966"/>
            <a:ext cx="16611600" cy="1663898"/>
          </a:xfrm>
          <a:prstGeom prst="roundRect">
            <a:avLst>
              <a:gd name="adj" fmla="val 6869"/>
            </a:avLst>
          </a:prstGeom>
          <a:solidFill>
            <a:srgbClr val="B93F2C">
              <a:alpha val="11000"/>
            </a:srgbClr>
          </a:solidFill>
          <a:ln w="19050">
            <a:solidFill>
              <a:srgbClr val="B93F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123950" y="6957566"/>
            <a:ext cx="1614670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93F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怎么选 · HOW TO CHOOSE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123950" y="7243316"/>
            <a:ext cx="16146706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句号用</a:t>
            </a:r>
            <a:r>
              <a:rPr lang="en-US" sz="2250" b="1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或者</a:t>
            </a: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，问号用</a:t>
            </a:r>
            <a:r>
              <a:rPr lang="en-US" sz="2250" b="1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还是</a:t>
            </a: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。 Look at the punctuation at the end of the sentence — it tells you which word you needed.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1123950" y="7657654"/>
            <a:ext cx="16146706" cy="506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你早餐一般吃粥还是包子？ — 粥或者包子，都可以。</a:t>
            </a:r>
            <a:endParaRPr lang="en-US" sz="2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4076254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词汇总览 · STAYS ON SCREEN FOR THE WHOLE TASK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4562029"/>
            <a:ext cx="2609850" cy="2372618"/>
          </a:xfrm>
          <a:prstGeom prst="roundRect">
            <a:avLst>
              <a:gd name="adj" fmla="val 8029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" name="Image 0" descr="/Users/luojiahai/code/deck/index/designs/y8-l11/img/miantia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33525" y="4771579"/>
            <a:ext cx="1219200" cy="1219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2575" y="6086029"/>
            <a:ext cx="1204722" cy="620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83"/>
              </a:lnSpc>
              <a:buNone/>
            </a:pPr>
            <a:r>
              <a:rPr lang="en-US" sz="46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面条</a:t>
            </a:r>
            <a:endParaRPr lang="en-US" sz="4650" dirty="0"/>
          </a:p>
        </p:txBody>
      </p:sp>
      <p:sp>
        <p:nvSpPr>
          <p:cNvPr id="9" name="Text 6"/>
          <p:cNvSpPr/>
          <p:nvPr/>
        </p:nvSpPr>
        <p:spPr>
          <a:xfrm>
            <a:off x="3638550" y="4562029"/>
            <a:ext cx="2609850" cy="2372618"/>
          </a:xfrm>
          <a:prstGeom prst="roundRect">
            <a:avLst>
              <a:gd name="adj" fmla="val 8029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1" descr="/Users/luojiahai/code/deck/index/designs/y8-l11/img/chaomian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33875" y="4771579"/>
            <a:ext cx="1219200" cy="1219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352925" y="6086029"/>
            <a:ext cx="1204722" cy="620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83"/>
              </a:lnSpc>
              <a:buNone/>
            </a:pPr>
            <a:r>
              <a:rPr lang="en-US" sz="46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炒面</a:t>
            </a:r>
            <a:endParaRPr lang="en-US" sz="4650" dirty="0"/>
          </a:p>
        </p:txBody>
      </p:sp>
      <p:sp>
        <p:nvSpPr>
          <p:cNvPr id="12" name="Text 8"/>
          <p:cNvSpPr/>
          <p:nvPr/>
        </p:nvSpPr>
        <p:spPr>
          <a:xfrm>
            <a:off x="6438900" y="4562029"/>
            <a:ext cx="2609850" cy="2372618"/>
          </a:xfrm>
          <a:prstGeom prst="roundRect">
            <a:avLst>
              <a:gd name="adj" fmla="val 8029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3" name="Image 2" descr="/Users/luojiahai/code/deck/index/designs/y8-l11/img/mifan.sv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34225" y="4771579"/>
            <a:ext cx="1219200" cy="1219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153275" y="6086029"/>
            <a:ext cx="1204722" cy="620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83"/>
              </a:lnSpc>
              <a:buNone/>
            </a:pPr>
            <a:r>
              <a:rPr lang="en-US" sz="46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米饭</a:t>
            </a:r>
            <a:endParaRPr lang="en-US" sz="4650" dirty="0"/>
          </a:p>
        </p:txBody>
      </p:sp>
      <p:sp>
        <p:nvSpPr>
          <p:cNvPr id="15" name="Text 10"/>
          <p:cNvSpPr/>
          <p:nvPr/>
        </p:nvSpPr>
        <p:spPr>
          <a:xfrm>
            <a:off x="9239250" y="4562029"/>
            <a:ext cx="2609850" cy="2372618"/>
          </a:xfrm>
          <a:prstGeom prst="roundRect">
            <a:avLst>
              <a:gd name="adj" fmla="val 8029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6" name="Image 3" descr="/Users/luojiahai/code/deck/index/designs/y8-l11/img/chaocai.sv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934575" y="4771579"/>
            <a:ext cx="1219200" cy="12192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953625" y="6086029"/>
            <a:ext cx="1204722" cy="620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83"/>
              </a:lnSpc>
              <a:buNone/>
            </a:pPr>
            <a:r>
              <a:rPr lang="en-US" sz="46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炒菜</a:t>
            </a:r>
            <a:endParaRPr lang="en-US" sz="4650" dirty="0"/>
          </a:p>
        </p:txBody>
      </p:sp>
      <p:sp>
        <p:nvSpPr>
          <p:cNvPr id="18" name="Text 12"/>
          <p:cNvSpPr/>
          <p:nvPr/>
        </p:nvSpPr>
        <p:spPr>
          <a:xfrm>
            <a:off x="12039600" y="4562029"/>
            <a:ext cx="2609850" cy="2372618"/>
          </a:xfrm>
          <a:prstGeom prst="roundRect">
            <a:avLst>
              <a:gd name="adj" fmla="val 8029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9" name="Image 4" descr="/Users/luojiahai/code/deck/index/designs/y8-l11/img/baozi.sv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734925" y="4771579"/>
            <a:ext cx="1219200" cy="12192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2753975" y="6086029"/>
            <a:ext cx="1204722" cy="620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83"/>
              </a:lnSpc>
              <a:buNone/>
            </a:pPr>
            <a:r>
              <a:rPr lang="en-US" sz="46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包子</a:t>
            </a:r>
            <a:endParaRPr lang="en-US" sz="4650" dirty="0"/>
          </a:p>
        </p:txBody>
      </p:sp>
      <p:sp>
        <p:nvSpPr>
          <p:cNvPr id="21" name="Text 14"/>
          <p:cNvSpPr/>
          <p:nvPr/>
        </p:nvSpPr>
        <p:spPr>
          <a:xfrm>
            <a:off x="14839950" y="4562029"/>
            <a:ext cx="2609850" cy="2372618"/>
          </a:xfrm>
          <a:prstGeom prst="roundRect">
            <a:avLst>
              <a:gd name="adj" fmla="val 8029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5"/>
          <p:cNvSpPr/>
          <p:nvPr/>
        </p:nvSpPr>
        <p:spPr>
          <a:xfrm>
            <a:off x="15554325" y="4962079"/>
            <a:ext cx="1204722" cy="620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83"/>
              </a:lnSpc>
              <a:buNone/>
            </a:pPr>
            <a:r>
              <a:rPr lang="en-US" sz="46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或者</a:t>
            </a:r>
            <a:endParaRPr lang="en-US" sz="46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2635300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ACTIVITY 1 · 一天的菜单 · A ONE-DAY MENU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3121075"/>
            <a:ext cx="2061418" cy="438150"/>
          </a:xfrm>
          <a:prstGeom prst="roundRect">
            <a:avLst>
              <a:gd name="adj" fmla="val 2171739"/>
            </a:avLst>
          </a:prstGeom>
          <a:solidFill>
            <a:srgbClr val="B96A12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09650" y="3197275"/>
            <a:ext cx="175288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96A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PAIRS · 7 MIN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838200" y="3711625"/>
            <a:ext cx="16611600" cy="2280791"/>
          </a:xfrm>
          <a:prstGeom prst="roundRect">
            <a:avLst>
              <a:gd name="adj" fmla="val 8352"/>
            </a:avLst>
          </a:prstGeom>
          <a:solidFill>
            <a:srgbClr val="F2EFDE"/>
          </a:solidFill>
          <a:ln w="2857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190625" y="3987850"/>
            <a:ext cx="16224885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24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Three rows — 早餐 / 午饭 / 晚饭. </a:t>
            </a:r>
            <a:r>
              <a:rPr lang="en-US" sz="2400" b="1" dirty="0">
                <a:solidFill>
                  <a:srgbClr val="B93F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One sentence per row</a:t>
            </a:r>
            <a:r>
              <a:rPr lang="en-US" sz="24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, every sentence using 或者.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190625" y="4584055"/>
            <a:ext cx="16224885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24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Between the three rows you must use all five dishes </a:t>
            </a:r>
            <a:r>
              <a:rPr lang="en-US" sz="2400" b="1" dirty="0">
                <a:solidFill>
                  <a:srgbClr val="B93F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plus 粥</a:t>
            </a:r>
            <a:r>
              <a:rPr lang="en-US" sz="24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from last lesson. Nothing repeated.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190625" y="5180261"/>
            <a:ext cx="16224885" cy="535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21"/>
              </a:lnSpc>
              <a:buNone/>
            </a:pPr>
            <a:r>
              <a:rPr lang="en-US" sz="31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早餐：我们一般吃粥或者包子。</a:t>
            </a:r>
            <a:endParaRPr lang="en-US" sz="3150" dirty="0"/>
          </a:p>
        </p:txBody>
      </p:sp>
      <p:sp>
        <p:nvSpPr>
          <p:cNvPr id="12" name="Text 10"/>
          <p:cNvSpPr/>
          <p:nvPr/>
        </p:nvSpPr>
        <p:spPr>
          <a:xfrm>
            <a:off x="838200" y="6182916"/>
            <a:ext cx="16611600" cy="2192536"/>
          </a:xfrm>
          <a:prstGeom prst="roundRect">
            <a:avLst>
              <a:gd name="adj" fmla="val 5213"/>
            </a:avLst>
          </a:prstGeom>
          <a:solidFill>
            <a:srgbClr val="4C7A2C">
              <a:alpha val="12000"/>
            </a:srgbClr>
          </a:solidFill>
          <a:ln w="28575">
            <a:solidFill>
              <a:srgbClr val="4C7A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152525" y="6421041"/>
            <a:ext cx="1630260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50"/>
              </a:spcAft>
              <a:buNone/>
            </a:pPr>
            <a:r>
              <a:rPr lang="en-US" sz="165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 · 加油题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152525" y="6802041"/>
            <a:ext cx="16302609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Add a fourth row — 周末 — written as a contrast across two clauses. Then another pair asks you three 还是 questions about your menu, which you answer </a:t>
            </a:r>
            <a:r>
              <a:rPr lang="en-US" sz="225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without looking at the sheet</a:t>
            </a: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152525" y="7630716"/>
            <a:ext cx="16302609" cy="506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周末我们一般不吃米饭，我们吃炒面或者面条，可是我妈妈一般吃粥。</a:t>
            </a:r>
            <a:endParaRPr lang="en-US" sz="2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1434703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ACTIVITY 2 · 还是 还是 或者？· 练习册 P.125 EX.15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1920478"/>
            <a:ext cx="4818906" cy="438150"/>
          </a:xfrm>
          <a:prstGeom prst="roundRect">
            <a:avLst>
              <a:gd name="adj" fmla="val 2171739"/>
            </a:avLst>
          </a:prstGeom>
          <a:solidFill>
            <a:srgbClr val="B96A12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09650" y="1996678"/>
            <a:ext cx="456552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96A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WHITEBOARDS · 8 MIN · 这是考试题型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838200" y="2491978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还是 OR 或者 — HOLD UP PER ITEM, MARK TOGETHER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200" y="3082528"/>
            <a:ext cx="3886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B96A1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1447800" y="2977753"/>
            <a:ext cx="6499062" cy="591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58"/>
              </a:lnSpc>
              <a:buNone/>
            </a:pPr>
            <a:r>
              <a:rPr lang="en-US" sz="34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我们坐地铁 ______ 坐出租车去？</a:t>
            </a:r>
            <a:endParaRPr lang="en-US" sz="3450" dirty="0"/>
          </a:p>
        </p:txBody>
      </p:sp>
      <p:sp>
        <p:nvSpPr>
          <p:cNvPr id="11" name="Text 9"/>
          <p:cNvSpPr/>
          <p:nvPr/>
        </p:nvSpPr>
        <p:spPr>
          <a:xfrm>
            <a:off x="838200" y="3807321"/>
            <a:ext cx="3886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B96A1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1447800" y="3702546"/>
            <a:ext cx="6052149" cy="591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58"/>
              </a:lnSpc>
              <a:buNone/>
            </a:pPr>
            <a:r>
              <a:rPr lang="en-US" sz="34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晚饭我们吃炒饭 ______ 炒面。</a:t>
            </a:r>
            <a:endParaRPr lang="en-US" sz="3450" dirty="0"/>
          </a:p>
        </p:txBody>
      </p:sp>
      <p:sp>
        <p:nvSpPr>
          <p:cNvPr id="13" name="Text 11"/>
          <p:cNvSpPr/>
          <p:nvPr/>
        </p:nvSpPr>
        <p:spPr>
          <a:xfrm>
            <a:off x="838200" y="4532114"/>
            <a:ext cx="3886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B96A1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1447800" y="4427339"/>
            <a:ext cx="5605236" cy="591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58"/>
              </a:lnSpc>
              <a:buNone/>
            </a:pPr>
            <a:r>
              <a:rPr lang="en-US" sz="34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苹果 ______ 香蕉，都可以。</a:t>
            </a:r>
            <a:endParaRPr lang="en-US" sz="3450" dirty="0"/>
          </a:p>
        </p:txBody>
      </p:sp>
      <p:sp>
        <p:nvSpPr>
          <p:cNvPr id="15" name="Text 13"/>
          <p:cNvSpPr/>
          <p:nvPr/>
        </p:nvSpPr>
        <p:spPr>
          <a:xfrm>
            <a:off x="838200" y="5256907"/>
            <a:ext cx="3886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B96A1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1447800" y="5152132"/>
            <a:ext cx="6499062" cy="591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58"/>
              </a:lnSpc>
              <a:buNone/>
            </a:pPr>
            <a:r>
              <a:rPr lang="en-US" sz="34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你想去美国 ______ 英国上大学？</a:t>
            </a:r>
            <a:endParaRPr lang="en-US" sz="3450" dirty="0"/>
          </a:p>
        </p:txBody>
      </p:sp>
      <p:sp>
        <p:nvSpPr>
          <p:cNvPr id="17" name="Text 15"/>
          <p:cNvSpPr/>
          <p:nvPr/>
        </p:nvSpPr>
        <p:spPr>
          <a:xfrm>
            <a:off x="838200" y="5981700"/>
            <a:ext cx="3886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B96A1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5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1447800" y="5876925"/>
            <a:ext cx="6499062" cy="591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58"/>
              </a:lnSpc>
              <a:buNone/>
            </a:pPr>
            <a:r>
              <a:rPr lang="en-US" sz="34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今天来 ______ 明天来，都可以。</a:t>
            </a:r>
            <a:endParaRPr lang="en-US" sz="3450" dirty="0"/>
          </a:p>
        </p:txBody>
      </p:sp>
      <p:sp>
        <p:nvSpPr>
          <p:cNvPr id="19" name="Text 17"/>
          <p:cNvSpPr/>
          <p:nvPr/>
        </p:nvSpPr>
        <p:spPr>
          <a:xfrm>
            <a:off x="838200" y="6706493"/>
            <a:ext cx="3886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B96A1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6</a:t>
            </a:r>
            <a:endParaRPr lang="en-US" sz="2550" dirty="0"/>
          </a:p>
        </p:txBody>
      </p:sp>
      <p:sp>
        <p:nvSpPr>
          <p:cNvPr id="20" name="Text 18"/>
          <p:cNvSpPr/>
          <p:nvPr/>
        </p:nvSpPr>
        <p:spPr>
          <a:xfrm>
            <a:off x="1447800" y="6601718"/>
            <a:ext cx="6834247" cy="591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58"/>
              </a:lnSpc>
              <a:buNone/>
            </a:pPr>
            <a:r>
              <a:rPr lang="en-US" sz="34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他晚上一般看书，______ 看电视。</a:t>
            </a:r>
            <a:endParaRPr lang="en-US" sz="3450" dirty="0"/>
          </a:p>
        </p:txBody>
      </p:sp>
      <p:sp>
        <p:nvSpPr>
          <p:cNvPr id="21" name="Text 19"/>
          <p:cNvSpPr/>
          <p:nvPr/>
        </p:nvSpPr>
        <p:spPr>
          <a:xfrm>
            <a:off x="838200" y="7383661"/>
            <a:ext cx="16611600" cy="2192536"/>
          </a:xfrm>
          <a:prstGeom prst="roundRect">
            <a:avLst>
              <a:gd name="adj" fmla="val 5213"/>
            </a:avLst>
          </a:prstGeom>
          <a:solidFill>
            <a:srgbClr val="4C7A2C">
              <a:alpha val="12000"/>
            </a:srgbClr>
          </a:solidFill>
          <a:ln w="28575">
            <a:solidFill>
              <a:srgbClr val="4C7A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152525" y="7621786"/>
            <a:ext cx="1630260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50"/>
              </a:spcAft>
              <a:buNone/>
            </a:pPr>
            <a:r>
              <a:rPr lang="en-US" sz="165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 · 加油题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1152525" y="8002786"/>
            <a:ext cx="16302609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Write the </a:t>
            </a:r>
            <a:r>
              <a:rPr lang="en-US" sz="225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other</a:t>
            </a: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version of each — turn every statement into a question and every question into a statement, swapping the conjunction. Six rewrites.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1152525" y="8831461"/>
            <a:ext cx="16302609" cy="506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我们坐地铁或者坐出租车去，都可以。</a:t>
            </a:r>
            <a:endParaRPr lang="en-US" sz="2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2631281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写一写 · COPY THE CHARACTERS · 练习册 P.123 EX.12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7151" y="3231356"/>
            <a:ext cx="11269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200"/>
              </a:lnSpc>
              <a:buNone/>
            </a:pPr>
            <a:r>
              <a:rPr lang="en-US" sz="72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粥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2190750" y="3117056"/>
            <a:ext cx="204511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zhōu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2190750" y="3555206"/>
            <a:ext cx="204511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porridge; congee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2190750" y="3945731"/>
            <a:ext cx="2045113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12 strokes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7151" y="4498181"/>
            <a:ext cx="11269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200"/>
              </a:lnSpc>
              <a:buNone/>
            </a:pPr>
            <a:r>
              <a:rPr lang="en-US" sz="72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或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2190750" y="4383881"/>
            <a:ext cx="103788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huò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2190750" y="4822031"/>
            <a:ext cx="103788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or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2190750" y="5212556"/>
            <a:ext cx="1037889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 strokes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7151" y="5765006"/>
            <a:ext cx="11269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200"/>
              </a:lnSpc>
              <a:buNone/>
            </a:pPr>
            <a:r>
              <a:rPr lang="en-US" sz="72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者</a:t>
            </a:r>
            <a:endParaRPr lang="en-US" sz="7200" dirty="0"/>
          </a:p>
        </p:txBody>
      </p:sp>
      <p:sp>
        <p:nvSpPr>
          <p:cNvPr id="15" name="Text 13"/>
          <p:cNvSpPr/>
          <p:nvPr/>
        </p:nvSpPr>
        <p:spPr>
          <a:xfrm>
            <a:off x="2190750" y="5650706"/>
            <a:ext cx="1842757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zhě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2190750" y="6088856"/>
            <a:ext cx="1842757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person or thing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2190750" y="6479381"/>
            <a:ext cx="1842757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 strokes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38200" y="6793706"/>
            <a:ext cx="16611600" cy="1585913"/>
          </a:xfrm>
          <a:prstGeom prst="roundRect">
            <a:avLst>
              <a:gd name="adj" fmla="val 7207"/>
            </a:avLst>
          </a:prstGeom>
          <a:solidFill>
            <a:srgbClr val="B96A12">
              <a:alpha val="14000"/>
            </a:srgbClr>
          </a:solidFill>
          <a:ln w="19050">
            <a:solidFill>
              <a:srgbClr val="B96A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123950" y="7022306"/>
            <a:ext cx="1137852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96A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安静写 · QUIET BLOCK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123950" y="7308056"/>
            <a:ext cx="11378520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Three copies each. 粥 is 弓 + 米 + 弓 — a rice between two bows, not one blob.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1123950" y="7798594"/>
            <a:ext cx="1137852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95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Stroke order projected one character at a time. Teacher checks grip and direction, not speed.</a:t>
            </a:r>
            <a:endParaRPr lang="en-US" sz="1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2636044"/>
            <a:ext cx="16943832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写一写 · COPY THE CHARACTERS · 练习册 P.124 EX.12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7151" y="3245644"/>
            <a:ext cx="11269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200"/>
              </a:lnSpc>
              <a:buNone/>
            </a:pPr>
            <a:r>
              <a:rPr lang="en-US" sz="72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面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2190750" y="3140869"/>
            <a:ext cx="2409596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miàn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2190750" y="3569494"/>
            <a:ext cx="240959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flour; measure word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2190750" y="3950494"/>
            <a:ext cx="240959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9 strokes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7151" y="4493419"/>
            <a:ext cx="11269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200"/>
              </a:lnSpc>
              <a:buNone/>
            </a:pPr>
            <a:r>
              <a:rPr lang="en-US" sz="72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条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2190750" y="4388644"/>
            <a:ext cx="2523905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tiáo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2190750" y="4817269"/>
            <a:ext cx="25239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stripe; measure word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2190750" y="5198269"/>
            <a:ext cx="252390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 strokes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7151" y="5741194"/>
            <a:ext cx="11269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200"/>
              </a:lnSpc>
              <a:buNone/>
            </a:pPr>
            <a:r>
              <a:rPr lang="en-US" sz="72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炒</a:t>
            </a:r>
            <a:endParaRPr lang="en-US" sz="7200" dirty="0"/>
          </a:p>
        </p:txBody>
      </p:sp>
      <p:sp>
        <p:nvSpPr>
          <p:cNvPr id="15" name="Text 13"/>
          <p:cNvSpPr/>
          <p:nvPr/>
        </p:nvSpPr>
        <p:spPr>
          <a:xfrm>
            <a:off x="2190750" y="5636419"/>
            <a:ext cx="990374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chǎo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2190750" y="6065044"/>
            <a:ext cx="99037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stir-fry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2190750" y="6446044"/>
            <a:ext cx="990374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 strokes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38200" y="6760369"/>
            <a:ext cx="16611600" cy="1614488"/>
          </a:xfrm>
          <a:prstGeom prst="roundRect">
            <a:avLst>
              <a:gd name="adj" fmla="val 7080"/>
            </a:avLst>
          </a:prstGeom>
          <a:solidFill>
            <a:srgbClr val="4C7A2C">
              <a:alpha val="12000"/>
            </a:srgbClr>
          </a:solidFill>
          <a:ln w="19050">
            <a:solidFill>
              <a:srgbClr val="4C7A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123950" y="6988969"/>
            <a:ext cx="1003702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炒 = 火 + 少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123950" y="7293769"/>
            <a:ext cx="10037022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Fire on the left — that's the clue to what 炒面 and 炒菜 mean.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1123950" y="7784306"/>
            <a:ext cx="10037022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95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全 般 店 once each if there's time. 店 comes back next lesson in 饭店、快餐店、水果店.</a:t>
            </a:r>
            <a:endParaRPr lang="en-US" sz="1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2369046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GAME · 接龙 · CATEGORY CHAIN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2854821"/>
            <a:ext cx="4465886" cy="438150"/>
          </a:xfrm>
          <a:prstGeom prst="roundRect">
            <a:avLst>
              <a:gd name="adj" fmla="val 2171739"/>
            </a:avLst>
          </a:prstGeom>
          <a:solidFill>
            <a:srgbClr val="B96A12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09650" y="2931021"/>
            <a:ext cx="420544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96A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WHOLE CLASS STANDING · 4 MIN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838200" y="3445371"/>
            <a:ext cx="16611600" cy="2813447"/>
          </a:xfrm>
          <a:prstGeom prst="roundRect">
            <a:avLst>
              <a:gd name="adj" fmla="val 6771"/>
            </a:avLst>
          </a:prstGeom>
          <a:solidFill>
            <a:srgbClr val="F2EFDE"/>
          </a:solidFill>
          <a:ln w="2857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190625" y="3721596"/>
            <a:ext cx="16224885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24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课本 p.109 Ex.16. Teacher names a category and one item — 中餐：炒面.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190625" y="4317802"/>
            <a:ext cx="16224885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24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Students around the room add one item each.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190625" y="4914007"/>
            <a:ext cx="16224885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24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Repeat an item, or fail to add one in three seconds — you sit down.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190625" y="5510213"/>
            <a:ext cx="16224885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24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Two rounds: 中餐 · 饮料.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38200" y="6449318"/>
            <a:ext cx="16611600" cy="2192536"/>
          </a:xfrm>
          <a:prstGeom prst="roundRect">
            <a:avLst>
              <a:gd name="adj" fmla="val 5213"/>
            </a:avLst>
          </a:prstGeom>
          <a:solidFill>
            <a:srgbClr val="4C7A2C">
              <a:alpha val="12000"/>
            </a:srgbClr>
          </a:solidFill>
          <a:ln w="28575">
            <a:solidFill>
              <a:srgbClr val="4C7A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152525" y="6687443"/>
            <a:ext cx="1630260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50"/>
              </a:spcAft>
              <a:buNone/>
            </a:pPr>
            <a:r>
              <a:rPr lang="en-US" sz="165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 · 加油题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152525" y="7068443"/>
            <a:ext cx="16302609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Your addition must be a </a:t>
            </a:r>
            <a:r>
              <a:rPr lang="en-US" sz="225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full sentence using 或者</a:t>
            </a: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that links your item to the previous student's. Fluent students start each round, so they set the bar.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1152525" y="7897118"/>
            <a:ext cx="16302609" cy="506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他说炒面，我早餐一般吃包子或者粥。</a:t>
            </a:r>
            <a:endParaRPr lang="en-US" sz="2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8096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04862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0"/>
            <a:ext cx="16764000" cy="47625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2596158"/>
            <a:ext cx="1694383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8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小结 · PLENARY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3081933"/>
            <a:ext cx="16611600" cy="2092523"/>
          </a:xfrm>
          <a:prstGeom prst="roundRect">
            <a:avLst>
              <a:gd name="adj" fmla="val 5462"/>
            </a:avLst>
          </a:prstGeom>
          <a:solidFill>
            <a:srgbClr val="4C7A2C">
              <a:alpha val="12000"/>
            </a:srgbClr>
          </a:solidFill>
          <a:ln w="19050">
            <a:solidFill>
              <a:srgbClr val="4C7A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123950" y="3310533"/>
            <a:ext cx="769998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改错 · FIX THE BROKEN SENTENCE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123950" y="3596283"/>
            <a:ext cx="7699989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Back to the corner of the board. The class calls the fix.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123950" y="4010620"/>
            <a:ext cx="7699989" cy="506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我午饭一般吃快餐</a:t>
            </a:r>
            <a:r>
              <a:rPr lang="en-US" sz="28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或者</a:t>
            </a:r>
            <a:r>
              <a:rPr lang="en-US" sz="285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汉堡包。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1123950" y="4593431"/>
            <a:ext cx="769998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95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Name it: that's what you couldn't do at the start of the lesson.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838200" y="5384006"/>
            <a:ext cx="16611600" cy="1663898"/>
          </a:xfrm>
          <a:prstGeom prst="roundRect">
            <a:avLst>
              <a:gd name="adj" fmla="val 6869"/>
            </a:avLst>
          </a:prstGeom>
          <a:solidFill>
            <a:srgbClr val="B93F2C">
              <a:alpha val="11000"/>
            </a:srgbClr>
          </a:solidFill>
          <a:ln w="19050">
            <a:solidFill>
              <a:srgbClr val="B93F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123950" y="5612606"/>
            <a:ext cx="1397438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93F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EXIT TICKET · 出门条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123950" y="5898356"/>
            <a:ext cx="13974381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Write </a:t>
            </a:r>
            <a:r>
              <a:rPr lang="en-US" sz="2250" b="1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two</a:t>
            </a: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sentences about the same two dishes — one statement with 或者, one question with 还是.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123950" y="6312694"/>
            <a:ext cx="13974381" cy="506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我午饭一般吃面条或者炒面。　／　你午饭吃面条还是炒面？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838200" y="7257455"/>
            <a:ext cx="16611600" cy="1157288"/>
          </a:xfrm>
          <a:prstGeom prst="roundRect">
            <a:avLst>
              <a:gd name="adj" fmla="val 9877"/>
            </a:avLst>
          </a:prstGeom>
          <a:solidFill>
            <a:srgbClr val="B96A12">
              <a:alpha val="14000"/>
            </a:srgbClr>
          </a:solidFill>
          <a:ln w="19050">
            <a:solidFill>
              <a:srgbClr val="B96A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123950" y="7486055"/>
            <a:ext cx="996112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B96A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下节课 · NEXT LESSON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123950" y="7771805"/>
            <a:ext cx="9961120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去饭店吃饭 — eating out, and how to say something is </a:t>
            </a:r>
            <a:r>
              <a:rPr lang="en-US" sz="2250" b="1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likely</a:t>
            </a:r>
            <a:r>
              <a:rPr lang="en-US" sz="225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to happen.</a:t>
            </a:r>
            <a:endParaRPr lang="en-US" sz="2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2026-09-14T08:17:04Z</dcterms:created>
  <dcterms:modified xsi:type="dcterms:W3CDTF">2026-09-14T08:17:04Z</dcterms:modified>
</cp:coreProperties>
</file>