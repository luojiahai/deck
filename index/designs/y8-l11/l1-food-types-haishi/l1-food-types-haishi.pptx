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434530"/>
            <a:ext cx="167106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3063180"/>
            <a:ext cx="16710660" cy="184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spcBef>
                <a:spcPts val="1950"/>
              </a:spcBef>
              <a:spcAft>
                <a:spcPts val="750"/>
              </a:spcAft>
              <a:buNone/>
            </a:pPr>
            <a:r>
              <a:rPr lang="en-US" sz="14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中餐还是西餐？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066800" y="5004346"/>
            <a:ext cx="1671066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Chinese Food or Western Food?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066800" y="6271171"/>
            <a:ext cx="167106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5 · 50 minutes · 课本 p.100–102</a:t>
            </a:r>
            <a:endParaRPr lang="en-US" sz="2250" dirty="0"/>
          </a:p>
        </p:txBody>
      </p:sp>
      <p:pic>
        <p:nvPicPr>
          <p:cNvPr id="9" name="Image 0" descr="/Users/luojiahai/code/deck/index/designs/y8-l11/img/zhongc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7147471"/>
            <a:ext cx="1428750" cy="1428750"/>
          </a:xfrm>
          <a:prstGeom prst="rect">
            <a:avLst/>
          </a:prstGeom>
        </p:spPr>
      </p:pic>
      <p:pic>
        <p:nvPicPr>
          <p:cNvPr id="10" name="Image 1" descr="/Users/luojiahai/code/deck/index/designs/y8-l11/img/xic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7147471"/>
            <a:ext cx="1428750" cy="1428750"/>
          </a:xfrm>
          <a:prstGeom prst="rect">
            <a:avLst/>
          </a:prstGeom>
        </p:spPr>
      </p:pic>
      <p:pic>
        <p:nvPicPr>
          <p:cNvPr id="11" name="Image 2" descr="/Users/luojiahai/code/deck/index/designs/y8-l11/img/kuaica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7147471"/>
            <a:ext cx="1428750" cy="1428750"/>
          </a:xfrm>
          <a:prstGeom prst="rect">
            <a:avLst/>
          </a:prstGeom>
        </p:spPr>
      </p:pic>
      <p:pic>
        <p:nvPicPr>
          <p:cNvPr id="12" name="Image 3" descr="/Users/luojiahai/code/deck/index/designs/y8-l11/img/regou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150" y="7147471"/>
            <a:ext cx="1428750" cy="1428750"/>
          </a:xfrm>
          <a:prstGeom prst="rect">
            <a:avLst/>
          </a:prstGeom>
        </p:spPr>
      </p:pic>
      <p:pic>
        <p:nvPicPr>
          <p:cNvPr id="13" name="Image 4" descr="/Users/luojiahai/code/deck/index/designs/y8-l11/img/hanbaobao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8600" y="7147471"/>
            <a:ext cx="1428750" cy="1428750"/>
          </a:xfrm>
          <a:prstGeom prst="rect">
            <a:avLst/>
          </a:prstGeom>
        </p:spPr>
      </p:pic>
      <p:pic>
        <p:nvPicPr>
          <p:cNvPr id="14" name="Image 5" descr="/Users/luojiahai/code/deck/index/designs/y8-l11/img/bisabing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44050" y="7147471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47620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READ THESE BACK — PINYIN AND ENGLISH, CHORALLY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961977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4403" y="3304877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5048250" y="2961977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4453" y="3304877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9258300" y="2961977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54503" y="3304877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13468350" y="2961977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564553" y="3304877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838200" y="4816376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4403" y="5159276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5048250" y="4816376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4453" y="5159276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7050" dirty="0"/>
          </a:p>
        </p:txBody>
      </p:sp>
      <p:sp>
        <p:nvSpPr>
          <p:cNvPr id="18" name="Text 16"/>
          <p:cNvSpPr/>
          <p:nvPr/>
        </p:nvSpPr>
        <p:spPr>
          <a:xfrm>
            <a:off x="9258300" y="4816376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54503" y="5159276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7050" dirty="0"/>
          </a:p>
        </p:txBody>
      </p:sp>
      <p:sp>
        <p:nvSpPr>
          <p:cNvPr id="20" name="Text 18"/>
          <p:cNvSpPr/>
          <p:nvPr/>
        </p:nvSpPr>
        <p:spPr>
          <a:xfrm>
            <a:off x="13468350" y="4816376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564553" y="5159276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7050" dirty="0"/>
          </a:p>
        </p:txBody>
      </p:sp>
      <p:sp>
        <p:nvSpPr>
          <p:cNvPr id="22" name="Text 20"/>
          <p:cNvSpPr/>
          <p:nvPr/>
        </p:nvSpPr>
        <p:spPr>
          <a:xfrm>
            <a:off x="838200" y="6442174"/>
            <a:ext cx="16611600" cy="2092523"/>
          </a:xfrm>
          <a:prstGeom prst="roundRect">
            <a:avLst>
              <a:gd name="adj" fmla="val 5462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23950" y="6670774"/>
            <a:ext cx="75691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写一写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23950" y="6956524"/>
            <a:ext cx="756913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would your mother say to you about vegetables?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23950" y="7370862"/>
            <a:ext cx="756913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妈妈说我应该每天吃蔬菜。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123950" y="7953673"/>
            <a:ext cx="75691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one more, using 可是 — 我不太喜欢吃蔬菜，可是……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2209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207865"/>
            <a:ext cx="16611600" cy="1962150"/>
          </a:xfrm>
          <a:prstGeom prst="roundRect">
            <a:avLst>
              <a:gd name="adj" fmla="val 9709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9851" y="2503140"/>
            <a:ext cx="161082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types of food and ask someone to choose, using 还是.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838200" y="447481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960590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5160615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5160615"/>
            <a:ext cx="664707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read six food words in Chinese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62125" y="5663505"/>
            <a:ext cx="6647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中餐、西餐、快餐、热狗、汉堡包、比萨饼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38200" y="6444555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4425" y="6644580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762125" y="6644580"/>
            <a:ext cx="548895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a choice question with 还是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62125" y="7147471"/>
            <a:ext cx="5488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你喜欢吃中餐还是西餐？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38200" y="7928521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4425" y="8128546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762125" y="8128546"/>
            <a:ext cx="528523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answer without repeating 还是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62125" y="8631436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我喜欢吃中餐。／我两种都喜欢吃。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082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zhongc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3194745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4528" y="5709345"/>
            <a:ext cx="202811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zhōngcān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3820567" y="7806630"/>
            <a:ext cx="207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Chinese food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1/img/xic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3194745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71400" y="5709345"/>
            <a:ext cx="11787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xīcān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22682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2441882" y="7806630"/>
            <a:ext cx="2054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western food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chī zhōngcān.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eating Chinese food.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bú tài xǐhuan chī xīcān.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much like eating western food.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Zhōngcān, xīcān, wǒ dōu xǐhuan chī.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，我都喜欢吃。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Chinese food, western food — I like eating both.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1899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4766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76241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喜欢吃中餐，______ 喜欢吃西餐。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1537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Mini whiteboards. One sentence.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13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51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32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clauses with 可是, about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someone else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then say it aloud without reading it.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47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我很喜欢吃西餐，可是我妈妈说我应该多吃中餐。</a:t>
            </a:r>
            <a:endParaRPr lang="en-US" sz="2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082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kuaic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3194745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40237" y="5709345"/>
            <a:ext cx="162871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kuàicān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136380" y="7806630"/>
            <a:ext cx="14325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food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1/img/regou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3194745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55773" y="5709345"/>
            <a:ext cx="121079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règǒu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22682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2857262" y="7806630"/>
            <a:ext cx="1207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hot dog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hěn xǐhuan chī kuàicān.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really like eating fast food.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bù xǐhuan chī règǒu.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like eating hot dogs.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chī kuàicān, kěshì wǒ bù xǐhuan chī règǒu.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，可是我不喜欢吃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fast food, but I don't like hot dogs.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1714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02918"/>
            <a:ext cx="16611600" cy="3322141"/>
          </a:xfrm>
          <a:prstGeom prst="roundRect">
            <a:avLst>
              <a:gd name="adj" fmla="val 5734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474393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喜欢吃快餐。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4478238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喜欢吃热狗。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1304925" y="5653534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Two sentences this time.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200" y="6615559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525" y="6853684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" y="7234684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what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own mother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would say, using 说……应该 — and name two things you should eat instead.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52525" y="7649021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妈妈说我应该多吃蔬菜和水果，不应该每天吃热狗。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2793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hanbaoba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2951857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02695" y="5466457"/>
            <a:ext cx="23172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hànbǎobāo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067050" y="6190357"/>
            <a:ext cx="3614166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016871" y="7563743"/>
            <a:ext cx="16763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hamburger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1/img/bisabing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2951857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570916" y="5466457"/>
            <a:ext cx="17917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bǐsàbǐng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1677650" y="6190357"/>
            <a:ext cx="3614166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3056691" y="7563743"/>
            <a:ext cx="800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pizza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12320290" y="8154293"/>
            <a:ext cx="23030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比萨（薩）饼（餅）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chī hànbǎobāo.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eating hamburgers.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Bǐsàbǐng shì xīcān.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是西餐。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Pizza is western food.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Hànbǎobāo hé bǐsàbǐng dōu shì kuàicān.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都是快餐。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Hamburgers and pizza are both fast food.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1899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4766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76241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和 ______ 都是快餐。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1537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Use two of today's words.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13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51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32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除了……以外, then add a 可是 clause naming something you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don't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like, so it runs as one turn.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47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除了汉堡包以外，我还喜欢吃比萨饼和热狗。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52246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 — NO PINYIN, NO ENGLISH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369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645155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372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12064901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4707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83820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369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645155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372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12064901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4707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endParaRPr lang="en-US" sz="7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37532"/>
            <a:ext cx="16611600" cy="1922115"/>
          </a:xfrm>
          <a:prstGeom prst="roundRect">
            <a:avLst>
              <a:gd name="adj" fmla="val 9911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9851" y="2932807"/>
            <a:ext cx="16108299" cy="81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35"/>
              </a:lnSpc>
              <a:buNone/>
            </a:pP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</a:t>
            </a:r>
            <a:r>
              <a:rPr lang="en-US" sz="49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B？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1089851" y="3883372"/>
            <a:ext cx="161082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háishi · "or" — in a </a:t>
            </a:r>
            <a:r>
              <a:rPr lang="en-US" sz="2100" b="1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</a:t>
            </a: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only. The answer never contains 还是.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4769197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模仿我说 · WATCH ME BUILD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5359747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47800" y="5254972"/>
            <a:ext cx="8714804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你喜欢吃中餐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西餐？ — 我喜欢吃中餐。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838200" y="60845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47800" y="5979765"/>
            <a:ext cx="8714804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你想吃热狗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汉堡包？ — 我想吃汉堡包。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838200" y="6809333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47800" y="6704558"/>
            <a:ext cx="8714804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我们去打球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看电影？ — 我们去看电影。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838200" y="7534126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47800" y="7429351"/>
            <a:ext cx="8491347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你想跟爸爸去吃快餐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45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跟妈妈去吃中餐？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447800" y="8020794"/>
            <a:ext cx="84913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full clauses, one either side.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141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TEXT 1 · 跟我读 · CD TRACK 51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7190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62100" y="2757190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chī zhōngcān háishi xīcān?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62100" y="3147715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8200" y="3894386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62100" y="3894386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liǎng zhǒng dōu xǐhuan chī.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4284911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我两种都喜欢吃。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8200" y="5031581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62100" y="5031581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chī kuàicān ma?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62100" y="5422106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吗？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8200" y="6168777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62100" y="6168777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Yě xǐhuan. Wǒ xǐhuan chī règǒu, hànbǎobāo hé bǐsàbǐng.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62100" y="6559302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也喜欢。我喜欢吃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8200" y="7153573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7382173"/>
            <a:ext cx="87296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注意 · NOTICE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7667923"/>
            <a:ext cx="872968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两种 — 种 is last lesson's measure word, doing new work here.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8158460"/>
            <a:ext cx="87296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喜欢吃中餐还是西餐？ · B 喜欢吃什么快餐？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407625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 FOR THE WHOLE TASK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zhongc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3525" y="4771579"/>
            <a:ext cx="1219200" cy="121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257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363855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Users/luojiahai/code/deck/index/designs/y8-l11/img/xic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3875" y="4771579"/>
            <a:ext cx="1219200" cy="121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292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endParaRPr lang="en-US" sz="4650" dirty="0"/>
          </a:p>
        </p:txBody>
      </p:sp>
      <p:sp>
        <p:nvSpPr>
          <p:cNvPr id="12" name="Text 8"/>
          <p:cNvSpPr/>
          <p:nvPr/>
        </p:nvSpPr>
        <p:spPr>
          <a:xfrm>
            <a:off x="643890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luojiahai/code/deck/index/designs/y8-l11/img/kuaica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4225" y="4771579"/>
            <a:ext cx="1219200" cy="1219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327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endParaRPr lang="en-US" sz="4650" dirty="0"/>
          </a:p>
        </p:txBody>
      </p:sp>
      <p:sp>
        <p:nvSpPr>
          <p:cNvPr id="15" name="Text 10"/>
          <p:cNvSpPr/>
          <p:nvPr/>
        </p:nvSpPr>
        <p:spPr>
          <a:xfrm>
            <a:off x="923925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/Users/luojiahai/code/deck/index/designs/y8-l11/img/regou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4575" y="4771579"/>
            <a:ext cx="1219200" cy="1219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5362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endParaRPr lang="en-US" sz="4650" dirty="0"/>
          </a:p>
        </p:txBody>
      </p:sp>
      <p:sp>
        <p:nvSpPr>
          <p:cNvPr id="18" name="Text 12"/>
          <p:cNvSpPr/>
          <p:nvPr/>
        </p:nvSpPr>
        <p:spPr>
          <a:xfrm>
            <a:off x="1203960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4" descr="/Users/luojiahai/code/deck/index/designs/y8-l11/img/hanbaobao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34925" y="4771579"/>
            <a:ext cx="1219200" cy="1219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458700" y="6086029"/>
            <a:ext cx="1807083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endParaRPr lang="en-US" sz="4650" dirty="0"/>
          </a:p>
        </p:txBody>
      </p:sp>
      <p:sp>
        <p:nvSpPr>
          <p:cNvPr id="21" name="Text 14"/>
          <p:cNvSpPr/>
          <p:nvPr/>
        </p:nvSpPr>
        <p:spPr>
          <a:xfrm>
            <a:off x="1483995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/Users/luojiahai/code/deck/index/designs/y8-l11/img/bisabing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535275" y="4771579"/>
            <a:ext cx="1219200" cy="1219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5259050" y="6086029"/>
            <a:ext cx="1807083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endParaRPr lang="en-US" sz="4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414165"/>
            <a:ext cx="1694383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三个问题 · THREE QUESTIONS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918990"/>
            <a:ext cx="1951732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995190"/>
            <a:ext cx="16410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8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509540"/>
            <a:ext cx="16611600" cy="3004096"/>
          </a:xfrm>
          <a:prstGeom prst="roundRect">
            <a:avLst>
              <a:gd name="adj" fmla="val 6341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2785765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还是 questions that between them use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six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words.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3381970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你喜欢吃中餐还是西餐？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190625" y="404172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你想吃热狗还是汉堡包？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190625" y="4701480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你喜欢吃快餐还是比萨饼？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838200" y="5685086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2266" y="5737473"/>
            <a:ext cx="1334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6850" y="5685086"/>
            <a:ext cx="3981685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your three questions.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8200" y="6229499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82266" y="6281886"/>
            <a:ext cx="1334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6850" y="6229499"/>
            <a:ext cx="5951503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 up. Ask three different classmates.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8200" y="677391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2266" y="6826300"/>
            <a:ext cx="1334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6850" y="6773912"/>
            <a:ext cx="547681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 two answers back to the class.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8200" y="7385000"/>
            <a:ext cx="16611600" cy="2211586"/>
          </a:xfrm>
          <a:prstGeom prst="roundRect">
            <a:avLst>
              <a:gd name="adj" fmla="val 516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52525" y="7623125"/>
            <a:ext cx="163026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52525" y="8023175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question uses a different verb (吃／想吃／喜欢吃). Report back in the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third person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with a 可是 clause — and no notes.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52525" y="8851850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小明喜欢吃汉堡包，可是他妈妈说他不应该每天吃快餐。</a:t>
            </a:r>
            <a:endParaRPr lang="en-US" sz="2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35714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我们应该……还是……？ · 练习册 P.121 EX.9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842915"/>
            <a:ext cx="3141911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2919115"/>
            <a:ext cx="28549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8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43346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ALL FOUR. HOLD THEM UP. THEN ASK A PARTNER AND GET A REAL ANSWER.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024015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47800" y="3919240"/>
            <a:ext cx="580986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我们应该坐电车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坐地铁？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838200" y="4748808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47800" y="4644033"/>
            <a:ext cx="580986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我们应该吃中餐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吃西餐？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838200" y="5473601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47800" y="5368826"/>
            <a:ext cx="6703695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我们应该学法语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学西班牙语？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838200" y="6198394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47800" y="6093619"/>
            <a:ext cx="580986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我们应该穿裤子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穿裙子？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838200" y="6875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52525" y="7113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52525" y="7494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two more of your own, then answer each in a full sentence that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explains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choice.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52525" y="7909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我想学西班牙语，可是我姐姐说我应该学法语。</a:t>
            </a:r>
            <a:endParaRPr lang="en-US" sz="2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67149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拍字 · SLAP THE CHARACTER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52924"/>
            <a:ext cx="2824907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3229124"/>
            <a:ext cx="25316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TEAMS · 7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743474"/>
            <a:ext cx="16611600" cy="2217241"/>
          </a:xfrm>
          <a:prstGeom prst="roundRect">
            <a:avLst>
              <a:gd name="adj" fmla="val 8592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4019699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students at the board. Six A3 cards spread out.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4615904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says a word in Chinese — first to slap it scores.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90625" y="5212110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Rotate every three calls.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200" y="6151215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6389340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52525" y="6770340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teacher gives a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clue sentence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instead of the word, and students slap what it describes. Fluent students take the caller's chair and invent the clue themselves, in Chinese.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52525" y="7599015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这是西餐，是圆的。／ 妈妈说我不应该每天吃这个。</a:t>
            </a:r>
            <a:endParaRPr lang="en-US" sz="2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3515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20926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3950" y="3349526"/>
            <a:ext cx="71073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SELF-ASSESSMENT · 自评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" y="3635276"/>
            <a:ext cx="710734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Thumbs on each success criterion —  /  /</a:t>
            </a:r>
            <a:endParaRPr lang="en-US" sz="2250" dirty="0"/>
          </a:p>
        </p:txBody>
      </p:sp>
      <p:pic>
        <p:nvPicPr>
          <p:cNvPr id="9" name="Image 0" descr="/Users/luojiahai/code/deck/index/designs/y8-l11/img/rate-u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2659" y="3644801"/>
            <a:ext cx="381000" cy="381000"/>
          </a:xfrm>
          <a:prstGeom prst="rect">
            <a:avLst/>
          </a:prstGeom>
        </p:spPr>
      </p:pic>
      <p:pic>
        <p:nvPicPr>
          <p:cNvPr id="10" name="Image 1" descr="/Users/luojiahai/code/deck/index/designs/y8-l11/img/rate-mi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1796" y="3644801"/>
            <a:ext cx="381000" cy="381000"/>
          </a:xfrm>
          <a:prstGeom prst="rect">
            <a:avLst/>
          </a:prstGeom>
        </p:spPr>
      </p:pic>
      <p:pic>
        <p:nvPicPr>
          <p:cNvPr id="11" name="Image 2" descr="/Users/luojiahai/code/deck/index/designs/y8-l11/img/rate-dow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0934" y="3644801"/>
            <a:ext cx="38100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3950" y="4125813"/>
            <a:ext cx="71073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 the three criteria back off the screen first.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38200" y="4916388"/>
            <a:ext cx="16611600" cy="2092523"/>
          </a:xfrm>
          <a:prstGeom prst="roundRect">
            <a:avLst>
              <a:gd name="adj" fmla="val 5462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123950" y="5144988"/>
            <a:ext cx="91530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123950" y="5430738"/>
            <a:ext cx="915306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还是 question about food — and your own answer to it.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1123950" y="5845076"/>
            <a:ext cx="915306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你喜欢吃汉堡包还是比萨饼？ — 我喜欢吃比萨饼。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1123950" y="6427887"/>
            <a:ext cx="91530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a half-slip. Collected at the door.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838200" y="7218462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1123950" y="7447062"/>
            <a:ext cx="12147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123950" y="7732812"/>
            <a:ext cx="1214756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you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drink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你喜欢喝什么饮料？ And you'll design your own fast-food restaurant.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2026-09-14T08:16:14Z</dcterms:created>
  <dcterms:modified xsi:type="dcterms:W3CDTF">2026-09-14T08:16:14Z</dcterms:modified>
</cp:coreProperties>
</file>