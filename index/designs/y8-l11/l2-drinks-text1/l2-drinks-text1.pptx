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你喜欢喝什么饮料？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Drinks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5 · 50 minutes · 课本 p.100–104</a:t>
            </a:r>
            <a:endParaRPr lang="en-US" sz="2250" dirty="0"/>
          </a:p>
        </p:txBody>
      </p:sp>
      <p:pic>
        <p:nvPicPr>
          <p:cNvPr id="9" name="Image 0" descr="/Users/luojiahai/code/deck/index/designs/y8-l11/img/h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1/img/yinlia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1/img/kele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1/img/qishui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1/img/kuaican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905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— PINYIN AND ENGLISH, CHORALLY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76290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3519190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3176290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3519190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3176290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3519190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03068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537358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03068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537358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03068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537358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7050" dirty="0"/>
          </a:p>
        </p:txBody>
      </p:sp>
      <p:sp>
        <p:nvSpPr>
          <p:cNvPr id="18" name="Text 16"/>
          <p:cNvSpPr/>
          <p:nvPr/>
        </p:nvSpPr>
        <p:spPr>
          <a:xfrm>
            <a:off x="838200" y="6656487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885087"/>
            <a:ext cx="84620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COLD CALL · 还是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7170837"/>
            <a:ext cx="846204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students, one 还是 question each. Answer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还是.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585174"/>
            <a:ext cx="846204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你喜欢吃中餐还是西餐？ — 我喜欢吃中餐。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48853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听一听，写声调 · LISTEN AND ADD THE VOWELS WITH TONE MARKS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974306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66800" y="4307681"/>
            <a:ext cx="1121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48234" y="4145756"/>
            <a:ext cx="94301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jièyuè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426101" y="3974306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54701" y="4307681"/>
            <a:ext cx="1581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81230" y="4145756"/>
            <a:ext cx="116267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quèyuè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2014150" y="3974306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242750" y="4307681"/>
            <a:ext cx="15939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570470" y="4145756"/>
            <a:ext cx="94802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xièjué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838200" y="5031581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6800" y="5364956"/>
            <a:ext cx="1612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96305" y="5203031"/>
            <a:ext cx="10817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quēlüè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426101" y="5031581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4701" y="5364956"/>
            <a:ext cx="1589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981974" y="5203031"/>
            <a:ext cx="109117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quèqiè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2014150" y="5031581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42750" y="5364956"/>
            <a:ext cx="1616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572702" y="5203031"/>
            <a:ext cx="94270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jiéyuē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838200" y="593645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23950" y="6165056"/>
            <a:ext cx="9830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· IE / ÜE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23950" y="6450806"/>
            <a:ext cx="983087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Play twice. Students write on whiteboards, then answers up on screen.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23950" y="6941344"/>
            <a:ext cx="98308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üe keeps its two dots after j / q / x — but loses them in writing: lüè not lüè.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209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207865"/>
            <a:ext cx="16611600" cy="1962150"/>
          </a:xfrm>
          <a:prstGeom prst="roundRect">
            <a:avLst>
              <a:gd name="adj" fmla="val 9709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2503140"/>
            <a:ext cx="161082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we drink, and sort food and drink into four categories.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38200" y="44748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960590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5160615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5160615"/>
            <a:ext cx="524682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read four drink words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62125" y="5663505"/>
            <a:ext cx="5246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喝、饮料、可乐、汽水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38200" y="6444555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6644580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62125" y="6644580"/>
            <a:ext cx="505555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about drinks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62125" y="7147471"/>
            <a:ext cx="5055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你喜欢喝什么饮料？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38200" y="7928521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8128546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62125" y="8128546"/>
            <a:ext cx="671735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sort a food into a category and say why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62125" y="8631436"/>
            <a:ext cx="67173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比萨饼是快餐。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h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92687" y="5466457"/>
            <a:ext cx="5018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hē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4248150" y="6190357"/>
            <a:ext cx="1204722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248745" y="7563743"/>
            <a:ext cx="1203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drink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yinlia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775406" y="5466457"/>
            <a:ext cx="13747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yǐnliào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2682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271177" y="7563743"/>
            <a:ext cx="240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drink; beverage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31983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飲料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hē shuǐ.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drinking water.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hē zhèxiē yǐnliào.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drinking these beverages.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hē shénme yǐnliào?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drinks do you like? — today's question.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38499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24274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2895749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我喜欢喝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3899595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我不太喜欢喝 ______ 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074890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036915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275040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6656040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it, then add a 可是 clause of your own so it runs as two joined sentences.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070378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妈妈说我应该多喝水，不应该喝太多饮料。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38200" y="7815114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23950" y="8043714"/>
            <a:ext cx="12437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 · RADICAL CLUE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23950" y="8329464"/>
            <a:ext cx="1243781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喝 has 口 (mouth) on the left — drinking happens at the mouth. 汽水 has 氵 (water) twice.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ke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19302" y="5466457"/>
            <a:ext cx="8554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kělè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473625" y="7563743"/>
            <a:ext cx="744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coke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5877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可樂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8-l11/img/qishu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27794" y="5466457"/>
            <a:ext cx="12677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qìshuǐ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122682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endParaRPr lang="en-US" sz="9300" dirty="0"/>
          </a:p>
        </p:txBody>
      </p:sp>
      <p:sp>
        <p:nvSpPr>
          <p:cNvPr id="16" name="Text 12"/>
          <p:cNvSpPr/>
          <p:nvPr/>
        </p:nvSpPr>
        <p:spPr>
          <a:xfrm>
            <a:off x="12599343" y="7563743"/>
            <a:ext cx="17339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soda water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hē kělè.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我喜欢喝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drinking coke.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bú tài xǐhuan hē qìshuǐ.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我不太喜欢喝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much like soda water.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xiǎng hē kělè háishi qìshuǐ?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你想喝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Coke or soda water? — last lesson's 还是, today's words.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你想喝 ______ 还是 ______ ？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Then ask the person next to you.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classmates, then report the count in Chinese — standing, no notes.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我问了三个同学。两个同学喜欢喝可乐，一个同学喜欢喝汽水。</a:t>
            </a:r>
            <a:endParaRPr lang="en-US" sz="2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440138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94496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4403" y="528786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5048250" y="494496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4453" y="528786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9258300" y="494496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54503" y="528786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13468350" y="494496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64553" y="528786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endParaRPr lang="en-US" sz="7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7532"/>
            <a:ext cx="16611600" cy="1922115"/>
          </a:xfrm>
          <a:prstGeom prst="roundRect">
            <a:avLst>
              <a:gd name="adj" fmla="val 9911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9851" y="2932807"/>
            <a:ext cx="16108299" cy="81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35"/>
              </a:lnSpc>
              <a:buNone/>
            </a:pP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49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</a:t>
            </a:r>
            <a:r>
              <a:rPr lang="en-US" sz="49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089851" y="3883372"/>
            <a:ext cx="161082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我喜欢喝……。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4769197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5359747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5254972"/>
            <a:ext cx="782097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你喜欢喝什么饮料？ — 我喜欢喝可乐。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608454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5979765"/>
            <a:ext cx="10055543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你喜欢喝什么饮料？ — 可乐和汽水，我都喜欢喝。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6809333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6704558"/>
            <a:ext cx="109493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你喜欢喝什么饮料？ — 我不喜欢喝饮料，我喜欢喝水。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7534126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7429351"/>
            <a:ext cx="1363084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你喜欢吃什么快餐？喜欢喝什么饮料？ — 我喜欢吃汉堡包，喝可乐。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447800" y="8020794"/>
            <a:ext cx="136308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halves in one turn.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2717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全文 · CD TRACK 51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412950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2412950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zhōngcān háishi xīcān?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2803475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你喜欢吃中餐还是西餐？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3550146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62100" y="3550146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liǎng zhǒng dōu xǐhuan chī.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3940671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我两种都喜欢吃。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200" y="4687342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100" y="4687342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kuàicān ma?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2100" y="5077867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你喜欢吃快餐吗？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8200" y="5824538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62100" y="5824538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Yě xǐhuan. Wǒ xǐhuan chī règǒu, hànbǎobāo hé bǐsàbǐng.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62100" y="6215063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也喜欢。我喜欢吃热狗、汉堡包和比萨饼。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200" y="6961733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62100" y="6961733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hē shénme yǐnliào?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2100" y="7352258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8200" y="8098929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62100" y="8098929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hē kělè hé qìshuǐ.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62100" y="8489454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我喜欢喝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51698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简单字 · LEARN THE SIMPLE CHARACTERS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690800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7136606"/>
            <a:ext cx="100811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 · NOTICE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7422356"/>
            <a:ext cx="1008119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刀 and 叉 are what you eat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西餐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— the pair names today's contrast.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23950" y="7912894"/>
            <a:ext cx="1008119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Stroke order modelled once each on the board before the relay.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78517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ALL TEN WORDS — STAYS ON SCREEN FOR THE WHOLE TASK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270945"/>
            <a:ext cx="3154561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zhongc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5880" y="3480495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4930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4202311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1/img/xic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9991" y="3480495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9041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7566571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1/img/kuaic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251" y="3480495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53301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10930830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Users/luojiahai/code/deck/index/designs/y8-l11/img/reg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98511" y="3480495"/>
            <a:ext cx="1219200" cy="1219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17561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4650" dirty="0"/>
          </a:p>
        </p:txBody>
      </p:sp>
      <p:sp>
        <p:nvSpPr>
          <p:cNvPr id="18" name="Text 12"/>
          <p:cNvSpPr/>
          <p:nvPr/>
        </p:nvSpPr>
        <p:spPr>
          <a:xfrm>
            <a:off x="14295090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luojiahai/code/deck/index/designs/y8-l11/img/hanbaobao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62771" y="3480495"/>
            <a:ext cx="1219200" cy="1219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986546" y="4794945"/>
            <a:ext cx="180708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4650" dirty="0"/>
          </a:p>
        </p:txBody>
      </p:sp>
      <p:sp>
        <p:nvSpPr>
          <p:cNvPr id="21" name="Text 14"/>
          <p:cNvSpPr/>
          <p:nvPr/>
        </p:nvSpPr>
        <p:spPr>
          <a:xfrm>
            <a:off x="838200" y="5853113"/>
            <a:ext cx="3154561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Users/luojiahai/code/deck/index/designs/y8-l11/img/bisabing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05880" y="6062663"/>
            <a:ext cx="1219200" cy="1219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529655" y="7377113"/>
            <a:ext cx="180708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4650" dirty="0"/>
          </a:p>
        </p:txBody>
      </p:sp>
      <p:sp>
        <p:nvSpPr>
          <p:cNvPr id="24" name="Text 16"/>
          <p:cNvSpPr/>
          <p:nvPr/>
        </p:nvSpPr>
        <p:spPr>
          <a:xfrm>
            <a:off x="4202311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/Users/luojiahai/code/deck/index/designs/y8-l11/img/he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69991" y="6062663"/>
            <a:ext cx="1219200" cy="1219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4316" y="7377113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endParaRPr lang="en-US" sz="4650" dirty="0"/>
          </a:p>
        </p:txBody>
      </p:sp>
      <p:sp>
        <p:nvSpPr>
          <p:cNvPr id="27" name="Text 18"/>
          <p:cNvSpPr/>
          <p:nvPr/>
        </p:nvSpPr>
        <p:spPr>
          <a:xfrm>
            <a:off x="7566571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7" descr="/Users/luojiahai/code/deck/index/designs/y8-l11/img/yinliao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251" y="6062663"/>
            <a:ext cx="1219200" cy="1219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553301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endParaRPr lang="en-US" sz="4650" dirty="0"/>
          </a:p>
        </p:txBody>
      </p:sp>
      <p:sp>
        <p:nvSpPr>
          <p:cNvPr id="30" name="Text 20"/>
          <p:cNvSpPr/>
          <p:nvPr/>
        </p:nvSpPr>
        <p:spPr>
          <a:xfrm>
            <a:off x="10930830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8" descr="/Users/luojiahai/code/deck/index/designs/y8-l11/img/kele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898511" y="6062663"/>
            <a:ext cx="1219200" cy="1219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1917561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endParaRPr lang="en-US" sz="4650" dirty="0"/>
          </a:p>
        </p:txBody>
      </p:sp>
      <p:sp>
        <p:nvSpPr>
          <p:cNvPr id="33" name="Text 22"/>
          <p:cNvSpPr/>
          <p:nvPr/>
        </p:nvSpPr>
        <p:spPr>
          <a:xfrm>
            <a:off x="14295090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9" descr="/Users/luojiahai/code/deck/index/designs/y8-l11/img/qishui.sv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262771" y="6062663"/>
            <a:ext cx="1219200" cy="12192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5281821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endParaRPr lang="en-US" sz="4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37197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听一听，然后分类 · LISTEN, THEN SORT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22972"/>
            <a:ext cx="2073027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899172"/>
            <a:ext cx="1764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8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413522"/>
            <a:ext cx="16611600" cy="2876996"/>
          </a:xfrm>
          <a:prstGeom prst="roundRect">
            <a:avLst>
              <a:gd name="adj" fmla="val 662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68974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4 min —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课本 p.104 Ex.7, CD track 53. Listen and tick, six items. Play twice.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285952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4 min —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four items in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column of the printed grid.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0625" y="4882158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　·　西餐　·　快餐　·　饮料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90625" y="5541913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 words come from Lesson 1, four from today. The rest you supply.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6481018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6719143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525" y="7100143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placement justified in a full sentence, at least two of them contrasted. Then add a fifth row: one item that could go in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columns — and argue for both.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52525" y="7928818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热狗和汉堡包都是快餐，可是比萨饼也是西餐。</a:t>
            </a:r>
            <a:endParaRPr lang="en-US" sz="2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37197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设计一家快餐店 · DESIGN A FAST-FOOD RESTAURANT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22972"/>
            <a:ext cx="2061418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899172"/>
            <a:ext cx="17528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7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413522"/>
            <a:ext cx="16611600" cy="2876996"/>
          </a:xfrm>
          <a:prstGeom prst="roundRect">
            <a:avLst>
              <a:gd name="adj" fmla="val 662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68974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p.104 Ex.8 · 练习册 p.127 Ex.20. Your menu must carry: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28595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店名　·　四种吃的　·　三种喝的　·　价钱　·　地址、电话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494570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— 乐乐快餐店：鱼肉汉堡包 ¥9.80 · 热狗 ¥6.50 · 沙拉 ¥8.60 · 可乐 ¥5.00 · 橙汁 ¥4.50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5541913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 Words if you want them: 薯条 · 苹果派 · 沙拉 · 咖啡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6481018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6719143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525" y="7100143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a one-line 广告 using 还是 to address the customer. Then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sell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it to another pair aloud — buyers ask two 还是 questions before choosing, and sellers answer without reading their own menu.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52525" y="7928818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你想吃汉堡包还是比萨饼？我们店都有！</a:t>
            </a:r>
            <a:endParaRPr lang="en-US" sz="2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97869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· COPY THE CHARACTERS · 练习册 P.118 EX.1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7151" y="2597944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190750" y="2483644"/>
            <a:ext cx="12800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cān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190750" y="2921794"/>
            <a:ext cx="12800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food; meal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190750" y="3312319"/>
            <a:ext cx="12800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strokes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7151" y="3864769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190750" y="3750469"/>
            <a:ext cx="11323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hē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4188619"/>
            <a:ext cx="11323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drink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190750" y="4579144"/>
            <a:ext cx="11323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strokes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151" y="5131594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2190750" y="5017294"/>
            <a:ext cx="10268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yǐn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90750" y="5455444"/>
            <a:ext cx="10268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drink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190750" y="5845969"/>
            <a:ext cx="10268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strokes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151" y="6398419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料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2190750" y="6284119"/>
            <a:ext cx="11309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liào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190750" y="6722269"/>
            <a:ext cx="113094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material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190750" y="7112794"/>
            <a:ext cx="11309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strokes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8200" y="7427119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3950" y="7655719"/>
            <a:ext cx="124951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安静写 · QUIET BLOCK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3950" y="7941469"/>
            <a:ext cx="1249519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copies each. 餐 is the hard one — watch the top-left 卜 shape and the 夕 beside it.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23950" y="8432006"/>
            <a:ext cx="124951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快 狗 饼 are simpler and already carry radicals you know — 忄 犭 饣. The relay does the rest.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6904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写字接力 · WRITING RELAY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54821"/>
            <a:ext cx="3367683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931021"/>
            <a:ext cx="30852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TEAMS OF FOUR · 4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445371"/>
            <a:ext cx="16611600" cy="2813447"/>
          </a:xfrm>
          <a:prstGeom prst="roundRect">
            <a:avLst>
              <a:gd name="adj" fmla="val 677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721596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calls a character — 虫 / 贝 / 刀 / 叉.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317802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1 runs up, writes it with correct stroke order, passes the marker.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0625" y="491400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Wrong stroke order? The next student fixes it before adding theirs.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5510213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correct characters in four rounds wins.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6449318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6687443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525" y="7068443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teacher calls the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English meaning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instead of the sound, and the runner writes the character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its pinyin with the tone mark.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52525" y="7897118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insect → 虫 chóng</a:t>
            </a:r>
            <a:endParaRPr lang="en-US" sz="2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84946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335238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3563838"/>
            <a:ext cx="87126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3849588"/>
            <a:ext cx="871267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Traffic light on whiteboards for each criterion —  /  /</a:t>
            </a:r>
            <a:endParaRPr lang="en-US" sz="2250" dirty="0"/>
          </a:p>
        </p:txBody>
      </p:sp>
      <p:pic>
        <p:nvPicPr>
          <p:cNvPr id="9" name="Image 0" descr="/Users/luojiahai/code/deck/index/designs/y8-l11/img/rate-u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6516" y="3859113"/>
            <a:ext cx="381000" cy="381000"/>
          </a:xfrm>
          <a:prstGeom prst="rect">
            <a:avLst/>
          </a:prstGeom>
        </p:spPr>
      </p:pic>
      <p:pic>
        <p:nvPicPr>
          <p:cNvPr id="10" name="Image 1" descr="/Users/luojiahai/code/deck/index/designs/y8-l11/img/rate-mi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5654" y="3859113"/>
            <a:ext cx="381000" cy="381000"/>
          </a:xfrm>
          <a:prstGeom prst="rect">
            <a:avLst/>
          </a:prstGeom>
        </p:spPr>
      </p:pic>
      <p:pic>
        <p:nvPicPr>
          <p:cNvPr id="11" name="Image 2" descr="/Users/luojiahai/code/deck/index/designs/y8-l11/img/rate-dow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4791" y="3859113"/>
            <a:ext cx="38100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3950" y="4340126"/>
            <a:ext cx="87126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Written and held up together, so you see the whole room at once.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38200" y="5130701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23950" y="5359301"/>
            <a:ext cx="95643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123950" y="5645051"/>
            <a:ext cx="956430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into Chinese — </a:t>
            </a:r>
            <a:r>
              <a:rPr lang="en-US" sz="2250" i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“I like eating fast food and drinking coke.”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1123950" y="6059388"/>
            <a:ext cx="9564303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我喜欢吃快餐，喝可乐。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838200" y="7004149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123950" y="7232749"/>
            <a:ext cx="11066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123950" y="7518499"/>
            <a:ext cx="1106610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一日三餐 — breakfast, lunch and dinner, and how to say what you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normally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eat.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2026-09-14T08:16:30Z</dcterms:created>
  <dcterms:modified xsi:type="dcterms:W3CDTF">2026-09-14T08:16:30Z</dcterms:modified>
</cp:coreProperties>
</file>